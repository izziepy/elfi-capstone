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83" d="100"/>
          <a:sy n="183" d="100"/>
        </p:scale>
        <p:origin x="8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25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 for the live demo. Not part of the speaking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 for the live demo. Not part of the speaking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 for the live demo. Not part of the speaking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 for the live demo. Not part of the speaking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for the live demo. Not part of the speaking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key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695" y="0"/>
            <a:ext cx="6858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8407" y="1874519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>
                <a:solidFill>
                  <a:srgbClr val="33333A"/>
                </a:solidFill>
                <a:latin typeface="Calibri Light"/>
              </a:rPr>
              <a:t>ELFI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7" y="299008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3514E"/>
                </a:solidFill>
                <a:latin typeface="Calibri Light"/>
              </a:rPr>
              <a:t>Emotional Language Feedback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840480"/>
            <a:ext cx="1371600" cy="41148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4160520"/>
            <a:ext cx="5577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E6B66"/>
                </a:solidFill>
                <a:latin typeface="Calibri"/>
              </a:rPr>
              <a:t>Can free-text comments be analysed just as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E6B66"/>
                </a:solidFill>
                <a:latin typeface="Calibri"/>
              </a:rPr>
              <a:t>systematically as classic survey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5852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3514E"/>
                </a:solidFill>
                <a:latin typeface="Calibri"/>
              </a:rPr>
              <a:t>Iris Detemple  ·  Capstone Project  ·  neuefische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Scores say what. Comments say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33A"/>
                </a:solidFill>
                <a:latin typeface="Calibri Light"/>
              </a:rPr>
              <a:t>An engagement score of 3.6 is correct. It does not say why anyone answered that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34639"/>
            <a:ext cx="60350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E8785A"/>
                </a:solidFill>
                <a:latin typeface="Calibri"/>
              </a:rPr>
              <a:t>—   </a:t>
            </a:r>
            <a:r>
              <a:rPr sz="1400">
                <a:solidFill>
                  <a:srgbClr val="33333A"/>
                </a:solidFill>
                <a:latin typeface="Calibri"/>
              </a:rPr>
              <a:t>The background sits in the free text — situations, themes, reasons.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E8785A"/>
                </a:solidFill>
                <a:latin typeface="Calibri"/>
              </a:rPr>
              <a:t>—   </a:t>
            </a:r>
            <a:r>
              <a:rPr sz="1400">
                <a:solidFill>
                  <a:srgbClr val="33333A"/>
                </a:solidFill>
                <a:latin typeface="Calibri"/>
              </a:rPr>
              <a:t>But free text is unstructured, and several thousand comments cannot be read systematically.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E8785A"/>
                </a:solidFill>
                <a:latin typeface="Calibri"/>
              </a:rPr>
              <a:t>—   </a:t>
            </a:r>
            <a:r>
              <a:rPr sz="1400">
                <a:solidFill>
                  <a:srgbClr val="33333A"/>
                </a:solidFill>
                <a:latin typeface="Calibri"/>
              </a:rPr>
              <a:t>So a handful get read and generalised from. Human, and often wrong.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6328" y="1627632"/>
            <a:ext cx="4336999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96328" y="1627632"/>
            <a:ext cx="4336999" cy="68580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1883664"/>
            <a:ext cx="365119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1">
                <a:solidFill>
                  <a:srgbClr val="E8785A"/>
                </a:solidFill>
                <a:latin typeface="Calibri"/>
              </a:rPr>
              <a:t>THE GOAL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A"/>
                </a:solidFill>
                <a:latin typeface="Calibri Light"/>
              </a:rPr>
              <a:t>Patterns and developments, analysable at organisational level.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3511296"/>
            <a:ext cx="433699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0"/>
              </a:spcAft>
            </a:pPr>
            <a:r>
              <a:rPr sz="950" b="1">
                <a:solidFill>
                  <a:srgbClr val="3E9E96"/>
                </a:solidFill>
                <a:latin typeface="Calibri"/>
              </a:rPr>
              <a:t>NOT ONE, BUT TWO QUESTIONS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3E9E96"/>
                </a:solidFill>
                <a:latin typeface="Calibri"/>
              </a:rPr>
              <a:t>—   </a:t>
            </a:r>
            <a:r>
              <a:rPr sz="1250">
                <a:solidFill>
                  <a:srgbClr val="33333A"/>
                </a:solidFill>
                <a:latin typeface="Calibri"/>
              </a:rPr>
              <a:t>What do employees talk about?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3E9E96"/>
                </a:solidFill>
                <a:latin typeface="Calibri"/>
              </a:rPr>
              <a:t>—   </a:t>
            </a:r>
            <a:r>
              <a:rPr sz="1250">
                <a:solidFill>
                  <a:srgbClr val="33333A"/>
                </a:solidFill>
                <a:latin typeface="Calibri"/>
              </a:rPr>
              <a:t>And how do they talk about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3247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A968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A real survey behind it, a synthetic twin 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7"/>
            <a:ext cx="251299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2512999" cy="68580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251299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33333A"/>
                </a:solidFill>
                <a:latin typeface="Calibri Light"/>
              </a:rPr>
              <a:t>46,777</a:t>
            </a:r>
          </a:p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E6B66"/>
                </a:solidFill>
                <a:latin typeface="Calibri"/>
              </a:rPr>
              <a:t>questionnaires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5687" y="1664207"/>
            <a:ext cx="251299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45687" y="1664207"/>
            <a:ext cx="2512999" cy="68580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5687" y="1993392"/>
            <a:ext cx="251299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33333A"/>
                </a:solidFill>
                <a:latin typeface="Calibri Light"/>
              </a:rPr>
              <a:t>4,328</a:t>
            </a:r>
          </a:p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E6B66"/>
                </a:solidFill>
                <a:latin typeface="Calibri"/>
              </a:rPr>
              <a:t>with a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664207"/>
            <a:ext cx="251299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3007" y="1664207"/>
            <a:ext cx="2512999" cy="68580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3007" y="1993392"/>
            <a:ext cx="251299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33333A"/>
                </a:solidFill>
                <a:latin typeface="Calibri Light"/>
              </a:rPr>
              <a:t>9.3 %</a:t>
            </a:r>
          </a:p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E6B66"/>
                </a:solidFill>
                <a:latin typeface="Calibri"/>
              </a:rPr>
              <a:t>comment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0327" y="1664207"/>
            <a:ext cx="251299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20327" y="1664207"/>
            <a:ext cx="2512999" cy="68580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0327" y="1993392"/>
            <a:ext cx="251299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33333A"/>
                </a:solidFill>
                <a:latin typeface="Calibri Light"/>
              </a:rPr>
              <a:t>54</a:t>
            </a:r>
          </a:p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E6B66"/>
                </a:solidFill>
                <a:latin typeface="Calibri"/>
              </a:rPr>
              <a:t>rating-scale 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5181447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0"/>
              </a:spcAft>
            </a:pPr>
            <a:r>
              <a:rPr sz="950" b="1">
                <a:solidFill>
                  <a:srgbClr val="E8785A"/>
                </a:solidFill>
                <a:latin typeface="Calibri"/>
              </a:rPr>
              <a:t>THE REAL SURVEY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E8785A"/>
                </a:solidFill>
                <a:latin typeface="Calibri"/>
              </a:rPr>
              <a:t>—   </a:t>
            </a:r>
            <a:r>
              <a:rPr sz="1250">
                <a:solidFill>
                  <a:srgbClr val="33333A"/>
                </a:solidFill>
                <a:latin typeface="Calibri"/>
              </a:rPr>
              <a:t>A business-unit assignment on every questionnaire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E8785A"/>
                </a:solidFill>
                <a:latin typeface="Calibri"/>
              </a:rPr>
              <a:t>—   </a:t>
            </a:r>
            <a:r>
              <a:rPr sz="1250">
                <a:solidFill>
                  <a:srgbClr val="33333A"/>
                </a:solidFill>
                <a:latin typeface="Calibri"/>
              </a:rPr>
              <a:t>Confidential employee data — it does not leave the company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E8785A"/>
                </a:solidFill>
                <a:latin typeface="Calibri"/>
              </a:rPr>
              <a:t>—   </a:t>
            </a:r>
            <a:r>
              <a:rPr sz="1250">
                <a:solidFill>
                  <a:srgbClr val="33333A"/>
                </a:solidFill>
                <a:latin typeface="Calibri"/>
              </a:rPr>
              <a:t>No manual valence ratings exist for any of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1879" y="3072384"/>
            <a:ext cx="5181447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1879" y="3072384"/>
            <a:ext cx="5181447" cy="68580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62775" y="3328415"/>
            <a:ext cx="45596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0"/>
              </a:spcAft>
            </a:pPr>
            <a:r>
              <a:rPr sz="950" b="1">
                <a:solidFill>
                  <a:srgbClr val="3E9E96"/>
                </a:solidFill>
                <a:latin typeface="Calibri"/>
              </a:rPr>
              <a:t>THE SYNTHETIC TWIN — WHAT YOU SEE TODAY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3E9E96"/>
                </a:solidFill>
                <a:latin typeface="Calibri"/>
              </a:rPr>
              <a:t>—   </a:t>
            </a:r>
            <a:r>
              <a:rPr sz="1250">
                <a:solidFill>
                  <a:srgbClr val="33333A"/>
                </a:solidFill>
                <a:latin typeface="Calibri"/>
              </a:rPr>
              <a:t>Gemma 2 · 9B, run locally via Ollama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3E9E96"/>
                </a:solidFill>
                <a:latin typeface="Calibri"/>
              </a:rPr>
              <a:t>—   </a:t>
            </a:r>
            <a:r>
              <a:rPr sz="1250">
                <a:solidFill>
                  <a:srgbClr val="33333A"/>
                </a:solidFill>
                <a:latin typeface="Calibri"/>
              </a:rPr>
              <a:t>Every comment made to a prescribed theme and target valence — so the truth is known and the method can be checked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3E9E96"/>
                </a:solidFill>
                <a:latin typeface="Calibri"/>
              </a:rPr>
              <a:t>—   </a:t>
            </a:r>
            <a:r>
              <a:rPr sz="1250">
                <a:solidFill>
                  <a:srgbClr val="33333A"/>
                </a:solidFill>
                <a:latin typeface="Calibri"/>
              </a:rPr>
              <a:t>5,000 questionnaires · 50 % comment rate · 35 themes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71616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A968E"/>
                </a:solidFill>
                <a:latin typeface="Calibri"/>
              </a:rPr>
              <a:t>Structure is the same, distributions are not: in the synthetic data the four circumplex corners each hold about a quarter of the comments. In the real data they do 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93247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A968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03  ·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What ELFI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Live in Power BI — on the synthetic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33333A"/>
                </a:solidFill>
                <a:latin typeface="Calibri Light"/>
              </a:rPr>
              <a:t>Every comment gets a position, not a label.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Valence on the horizontal axis, arousal on the vertical. Russell's circumplex — and Barrett's argument that fixed emotion categories depend too much on context to predict.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80944"/>
            <a:ext cx="2395728" cy="1005840"/>
          </a:xfrm>
          <a:prstGeom prst="rect">
            <a:avLst/>
          </a:prstGeom>
          <a:solidFill>
            <a:srgbClr val="FCD4C8"/>
          </a:solidFill>
          <a:ln w="12700">
            <a:solidFill>
              <a:srgbClr val="F4E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3182112"/>
            <a:ext cx="2029968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3333A"/>
                </a:solidFill>
                <a:latin typeface="Calibri"/>
              </a:rPr>
              <a:t>unpleasant · activated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frustrated, tense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2980944"/>
            <a:ext cx="2395728" cy="1005840"/>
          </a:xfrm>
          <a:prstGeom prst="rect">
            <a:avLst/>
          </a:prstGeom>
          <a:solidFill>
            <a:srgbClr val="C2F0F0"/>
          </a:solidFill>
          <a:ln w="12700">
            <a:solidFill>
              <a:srgbClr val="F4E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6976" y="3182112"/>
            <a:ext cx="2029968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3333A"/>
                </a:solidFill>
                <a:latin typeface="Calibri"/>
              </a:rPr>
              <a:t>pleasant · activated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excited, energised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986783"/>
            <a:ext cx="2395728" cy="1005840"/>
          </a:xfrm>
          <a:prstGeom prst="rect">
            <a:avLst/>
          </a:prstGeom>
          <a:solidFill>
            <a:srgbClr val="F6E0D5"/>
          </a:solidFill>
          <a:ln w="12700">
            <a:solidFill>
              <a:srgbClr val="F4E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4187951"/>
            <a:ext cx="2029968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3333A"/>
                </a:solidFill>
                <a:latin typeface="Calibri"/>
              </a:rPr>
              <a:t>unpleasant · deactivated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exhausted, resigned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4096" y="3986783"/>
            <a:ext cx="2395728" cy="1005840"/>
          </a:xfrm>
          <a:prstGeom prst="rect">
            <a:avLst/>
          </a:prstGeom>
          <a:solidFill>
            <a:srgbClr val="D6F2F0"/>
          </a:solidFill>
          <a:ln w="12700">
            <a:solidFill>
              <a:srgbClr val="F4E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6976" y="4187951"/>
            <a:ext cx="2029968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3333A"/>
                </a:solidFill>
                <a:latin typeface="Calibri"/>
              </a:rPr>
              <a:t>pleasant · deactivated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content, calm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38928"/>
            <a:ext cx="47914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A968E"/>
                </a:solidFill>
                <a:latin typeface="Calibri"/>
              </a:rPr>
              <a:t>Russell (1980) · Lisa Feldman Barrett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07607" y="1755648"/>
            <a:ext cx="68580" cy="548640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7" y="1700784"/>
            <a:ext cx="5251399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3333A"/>
                </a:solidFill>
                <a:latin typeface="Calibri Light"/>
              </a:rPr>
              <a:t>1   Emotional Landscape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B66"/>
                </a:solidFill>
                <a:latin typeface="Calibri"/>
              </a:rPr>
              <a:t>Where the mood of a unit sits in the four corners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7607" y="2542032"/>
            <a:ext cx="68580" cy="548640"/>
          </a:xfrm>
          <a:prstGeom prst="rect">
            <a:avLst/>
          </a:prstGeom>
          <a:solidFill>
            <a:srgbClr val="7F7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81927" y="2487168"/>
            <a:ext cx="5251399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3333A"/>
                </a:solidFill>
                <a:latin typeface="Calibri Light"/>
              </a:rPr>
              <a:t>2   Topic Landscape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B66"/>
                </a:solidFill>
                <a:latin typeface="Calibri"/>
              </a:rPr>
              <a:t>Which themes come up, and the comments behind them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7607" y="3328416"/>
            <a:ext cx="68580" cy="548640"/>
          </a:xfrm>
          <a:prstGeom prst="rect">
            <a:avLst/>
          </a:prstGeom>
          <a:solidFill>
            <a:srgbClr val="7F7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81927" y="3273552"/>
            <a:ext cx="5251399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3333A"/>
                </a:solidFill>
                <a:latin typeface="Calibri Light"/>
              </a:rPr>
              <a:t>3   Topic &amp; Emotion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B66"/>
                </a:solidFill>
                <a:latin typeface="Calibri"/>
              </a:rPr>
              <a:t>One bubble per theme — position is mood, size is volume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7607" y="4114799"/>
            <a:ext cx="68580" cy="548640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7" y="4059935"/>
            <a:ext cx="5251399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3333A"/>
                </a:solidFill>
                <a:latin typeface="Calibri Light"/>
              </a:rPr>
              <a:t>4   Topic Evolution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B66"/>
                </a:solidFill>
                <a:latin typeface="Calibri"/>
              </a:rPr>
              <a:t>How the themes move between survey iterations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7607" y="4901183"/>
            <a:ext cx="68580" cy="548640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81927" y="4846320"/>
            <a:ext cx="5251399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3333A"/>
                </a:solidFill>
                <a:latin typeface="Calibri Light"/>
              </a:rPr>
              <a:t>5   Business Unit Explorer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B66"/>
                </a:solidFill>
                <a:latin typeface="Calibri"/>
              </a:rPr>
              <a:t>Theme profiles and emotional patterns side by 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3247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A968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Valence — two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Which one agrees with the survey?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749167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A"/>
                </a:solidFill>
                <a:latin typeface="Calibri"/>
              </a:rPr>
              <a:t>No comment was ever rated by hand. So the survey answers become the external criterion: whoever writes negatively should, on average, have ticked lower.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29484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German sentiment model — simple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4487" y="2738628"/>
            <a:ext cx="3193999" cy="237744"/>
          </a:xfrm>
          <a:prstGeom prst="rect">
            <a:avLst/>
          </a:prstGeom>
          <a:solidFill>
            <a:srgbClr val="E9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04487" y="2738628"/>
            <a:ext cx="1703466" cy="237744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44791" y="2729484"/>
            <a:ext cx="777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0.24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387852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German sentiment model — adjusted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4487" y="3396996"/>
            <a:ext cx="3193999" cy="237744"/>
          </a:xfrm>
          <a:prstGeom prst="rect">
            <a:avLst/>
          </a:prstGeom>
          <a:solidFill>
            <a:srgbClr val="E9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04487" y="3396996"/>
            <a:ext cx="1845421" cy="237744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44791" y="338785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0.26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7" y="3657600"/>
            <a:ext cx="39712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968E"/>
                </a:solidFill>
                <a:latin typeface="Calibri"/>
              </a:rPr>
              <a:t>two scoring variants, nearly the same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4622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A"/>
                </a:solidFill>
                <a:latin typeface="Calibri"/>
              </a:rPr>
              <a:t>Gemma 2 · 9B, judging blind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7" y="4055363"/>
            <a:ext cx="3193999" cy="237744"/>
          </a:xfrm>
          <a:prstGeom prst="rect">
            <a:avLst/>
          </a:prstGeom>
          <a:solidFill>
            <a:srgbClr val="E9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904487" y="4055363"/>
            <a:ext cx="2768132" cy="237744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44791" y="4046220"/>
            <a:ext cx="777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A"/>
                </a:solidFill>
                <a:latin typeface="Calibri"/>
              </a:rPr>
              <a:t>0.39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7" y="4315968"/>
            <a:ext cx="39712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968E"/>
                </a:solidFill>
                <a:latin typeface="Calibri"/>
              </a:rPr>
              <a:t>better on all six criteria, not just on the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718304"/>
            <a:ext cx="749167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A968E"/>
                </a:solidFill>
                <a:latin typeface="Calibri"/>
              </a:rPr>
              <a:t>Rank correlation with six survey metrics, averaged. Blind means the model sees the comment and nothing else — no scale answers, no business unit.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70087" y="2066543"/>
            <a:ext cx="306324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470087" y="2066543"/>
            <a:ext cx="3063240" cy="68580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80983" y="2340864"/>
            <a:ext cx="2441448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0">
                <a:solidFill>
                  <a:srgbClr val="3E9E96"/>
                </a:solidFill>
                <a:latin typeface="Calibri Light"/>
              </a:rPr>
              <a:t>0.39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3333A"/>
                </a:solidFill>
                <a:latin typeface="Calibri"/>
              </a:rPr>
              <a:t>Not a percentage. Not a hit rate.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B66"/>
                </a:solidFill>
                <a:latin typeface="Calibri"/>
              </a:rPr>
              <a:t>A clear relationship, far from perfect — and that is what to expect. A person can be satisfied and still criticise one 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93247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A968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Arousal — the same test, the opposite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Where the language model fell 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23643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Emotion classifier, 28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4487" y="1732787"/>
            <a:ext cx="3193999" cy="237744"/>
          </a:xfrm>
          <a:prstGeom prst="rect">
            <a:avLst/>
          </a:prstGeom>
          <a:solidFill>
            <a:srgbClr val="E9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04487" y="1732787"/>
            <a:ext cx="859922" cy="237744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44791" y="1723643"/>
            <a:ext cx="777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0.07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62556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Gemma 2 · 9B, judging blind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4487" y="2171700"/>
            <a:ext cx="3193999" cy="237744"/>
          </a:xfrm>
          <a:prstGeom prst="rect">
            <a:avLst/>
          </a:prstGeom>
          <a:solidFill>
            <a:srgbClr val="E9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04487" y="2171700"/>
            <a:ext cx="1351307" cy="237744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44791" y="216255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0.11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E9E96"/>
                </a:solidFill>
                <a:latin typeface="Calibri"/>
              </a:rPr>
              <a:t>WORD NORMS — FOUR WAYS TO AGGREGATE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839212"/>
            <a:ext cx="3017520" cy="10972"/>
          </a:xfrm>
          <a:prstGeom prst="rect">
            <a:avLst/>
          </a:prstGeom>
          <a:solidFill>
            <a:srgbClr val="D9C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967227"/>
            <a:ext cx="299008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peak word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7" y="2976372"/>
            <a:ext cx="3193999" cy="237744"/>
          </a:xfrm>
          <a:prstGeom prst="rect">
            <a:avLst/>
          </a:prstGeom>
          <a:solidFill>
            <a:srgbClr val="E9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904487" y="2976372"/>
            <a:ext cx="1351307" cy="237744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44791" y="2967227"/>
            <a:ext cx="777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0.11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06139"/>
            <a:ext cx="299008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three most extreme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04487" y="3415284"/>
            <a:ext cx="3193999" cy="237744"/>
          </a:xfrm>
          <a:prstGeom prst="rect">
            <a:avLst/>
          </a:prstGeom>
          <a:solidFill>
            <a:srgbClr val="E9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904487" y="3415284"/>
            <a:ext cx="1474153" cy="237744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44791" y="3406139"/>
            <a:ext cx="777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0.12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45052"/>
            <a:ext cx="299008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mean, all words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04487" y="3854196"/>
            <a:ext cx="3193999" cy="237744"/>
          </a:xfrm>
          <a:prstGeom prst="rect">
            <a:avLst/>
          </a:prstGeom>
          <a:solidFill>
            <a:srgbClr val="E9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904487" y="3854196"/>
            <a:ext cx="2334076" cy="237744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44791" y="384505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0.19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83964"/>
            <a:ext cx="299008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A"/>
                </a:solidFill>
                <a:latin typeface="Calibri"/>
              </a:rPr>
              <a:t>mean, stopwords removed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04487" y="4293108"/>
            <a:ext cx="3193999" cy="237744"/>
          </a:xfrm>
          <a:prstGeom prst="rect">
            <a:avLst/>
          </a:prstGeom>
          <a:solidFill>
            <a:srgbClr val="E9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904487" y="4293108"/>
            <a:ext cx="2702614" cy="237744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44791" y="4283964"/>
            <a:ext cx="777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A"/>
                </a:solidFill>
                <a:latin typeface="Calibri"/>
              </a:rPr>
              <a:t>0.22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4487" y="4553712"/>
            <a:ext cx="39712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968E"/>
                </a:solidFill>
                <a:latin typeface="Calibri"/>
              </a:rPr>
              <a:t>this last step is the stopword list alone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992624"/>
            <a:ext cx="1087495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33333A"/>
                </a:solidFill>
                <a:latin typeface="Calibri Light"/>
              </a:rPr>
              <a:t>The more a method interprets the text, the worse it does here.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E6B66"/>
                </a:solidFill>
                <a:latin typeface="Calibri"/>
              </a:rPr>
              <a:t>And the biggest single gain in the project was the last step: dropping filler words. They are emotionally neutral but the most frequent words in any comment, so they pull every average to the middle.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968E"/>
                </a:solidFill>
                <a:latin typeface="Calibri"/>
              </a:rPr>
              <a:t>Checked against BAWL-R, a word list rated by people, independent of the norms the measure is built from.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0087" y="1883664"/>
            <a:ext cx="30632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470087" y="1883664"/>
            <a:ext cx="3063240" cy="68580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80983" y="2157984"/>
            <a:ext cx="2441448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0">
                <a:solidFill>
                  <a:srgbClr val="E8785A"/>
                </a:solidFill>
                <a:latin typeface="Calibri Light"/>
              </a:rPr>
              <a:t>− 0.66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33333A"/>
                </a:solidFill>
                <a:latin typeface="Calibri"/>
              </a:rPr>
              <a:t>The model's arousal against its own valence.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B66"/>
                </a:solidFill>
                <a:latin typeface="Calibri"/>
              </a:rPr>
              <a:t>It did not measure a second dimension. It described the first one a second time — negative equals agitated. Plausible values, useless axis.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93247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A968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Six notebooks, each one checking the one 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sp>
        <p:nvSpPr>
          <p:cNvPr id="8" name="Rectangle 7"/>
          <p:cNvSpPr/>
          <p:nvPr/>
        </p:nvSpPr>
        <p:spPr>
          <a:xfrm>
            <a:off x="554583" y="1847088"/>
            <a:ext cx="166420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4583" y="1847088"/>
            <a:ext cx="1664208" cy="68580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7463" y="2084831"/>
            <a:ext cx="129844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E8785A"/>
                </a:solidFill>
                <a:latin typeface="Calibri"/>
              </a:rPr>
              <a:t>01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33333A"/>
                </a:solidFill>
                <a:latin typeface="Calibri Light"/>
              </a:rPr>
              <a:t>Prepare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clean, recode,
quality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3363" y="263347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68E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8247" y="1847088"/>
            <a:ext cx="166420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38247" y="1847088"/>
            <a:ext cx="1664208" cy="68580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21127" y="2084831"/>
            <a:ext cx="129844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E9E96"/>
                </a:solidFill>
                <a:latin typeface="Calibri"/>
              </a:rPr>
              <a:t>02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33333A"/>
                </a:solidFill>
                <a:latin typeface="Calibri Light"/>
              </a:rPr>
              <a:t>Valence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Gemma 2 · 9B
scores blind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7027" y="263347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68E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1911" y="1847088"/>
            <a:ext cx="166420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21911" y="1847088"/>
            <a:ext cx="1664208" cy="68580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4791" y="2084831"/>
            <a:ext cx="129844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E9E96"/>
                </a:solidFill>
                <a:latin typeface="Calibri"/>
              </a:rPr>
              <a:t>03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33333A"/>
                </a:solidFill>
                <a:latin typeface="Calibri Light"/>
              </a:rPr>
              <a:t>Arousal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affective word
norms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0691" y="263347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68E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5575" y="1847088"/>
            <a:ext cx="166420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05575" y="1847088"/>
            <a:ext cx="1664208" cy="68580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8455" y="2084831"/>
            <a:ext cx="129844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E8785A"/>
                </a:solidFill>
                <a:latin typeface="Calibri"/>
              </a:rPr>
              <a:t>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33333A"/>
                </a:solidFill>
                <a:latin typeface="Calibri Light"/>
              </a:rPr>
              <a:t>Circumplex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both axes into
four corners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4355" y="263347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68E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9239" y="1847088"/>
            <a:ext cx="166420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89239" y="1847088"/>
            <a:ext cx="1664208" cy="68580"/>
          </a:xfrm>
          <a:prstGeom prst="rect">
            <a:avLst/>
          </a:prstGeom>
          <a:solidFill>
            <a:srgbClr val="7F7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2119" y="2084831"/>
            <a:ext cx="129844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7F70EC"/>
                </a:solidFill>
                <a:latin typeface="Calibri"/>
              </a:rPr>
              <a:t>05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33333A"/>
                </a:solidFill>
                <a:latin typeface="Calibri Light"/>
              </a:rPr>
              <a:t>Topics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BERTopic finds them,
Gemma names them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8019" y="263347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68E"/>
                </a:solidFill>
                <a:latin typeface="Calibri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72903" y="1847088"/>
            <a:ext cx="166420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972903" y="1847088"/>
            <a:ext cx="1664208" cy="68580"/>
          </a:xfrm>
          <a:prstGeom prst="rect">
            <a:avLst/>
          </a:prstGeom>
          <a:solidFill>
            <a:srgbClr val="7F7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55783" y="2084831"/>
            <a:ext cx="129844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7F70EC"/>
                </a:solidFill>
                <a:latin typeface="Calibri"/>
              </a:rPr>
              <a:t>06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33333A"/>
                </a:solidFill>
                <a:latin typeface="Calibri Light"/>
              </a:rPr>
              <a:t>Publish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B66"/>
                </a:solidFill>
                <a:latin typeface="Calibri"/>
              </a:rPr>
              <a:t>star schema
for Power BI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913631"/>
            <a:ext cx="1087495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3913631"/>
            <a:ext cx="10874959" cy="68580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169664"/>
            <a:ext cx="101800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E8785A"/>
                </a:solidFill>
                <a:latin typeface="Calibri"/>
              </a:rPr>
              <a:t>QUALITY ASSURANCE WAS THE FOCUS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A"/>
                </a:solidFill>
                <a:latin typeface="Calibri"/>
              </a:rPr>
              <a:t>Every stage checks its inputs and its results before processing continues. Reliable analysis does not depend on good models alone — it depends on a pipeline you can trace.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93247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A968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Four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Who speaks up, and why that group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68580" cy="786384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700784"/>
            <a:ext cx="10509199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3333A"/>
                </a:solidFill>
                <a:latin typeface="Calibri Light"/>
              </a:rPr>
              <a:t>The people who write are the ones who cared enough to.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B66"/>
                </a:solidFill>
                <a:latin typeface="Calibri"/>
              </a:rPr>
              <a:t>Only around 9 percent comment at all, and they are the ones who rate the survey most critically. That is not a flawed sample — it is the group that took the time to say what is not working. Every finding here belongs to them, and they are the ones worth listening 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798063"/>
            <a:ext cx="68580" cy="786384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761487"/>
            <a:ext cx="10509199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3333A"/>
                </a:solidFill>
                <a:latin typeface="Calibri Light"/>
              </a:rPr>
              <a:t>The more critical the comment, the more effort went into it.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B66"/>
                </a:solidFill>
                <a:latin typeface="Calibri"/>
              </a:rPr>
              <a:t>People who are content need a few words. People with criticism supply context — which makes exactly those comments the most informative ones in the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68580" cy="786384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3822191"/>
            <a:ext cx="10509199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3333A"/>
                </a:solidFill>
                <a:latin typeface="Calibri Light"/>
              </a:rPr>
              <a:t>Critical comments are not all alike.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B66"/>
                </a:solidFill>
                <a:latin typeface="Calibri"/>
              </a:rPr>
              <a:t>Some are shaped by frustration and tension, others by exhaustion and resignation. Frustration still carries energy — that is where something can be moved. Resignation is the state where it has already gone. A single positive/negative scale loses that difference; this is what the second axis buys.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919472"/>
            <a:ext cx="68580" cy="786384"/>
          </a:xfrm>
          <a:prstGeom prst="rect">
            <a:avLst/>
          </a:prstGeom>
          <a:solidFill>
            <a:srgbClr val="3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4882896"/>
            <a:ext cx="10509199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3333A"/>
                </a:solidFill>
                <a:latin typeface="Calibri Light"/>
              </a:rPr>
              <a:t>Language explains part of the survey results, not all of them.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B66"/>
                </a:solidFill>
                <a:latin typeface="Calibri"/>
              </a:rPr>
              <a:t>The emotional analysis adds information and makes patterns visible. It does not replace the rating-scale questions. ELFI is a complement, not a replacement.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247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A968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Where it stands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What holds, what is next, what it cannot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5117439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200"/>
              </a:spcAft>
            </a:pPr>
            <a:r>
              <a:rPr sz="950" b="1">
                <a:solidFill>
                  <a:srgbClr val="3E9E96"/>
                </a:solidFill>
                <a:latin typeface="Calibri"/>
              </a:rPr>
              <a:t>WHAT STANDS TODAY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3E9E96"/>
                </a:solidFill>
                <a:latin typeface="Calibri"/>
              </a:rPr>
              <a:t>—   </a:t>
            </a:r>
            <a:r>
              <a:rPr sz="1300">
                <a:solidFill>
                  <a:srgbClr val="33333A"/>
                </a:solidFill>
                <a:latin typeface="Calibri"/>
              </a:rPr>
              <a:t>The pipeline runs from raw data to dashboard — on synthetic and on real data.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3E9E96"/>
                </a:solidFill>
                <a:latin typeface="Calibri"/>
              </a:rPr>
              <a:t>—   </a:t>
            </a:r>
            <a:r>
              <a:rPr sz="1300">
                <a:solidFill>
                  <a:srgbClr val="33333A"/>
                </a:solidFill>
                <a:latin typeface="Calibri"/>
              </a:rPr>
              <a:t>Every step validated and secured with plausibility checks.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3E9E96"/>
                </a:solidFill>
                <a:latin typeface="Calibri"/>
              </a:rPr>
              <a:t>—   </a:t>
            </a:r>
            <a:r>
              <a:rPr sz="1300">
                <a:solidFill>
                  <a:srgbClr val="33333A"/>
                </a:solidFill>
                <a:latin typeface="Calibri"/>
              </a:rPr>
              <a:t>Model choice rests on external criteria, not on subjective plausibility.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719072"/>
            <a:ext cx="5117439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200"/>
              </a:spcAft>
            </a:pPr>
            <a:r>
              <a:rPr sz="950" b="1">
                <a:solidFill>
                  <a:srgbClr val="E8785A"/>
                </a:solidFill>
                <a:latin typeface="Calibri"/>
              </a:rPr>
              <a:t>WHAT COMES NEXT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E8785A"/>
                </a:solidFill>
                <a:latin typeface="Calibri"/>
              </a:rPr>
              <a:t>—   </a:t>
            </a:r>
            <a:r>
              <a:rPr sz="1300">
                <a:solidFill>
                  <a:srgbClr val="33333A"/>
                </a:solidFill>
                <a:latin typeface="Calibri"/>
              </a:rPr>
              <a:t>Valence is solid. Arousal still has room — test larger models, including OTTO-internal ones such as OGGPT.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E8785A"/>
                </a:solidFill>
                <a:latin typeface="Calibri"/>
              </a:rPr>
              <a:t>—   </a:t>
            </a:r>
            <a:r>
              <a:rPr sz="1300">
                <a:solidFill>
                  <a:srgbClr val="33333A"/>
                </a:solidFill>
                <a:latin typeface="Calibri"/>
              </a:rPr>
              <a:t>Sharpen the substantive structure with colleagues from the survey field.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E8785A"/>
                </a:solidFill>
                <a:latin typeface="Calibri"/>
              </a:rPr>
              <a:t>—   </a:t>
            </a:r>
            <a:r>
              <a:rPr sz="1300">
                <a:solidFill>
                  <a:srgbClr val="33333A"/>
                </a:solidFill>
                <a:latin typeface="Calibri"/>
              </a:rPr>
              <a:t>Examine alternative emotional dimensions, in the sense of Warr.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5376672"/>
            <a:ext cx="1087495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5376672"/>
            <a:ext cx="10874959" cy="68580"/>
          </a:xfrm>
          <a:prstGeom prst="rect">
            <a:avLst/>
          </a:prstGeom>
          <a:solidFill>
            <a:srgbClr val="7F7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614416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7F70EC"/>
                </a:solidFill>
                <a:latin typeface="Calibri"/>
              </a:rPr>
              <a:t>THE LIMITATION THAT STAYS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A"/>
                </a:solidFill>
                <a:latin typeface="Calibri"/>
              </a:rPr>
              <a:t>ELFI reveals patterns and relationships. It does not explain causes. It can show where something stands out — why, and what to do about it, remains a task for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93247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A968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475488"/>
            <a:ext cx="8863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5" y="2130551"/>
            <a:ext cx="2660903" cy="2660903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7" name="Picture 6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295144"/>
            <a:ext cx="233172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58768" y="2386584"/>
            <a:ext cx="7674559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200"/>
              </a:spcAft>
            </a:pPr>
            <a:r>
              <a:rPr sz="950" b="1">
                <a:solidFill>
                  <a:srgbClr val="E8785A"/>
                </a:solidFill>
                <a:latin typeface="Calibri"/>
              </a:rPr>
              <a:t>THE CODE, THE NOTEBOOKS, THE WRITE-UP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500" b="0">
                <a:solidFill>
                  <a:srgbClr val="33333A"/>
                </a:solidFill>
                <a:latin typeface="Calibri Light"/>
              </a:rPr>
              <a:t>github.com/IzziePy/ELFI-capstone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B66"/>
                </a:solidFill>
                <a:latin typeface="Calibri"/>
              </a:rPr>
              <a:t>Six notebooks running end to end on the synthetic dataset, the process documented step by step, and every source listed.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8768" y="5669280"/>
            <a:ext cx="1371600" cy="41148"/>
          </a:xfrm>
          <a:prstGeom prst="rect">
            <a:avLst/>
          </a:prstGeom>
          <a:solidFill>
            <a:srgbClr val="E87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58768" y="5888736"/>
            <a:ext cx="76745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3514E"/>
                </a:solidFill>
                <a:latin typeface="Calibri"/>
              </a:rPr>
              <a:t>Iris Detemple  ·  Capstone Project  ·  neuefische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3247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A968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BACKUP  ·  LIVE-DEMO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Emotional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Where the mood of a unit sits. Cells with fewer than five respondents stay empty.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pic>
        <p:nvPicPr>
          <p:cNvPr id="8" name="Picture 7" descr="db_emotional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967" y="1517904"/>
            <a:ext cx="8793759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BACKUP  ·  LIVE-DEMO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Topic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What is written about, and how often — themes come from the comments themselves.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pic>
        <p:nvPicPr>
          <p:cNvPr id="8" name="Picture 7" descr="db_topic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814" y="1517904"/>
            <a:ext cx="8824066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BACKUP  ·  LIVE-DEMO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Topic &amp; Emotion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Bubble size is volume, position is mood. This is where the pressure shows.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pic>
        <p:nvPicPr>
          <p:cNvPr id="8" name="Picture 7" descr="db_top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591" y="1517904"/>
            <a:ext cx="878051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BACKUP  ·  LIVE-DEMO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Topic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The same themes across iterations. Teal is better, coral is worse.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pic>
        <p:nvPicPr>
          <p:cNvPr id="8" name="Picture 7" descr="db_topic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077" y="1517904"/>
            <a:ext cx="8815540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4E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82880"/>
            <a:ext cx="88632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8A49F"/>
                </a:solidFill>
                <a:latin typeface="Calibri"/>
              </a:rPr>
              <a:t>BACKUP  ·  LIVE-DEMO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20624"/>
            <a:ext cx="8863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Calibri Light"/>
              </a:rPr>
              <a:t>Business Unit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886327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C9C4"/>
                </a:solidFill>
                <a:latin typeface="Calibri"/>
              </a:rPr>
              <a:t>Topic share per unit next to the quadrant split.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2194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 Light"/>
              </a:rPr>
              <a:t>ELFI</a:t>
            </a:r>
          </a:p>
        </p:txBody>
      </p:sp>
      <p:pic>
        <p:nvPicPr>
          <p:cNvPr id="8" name="Picture 7" descr="db_business_un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156" y="1517904"/>
            <a:ext cx="8821382" cy="4956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Microsoft Macintosh PowerPoint</Application>
  <PresentationFormat>Breitbild</PresentationFormat>
  <Paragraphs>200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iris.detemple@gmail.com</cp:lastModifiedBy>
  <cp:revision>3</cp:revision>
  <dcterms:created xsi:type="dcterms:W3CDTF">2013-01-27T09:14:16Z</dcterms:created>
  <dcterms:modified xsi:type="dcterms:W3CDTF">2026-08-18T14:13:05Z</dcterms:modified>
  <cp:category/>
</cp:coreProperties>
</file>