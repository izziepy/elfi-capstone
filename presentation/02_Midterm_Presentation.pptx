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called ELFI — Emotional &amp; Latent Feedback Interpretation.</a:t>
            </a:r>
          </a:p>
          <a:p>
            <a:r>
              <a:t>Companies collect employee feedback regularly, and a large part of it arrives as free-text comments. Those comments carry a lot of valuable information, but they are usually only partly used.</a:t>
            </a:r>
          </a:p>
          <a:p>
            <a:r>
              <a:t>There is a second problem. Smaller units typically read only their own comments and then draw conclusions about the whole organisation. The cross-organisational picture is missing.</a:t>
            </a:r>
          </a:p>
          <a:p>
            <a:r>
              <a:t>So my goal is a dashboard that automatically detects which topics are discussed, which emotions sit behind them, and how both shift between business units and over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are wrong with the status quo: comments are read but never analysed systematically; every unit generalises from its own small sample; and the survey scores tell us that something moved without telling us why.</a:t>
            </a:r>
          </a:p>
          <a:p>
            <a:r>
              <a:t>ELFI attacks all three by turning the comment corpus into a structured, comparable data layer that can be sliced by unit and by iteration.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sentiment systems work with positive, neutral and negative. For employee feedback that is too coarse. A negative comment can point to anger, but it can just as well express uncertainty or feeling overwhelmed — and those require completely different measures.</a:t>
            </a:r>
          </a:p>
          <a:p>
            <a:r>
              <a:t>That is why I follow Lisa Feldman Barrett's Theory of Constructed Emotion: emotions are described as a combination of valence and arousal instead of fixed classes.</a:t>
            </a:r>
          </a:p>
          <a:p>
            <a:r>
              <a:t>Example: uncertainty during a change process argues for additional communication and workshops. Anger about workload argues for something else entirely.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happens on the real High5 data. The comments are confidential, so I cannot show original text — but I am allowed to use statistical figures.</a:t>
            </a:r>
          </a:p>
          <a:p>
            <a:r>
              <a:t>For the presentation and for later publication I therefore use a synthetic dataset: same structures as the original, similar statistical properties, no confidential content.</a:t>
            </a:r>
          </a:p>
          <a:p>
            <a:r>
              <a:t>In the EDA I examined data quality, missing values, distributions, iterations and the scoring structure, as well as the differences between the real and the synthetic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pipeline has several stages. First exploratory data analysis and cleaning. Then the comments are analysed semantically: German Sentiment BERT for the emotional layer, BERTopic for the thematic layer. Both results are prepared for the dashboard.</a:t>
            </a:r>
          </a:p>
          <a:p>
            <a:r>
              <a:t>To speed up the pipeline I am also evaluating storing intermediate results as Parquet files, so the compute-heavy steps do not have to run again every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sentiment analysis I use German Sentiment BERT and turn its class probabilities into a continuous valence value.</a:t>
            </a:r>
          </a:p>
          <a:p>
            <a:r>
              <a:t>For the thematic analysis I use BERTopic, which relies on modern embeddings and works well for semantic analysis of German free text.</a:t>
            </a:r>
          </a:p>
          <a:p>
            <a:r>
              <a:t>Current state: EDA, cleaning, sentiment analysis, BERTopic and the dashboard concept are done. The two open pieces are the arousal axis and the predictive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modelling needs a different evaluation logic than classic classification: there is no ground truth.</a:t>
            </a:r>
          </a:p>
          <a:p>
            <a:r>
              <a:t>I currently use C_v coherence. It measures how well the terms within a topic fit together. A good topic contains semantically related terms; a bad topic is a mix of unrelated terms. The higher the value, the more consistent and interpretable the topics.</a:t>
            </a:r>
          </a:p>
          <a:p>
            <a:r>
              <a:t>Alongside coherence I track the outlier rate as a coverage metric, and comment coverage for the pipeline itself. The predictive layer will add MAE, RMSE and R².</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component of the dashboard will be the Core Affect Map: comments or topic clusters positioned by valence and arousal.</a:t>
            </a:r>
          </a:p>
          <a:p>
            <a:r>
              <a:t>Around it sit topic trends, topic development across iterations, comparisons between business units, and the relationship between emotions and survey scores.</a:t>
            </a:r>
          </a:p>
          <a:p>
            <a:r>
              <a:t>Overall project progress is at roughly two thirds.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risks openly — examiners reward that more than a clean story.</a:t>
            </a:r>
          </a:p>
          <a:p>
            <a:r>
              <a:t>Then close with the sentence on the slide, word for word, and stop. The appendix is there for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Jump here only if asked how something was done technically.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is deliberately notebook-based: every notebook answers one methodological question, and each one can be rerun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technical detail to mention if asked: the reverse coding of the workload item, so that a higher score always means a more favourable assessment across all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use if someone challenges the topic-model numbers: part of the weakness is a property of the synthetic corpus, not of the method.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just keep zero-shot: it is 12 times slower, produces discrete classes instead of a continuous scale, and its arousal output shifts when the candidate labels are reworded — not defensible as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modelling decision here: keeping the full probability vector instead of the predicted label. That is what makes a continuous axis possible, and it is what the Core Affect Map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place to show method: each change was evaluated on its own before the next was added, and the BM25 result is reported even though it failed.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to make: the metric alone would have selected the wrong model. min_dist = 0.3 gives a 0.4 % outlier rate and is useless. Metrics were read together with topic counts and manual inspection of the keyword lists.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come straight from the notebook quality check. If asked why the real-data run has a higher outlier rate: fewer documents, far more heterogeneous language.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likely question from the examiners: how do you get arousal? Answer with the mapping route, and be explicit that it is not implemented yet.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this. It is currently under evaluation, and Parquet is the pragmatic choice for an analytical pandas workflow.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deliberately not defined by model performance alone — the project combines data engineering, NLP, psychology and dashboard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1051560"/>
            <a:ext cx="7772400" cy="1645920"/>
          </a:xfrm>
          <a:prstGeom prst="rect">
            <a:avLst/>
          </a:prstGeom>
          <a:noFill/>
        </p:spPr>
        <p:txBody>
          <a:bodyPr wrap="square" lIns="0" rIns="0" tIns="0" bIns="0">
            <a:spAutoFit/>
          </a:bodyPr>
          <a:lstStyle/>
          <a:p>
            <a:pPr>
              <a:lnSpc>
                <a:spcPct val="92000"/>
              </a:lnSpc>
              <a:spcBef>
                <a:spcPts val="0"/>
              </a:spcBef>
              <a:spcAft>
                <a:spcPts val="800"/>
              </a:spcAft>
            </a:pPr>
            <a:r>
              <a:rPr sz="8800" b="0" i="0">
                <a:solidFill>
                  <a:srgbClr val="0F1A1C"/>
                </a:solidFill>
                <a:latin typeface="Georgia"/>
              </a:rPr>
              <a:t>ELFI</a:t>
            </a:r>
          </a:p>
          <a:p>
            <a:pPr>
              <a:lnSpc>
                <a:spcPct val="110000"/>
              </a:lnSpc>
              <a:spcBef>
                <a:spcPts val="0"/>
              </a:spcBef>
              <a:spcAft>
                <a:spcPts val="0"/>
              </a:spcAft>
            </a:pPr>
            <a:r>
              <a:rPr sz="1700" b="0" i="0">
                <a:solidFill>
                  <a:srgbClr val="14636E"/>
                </a:solidFill>
                <a:latin typeface="Consolas"/>
              </a:rPr>
              <a:t>EMOTIONAL &amp; LATENT FEEDBACK INTERPRETATION</a:t>
            </a:r>
          </a:p>
        </p:txBody>
      </p:sp>
      <p:sp>
        <p:nvSpPr>
          <p:cNvPr id="4" name="Rectangle 3"/>
          <p:cNvSpPr/>
          <p:nvPr/>
        </p:nvSpPr>
        <p:spPr>
          <a:xfrm>
            <a:off x="749808" y="3310128"/>
            <a:ext cx="10692079" cy="9144"/>
          </a:xfrm>
          <a:prstGeom prst="rect">
            <a:avLst/>
          </a:prstGeom>
          <a:solidFill>
            <a:srgbClr val="D0DA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49808" y="3611880"/>
            <a:ext cx="8778240" cy="1920240"/>
          </a:xfrm>
          <a:prstGeom prst="rect">
            <a:avLst/>
          </a:prstGeom>
          <a:noFill/>
        </p:spPr>
        <p:txBody>
          <a:bodyPr wrap="square" lIns="0" rIns="0" tIns="0" bIns="0">
            <a:spAutoFit/>
          </a:bodyPr>
          <a:lstStyle/>
          <a:p>
            <a:pPr>
              <a:lnSpc>
                <a:spcPct val="110000"/>
              </a:lnSpc>
              <a:spcAft>
                <a:spcPts val="900"/>
              </a:spcAft>
            </a:pPr>
            <a:r>
              <a:rPr sz="1100" b="1">
                <a:solidFill>
                  <a:srgbClr val="14636E"/>
                </a:solidFill>
                <a:latin typeface="Consolas"/>
              </a:rPr>
              <a:t>01   </a:t>
            </a:r>
            <a:r>
              <a:rPr sz="2000">
                <a:solidFill>
                  <a:srgbClr val="5A6B6E"/>
                </a:solidFill>
                <a:latin typeface="Georgia"/>
              </a:rPr>
              <a:t>How do employees feel?</a:t>
            </a:r>
          </a:p>
          <a:p>
            <a:pPr>
              <a:lnSpc>
                <a:spcPct val="110000"/>
              </a:lnSpc>
              <a:spcAft>
                <a:spcPts val="900"/>
              </a:spcAft>
            </a:pPr>
            <a:r>
              <a:rPr sz="1100" b="1">
                <a:solidFill>
                  <a:srgbClr val="14636E"/>
                </a:solidFill>
                <a:latin typeface="Consolas"/>
              </a:rPr>
              <a:t>02   </a:t>
            </a:r>
            <a:r>
              <a:rPr sz="2000">
                <a:solidFill>
                  <a:srgbClr val="5A6B6E"/>
                </a:solidFill>
                <a:latin typeface="Georgia"/>
              </a:rPr>
              <a:t>What are employees talking about?</a:t>
            </a:r>
          </a:p>
          <a:p>
            <a:pPr>
              <a:lnSpc>
                <a:spcPct val="110000"/>
              </a:lnSpc>
              <a:spcAft>
                <a:spcPts val="900"/>
              </a:spcAft>
            </a:pPr>
            <a:r>
              <a:rPr sz="1100" b="1">
                <a:solidFill>
                  <a:srgbClr val="14636E"/>
                </a:solidFill>
                <a:latin typeface="Consolas"/>
              </a:rPr>
              <a:t>03   </a:t>
            </a:r>
            <a:r>
              <a:rPr sz="2000">
                <a:solidFill>
                  <a:srgbClr val="5A6B6E"/>
                </a:solidFill>
                <a:latin typeface="Georgia"/>
              </a:rPr>
              <a:t>How do emotions relate to engagement?</a:t>
            </a:r>
          </a:p>
        </p:txBody>
      </p:sp>
      <p:sp>
        <p:nvSpPr>
          <p:cNvPr id="6" name="TextBox 5"/>
          <p:cNvSpPr txBox="1"/>
          <p:nvPr/>
        </p:nvSpPr>
        <p:spPr>
          <a:xfrm>
            <a:off x="749808" y="6035040"/>
            <a:ext cx="10692079" cy="365760"/>
          </a:xfrm>
          <a:prstGeom prst="rect">
            <a:avLst/>
          </a:prstGeom>
          <a:noFill/>
        </p:spPr>
        <p:txBody>
          <a:bodyPr wrap="square" lIns="0" rIns="0" tIns="0" bIns="0">
            <a:spAutoFit/>
          </a:bodyPr>
          <a:lstStyle/>
          <a:p>
            <a:pPr>
              <a:lnSpc>
                <a:spcPct val="120000"/>
              </a:lnSpc>
              <a:spcBef>
                <a:spcPts val="0"/>
              </a:spcBef>
              <a:spcAft>
                <a:spcPts val="0"/>
              </a:spcAft>
            </a:pPr>
            <a:r>
              <a:rPr sz="1000" b="0" i="0">
                <a:solidFill>
                  <a:srgbClr val="8A9B9E"/>
                </a:solidFill>
                <a:latin typeface="Consolas"/>
              </a:rPr>
              <a:t>CAPSTONE MIDTERM     ·     NLP · CORE AFFECT · POWER BI     ·     DATA: HIGH5 EMPLOYEE SURVEY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PROBLEM</a:t>
            </a:r>
            <a:r>
              <a:rPr sz="1000">
                <a:solidFill>
                  <a:srgbClr val="8A9B9E"/>
                </a:solidFill>
                <a:latin typeface="Consolas"/>
              </a:rPr>
              <a:t>   ·   WHY THIS PROJECT EXISTS</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Thousands of comments are collected. Few of them are used.</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3368954" cy="1828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1828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2893466" cy="14264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READ, NOT ANALYSED</a:t>
            </a:r>
          </a:p>
          <a:p>
            <a:pPr>
              <a:lnSpc>
                <a:spcPct val="125000"/>
              </a:lnSpc>
              <a:spcBef>
                <a:spcPts val="0"/>
              </a:spcBef>
              <a:spcAft>
                <a:spcPts val="0"/>
              </a:spcAft>
            </a:pPr>
            <a:r>
              <a:rPr sz="1150" b="0" i="0">
                <a:solidFill>
                  <a:srgbClr val="5A6B6E"/>
                </a:solidFill>
                <a:latin typeface="Calibri"/>
              </a:rPr>
              <a:t>Free-text answers are skimmed manually, quoted selectively and then archived. There is no systematic, repeatable read of the corpus.</a:t>
            </a:r>
          </a:p>
        </p:txBody>
      </p:sp>
      <p:sp>
        <p:nvSpPr>
          <p:cNvPr id="9" name="Rectangle 8"/>
          <p:cNvSpPr/>
          <p:nvPr/>
        </p:nvSpPr>
        <p:spPr>
          <a:xfrm>
            <a:off x="4411370" y="1874519"/>
            <a:ext cx="3368954" cy="1828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411370" y="1874519"/>
            <a:ext cx="32004" cy="1828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667402" y="2075688"/>
            <a:ext cx="2893466" cy="14264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LOCAL VIEW, GLOBAL CLAIM</a:t>
            </a:r>
          </a:p>
          <a:p>
            <a:pPr>
              <a:lnSpc>
                <a:spcPct val="125000"/>
              </a:lnSpc>
              <a:spcBef>
                <a:spcPts val="0"/>
              </a:spcBef>
              <a:spcAft>
                <a:spcPts val="0"/>
              </a:spcAft>
            </a:pPr>
            <a:r>
              <a:rPr sz="1150" b="0" i="0">
                <a:solidFill>
                  <a:srgbClr val="5A6B6E"/>
                </a:solidFill>
                <a:latin typeface="Calibri"/>
              </a:rPr>
              <a:t>Each unit sees only its own comments and generalises from them. Whether an issue is local or organisation-wide cannot be answered.</a:t>
            </a:r>
          </a:p>
        </p:txBody>
      </p:sp>
      <p:sp>
        <p:nvSpPr>
          <p:cNvPr id="12" name="Rectangle 11"/>
          <p:cNvSpPr/>
          <p:nvPr/>
        </p:nvSpPr>
        <p:spPr>
          <a:xfrm>
            <a:off x="8072932" y="1874519"/>
            <a:ext cx="3368954" cy="1828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72932" y="1874519"/>
            <a:ext cx="32004" cy="1828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328964" y="2075688"/>
            <a:ext cx="2893466" cy="14264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SCORES WITHOUT A WHY</a:t>
            </a:r>
          </a:p>
          <a:p>
            <a:pPr>
              <a:lnSpc>
                <a:spcPct val="125000"/>
              </a:lnSpc>
              <a:spcBef>
                <a:spcPts val="0"/>
              </a:spcBef>
              <a:spcAft>
                <a:spcPts val="0"/>
              </a:spcAft>
            </a:pPr>
            <a:r>
              <a:rPr sz="1150" b="0" i="0">
                <a:solidFill>
                  <a:srgbClr val="5A6B6E"/>
                </a:solidFill>
                <a:latin typeface="Calibri"/>
              </a:rPr>
              <a:t>Likert scores show that a dimension dropped. The comments hold the explanation — but they are never linked to the scores.</a:t>
            </a:r>
          </a:p>
        </p:txBody>
      </p:sp>
      <p:sp>
        <p:nvSpPr>
          <p:cNvPr id="15" name="Rectangle 14"/>
          <p:cNvSpPr/>
          <p:nvPr/>
        </p:nvSpPr>
        <p:spPr>
          <a:xfrm>
            <a:off x="749808" y="4023360"/>
            <a:ext cx="10692079" cy="137160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49808" y="4023360"/>
            <a:ext cx="32004" cy="13716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4224528"/>
            <a:ext cx="10216591" cy="9692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GUIDING QUESTION</a:t>
            </a:r>
          </a:p>
          <a:p>
            <a:pPr>
              <a:lnSpc>
                <a:spcPct val="115000"/>
              </a:lnSpc>
              <a:spcBef>
                <a:spcPts val="0"/>
              </a:spcBef>
              <a:spcAft>
                <a:spcPts val="0"/>
              </a:spcAft>
            </a:pPr>
            <a:r>
              <a:rPr sz="2100" b="0" i="0">
                <a:solidFill>
                  <a:srgbClr val="0F1A1C"/>
                </a:solidFill>
                <a:latin typeface="Georgia"/>
              </a:rPr>
              <a:t>How can unused employee feedback become a strategic management instrument?</a:t>
            </a:r>
          </a:p>
        </p:txBody>
      </p:sp>
      <p:sp>
        <p:nvSpPr>
          <p:cNvPr id="18" name="TextBox 17"/>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FRAMEWORK</a:t>
            </a:r>
            <a:r>
              <a:rPr sz="1000">
                <a:solidFill>
                  <a:srgbClr val="8A9B9E"/>
                </a:solidFill>
                <a:latin typeface="Consolas"/>
              </a:rPr>
              <a:t>   ·   WHY EMOTIONS, NOT POLARITY</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Negative is not one thing.</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5163159" cy="3840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3840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34381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CLASSIC SENTIMENT</a:t>
            </a:r>
          </a:p>
          <a:p>
            <a:pPr>
              <a:lnSpc>
                <a:spcPct val="120000"/>
              </a:lnSpc>
              <a:spcBef>
                <a:spcPts val="0"/>
              </a:spcBef>
              <a:spcAft>
                <a:spcPts val="700"/>
              </a:spcAft>
            </a:pPr>
            <a:r>
              <a:rPr sz="1200" b="0" i="0">
                <a:solidFill>
                  <a:srgbClr val="5A6B6E"/>
                </a:solidFill>
                <a:latin typeface="Consolas"/>
              </a:rPr>
              <a:t>POSITIVE</a:t>
            </a:r>
          </a:p>
          <a:p>
            <a:pPr>
              <a:lnSpc>
                <a:spcPct val="120000"/>
              </a:lnSpc>
              <a:spcBef>
                <a:spcPts val="0"/>
              </a:spcBef>
              <a:spcAft>
                <a:spcPts val="700"/>
              </a:spcAft>
            </a:pPr>
            <a:r>
              <a:rPr sz="1200" b="0" i="0">
                <a:solidFill>
                  <a:srgbClr val="5A6B6E"/>
                </a:solidFill>
                <a:latin typeface="Consolas"/>
              </a:rPr>
              <a:t>NEUTRAL</a:t>
            </a:r>
          </a:p>
          <a:p>
            <a:pPr>
              <a:lnSpc>
                <a:spcPct val="120000"/>
              </a:lnSpc>
              <a:spcBef>
                <a:spcPts val="0"/>
              </a:spcBef>
              <a:spcAft>
                <a:spcPts val="700"/>
              </a:spcAft>
            </a:pPr>
            <a:r>
              <a:rPr sz="1200" b="0" i="0">
                <a:solidFill>
                  <a:srgbClr val="5A6B6E"/>
                </a:solidFill>
                <a:latin typeface="Consolas"/>
              </a:rPr>
              <a:t>NEGATIVE</a:t>
            </a:r>
          </a:p>
          <a:p>
            <a:pPr>
              <a:lnSpc>
                <a:spcPct val="130000"/>
              </a:lnSpc>
              <a:spcBef>
                <a:spcPts val="600"/>
              </a:spcBef>
              <a:spcAft>
                <a:spcPts val="600"/>
              </a:spcAft>
            </a:pPr>
            <a:r>
              <a:rPr sz="1200" b="0" i="0">
                <a:solidFill>
                  <a:srgbClr val="0F1A1C"/>
                </a:solidFill>
                <a:latin typeface="Calibri"/>
              </a:rPr>
              <a:t>One negative comment may express anger. Another expresses uncertainty, a third exhaustion.</a:t>
            </a:r>
          </a:p>
          <a:p>
            <a:pPr>
              <a:lnSpc>
                <a:spcPct val="130000"/>
              </a:lnSpc>
              <a:spcBef>
                <a:spcPts val="0"/>
              </a:spcBef>
              <a:spcAft>
                <a:spcPts val="1000"/>
              </a:spcAft>
            </a:pPr>
            <a:r>
              <a:rPr sz="1200" b="0" i="1">
                <a:solidFill>
                  <a:srgbClr val="5A6B6E"/>
                </a:solidFill>
                <a:latin typeface="Calibri"/>
              </a:rPr>
              <a:t>Same label — completely different measures.</a:t>
            </a:r>
          </a:p>
          <a:p>
            <a:pPr>
              <a:lnSpc>
                <a:spcPct val="118000"/>
              </a:lnSpc>
              <a:spcAft>
                <a:spcPts val="400"/>
              </a:spcAft>
            </a:pPr>
            <a:r>
              <a:rPr sz="1100">
                <a:solidFill>
                  <a:srgbClr val="14636E"/>
                </a:solidFill>
                <a:latin typeface="Calibri"/>
              </a:rPr>
              <a:t>▪  </a:t>
            </a:r>
            <a:r>
              <a:rPr sz="1100">
                <a:solidFill>
                  <a:srgbClr val="0F1A1C"/>
                </a:solidFill>
                <a:latin typeface="Calibri"/>
              </a:rPr>
              <a:t>Three classes cannot separate an angry team from a team that has quietly given up</a:t>
            </a:r>
          </a:p>
          <a:p>
            <a:pPr>
              <a:lnSpc>
                <a:spcPct val="118000"/>
              </a:lnSpc>
              <a:spcAft>
                <a:spcPts val="400"/>
              </a:spcAft>
            </a:pPr>
            <a:r>
              <a:rPr sz="1100">
                <a:solidFill>
                  <a:srgbClr val="14636E"/>
                </a:solidFill>
                <a:latin typeface="Calibri"/>
              </a:rPr>
              <a:t>▪  </a:t>
            </a:r>
            <a:r>
              <a:rPr sz="1100">
                <a:solidFill>
                  <a:srgbClr val="0F1A1C"/>
                </a:solidFill>
                <a:latin typeface="Calibri"/>
              </a:rPr>
              <a:t>One share of negatives per unit is a number, not a direction for action</a:t>
            </a:r>
          </a:p>
          <a:p>
            <a:pPr>
              <a:lnSpc>
                <a:spcPct val="118000"/>
              </a:lnSpc>
              <a:spcAft>
                <a:spcPts val="0"/>
              </a:spcAft>
            </a:pPr>
            <a:r>
              <a:rPr sz="1100">
                <a:solidFill>
                  <a:srgbClr val="14636E"/>
                </a:solidFill>
                <a:latin typeface="Calibri"/>
              </a:rPr>
              <a:t>▪  </a:t>
            </a:r>
            <a:r>
              <a:rPr sz="1100">
                <a:solidFill>
                  <a:srgbClr val="0F1A1C"/>
                </a:solidFill>
                <a:latin typeface="Calibri"/>
              </a:rPr>
              <a:t>Intensity is lost: mild irritation and open conflict share a label</a:t>
            </a:r>
          </a:p>
        </p:txBody>
      </p:sp>
      <p:sp>
        <p:nvSpPr>
          <p:cNvPr id="9" name="Rectangle 8"/>
          <p:cNvSpPr/>
          <p:nvPr/>
        </p:nvSpPr>
        <p:spPr>
          <a:xfrm>
            <a:off x="6278727" y="1874519"/>
            <a:ext cx="5163159" cy="3840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874519"/>
            <a:ext cx="32004" cy="3840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34759" y="2075688"/>
            <a:ext cx="4687671" cy="34381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CORE AFFECT — VALENCE × AROUSAL</a:t>
            </a:r>
          </a:p>
        </p:txBody>
      </p:sp>
      <p:sp>
        <p:nvSpPr>
          <p:cNvPr id="12" name="Rectangle 11"/>
          <p:cNvSpPr/>
          <p:nvPr/>
        </p:nvSpPr>
        <p:spPr>
          <a:xfrm>
            <a:off x="6589623" y="2587752"/>
            <a:ext cx="2270683" cy="1074420"/>
          </a:xfrm>
          <a:prstGeom prst="rect">
            <a:avLst/>
          </a:prstGeom>
          <a:solidFill>
            <a:srgbClr val="F7FA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860307" y="2587752"/>
            <a:ext cx="2270683" cy="1074420"/>
          </a:xfrm>
          <a:prstGeom prst="rect">
            <a:avLst/>
          </a:prstGeom>
          <a:solidFill>
            <a:srgbClr val="E9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589623" y="3662172"/>
            <a:ext cx="2270683" cy="1074420"/>
          </a:xfrm>
          <a:prstGeom prst="rect">
            <a:avLst/>
          </a:prstGeom>
          <a:solidFill>
            <a:srgbClr val="F7FA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860307" y="3662172"/>
            <a:ext cx="2270683" cy="1074420"/>
          </a:xfrm>
          <a:prstGeom prst="rect">
            <a:avLst/>
          </a:prstGeom>
          <a:solidFill>
            <a:srgbClr val="F2F7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9623" y="3656685"/>
            <a:ext cx="4541367" cy="10972"/>
          </a:xfrm>
          <a:prstGeom prst="rect">
            <a:avLst/>
          </a:prstGeom>
          <a:solidFill>
            <a:srgbClr val="D0DA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854821" y="2587752"/>
            <a:ext cx="10972" cy="2148840"/>
          </a:xfrm>
          <a:prstGeom prst="rect">
            <a:avLst/>
          </a:prstGeom>
          <a:solidFill>
            <a:srgbClr val="D0DA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699351" y="2697480"/>
            <a:ext cx="2051227" cy="548640"/>
          </a:xfrm>
          <a:prstGeom prst="rect">
            <a:avLst/>
          </a:prstGeom>
          <a:noFill/>
        </p:spPr>
        <p:txBody>
          <a:bodyPr wrap="square" lIns="0" rIns="0" tIns="0" bIns="0">
            <a:spAutoFit/>
          </a:bodyPr>
          <a:lstStyle/>
          <a:p>
            <a:pPr>
              <a:lnSpc>
                <a:spcPct val="120000"/>
              </a:lnSpc>
              <a:spcBef>
                <a:spcPts val="0"/>
              </a:spcBef>
              <a:spcAft>
                <a:spcPts val="100"/>
              </a:spcAft>
            </a:pPr>
            <a:r>
              <a:rPr sz="1150" b="1" i="0">
                <a:solidFill>
                  <a:srgbClr val="0F1A1C"/>
                </a:solidFill>
                <a:latin typeface="Calibri"/>
              </a:rPr>
              <a:t>Stress</a:t>
            </a:r>
          </a:p>
          <a:p>
            <a:pPr>
              <a:lnSpc>
                <a:spcPct val="110000"/>
              </a:lnSpc>
              <a:spcBef>
                <a:spcPts val="0"/>
              </a:spcBef>
              <a:spcAft>
                <a:spcPts val="0"/>
              </a:spcAft>
            </a:pPr>
            <a:r>
              <a:rPr sz="900" b="0" i="0">
                <a:solidFill>
                  <a:srgbClr val="5A6B6E"/>
                </a:solidFill>
                <a:latin typeface="Calibri"/>
              </a:rPr>
              <a:t>tension, anger, overload</a:t>
            </a:r>
          </a:p>
        </p:txBody>
      </p:sp>
      <p:sp>
        <p:nvSpPr>
          <p:cNvPr id="19" name="TextBox 18"/>
          <p:cNvSpPr txBox="1"/>
          <p:nvPr/>
        </p:nvSpPr>
        <p:spPr>
          <a:xfrm>
            <a:off x="8970035" y="2697480"/>
            <a:ext cx="2051227" cy="548640"/>
          </a:xfrm>
          <a:prstGeom prst="rect">
            <a:avLst/>
          </a:prstGeom>
          <a:noFill/>
        </p:spPr>
        <p:txBody>
          <a:bodyPr wrap="square" lIns="0" rIns="0" tIns="0" bIns="0">
            <a:spAutoFit/>
          </a:bodyPr>
          <a:lstStyle/>
          <a:p>
            <a:pPr>
              <a:lnSpc>
                <a:spcPct val="120000"/>
              </a:lnSpc>
              <a:spcBef>
                <a:spcPts val="0"/>
              </a:spcBef>
              <a:spcAft>
                <a:spcPts val="100"/>
              </a:spcAft>
            </a:pPr>
            <a:r>
              <a:rPr sz="1150" b="1" i="0">
                <a:solidFill>
                  <a:srgbClr val="0F1A1C"/>
                </a:solidFill>
                <a:latin typeface="Calibri"/>
              </a:rPr>
              <a:t>Enthusiasm</a:t>
            </a:r>
          </a:p>
          <a:p>
            <a:pPr>
              <a:lnSpc>
                <a:spcPct val="110000"/>
              </a:lnSpc>
              <a:spcBef>
                <a:spcPts val="0"/>
              </a:spcBef>
              <a:spcAft>
                <a:spcPts val="0"/>
              </a:spcAft>
            </a:pPr>
            <a:r>
              <a:rPr sz="900" b="0" i="0">
                <a:solidFill>
                  <a:srgbClr val="5A6B6E"/>
                </a:solidFill>
                <a:latin typeface="Calibri"/>
              </a:rPr>
              <a:t>energy, pride, momentum</a:t>
            </a:r>
          </a:p>
        </p:txBody>
      </p:sp>
      <p:sp>
        <p:nvSpPr>
          <p:cNvPr id="20" name="TextBox 19"/>
          <p:cNvSpPr txBox="1"/>
          <p:nvPr/>
        </p:nvSpPr>
        <p:spPr>
          <a:xfrm>
            <a:off x="6699351" y="3771900"/>
            <a:ext cx="2051227" cy="548640"/>
          </a:xfrm>
          <a:prstGeom prst="rect">
            <a:avLst/>
          </a:prstGeom>
          <a:noFill/>
        </p:spPr>
        <p:txBody>
          <a:bodyPr wrap="square" lIns="0" rIns="0" tIns="0" bIns="0">
            <a:spAutoFit/>
          </a:bodyPr>
          <a:lstStyle/>
          <a:p>
            <a:pPr>
              <a:lnSpc>
                <a:spcPct val="120000"/>
              </a:lnSpc>
              <a:spcBef>
                <a:spcPts val="0"/>
              </a:spcBef>
              <a:spcAft>
                <a:spcPts val="100"/>
              </a:spcAft>
            </a:pPr>
            <a:r>
              <a:rPr sz="1150" b="1" i="0">
                <a:solidFill>
                  <a:srgbClr val="0F1A1C"/>
                </a:solidFill>
                <a:latin typeface="Calibri"/>
              </a:rPr>
              <a:t>Resignation</a:t>
            </a:r>
          </a:p>
          <a:p>
            <a:pPr>
              <a:lnSpc>
                <a:spcPct val="110000"/>
              </a:lnSpc>
              <a:spcBef>
                <a:spcPts val="0"/>
              </a:spcBef>
              <a:spcAft>
                <a:spcPts val="0"/>
              </a:spcAft>
            </a:pPr>
            <a:r>
              <a:rPr sz="900" b="0" i="0">
                <a:solidFill>
                  <a:srgbClr val="5A6B6E"/>
                </a:solidFill>
                <a:latin typeface="Calibri"/>
              </a:rPr>
              <a:t>withdrawal, fatigue</a:t>
            </a:r>
          </a:p>
        </p:txBody>
      </p:sp>
      <p:sp>
        <p:nvSpPr>
          <p:cNvPr id="21" name="TextBox 20"/>
          <p:cNvSpPr txBox="1"/>
          <p:nvPr/>
        </p:nvSpPr>
        <p:spPr>
          <a:xfrm>
            <a:off x="8970035" y="3771900"/>
            <a:ext cx="2051227" cy="548640"/>
          </a:xfrm>
          <a:prstGeom prst="rect">
            <a:avLst/>
          </a:prstGeom>
          <a:noFill/>
        </p:spPr>
        <p:txBody>
          <a:bodyPr wrap="square" lIns="0" rIns="0" tIns="0" bIns="0">
            <a:spAutoFit/>
          </a:bodyPr>
          <a:lstStyle/>
          <a:p>
            <a:pPr>
              <a:lnSpc>
                <a:spcPct val="120000"/>
              </a:lnSpc>
              <a:spcBef>
                <a:spcPts val="0"/>
              </a:spcBef>
              <a:spcAft>
                <a:spcPts val="100"/>
              </a:spcAft>
            </a:pPr>
            <a:r>
              <a:rPr sz="1150" b="1" i="0">
                <a:solidFill>
                  <a:srgbClr val="0F1A1C"/>
                </a:solidFill>
                <a:latin typeface="Calibri"/>
              </a:rPr>
              <a:t>Satisfaction</a:t>
            </a:r>
          </a:p>
          <a:p>
            <a:pPr>
              <a:lnSpc>
                <a:spcPct val="110000"/>
              </a:lnSpc>
              <a:spcBef>
                <a:spcPts val="0"/>
              </a:spcBef>
              <a:spcAft>
                <a:spcPts val="0"/>
              </a:spcAft>
            </a:pPr>
            <a:r>
              <a:rPr sz="900" b="0" i="0">
                <a:solidFill>
                  <a:srgbClr val="5A6B6E"/>
                </a:solidFill>
                <a:latin typeface="Calibri"/>
              </a:rPr>
              <a:t>calm, trust, stability</a:t>
            </a:r>
          </a:p>
        </p:txBody>
      </p:sp>
      <p:sp>
        <p:nvSpPr>
          <p:cNvPr id="22" name="TextBox 21"/>
          <p:cNvSpPr txBox="1"/>
          <p:nvPr/>
        </p:nvSpPr>
        <p:spPr>
          <a:xfrm>
            <a:off x="6589623" y="4773168"/>
            <a:ext cx="2270683" cy="219456"/>
          </a:xfrm>
          <a:prstGeom prst="rect">
            <a:avLst/>
          </a:prstGeom>
          <a:noFill/>
        </p:spPr>
        <p:txBody>
          <a:bodyPr wrap="square" lIns="0" rIns="0" tIns="0" bIns="0">
            <a:spAutoFit/>
          </a:bodyPr>
          <a:lstStyle/>
          <a:p>
            <a:pPr>
              <a:lnSpc>
                <a:spcPct val="120000"/>
              </a:lnSpc>
              <a:spcBef>
                <a:spcPts val="0"/>
              </a:spcBef>
              <a:spcAft>
                <a:spcPts val="0"/>
              </a:spcAft>
            </a:pPr>
            <a:r>
              <a:rPr sz="850" b="0" i="0">
                <a:solidFill>
                  <a:srgbClr val="8A9B9E"/>
                </a:solidFill>
                <a:latin typeface="Consolas"/>
              </a:rPr>
              <a:t>← VALENCE −</a:t>
            </a:r>
          </a:p>
        </p:txBody>
      </p:sp>
      <p:sp>
        <p:nvSpPr>
          <p:cNvPr id="23" name="TextBox 22"/>
          <p:cNvSpPr txBox="1"/>
          <p:nvPr/>
        </p:nvSpPr>
        <p:spPr>
          <a:xfrm>
            <a:off x="8860307" y="4773168"/>
            <a:ext cx="2270683" cy="219456"/>
          </a:xfrm>
          <a:prstGeom prst="rect">
            <a:avLst/>
          </a:prstGeom>
          <a:noFill/>
        </p:spPr>
        <p:txBody>
          <a:bodyPr wrap="square" lIns="0" rIns="0" tIns="0" bIns="0">
            <a:spAutoFit/>
          </a:bodyPr>
          <a:lstStyle/>
          <a:p>
            <a:pPr algn="r">
              <a:lnSpc>
                <a:spcPct val="120000"/>
              </a:lnSpc>
              <a:spcBef>
                <a:spcPts val="0"/>
              </a:spcBef>
              <a:spcAft>
                <a:spcPts val="0"/>
              </a:spcAft>
            </a:pPr>
            <a:r>
              <a:rPr sz="850" b="0" i="0">
                <a:solidFill>
                  <a:srgbClr val="8A9B9E"/>
                </a:solidFill>
                <a:latin typeface="Consolas"/>
              </a:rPr>
              <a:t>VALENCE + →</a:t>
            </a:r>
          </a:p>
        </p:txBody>
      </p:sp>
      <p:sp>
        <p:nvSpPr>
          <p:cNvPr id="24" name="TextBox 23"/>
          <p:cNvSpPr txBox="1"/>
          <p:nvPr/>
        </p:nvSpPr>
        <p:spPr>
          <a:xfrm>
            <a:off x="6589623" y="2350008"/>
            <a:ext cx="4541367" cy="219456"/>
          </a:xfrm>
          <a:prstGeom prst="rect">
            <a:avLst/>
          </a:prstGeom>
          <a:noFill/>
        </p:spPr>
        <p:txBody>
          <a:bodyPr wrap="square" lIns="0" rIns="0" tIns="0" bIns="0">
            <a:spAutoFit/>
          </a:bodyPr>
          <a:lstStyle/>
          <a:p>
            <a:pPr>
              <a:lnSpc>
                <a:spcPct val="120000"/>
              </a:lnSpc>
              <a:spcBef>
                <a:spcPts val="0"/>
              </a:spcBef>
              <a:spcAft>
                <a:spcPts val="0"/>
              </a:spcAft>
            </a:pPr>
            <a:r>
              <a:rPr sz="850" b="0" i="0">
                <a:solidFill>
                  <a:srgbClr val="8A9B9E"/>
                </a:solidFill>
                <a:latin typeface="Consolas"/>
              </a:rPr>
              <a:t>↑ AROUSAL + (ACTIVATED)</a:t>
            </a:r>
          </a:p>
        </p:txBody>
      </p:sp>
      <p:sp>
        <p:nvSpPr>
          <p:cNvPr id="25" name="TextBox 24"/>
          <p:cNvSpPr txBox="1"/>
          <p:nvPr/>
        </p:nvSpPr>
        <p:spPr>
          <a:xfrm>
            <a:off x="6589623" y="5138928"/>
            <a:ext cx="4541367" cy="548640"/>
          </a:xfrm>
          <a:prstGeom prst="rect">
            <a:avLst/>
          </a:prstGeom>
          <a:noFill/>
        </p:spPr>
        <p:txBody>
          <a:bodyPr wrap="square" lIns="0" rIns="0" tIns="0" bIns="0">
            <a:spAutoFit/>
          </a:bodyPr>
          <a:lstStyle/>
          <a:p>
            <a:pPr>
              <a:lnSpc>
                <a:spcPct val="125000"/>
              </a:lnSpc>
              <a:spcBef>
                <a:spcPts val="0"/>
              </a:spcBef>
              <a:spcAft>
                <a:spcPts val="0"/>
              </a:spcAft>
            </a:pPr>
            <a:r>
              <a:rPr sz="1100" b="0" i="0">
                <a:solidFill>
                  <a:srgbClr val="5A6B6E"/>
                </a:solidFill>
                <a:latin typeface="Calibri"/>
              </a:rPr>
              <a:t>After Lisa Feldman Barrett's Theory of Constructed Emotion: emotions are not fixed categories but constructed over two continuous dimensions.</a:t>
            </a:r>
          </a:p>
        </p:txBody>
      </p:sp>
      <p:sp>
        <p:nvSpPr>
          <p:cNvPr id="26" name="TextBox 25"/>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DATA</a:t>
            </a:r>
            <a:r>
              <a:rPr sz="1000">
                <a:solidFill>
                  <a:srgbClr val="8A9B9E"/>
                </a:solidFill>
                <a:latin typeface="Consolas"/>
              </a:rPr>
              <a:t>   ·   TWO DATASETS, ONE PIPELINE</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Developed on real data. Demonstrated on synthetic data.</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5163159" cy="27889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7889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238658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REAL HIGH5 DATA — CONFIDENTIAL</a:t>
            </a:r>
          </a:p>
        </p:txBody>
      </p:sp>
      <p:graphicFrame>
        <p:nvGraphicFramePr>
          <p:cNvPr id="9" name="Table 8"/>
          <p:cNvGraphicFramePr>
            <a:graphicFrameLocks noGrp="1"/>
          </p:cNvGraphicFramePr>
          <p:nvPr/>
        </p:nvGraphicFramePr>
        <p:xfrm>
          <a:off x="1005840" y="2441448"/>
          <a:ext cx="4651095" cy="1097280"/>
        </p:xfrm>
        <a:graphic>
          <a:graphicData uri="http://schemas.openxmlformats.org/drawingml/2006/table">
            <a:tbl>
              <a:tblPr>
                <a:tableStyleId>{5C22544A-7EE6-4342-B048-85BDC9FD1C3A}</a:tableStyleId>
              </a:tblPr>
              <a:tblGrid>
                <a:gridCol w="2697635"/>
                <a:gridCol w="1953460"/>
              </a:tblGrid>
              <a:tr h="274320">
                <a:tc>
                  <a:txBody>
                    <a:bodyPr wrap="square"/>
                    <a:lstStyle/>
                    <a:p>
                      <a:pPr>
                        <a:lnSpc>
                          <a:spcPct val="100000"/>
                        </a:lnSpc>
                      </a:pPr>
                      <a:r>
                        <a:rPr sz="1050" b="0">
                          <a:solidFill>
                            <a:srgbClr val="0F1A1C"/>
                          </a:solidFill>
                          <a:latin typeface="Calibri"/>
                        </a:rPr>
                        <a:t>Responses</a:t>
                      </a:r>
                    </a:p>
                  </a:txBody>
                  <a:tcPr marL="64008" marR="64008" marT="18288" marB="18288" anchor="ctr">
                    <a:solidFill>
                      <a:srgbClr val="EEF2F2"/>
                    </a:solidFill>
                  </a:tcPr>
                </a:tc>
                <a:tc>
                  <a:txBody>
                    <a:bodyPr wrap="square"/>
                    <a:lstStyle/>
                    <a:p>
                      <a:pPr algn="r">
                        <a:lnSpc>
                          <a:spcPct val="100000"/>
                        </a:lnSpc>
                      </a:pPr>
                      <a:r>
                        <a:rPr sz="1050" b="1">
                          <a:solidFill>
                            <a:srgbClr val="0F1A1C"/>
                          </a:solidFill>
                          <a:latin typeface="Calibri"/>
                        </a:rPr>
                        <a:t>46,000+</a:t>
                      </a:r>
                    </a:p>
                  </a:txBody>
                  <a:tcPr marL="64008" marR="64008" marT="18288" marB="18288" anchor="ctr">
                    <a:solidFill>
                      <a:srgbClr val="EEF2F2"/>
                    </a:solidFill>
                  </a:tcPr>
                </a:tc>
              </a:tr>
              <a:tr h="274320">
                <a:tc>
                  <a:txBody>
                    <a:bodyPr wrap="square"/>
                    <a:lstStyle/>
                    <a:p>
                      <a:pPr>
                        <a:lnSpc>
                          <a:spcPct val="100000"/>
                        </a:lnSpc>
                      </a:pPr>
                      <a:r>
                        <a:rPr sz="1050" b="0">
                          <a:solidFill>
                            <a:srgbClr val="0F1A1C"/>
                          </a:solidFill>
                          <a:latin typeface="Calibri"/>
                        </a:rPr>
                        <a:t>Free-text comments</a:t>
                      </a:r>
                    </a:p>
                  </a:txBody>
                  <a:tcPr marL="64008" marR="64008" marT="18288" marB="18288" anchor="ctr">
                    <a:solidFill>
                      <a:srgbClr val="FFFFFF"/>
                    </a:solidFill>
                  </a:tcPr>
                </a:tc>
                <a:tc>
                  <a:txBody>
                    <a:bodyPr wrap="square"/>
                    <a:lstStyle/>
                    <a:p>
                      <a:pPr algn="r">
                        <a:lnSpc>
                          <a:spcPct val="100000"/>
                        </a:lnSpc>
                      </a:pPr>
                      <a:r>
                        <a:rPr sz="1050" b="1">
                          <a:solidFill>
                            <a:srgbClr val="0F1A1C"/>
                          </a:solidFill>
                          <a:latin typeface="Calibri"/>
                        </a:rPr>
                        <a:t>4,297</a:t>
                      </a:r>
                    </a:p>
                  </a:txBody>
                  <a:tcPr marL="64008" marR="64008" marT="18288" marB="18288" anchor="ctr">
                    <a:solidFill>
                      <a:srgbClr val="FFFFFF"/>
                    </a:solidFill>
                  </a:tcPr>
                </a:tc>
              </a:tr>
              <a:tr h="274320">
                <a:tc>
                  <a:txBody>
                    <a:bodyPr wrap="square"/>
                    <a:lstStyle/>
                    <a:p>
                      <a:pPr>
                        <a:lnSpc>
                          <a:spcPct val="100000"/>
                        </a:lnSpc>
                      </a:pPr>
                      <a:r>
                        <a:rPr sz="1050" b="0">
                          <a:solidFill>
                            <a:srgbClr val="0F1A1C"/>
                          </a:solidFill>
                          <a:latin typeface="Calibri"/>
                        </a:rPr>
                        <a:t>Likert items</a:t>
                      </a:r>
                    </a:p>
                  </a:txBody>
                  <a:tcPr marL="64008" marR="64008" marT="18288" marB="18288" anchor="ctr">
                    <a:solidFill>
                      <a:srgbClr val="EEF2F2"/>
                    </a:solidFill>
                  </a:tcPr>
                </a:tc>
                <a:tc>
                  <a:txBody>
                    <a:bodyPr wrap="square"/>
                    <a:lstStyle/>
                    <a:p>
                      <a:pPr algn="r">
                        <a:lnSpc>
                          <a:spcPct val="100000"/>
                        </a:lnSpc>
                      </a:pPr>
                      <a:r>
                        <a:rPr sz="1050" b="1">
                          <a:solidFill>
                            <a:srgbClr val="0F1A1C"/>
                          </a:solidFill>
                          <a:latin typeface="Calibri"/>
                        </a:rPr>
                        <a:t>54</a:t>
                      </a:r>
                    </a:p>
                  </a:txBody>
                  <a:tcPr marL="64008" marR="64008" marT="18288" marB="18288" anchor="ctr">
                    <a:solidFill>
                      <a:srgbClr val="EEF2F2"/>
                    </a:solidFill>
                  </a:tcPr>
                </a:tc>
              </a:tr>
              <a:tr h="274320">
                <a:tc>
                  <a:txBody>
                    <a:bodyPr wrap="square"/>
                    <a:lstStyle/>
                    <a:p>
                      <a:pPr>
                        <a:lnSpc>
                          <a:spcPct val="100000"/>
                        </a:lnSpc>
                      </a:pPr>
                      <a:r>
                        <a:rPr sz="1050" b="0">
                          <a:solidFill>
                            <a:srgbClr val="0F1A1C"/>
                          </a:solidFill>
                          <a:latin typeface="Calibri"/>
                        </a:rPr>
                        <a:t>Survey exports</a:t>
                      </a:r>
                    </a:p>
                  </a:txBody>
                  <a:tcPr marL="64008" marR="64008" marT="18288" marB="18288" anchor="ctr">
                    <a:solidFill>
                      <a:srgbClr val="FFFFFF"/>
                    </a:solidFill>
                  </a:tcPr>
                </a:tc>
                <a:tc>
                  <a:txBody>
                    <a:bodyPr wrap="square"/>
                    <a:lstStyle/>
                    <a:p>
                      <a:pPr algn="r">
                        <a:lnSpc>
                          <a:spcPct val="100000"/>
                        </a:lnSpc>
                      </a:pPr>
                      <a:r>
                        <a:rPr sz="1050" b="1">
                          <a:solidFill>
                            <a:srgbClr val="0F1A1C"/>
                          </a:solidFill>
                          <a:latin typeface="Calibri"/>
                        </a:rPr>
                        <a:t>17 (23_1 → 24_2)</a:t>
                      </a:r>
                    </a:p>
                  </a:txBody>
                  <a:tcPr marL="64008" marR="64008" marT="18288" marB="18288" anchor="ctr">
                    <a:solidFill>
                      <a:srgbClr val="FFFFFF"/>
                    </a:solidFill>
                  </a:tcPr>
                </a:tc>
              </a:tr>
            </a:tbl>
          </a:graphicData>
        </a:graphic>
      </p:graphicFrame>
      <p:sp>
        <p:nvSpPr>
          <p:cNvPr id="10" name="TextBox 9"/>
          <p:cNvSpPr txBox="1"/>
          <p:nvPr/>
        </p:nvSpPr>
        <p:spPr>
          <a:xfrm>
            <a:off x="1005840" y="3749039"/>
            <a:ext cx="4651095" cy="1463040"/>
          </a:xfrm>
          <a:prstGeom prst="rect">
            <a:avLst/>
          </a:prstGeom>
          <a:noFill/>
        </p:spPr>
        <p:txBody>
          <a:bodyPr wrap="square" lIns="0" rIns="0" tIns="0" bIns="0">
            <a:spAutoFit/>
          </a:bodyPr>
          <a:lstStyle/>
          <a:p>
            <a:pPr>
              <a:lnSpc>
                <a:spcPct val="118000"/>
              </a:lnSpc>
              <a:spcAft>
                <a:spcPts val="400"/>
              </a:spcAft>
            </a:pPr>
            <a:r>
              <a:rPr sz="1150">
                <a:solidFill>
                  <a:srgbClr val="14636E"/>
                </a:solidFill>
                <a:latin typeface="Calibri"/>
              </a:rPr>
              <a:t>▪  </a:t>
            </a:r>
            <a:r>
              <a:rPr sz="1150">
                <a:solidFill>
                  <a:srgbClr val="0F1A1C"/>
                </a:solidFill>
                <a:latin typeface="Calibri"/>
              </a:rPr>
              <a:t>8 thematic High5 dimensions, several business units</a:t>
            </a:r>
          </a:p>
          <a:p>
            <a:pPr>
              <a:lnSpc>
                <a:spcPct val="118000"/>
              </a:lnSpc>
              <a:spcAft>
                <a:spcPts val="400"/>
              </a:spcAft>
            </a:pPr>
            <a:r>
              <a:rPr sz="1150">
                <a:solidFill>
                  <a:srgbClr val="14636E"/>
                </a:solidFill>
                <a:latin typeface="Calibri"/>
              </a:rPr>
              <a:t>▪  </a:t>
            </a:r>
            <a:r>
              <a:rPr sz="1150">
                <a:solidFill>
                  <a:srgbClr val="0F1A1C"/>
                </a:solidFill>
                <a:latin typeface="Calibri"/>
              </a:rPr>
              <a:t>Statistical figures may be shown — original text may not</a:t>
            </a:r>
          </a:p>
          <a:p>
            <a:pPr>
              <a:lnSpc>
                <a:spcPct val="118000"/>
              </a:lnSpc>
              <a:spcAft>
                <a:spcPts val="0"/>
              </a:spcAft>
            </a:pPr>
            <a:r>
              <a:rPr sz="1150">
                <a:solidFill>
                  <a:srgbClr val="14636E"/>
                </a:solidFill>
                <a:latin typeface="Calibri"/>
              </a:rPr>
              <a:t>▪  </a:t>
            </a:r>
            <a:r>
              <a:rPr sz="1150">
                <a:solidFill>
                  <a:srgbClr val="0F1A1C"/>
                </a:solidFill>
                <a:latin typeface="Calibri"/>
              </a:rPr>
              <a:t>All model development happens here</a:t>
            </a:r>
          </a:p>
        </p:txBody>
      </p:sp>
      <p:sp>
        <p:nvSpPr>
          <p:cNvPr id="11" name="Rectangle 10"/>
          <p:cNvSpPr/>
          <p:nvPr/>
        </p:nvSpPr>
        <p:spPr>
          <a:xfrm>
            <a:off x="6278727" y="1874519"/>
            <a:ext cx="5163159" cy="27889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8727" y="1874519"/>
            <a:ext cx="32004" cy="27889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34759" y="2075688"/>
            <a:ext cx="4687671" cy="238658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SYNTHETIC DATA — PUBLISHABLE</a:t>
            </a:r>
          </a:p>
        </p:txBody>
      </p:sp>
      <p:graphicFrame>
        <p:nvGraphicFramePr>
          <p:cNvPr id="14" name="Table 13"/>
          <p:cNvGraphicFramePr>
            <a:graphicFrameLocks noGrp="1"/>
          </p:cNvGraphicFramePr>
          <p:nvPr/>
        </p:nvGraphicFramePr>
        <p:xfrm>
          <a:off x="6534759" y="2441448"/>
          <a:ext cx="4651095" cy="1097280"/>
        </p:xfrm>
        <a:graphic>
          <a:graphicData uri="http://schemas.openxmlformats.org/drawingml/2006/table">
            <a:tbl>
              <a:tblPr>
                <a:tableStyleId>{5C22544A-7EE6-4342-B048-85BDC9FD1C3A}</a:tableStyleId>
              </a:tblPr>
              <a:tblGrid>
                <a:gridCol w="2697635"/>
                <a:gridCol w="1953460"/>
              </a:tblGrid>
              <a:tr h="274320">
                <a:tc>
                  <a:txBody>
                    <a:bodyPr wrap="square"/>
                    <a:lstStyle/>
                    <a:p>
                      <a:pPr>
                        <a:lnSpc>
                          <a:spcPct val="100000"/>
                        </a:lnSpc>
                      </a:pPr>
                      <a:r>
                        <a:rPr sz="1050" b="0">
                          <a:solidFill>
                            <a:srgbClr val="0F1A1C"/>
                          </a:solidFill>
                          <a:latin typeface="Calibri"/>
                        </a:rPr>
                        <a:t>Responses / comments</a:t>
                      </a:r>
                    </a:p>
                  </a:txBody>
                  <a:tcPr marL="64008" marR="64008" marT="18288" marB="18288" anchor="ctr">
                    <a:solidFill>
                      <a:srgbClr val="EEF2F2"/>
                    </a:solidFill>
                  </a:tcPr>
                </a:tc>
                <a:tc>
                  <a:txBody>
                    <a:bodyPr wrap="square"/>
                    <a:lstStyle/>
                    <a:p>
                      <a:pPr algn="r">
                        <a:lnSpc>
                          <a:spcPct val="100000"/>
                        </a:lnSpc>
                      </a:pPr>
                      <a:r>
                        <a:rPr sz="1050" b="1">
                          <a:solidFill>
                            <a:srgbClr val="0F1A1C"/>
                          </a:solidFill>
                          <a:latin typeface="Calibri"/>
                        </a:rPr>
                        <a:t>7,000 / 5,000</a:t>
                      </a:r>
                    </a:p>
                  </a:txBody>
                  <a:tcPr marL="64008" marR="64008" marT="18288" marB="18288" anchor="ctr">
                    <a:solidFill>
                      <a:srgbClr val="EEF2F2"/>
                    </a:solidFill>
                  </a:tcPr>
                </a:tc>
              </a:tr>
              <a:tr h="274320">
                <a:tc>
                  <a:txBody>
                    <a:bodyPr wrap="square"/>
                    <a:lstStyle/>
                    <a:p>
                      <a:pPr>
                        <a:lnSpc>
                          <a:spcPct val="100000"/>
                        </a:lnSpc>
                      </a:pPr>
                      <a:r>
                        <a:rPr sz="1050" b="0">
                          <a:solidFill>
                            <a:srgbClr val="0F1A1C"/>
                          </a:solidFill>
                          <a:latin typeface="Calibri"/>
                        </a:rPr>
                        <a:t>Comment rate</a:t>
                      </a:r>
                    </a:p>
                  </a:txBody>
                  <a:tcPr marL="64008" marR="64008" marT="18288" marB="18288" anchor="ctr">
                    <a:solidFill>
                      <a:srgbClr val="FFFFFF"/>
                    </a:solidFill>
                  </a:tcPr>
                </a:tc>
                <a:tc>
                  <a:txBody>
                    <a:bodyPr wrap="square"/>
                    <a:lstStyle/>
                    <a:p>
                      <a:pPr algn="r">
                        <a:lnSpc>
                          <a:spcPct val="100000"/>
                        </a:lnSpc>
                      </a:pPr>
                      <a:r>
                        <a:rPr sz="1050" b="1">
                          <a:solidFill>
                            <a:srgbClr val="0F1A1C"/>
                          </a:solidFill>
                          <a:latin typeface="Calibri"/>
                        </a:rPr>
                        <a:t>&gt; 96 %</a:t>
                      </a:r>
                    </a:p>
                  </a:txBody>
                  <a:tcPr marL="64008" marR="64008" marT="18288" marB="18288" anchor="ctr">
                    <a:solidFill>
                      <a:srgbClr val="FFFFFF"/>
                    </a:solidFill>
                  </a:tcPr>
                </a:tc>
              </a:tr>
              <a:tr h="274320">
                <a:tc>
                  <a:txBody>
                    <a:bodyPr wrap="square"/>
                    <a:lstStyle/>
                    <a:p>
                      <a:pPr>
                        <a:lnSpc>
                          <a:spcPct val="100000"/>
                        </a:lnSpc>
                      </a:pPr>
                      <a:r>
                        <a:rPr sz="1050" b="0">
                          <a:solidFill>
                            <a:srgbClr val="0F1A1C"/>
                          </a:solidFill>
                          <a:latin typeface="Calibri"/>
                        </a:rPr>
                        <a:t>Median comment length</a:t>
                      </a:r>
                    </a:p>
                  </a:txBody>
                  <a:tcPr marL="64008" marR="64008" marT="18288" marB="18288" anchor="ctr">
                    <a:solidFill>
                      <a:srgbClr val="EEF2F2"/>
                    </a:solidFill>
                  </a:tcPr>
                </a:tc>
                <a:tc>
                  <a:txBody>
                    <a:bodyPr wrap="square"/>
                    <a:lstStyle/>
                    <a:p>
                      <a:pPr algn="r">
                        <a:lnSpc>
                          <a:spcPct val="100000"/>
                        </a:lnSpc>
                      </a:pPr>
                      <a:r>
                        <a:rPr sz="1050" b="1">
                          <a:solidFill>
                            <a:srgbClr val="0F1A1C"/>
                          </a:solidFill>
                          <a:latin typeface="Calibri"/>
                        </a:rPr>
                        <a:t>25 words</a:t>
                      </a:r>
                    </a:p>
                  </a:txBody>
                  <a:tcPr marL="64008" marR="64008" marT="18288" marB="18288" anchor="ctr">
                    <a:solidFill>
                      <a:srgbClr val="EEF2F2"/>
                    </a:solidFill>
                  </a:tcPr>
                </a:tc>
              </a:tr>
              <a:tr h="274320">
                <a:tc>
                  <a:txBody>
                    <a:bodyPr wrap="square"/>
                    <a:lstStyle/>
                    <a:p>
                      <a:pPr>
                        <a:lnSpc>
                          <a:spcPct val="100000"/>
                        </a:lnSpc>
                      </a:pPr>
                      <a:r>
                        <a:rPr sz="1050" b="0">
                          <a:solidFill>
                            <a:srgbClr val="0F1A1C"/>
                          </a:solidFill>
                          <a:latin typeface="Calibri"/>
                        </a:rPr>
                        <a:t>Cronbach α per dimension</a:t>
                      </a:r>
                    </a:p>
                  </a:txBody>
                  <a:tcPr marL="64008" marR="64008" marT="18288" marB="18288" anchor="ctr">
                    <a:solidFill>
                      <a:srgbClr val="FFFFFF"/>
                    </a:solidFill>
                  </a:tcPr>
                </a:tc>
                <a:tc>
                  <a:txBody>
                    <a:bodyPr wrap="square"/>
                    <a:lstStyle/>
                    <a:p>
                      <a:pPr algn="r">
                        <a:lnSpc>
                          <a:spcPct val="100000"/>
                        </a:lnSpc>
                      </a:pPr>
                      <a:r>
                        <a:rPr sz="1050" b="1">
                          <a:solidFill>
                            <a:srgbClr val="0F1A1C"/>
                          </a:solidFill>
                          <a:latin typeface="Calibri"/>
                        </a:rPr>
                        <a:t>0.68 – 0.96</a:t>
                      </a:r>
                    </a:p>
                  </a:txBody>
                  <a:tcPr marL="64008" marR="64008" marT="18288" marB="18288" anchor="ctr">
                    <a:solidFill>
                      <a:srgbClr val="FFFFFF"/>
                    </a:solidFill>
                  </a:tcPr>
                </a:tc>
              </a:tr>
            </a:tbl>
          </a:graphicData>
        </a:graphic>
      </p:graphicFrame>
      <p:sp>
        <p:nvSpPr>
          <p:cNvPr id="15" name="TextBox 14"/>
          <p:cNvSpPr txBox="1"/>
          <p:nvPr/>
        </p:nvSpPr>
        <p:spPr>
          <a:xfrm>
            <a:off x="6534759" y="3749039"/>
            <a:ext cx="4651095" cy="1463040"/>
          </a:xfrm>
          <a:prstGeom prst="rect">
            <a:avLst/>
          </a:prstGeom>
          <a:noFill/>
        </p:spPr>
        <p:txBody>
          <a:bodyPr wrap="square" lIns="0" rIns="0" tIns="0" bIns="0">
            <a:spAutoFit/>
          </a:bodyPr>
          <a:lstStyle/>
          <a:p>
            <a:pPr>
              <a:lnSpc>
                <a:spcPct val="118000"/>
              </a:lnSpc>
              <a:spcAft>
                <a:spcPts val="400"/>
              </a:spcAft>
            </a:pPr>
            <a:r>
              <a:rPr sz="1150">
                <a:solidFill>
                  <a:srgbClr val="14636E"/>
                </a:solidFill>
                <a:latin typeface="Calibri"/>
              </a:rPr>
              <a:t>▪  </a:t>
            </a:r>
            <a:r>
              <a:rPr sz="1150">
                <a:solidFill>
                  <a:srgbClr val="0F1A1C"/>
                </a:solidFill>
                <a:latin typeface="Calibri"/>
              </a:rPr>
              <a:t>Same schema, same scales, same iteration structure</a:t>
            </a:r>
          </a:p>
          <a:p>
            <a:pPr>
              <a:lnSpc>
                <a:spcPct val="118000"/>
              </a:lnSpc>
              <a:spcAft>
                <a:spcPts val="400"/>
              </a:spcAft>
            </a:pPr>
            <a:r>
              <a:rPr sz="1150">
                <a:solidFill>
                  <a:srgbClr val="14636E"/>
                </a:solidFill>
                <a:latin typeface="Calibri"/>
              </a:rPr>
              <a:t>▪  </a:t>
            </a:r>
            <a:r>
              <a:rPr sz="1150">
                <a:solidFill>
                  <a:srgbClr val="0F1A1C"/>
                </a:solidFill>
                <a:latin typeface="Calibri"/>
              </a:rPr>
              <a:t>Dimension scores 3.1–3.7 of 5; r(teamwork, culture) ≈ 0.89</a:t>
            </a:r>
          </a:p>
          <a:p>
            <a:pPr>
              <a:lnSpc>
                <a:spcPct val="118000"/>
              </a:lnSpc>
              <a:spcAft>
                <a:spcPts val="0"/>
              </a:spcAft>
            </a:pPr>
            <a:r>
              <a:rPr sz="1150">
                <a:solidFill>
                  <a:srgbClr val="14636E"/>
                </a:solidFill>
                <a:latin typeface="Calibri"/>
              </a:rPr>
              <a:t>▪  </a:t>
            </a:r>
            <a:r>
              <a:rPr sz="1150">
                <a:solidFill>
                  <a:srgbClr val="0F1A1C"/>
                </a:solidFill>
                <a:latin typeface="Calibri"/>
              </a:rPr>
              <a:t>Commenters rate more critically — as in the real data</a:t>
            </a:r>
          </a:p>
        </p:txBody>
      </p:sp>
      <p:sp>
        <p:nvSpPr>
          <p:cNvPr id="16" name="Rectangle 15"/>
          <p:cNvSpPr/>
          <p:nvPr/>
        </p:nvSpPr>
        <p:spPr>
          <a:xfrm>
            <a:off x="749808" y="4937760"/>
            <a:ext cx="10692079" cy="11887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49808" y="4937760"/>
            <a:ext cx="32004" cy="11887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5138928"/>
            <a:ext cx="10216591" cy="78638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THE PRIVACY RULE</a:t>
            </a:r>
          </a:p>
          <a:p>
            <a:pPr>
              <a:lnSpc>
                <a:spcPct val="130000"/>
              </a:lnSpc>
              <a:spcBef>
                <a:spcPts val="0"/>
              </a:spcBef>
              <a:spcAft>
                <a:spcPts val="0"/>
              </a:spcAft>
            </a:pPr>
            <a:r>
              <a:rPr sz="1200" b="0" i="0">
                <a:solidFill>
                  <a:srgbClr val="0F1A1C"/>
                </a:solidFill>
                <a:latin typeface="Calibri"/>
              </a:rPr>
              <a:t>Every model runs on both datasets. Development and evaluation happen on the confidential data; everything that leaves the company — screenshots, notebooks, the published dashboard — uses the synthetic twin. Statistical figures from the real data may be quoted, comment text may not.</a:t>
            </a:r>
          </a:p>
        </p:txBody>
      </p:sp>
      <p:sp>
        <p:nvSpPr>
          <p:cNvPr id="19" name="TextBox 18"/>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ARCHITECTURE</a:t>
            </a:r>
            <a:r>
              <a:rPr sz="1000">
                <a:solidFill>
                  <a:srgbClr val="8A9B9E"/>
                </a:solidFill>
                <a:latin typeface="Consolas"/>
              </a:rPr>
              <a:t>   ·   SURVEY DATA TO DASHBOARD</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The pipeline</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1660093" cy="1133856"/>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1133856"/>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14400" y="2011679"/>
            <a:ext cx="1349197" cy="914400"/>
          </a:xfrm>
          <a:prstGeom prst="rect">
            <a:avLst/>
          </a:prstGeom>
          <a:noFill/>
        </p:spPr>
        <p:txBody>
          <a:bodyPr wrap="square" lIns="0" rIns="0" tIns="0" bIns="0">
            <a:spAutoFit/>
          </a:bodyPr>
          <a:lstStyle/>
          <a:p>
            <a:pPr>
              <a:lnSpc>
                <a:spcPct val="120000"/>
              </a:lnSpc>
              <a:spcBef>
                <a:spcPts val="0"/>
              </a:spcBef>
              <a:spcAft>
                <a:spcPts val="300"/>
              </a:spcAft>
            </a:pPr>
            <a:r>
              <a:rPr sz="900" b="0" i="0">
                <a:solidFill>
                  <a:srgbClr val="8A9B9E"/>
                </a:solidFill>
                <a:latin typeface="Consolas"/>
              </a:rPr>
              <a:t>01</a:t>
            </a:r>
          </a:p>
          <a:p>
            <a:pPr>
              <a:lnSpc>
                <a:spcPct val="105000"/>
              </a:lnSpc>
              <a:spcBef>
                <a:spcPts val="0"/>
              </a:spcBef>
              <a:spcAft>
                <a:spcPts val="300"/>
              </a:spcAft>
            </a:pPr>
            <a:r>
              <a:rPr sz="1250" b="1" i="0">
                <a:solidFill>
                  <a:srgbClr val="0F1A1C"/>
                </a:solidFill>
                <a:latin typeface="Calibri"/>
              </a:rPr>
              <a:t>Survey data</a:t>
            </a:r>
          </a:p>
          <a:p>
            <a:pPr>
              <a:lnSpc>
                <a:spcPct val="115000"/>
              </a:lnSpc>
              <a:spcBef>
                <a:spcPts val="0"/>
              </a:spcBef>
              <a:spcAft>
                <a:spcPts val="0"/>
              </a:spcAft>
            </a:pPr>
            <a:r>
              <a:rPr sz="950" b="0" i="0">
                <a:solidFill>
                  <a:srgbClr val="5A6B6E"/>
                </a:solidFill>
                <a:latin typeface="Calibri"/>
              </a:rPr>
              <a:t>17 exports, harmonised schema</a:t>
            </a:r>
          </a:p>
        </p:txBody>
      </p:sp>
      <p:sp>
        <p:nvSpPr>
          <p:cNvPr id="9" name="TextBox 8"/>
          <p:cNvSpPr txBox="1"/>
          <p:nvPr/>
        </p:nvSpPr>
        <p:spPr>
          <a:xfrm>
            <a:off x="2391613" y="2304287"/>
            <a:ext cx="182880" cy="274320"/>
          </a:xfrm>
          <a:prstGeom prst="rect">
            <a:avLst/>
          </a:prstGeom>
          <a:noFill/>
        </p:spPr>
        <p:txBody>
          <a:bodyPr wrap="square" lIns="0" rIns="0" t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10" name="Rectangle 9"/>
          <p:cNvSpPr/>
          <p:nvPr/>
        </p:nvSpPr>
        <p:spPr>
          <a:xfrm>
            <a:off x="2556205" y="1874519"/>
            <a:ext cx="1660093" cy="1133856"/>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2556205" y="1874519"/>
            <a:ext cx="32004" cy="1133856"/>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720797" y="2011679"/>
            <a:ext cx="1349197" cy="914400"/>
          </a:xfrm>
          <a:prstGeom prst="rect">
            <a:avLst/>
          </a:prstGeom>
          <a:noFill/>
        </p:spPr>
        <p:txBody>
          <a:bodyPr wrap="square" lIns="0" rIns="0" tIns="0" bIns="0">
            <a:spAutoFit/>
          </a:bodyPr>
          <a:lstStyle/>
          <a:p>
            <a:pPr>
              <a:lnSpc>
                <a:spcPct val="120000"/>
              </a:lnSpc>
              <a:spcBef>
                <a:spcPts val="0"/>
              </a:spcBef>
              <a:spcAft>
                <a:spcPts val="300"/>
              </a:spcAft>
            </a:pPr>
            <a:r>
              <a:rPr sz="900" b="0" i="0">
                <a:solidFill>
                  <a:srgbClr val="8A9B9E"/>
                </a:solidFill>
                <a:latin typeface="Consolas"/>
              </a:rPr>
              <a:t>02</a:t>
            </a:r>
          </a:p>
          <a:p>
            <a:pPr>
              <a:lnSpc>
                <a:spcPct val="105000"/>
              </a:lnSpc>
              <a:spcBef>
                <a:spcPts val="0"/>
              </a:spcBef>
              <a:spcAft>
                <a:spcPts val="300"/>
              </a:spcAft>
            </a:pPr>
            <a:r>
              <a:rPr sz="1250" b="1" i="0">
                <a:solidFill>
                  <a:srgbClr val="0F1A1C"/>
                </a:solidFill>
                <a:latin typeface="Calibri"/>
              </a:rPr>
              <a:t>EDA</a:t>
            </a:r>
          </a:p>
          <a:p>
            <a:pPr>
              <a:lnSpc>
                <a:spcPct val="115000"/>
              </a:lnSpc>
              <a:spcBef>
                <a:spcPts val="0"/>
              </a:spcBef>
              <a:spcAft>
                <a:spcPts val="0"/>
              </a:spcAft>
            </a:pPr>
            <a:r>
              <a:rPr sz="950" b="0" i="0">
                <a:solidFill>
                  <a:srgbClr val="5A6B6E"/>
                </a:solidFill>
                <a:latin typeface="Calibri"/>
              </a:rPr>
              <a:t>Quality, missingness, reliability</a:t>
            </a:r>
          </a:p>
        </p:txBody>
      </p:sp>
      <p:sp>
        <p:nvSpPr>
          <p:cNvPr id="13" name="TextBox 12"/>
          <p:cNvSpPr txBox="1"/>
          <p:nvPr/>
        </p:nvSpPr>
        <p:spPr>
          <a:xfrm>
            <a:off x="4198010" y="2304287"/>
            <a:ext cx="182880" cy="274320"/>
          </a:xfrm>
          <a:prstGeom prst="rect">
            <a:avLst/>
          </a:prstGeom>
          <a:noFill/>
        </p:spPr>
        <p:txBody>
          <a:bodyPr wrap="square" lIns="0" rIns="0" t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14" name="Rectangle 13"/>
          <p:cNvSpPr/>
          <p:nvPr/>
        </p:nvSpPr>
        <p:spPr>
          <a:xfrm>
            <a:off x="4362602" y="1874519"/>
            <a:ext cx="1660093" cy="1133856"/>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62602" y="1874519"/>
            <a:ext cx="32004" cy="1133856"/>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27194" y="2011679"/>
            <a:ext cx="1349197" cy="914400"/>
          </a:xfrm>
          <a:prstGeom prst="rect">
            <a:avLst/>
          </a:prstGeom>
          <a:noFill/>
        </p:spPr>
        <p:txBody>
          <a:bodyPr wrap="square" lIns="0" rIns="0" tIns="0" bIns="0">
            <a:spAutoFit/>
          </a:bodyPr>
          <a:lstStyle/>
          <a:p>
            <a:pPr>
              <a:lnSpc>
                <a:spcPct val="120000"/>
              </a:lnSpc>
              <a:spcBef>
                <a:spcPts val="0"/>
              </a:spcBef>
              <a:spcAft>
                <a:spcPts val="300"/>
              </a:spcAft>
            </a:pPr>
            <a:r>
              <a:rPr sz="900" b="0" i="0">
                <a:solidFill>
                  <a:srgbClr val="8A9B9E"/>
                </a:solidFill>
                <a:latin typeface="Consolas"/>
              </a:rPr>
              <a:t>03</a:t>
            </a:r>
          </a:p>
          <a:p>
            <a:pPr>
              <a:lnSpc>
                <a:spcPct val="105000"/>
              </a:lnSpc>
              <a:spcBef>
                <a:spcPts val="0"/>
              </a:spcBef>
              <a:spcAft>
                <a:spcPts val="300"/>
              </a:spcAft>
            </a:pPr>
            <a:r>
              <a:rPr sz="1250" b="1" i="0">
                <a:solidFill>
                  <a:srgbClr val="0F1A1C"/>
                </a:solidFill>
                <a:latin typeface="Calibri"/>
              </a:rPr>
              <a:t>Cleaning</a:t>
            </a:r>
          </a:p>
          <a:p>
            <a:pPr>
              <a:lnSpc>
                <a:spcPct val="115000"/>
              </a:lnSpc>
              <a:spcBef>
                <a:spcPts val="0"/>
              </a:spcBef>
              <a:spcAft>
                <a:spcPts val="0"/>
              </a:spcAft>
            </a:pPr>
            <a:r>
              <a:rPr sz="950" b="0" i="0">
                <a:solidFill>
                  <a:srgbClr val="5A6B6E"/>
                </a:solidFill>
                <a:latin typeface="Calibri"/>
              </a:rPr>
              <a:t>Recoding, reverse coding, scores</a:t>
            </a:r>
          </a:p>
        </p:txBody>
      </p:sp>
      <p:sp>
        <p:nvSpPr>
          <p:cNvPr id="17" name="TextBox 16"/>
          <p:cNvSpPr txBox="1"/>
          <p:nvPr/>
        </p:nvSpPr>
        <p:spPr>
          <a:xfrm>
            <a:off x="6004407" y="2304287"/>
            <a:ext cx="182880" cy="274320"/>
          </a:xfrm>
          <a:prstGeom prst="rect">
            <a:avLst/>
          </a:prstGeom>
          <a:noFill/>
        </p:spPr>
        <p:txBody>
          <a:bodyPr wrap="square" lIns="0" rIns="0" t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18" name="Rectangle 17"/>
          <p:cNvSpPr/>
          <p:nvPr/>
        </p:nvSpPr>
        <p:spPr>
          <a:xfrm>
            <a:off x="6168999" y="1874519"/>
            <a:ext cx="1660093" cy="1133856"/>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168999" y="1874519"/>
            <a:ext cx="32004" cy="1133856"/>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33591" y="2011679"/>
            <a:ext cx="1349197" cy="914400"/>
          </a:xfrm>
          <a:prstGeom prst="rect">
            <a:avLst/>
          </a:prstGeom>
          <a:noFill/>
        </p:spPr>
        <p:txBody>
          <a:bodyPr wrap="square" lIns="0" rIns="0" tIns="0" bIns="0">
            <a:spAutoFit/>
          </a:bodyPr>
          <a:lstStyle/>
          <a:p>
            <a:pPr>
              <a:lnSpc>
                <a:spcPct val="120000"/>
              </a:lnSpc>
              <a:spcBef>
                <a:spcPts val="0"/>
              </a:spcBef>
              <a:spcAft>
                <a:spcPts val="300"/>
              </a:spcAft>
            </a:pPr>
            <a:r>
              <a:rPr sz="900" b="0" i="0">
                <a:solidFill>
                  <a:srgbClr val="8A9B9E"/>
                </a:solidFill>
                <a:latin typeface="Consolas"/>
              </a:rPr>
              <a:t>04</a:t>
            </a:r>
          </a:p>
          <a:p>
            <a:pPr>
              <a:lnSpc>
                <a:spcPct val="105000"/>
              </a:lnSpc>
              <a:spcBef>
                <a:spcPts val="0"/>
              </a:spcBef>
              <a:spcAft>
                <a:spcPts val="300"/>
              </a:spcAft>
            </a:pPr>
            <a:r>
              <a:rPr sz="1250" b="1" i="0">
                <a:solidFill>
                  <a:srgbClr val="0F1A1C"/>
                </a:solidFill>
                <a:latin typeface="Calibri"/>
              </a:rPr>
              <a:t>Sentiment</a:t>
            </a:r>
          </a:p>
          <a:p>
            <a:pPr>
              <a:lnSpc>
                <a:spcPct val="115000"/>
              </a:lnSpc>
              <a:spcBef>
                <a:spcPts val="0"/>
              </a:spcBef>
              <a:spcAft>
                <a:spcPts val="0"/>
              </a:spcAft>
            </a:pPr>
            <a:r>
              <a:rPr sz="950" b="0" i="0">
                <a:solidFill>
                  <a:srgbClr val="5A6B6E"/>
                </a:solidFill>
                <a:latin typeface="Calibri"/>
              </a:rPr>
              <a:t>German Sentiment BERT → valence</a:t>
            </a:r>
          </a:p>
        </p:txBody>
      </p:sp>
      <p:sp>
        <p:nvSpPr>
          <p:cNvPr id="21" name="TextBox 20"/>
          <p:cNvSpPr txBox="1"/>
          <p:nvPr/>
        </p:nvSpPr>
        <p:spPr>
          <a:xfrm>
            <a:off x="7810804" y="2304287"/>
            <a:ext cx="182880" cy="274320"/>
          </a:xfrm>
          <a:prstGeom prst="rect">
            <a:avLst/>
          </a:prstGeom>
          <a:noFill/>
        </p:spPr>
        <p:txBody>
          <a:bodyPr wrap="square" lIns="0" rIns="0" t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22" name="Rectangle 21"/>
          <p:cNvSpPr/>
          <p:nvPr/>
        </p:nvSpPr>
        <p:spPr>
          <a:xfrm>
            <a:off x="7975396" y="1874519"/>
            <a:ext cx="1660093" cy="1133856"/>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975396" y="1874519"/>
            <a:ext cx="32004" cy="1133856"/>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39988" y="2011679"/>
            <a:ext cx="1349197" cy="914400"/>
          </a:xfrm>
          <a:prstGeom prst="rect">
            <a:avLst/>
          </a:prstGeom>
          <a:noFill/>
        </p:spPr>
        <p:txBody>
          <a:bodyPr wrap="square" lIns="0" rIns="0" tIns="0" bIns="0">
            <a:spAutoFit/>
          </a:bodyPr>
          <a:lstStyle/>
          <a:p>
            <a:pPr>
              <a:lnSpc>
                <a:spcPct val="120000"/>
              </a:lnSpc>
              <a:spcBef>
                <a:spcPts val="0"/>
              </a:spcBef>
              <a:spcAft>
                <a:spcPts val="300"/>
              </a:spcAft>
            </a:pPr>
            <a:r>
              <a:rPr sz="900" b="0" i="0">
                <a:solidFill>
                  <a:srgbClr val="8A9B9E"/>
                </a:solidFill>
                <a:latin typeface="Consolas"/>
              </a:rPr>
              <a:t>05</a:t>
            </a:r>
          </a:p>
          <a:p>
            <a:pPr>
              <a:lnSpc>
                <a:spcPct val="105000"/>
              </a:lnSpc>
              <a:spcBef>
                <a:spcPts val="0"/>
              </a:spcBef>
              <a:spcAft>
                <a:spcPts val="300"/>
              </a:spcAft>
            </a:pPr>
            <a:r>
              <a:rPr sz="1250" b="1" i="0">
                <a:solidFill>
                  <a:srgbClr val="0F1A1C"/>
                </a:solidFill>
                <a:latin typeface="Calibri"/>
              </a:rPr>
              <a:t>Topics</a:t>
            </a:r>
          </a:p>
          <a:p>
            <a:pPr>
              <a:lnSpc>
                <a:spcPct val="115000"/>
              </a:lnSpc>
              <a:spcBef>
                <a:spcPts val="0"/>
              </a:spcBef>
              <a:spcAft>
                <a:spcPts val="0"/>
              </a:spcAft>
            </a:pPr>
            <a:r>
              <a:rPr sz="950" b="0" i="0">
                <a:solidFill>
                  <a:srgbClr val="5A6B6E"/>
                </a:solidFill>
                <a:latin typeface="Calibri"/>
              </a:rPr>
              <a:t>BERTopic → clusters, trends</a:t>
            </a:r>
          </a:p>
        </p:txBody>
      </p:sp>
      <p:sp>
        <p:nvSpPr>
          <p:cNvPr id="25" name="TextBox 24"/>
          <p:cNvSpPr txBox="1"/>
          <p:nvPr/>
        </p:nvSpPr>
        <p:spPr>
          <a:xfrm>
            <a:off x="9617202" y="2304287"/>
            <a:ext cx="182880" cy="274320"/>
          </a:xfrm>
          <a:prstGeom prst="rect">
            <a:avLst/>
          </a:prstGeom>
          <a:noFill/>
        </p:spPr>
        <p:txBody>
          <a:bodyPr wrap="square" lIns="0" rIns="0" t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26" name="Rectangle 25"/>
          <p:cNvSpPr/>
          <p:nvPr/>
        </p:nvSpPr>
        <p:spPr>
          <a:xfrm>
            <a:off x="9781794" y="1874519"/>
            <a:ext cx="1660093" cy="1133856"/>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9781794" y="1874519"/>
            <a:ext cx="32004" cy="1133856"/>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946386" y="2011679"/>
            <a:ext cx="1349197" cy="914400"/>
          </a:xfrm>
          <a:prstGeom prst="rect">
            <a:avLst/>
          </a:prstGeom>
          <a:noFill/>
        </p:spPr>
        <p:txBody>
          <a:bodyPr wrap="square" lIns="0" rIns="0" tIns="0" bIns="0">
            <a:spAutoFit/>
          </a:bodyPr>
          <a:lstStyle/>
          <a:p>
            <a:pPr>
              <a:lnSpc>
                <a:spcPct val="120000"/>
              </a:lnSpc>
              <a:spcBef>
                <a:spcPts val="0"/>
              </a:spcBef>
              <a:spcAft>
                <a:spcPts val="300"/>
              </a:spcAft>
            </a:pPr>
            <a:r>
              <a:rPr sz="900" b="0" i="0">
                <a:solidFill>
                  <a:srgbClr val="8A9B9E"/>
                </a:solidFill>
                <a:latin typeface="Consolas"/>
              </a:rPr>
              <a:t>06</a:t>
            </a:r>
          </a:p>
          <a:p>
            <a:pPr>
              <a:lnSpc>
                <a:spcPct val="105000"/>
              </a:lnSpc>
              <a:spcBef>
                <a:spcPts val="0"/>
              </a:spcBef>
              <a:spcAft>
                <a:spcPts val="300"/>
              </a:spcAft>
            </a:pPr>
            <a:r>
              <a:rPr sz="1250" b="1" i="0">
                <a:solidFill>
                  <a:srgbClr val="0F1A1C"/>
                </a:solidFill>
                <a:latin typeface="Calibri"/>
              </a:rPr>
              <a:t>Dashboard</a:t>
            </a:r>
          </a:p>
          <a:p>
            <a:pPr>
              <a:lnSpc>
                <a:spcPct val="115000"/>
              </a:lnSpc>
              <a:spcBef>
                <a:spcPts val="0"/>
              </a:spcBef>
              <a:spcAft>
                <a:spcPts val="0"/>
              </a:spcAft>
            </a:pPr>
            <a:r>
              <a:rPr sz="950" b="0" i="0">
                <a:solidFill>
                  <a:srgbClr val="5A6B6E"/>
                </a:solidFill>
                <a:latin typeface="Calibri"/>
              </a:rPr>
              <a:t>Power BI, enriched export</a:t>
            </a:r>
          </a:p>
        </p:txBody>
      </p:sp>
      <p:sp>
        <p:nvSpPr>
          <p:cNvPr id="29" name="Rectangle 28"/>
          <p:cNvSpPr/>
          <p:nvPr/>
        </p:nvSpPr>
        <p:spPr>
          <a:xfrm>
            <a:off x="749808" y="3291840"/>
            <a:ext cx="5163159" cy="20574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749808" y="3291840"/>
            <a:ext cx="32004" cy="20574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05840" y="3493008"/>
            <a:ext cx="4687671" cy="16550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DESIGN DECISIONS</a:t>
            </a:r>
          </a:p>
          <a:p>
            <a:pPr>
              <a:lnSpc>
                <a:spcPct val="118000"/>
              </a:lnSpc>
              <a:spcAft>
                <a:spcPts val="400"/>
              </a:spcAft>
            </a:pPr>
            <a:r>
              <a:rPr sz="1150">
                <a:solidFill>
                  <a:srgbClr val="14636E"/>
                </a:solidFill>
                <a:latin typeface="Calibri"/>
              </a:rPr>
              <a:t>▪  </a:t>
            </a:r>
            <a:r>
              <a:rPr sz="1150" b="1">
                <a:solidFill>
                  <a:srgbClr val="0F1A1C"/>
                </a:solidFill>
                <a:latin typeface="Calibri"/>
              </a:rPr>
              <a:t>Two independent layers.  </a:t>
            </a:r>
            <a:r>
              <a:rPr sz="1150">
                <a:solidFill>
                  <a:srgbClr val="0F1A1C"/>
                </a:solidFill>
                <a:latin typeface="Calibri"/>
              </a:rPr>
              <a:t>Emotion and topic are modelled separately, then joined per comment — each layer stays interpretable on its own.</a:t>
            </a:r>
          </a:p>
          <a:p>
            <a:pPr>
              <a:lnSpc>
                <a:spcPct val="118000"/>
              </a:lnSpc>
              <a:spcAft>
                <a:spcPts val="400"/>
              </a:spcAft>
            </a:pPr>
            <a:r>
              <a:rPr sz="1150">
                <a:solidFill>
                  <a:srgbClr val="14636E"/>
                </a:solidFill>
                <a:latin typeface="Calibri"/>
              </a:rPr>
              <a:t>▪  </a:t>
            </a:r>
            <a:r>
              <a:rPr sz="1150" b="1">
                <a:solidFill>
                  <a:srgbClr val="0F1A1C"/>
                </a:solidFill>
                <a:latin typeface="Calibri"/>
              </a:rPr>
              <a:t>German-specific models.  </a:t>
            </a:r>
            <a:r>
              <a:rPr sz="1150">
                <a:solidFill>
                  <a:srgbClr val="0F1A1C"/>
                </a:solidFill>
                <a:latin typeface="Calibri"/>
              </a:rPr>
              <a:t>The comments are German; multilingual defaults lose nuance.</a:t>
            </a:r>
          </a:p>
          <a:p>
            <a:pPr>
              <a:lnSpc>
                <a:spcPct val="118000"/>
              </a:lnSpc>
              <a:spcAft>
                <a:spcPts val="0"/>
              </a:spcAft>
            </a:pPr>
            <a:r>
              <a:rPr sz="1150">
                <a:solidFill>
                  <a:srgbClr val="14636E"/>
                </a:solidFill>
                <a:latin typeface="Calibri"/>
              </a:rPr>
              <a:t>▪  </a:t>
            </a:r>
            <a:r>
              <a:rPr sz="1150" b="1">
                <a:solidFill>
                  <a:srgbClr val="0F1A1C"/>
                </a:solidFill>
                <a:latin typeface="Calibri"/>
              </a:rPr>
              <a:t>One analytical table.  </a:t>
            </a:r>
            <a:r>
              <a:rPr sz="1150">
                <a:solidFill>
                  <a:srgbClr val="0F1A1C"/>
                </a:solidFill>
                <a:latin typeface="Calibri"/>
              </a:rPr>
              <a:t>The pipeline ends in a flat, dashboard-ready dataset, not in a notebook.</a:t>
            </a:r>
          </a:p>
        </p:txBody>
      </p:sp>
      <p:sp>
        <p:nvSpPr>
          <p:cNvPr id="32" name="Rectangle 31"/>
          <p:cNvSpPr/>
          <p:nvPr/>
        </p:nvSpPr>
        <p:spPr>
          <a:xfrm>
            <a:off x="6278727" y="3291840"/>
            <a:ext cx="5163159" cy="20574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78727" y="3291840"/>
            <a:ext cx="32004" cy="20574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34759" y="3493008"/>
            <a:ext cx="4687671" cy="16550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IN EVALUATION — CACHING</a:t>
            </a:r>
          </a:p>
          <a:p>
            <a:pPr>
              <a:lnSpc>
                <a:spcPct val="130000"/>
              </a:lnSpc>
              <a:spcBef>
                <a:spcPts val="0"/>
              </a:spcBef>
              <a:spcAft>
                <a:spcPts val="600"/>
              </a:spcAft>
            </a:pPr>
            <a:r>
              <a:rPr sz="1150" b="0" i="0">
                <a:solidFill>
                  <a:srgbClr val="0F1A1C"/>
                </a:solidFill>
                <a:latin typeface="Calibri"/>
              </a:rPr>
              <a:t>Embeddings, sentiment inference and BERTopic fits are the expensive steps. I am currently evaluating persisting intermediate results as Parquet files so they are not recomputed on every run.</a:t>
            </a:r>
          </a:p>
          <a:p>
            <a:pPr>
              <a:lnSpc>
                <a:spcPct val="120000"/>
              </a:lnSpc>
              <a:spcBef>
                <a:spcPts val="0"/>
              </a:spcBef>
              <a:spcAft>
                <a:spcPts val="0"/>
              </a:spcAft>
            </a:pPr>
            <a:r>
              <a:rPr sz="1150" b="0" i="1">
                <a:solidFill>
                  <a:srgbClr val="5A6B6E"/>
                </a:solidFill>
                <a:latin typeface="Calibri"/>
              </a:rPr>
              <a:t>Evaluated, not yet implemented — details in the appendix.</a:t>
            </a:r>
          </a:p>
        </p:txBody>
      </p:sp>
      <p:sp>
        <p:nvSpPr>
          <p:cNvPr id="35" name="TextBox 34"/>
          <p:cNvSpPr txBox="1"/>
          <p:nvPr/>
        </p:nvSpPr>
        <p:spPr>
          <a:xfrm>
            <a:off x="749808" y="5532120"/>
            <a:ext cx="10692079" cy="365760"/>
          </a:xfrm>
          <a:prstGeom prst="rect">
            <a:avLst/>
          </a:prstGeom>
          <a:noFill/>
        </p:spPr>
        <p:txBody>
          <a:bodyPr wrap="square" lIns="0" rIns="0" tIns="0" bIns="0">
            <a:spAutoFit/>
          </a:bodyPr>
          <a:lstStyle/>
          <a:p>
            <a:pPr>
              <a:lnSpc>
                <a:spcPct val="125000"/>
              </a:lnSpc>
              <a:spcBef>
                <a:spcPts val="0"/>
              </a:spcBef>
              <a:spcAft>
                <a:spcPts val="0"/>
              </a:spcAft>
            </a:pPr>
            <a:r>
              <a:rPr sz="1150" b="0" i="1">
                <a:solidFill>
                  <a:srgbClr val="5A6B6E"/>
                </a:solidFill>
                <a:latin typeface="Calibri"/>
              </a:rPr>
              <a:t>One full pass over 5,000 comments takes about five minutes for the sentiment and topic layers together — the cost sits in tuning, not in production.</a:t>
            </a:r>
          </a:p>
        </p:txBody>
      </p:sp>
      <p:sp>
        <p:nvSpPr>
          <p:cNvPr id="36" name="TextBox 35"/>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MODELS &amp; STATUS</a:t>
            </a:r>
            <a:r>
              <a:rPr sz="1000">
                <a:solidFill>
                  <a:srgbClr val="8A9B9E"/>
                </a:solidFill>
                <a:latin typeface="Consolas"/>
              </a:rPr>
              <a:t>   ·   WHAT IS BUILT</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Three layers, one dataset</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5163159" cy="3840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3840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34381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MODEL STACK</a:t>
            </a:r>
          </a:p>
        </p:txBody>
      </p:sp>
      <p:graphicFrame>
        <p:nvGraphicFramePr>
          <p:cNvPr id="9" name="Table 8"/>
          <p:cNvGraphicFramePr>
            <a:graphicFrameLocks noGrp="1"/>
          </p:cNvGraphicFramePr>
          <p:nvPr/>
        </p:nvGraphicFramePr>
        <p:xfrm>
          <a:off x="1005840" y="2441448"/>
          <a:ext cx="4651095" cy="1335024"/>
        </p:xfrm>
        <a:graphic>
          <a:graphicData uri="http://schemas.openxmlformats.org/drawingml/2006/table">
            <a:tbl>
              <a:tblPr firstRow="1">
                <a:tableStyleId>{5C22544A-7EE6-4342-B048-85BDC9FD1C3A}</a:tableStyleId>
              </a:tblPr>
              <a:tblGrid>
                <a:gridCol w="1023241"/>
                <a:gridCol w="2046482"/>
                <a:gridCol w="1581372"/>
              </a:tblGrid>
              <a:tr h="274320">
                <a:tc>
                  <a:txBody>
                    <a:bodyPr wrap="square"/>
                    <a:lstStyle/>
                    <a:p>
                      <a:pPr>
                        <a:lnSpc>
                          <a:spcPct val="100000"/>
                        </a:lnSpc>
                      </a:pPr>
                      <a:r>
                        <a:rPr sz="900" b="1">
                          <a:solidFill>
                            <a:srgbClr val="5A6B6E"/>
                          </a:solidFill>
                          <a:latin typeface="Consolas"/>
                        </a:rPr>
                        <a:t>Layer</a:t>
                      </a:r>
                    </a:p>
                  </a:txBody>
                  <a:tcPr marL="64008" marR="64008" marT="18288" marB="18288" anchor="ctr">
                    <a:solidFill>
                      <a:srgbClr val="E2F0F1"/>
                    </a:solidFill>
                  </a:tcPr>
                </a:tc>
                <a:tc>
                  <a:txBody>
                    <a:bodyPr wrap="square"/>
                    <a:lstStyle/>
                    <a:p>
                      <a:pPr>
                        <a:lnSpc>
                          <a:spcPct val="100000"/>
                        </a:lnSpc>
                      </a:pPr>
                      <a:r>
                        <a:rPr sz="900" b="1">
                          <a:solidFill>
                            <a:srgbClr val="5A6B6E"/>
                          </a:solidFill>
                          <a:latin typeface="Consolas"/>
                        </a:rPr>
                        <a:t>Model</a:t>
                      </a:r>
                    </a:p>
                  </a:txBody>
                  <a:tcPr marL="64008" marR="64008" marT="18288" marB="18288" anchor="ctr">
                    <a:solidFill>
                      <a:srgbClr val="E2F0F1"/>
                    </a:solidFill>
                  </a:tcPr>
                </a:tc>
                <a:tc>
                  <a:txBody>
                    <a:bodyPr wrap="square"/>
                    <a:lstStyle/>
                    <a:p>
                      <a:pPr>
                        <a:lnSpc>
                          <a:spcPct val="100000"/>
                        </a:lnSpc>
                      </a:pPr>
                      <a:r>
                        <a:rPr sz="900" b="1">
                          <a:solidFill>
                            <a:srgbClr val="5A6B6E"/>
                          </a:solidFill>
                          <a:latin typeface="Consolas"/>
                        </a:rPr>
                        <a:t>Output</a:t>
                      </a:r>
                    </a:p>
                  </a:txBody>
                  <a:tcPr marL="64008" marR="64008" marT="18288" marB="18288" anchor="ctr">
                    <a:solidFill>
                      <a:srgbClr val="E2F0F1"/>
                    </a:solidFill>
                  </a:tcPr>
                </a:tc>
              </a:tr>
              <a:tr h="265176">
                <a:tc>
                  <a:txBody>
                    <a:bodyPr wrap="square"/>
                    <a:lstStyle/>
                    <a:p>
                      <a:pPr>
                        <a:lnSpc>
                          <a:spcPct val="100000"/>
                        </a:lnSpc>
                      </a:pPr>
                      <a:r>
                        <a:rPr sz="1000" b="0">
                          <a:solidFill>
                            <a:srgbClr val="0F1A1C"/>
                          </a:solidFill>
                          <a:latin typeface="Calibri"/>
                        </a:rPr>
                        <a:t>Sentiment</a:t>
                      </a:r>
                    </a:p>
                  </a:txBody>
                  <a:tcPr marL="64008" marR="64008" marT="18288" marB="18288" anchor="ctr">
                    <a:solidFill>
                      <a:srgbClr val="FFFFFF"/>
                    </a:solidFill>
                  </a:tcPr>
                </a:tc>
                <a:tc>
                  <a:txBody>
                    <a:bodyPr wrap="square"/>
                    <a:lstStyle/>
                    <a:p>
                      <a:pPr>
                        <a:lnSpc>
                          <a:spcPct val="100000"/>
                        </a:lnSpc>
                      </a:pPr>
                      <a:r>
                        <a:rPr sz="1000" b="0">
                          <a:solidFill>
                            <a:srgbClr val="0F1A1C"/>
                          </a:solidFill>
                          <a:latin typeface="Consolas"/>
                        </a:rPr>
                        <a:t>german-sentiment-bert</a:t>
                      </a:r>
                    </a:p>
                  </a:txBody>
                  <a:tcPr marL="64008" marR="64008" marT="18288" marB="18288" anchor="ctr">
                    <a:solidFill>
                      <a:srgbClr val="FFFFFF"/>
                    </a:solidFill>
                  </a:tcPr>
                </a:tc>
                <a:tc>
                  <a:txBody>
                    <a:bodyPr wrap="square"/>
                    <a:lstStyle/>
                    <a:p>
                      <a:pPr>
                        <a:lnSpc>
                          <a:spcPct val="100000"/>
                        </a:lnSpc>
                      </a:pPr>
                      <a:r>
                        <a:rPr sz="1000" b="0">
                          <a:solidFill>
                            <a:srgbClr val="0F1A1C"/>
                          </a:solidFill>
                          <a:latin typeface="Calibri"/>
                        </a:rPr>
                        <a:t>continuous valence</a:t>
                      </a:r>
                    </a:p>
                  </a:txBody>
                  <a:tcPr marL="64008" marR="64008" marT="18288" marB="18288" anchor="ctr">
                    <a:solidFill>
                      <a:srgbClr val="FFFFFF"/>
                    </a:solidFill>
                  </a:tcPr>
                </a:tc>
              </a:tr>
              <a:tr h="265176">
                <a:tc>
                  <a:txBody>
                    <a:bodyPr wrap="square"/>
                    <a:lstStyle/>
                    <a:p>
                      <a:pPr>
                        <a:lnSpc>
                          <a:spcPct val="100000"/>
                        </a:lnSpc>
                      </a:pPr>
                      <a:r>
                        <a:rPr sz="1000" b="0">
                          <a:solidFill>
                            <a:srgbClr val="0F1A1C"/>
                          </a:solidFill>
                          <a:latin typeface="Calibri"/>
                        </a:rPr>
                        <a:t>Topics</a:t>
                      </a:r>
                    </a:p>
                  </a:txBody>
                  <a:tcPr marL="64008" marR="64008" marT="18288" marB="18288" anchor="ctr">
                    <a:solidFill>
                      <a:srgbClr val="EEF2F2"/>
                    </a:solidFill>
                  </a:tcPr>
                </a:tc>
                <a:tc>
                  <a:txBody>
                    <a:bodyPr wrap="square"/>
                    <a:lstStyle/>
                    <a:p>
                      <a:pPr>
                        <a:lnSpc>
                          <a:spcPct val="100000"/>
                        </a:lnSpc>
                      </a:pPr>
                      <a:r>
                        <a:rPr sz="1000" b="0">
                          <a:solidFill>
                            <a:srgbClr val="0F1A1C"/>
                          </a:solidFill>
                          <a:latin typeface="Consolas"/>
                        </a:rPr>
                        <a:t>BERTopic + MiniLM</a:t>
                      </a:r>
                    </a:p>
                  </a:txBody>
                  <a:tcPr marL="64008" marR="64008" marT="18288" marB="18288" anchor="ctr">
                    <a:solidFill>
                      <a:srgbClr val="EEF2F2"/>
                    </a:solidFill>
                  </a:tcPr>
                </a:tc>
                <a:tc>
                  <a:txBody>
                    <a:bodyPr wrap="square"/>
                    <a:lstStyle/>
                    <a:p>
                      <a:pPr>
                        <a:lnSpc>
                          <a:spcPct val="100000"/>
                        </a:lnSpc>
                      </a:pPr>
                      <a:r>
                        <a:rPr sz="1000" b="0">
                          <a:solidFill>
                            <a:srgbClr val="0F1A1C"/>
                          </a:solidFill>
                          <a:latin typeface="Calibri"/>
                        </a:rPr>
                        <a:t>topic id, label, prob.</a:t>
                      </a:r>
                    </a:p>
                  </a:txBody>
                  <a:tcPr marL="64008" marR="64008" marT="18288" marB="18288" anchor="ctr">
                    <a:solidFill>
                      <a:srgbClr val="EEF2F2"/>
                    </a:solidFill>
                  </a:tcPr>
                </a:tc>
              </a:tr>
              <a:tr h="265176">
                <a:tc>
                  <a:txBody>
                    <a:bodyPr wrap="square"/>
                    <a:lstStyle/>
                    <a:p>
                      <a:pPr>
                        <a:lnSpc>
                          <a:spcPct val="100000"/>
                        </a:lnSpc>
                      </a:pPr>
                      <a:r>
                        <a:rPr sz="1000" b="0">
                          <a:solidFill>
                            <a:srgbClr val="0F1A1C"/>
                          </a:solidFill>
                          <a:latin typeface="Calibri"/>
                        </a:rPr>
                        <a:t>Baseline</a:t>
                      </a:r>
                    </a:p>
                  </a:txBody>
                  <a:tcPr marL="64008" marR="64008" marT="18288" marB="18288" anchor="ctr">
                    <a:solidFill>
                      <a:srgbClr val="FFFFFF"/>
                    </a:solidFill>
                  </a:tcPr>
                </a:tc>
                <a:tc>
                  <a:txBody>
                    <a:bodyPr wrap="square"/>
                    <a:lstStyle/>
                    <a:p>
                      <a:pPr>
                        <a:lnSpc>
                          <a:spcPct val="100000"/>
                        </a:lnSpc>
                      </a:pPr>
                      <a:r>
                        <a:rPr sz="1000" b="0">
                          <a:solidFill>
                            <a:srgbClr val="0F1A1C"/>
                          </a:solidFill>
                          <a:latin typeface="Consolas"/>
                        </a:rPr>
                        <a:t>mDeBERTa zero-shot</a:t>
                      </a:r>
                    </a:p>
                  </a:txBody>
                  <a:tcPr marL="64008" marR="64008" marT="18288" marB="18288" anchor="ctr">
                    <a:solidFill>
                      <a:srgbClr val="FFFFFF"/>
                    </a:solidFill>
                  </a:tcPr>
                </a:tc>
                <a:tc>
                  <a:txBody>
                    <a:bodyPr wrap="square"/>
                    <a:lstStyle/>
                    <a:p>
                      <a:pPr>
                        <a:lnSpc>
                          <a:spcPct val="100000"/>
                        </a:lnSpc>
                      </a:pPr>
                      <a:r>
                        <a:rPr sz="1000" b="0">
                          <a:solidFill>
                            <a:srgbClr val="0F1A1C"/>
                          </a:solidFill>
                          <a:latin typeface="Calibri"/>
                        </a:rPr>
                        <a:t>valence / arousal class</a:t>
                      </a:r>
                    </a:p>
                  </a:txBody>
                  <a:tcPr marL="64008" marR="64008" marT="18288" marB="18288" anchor="ctr">
                    <a:solidFill>
                      <a:srgbClr val="FFFFFF"/>
                    </a:solidFill>
                  </a:tcPr>
                </a:tc>
              </a:tr>
              <a:tr h="265176">
                <a:tc>
                  <a:txBody>
                    <a:bodyPr wrap="square"/>
                    <a:lstStyle/>
                    <a:p>
                      <a:pPr>
                        <a:lnSpc>
                          <a:spcPct val="100000"/>
                        </a:lnSpc>
                      </a:pPr>
                      <a:r>
                        <a:rPr sz="1000" b="0">
                          <a:solidFill>
                            <a:srgbClr val="0F1A1C"/>
                          </a:solidFill>
                          <a:latin typeface="Calibri"/>
                        </a:rPr>
                        <a:t>Dashboard</a:t>
                      </a:r>
                    </a:p>
                  </a:txBody>
                  <a:tcPr marL="64008" marR="64008" marT="18288" marB="18288" anchor="ctr">
                    <a:solidFill>
                      <a:srgbClr val="EEF2F2"/>
                    </a:solidFill>
                  </a:tcPr>
                </a:tc>
                <a:tc>
                  <a:txBody>
                    <a:bodyPr wrap="square"/>
                    <a:lstStyle/>
                    <a:p>
                      <a:pPr>
                        <a:lnSpc>
                          <a:spcPct val="100000"/>
                        </a:lnSpc>
                      </a:pPr>
                      <a:r>
                        <a:rPr sz="1000" b="0">
                          <a:solidFill>
                            <a:srgbClr val="0F1A1C"/>
                          </a:solidFill>
                          <a:latin typeface="Consolas"/>
                        </a:rPr>
                        <a:t>Power BI</a:t>
                      </a:r>
                    </a:p>
                  </a:txBody>
                  <a:tcPr marL="64008" marR="64008" marT="18288" marB="18288" anchor="ctr">
                    <a:solidFill>
                      <a:srgbClr val="EEF2F2"/>
                    </a:solidFill>
                  </a:tcPr>
                </a:tc>
                <a:tc>
                  <a:txBody>
                    <a:bodyPr wrap="square"/>
                    <a:lstStyle/>
                    <a:p>
                      <a:pPr>
                        <a:lnSpc>
                          <a:spcPct val="100000"/>
                        </a:lnSpc>
                      </a:pPr>
                      <a:r>
                        <a:rPr sz="1000" b="0">
                          <a:solidFill>
                            <a:srgbClr val="0F1A1C"/>
                          </a:solidFill>
                          <a:latin typeface="Calibri"/>
                        </a:rPr>
                        <a:t>4 report pages</a:t>
                      </a:r>
                    </a:p>
                  </a:txBody>
                  <a:tcPr marL="64008" marR="64008" marT="18288" marB="18288" anchor="ctr">
                    <a:solidFill>
                      <a:srgbClr val="EEF2F2"/>
                    </a:solidFill>
                  </a:tcPr>
                </a:tc>
              </a:tr>
            </a:tbl>
          </a:graphicData>
        </a:graphic>
      </p:graphicFrame>
      <p:sp>
        <p:nvSpPr>
          <p:cNvPr id="10" name="TextBox 9"/>
          <p:cNvSpPr txBox="1"/>
          <p:nvPr/>
        </p:nvSpPr>
        <p:spPr>
          <a:xfrm>
            <a:off x="1005840" y="4023360"/>
            <a:ext cx="4651095" cy="1280160"/>
          </a:xfrm>
          <a:prstGeom prst="rect">
            <a:avLst/>
          </a:prstGeom>
          <a:noFill/>
        </p:spPr>
        <p:txBody>
          <a:bodyPr wrap="square" lIns="0" rIns="0" tIns="0" bIns="0">
            <a:spAutoFit/>
          </a:bodyPr>
          <a:lstStyle/>
          <a:p>
            <a:pPr>
              <a:lnSpc>
                <a:spcPct val="120000"/>
              </a:lnSpc>
              <a:spcBef>
                <a:spcPts val="0"/>
              </a:spcBef>
              <a:spcAft>
                <a:spcPts val="600"/>
              </a:spcAft>
            </a:pPr>
            <a:r>
              <a:rPr sz="1150" b="0" i="0">
                <a:solidFill>
                  <a:srgbClr val="14636E"/>
                </a:solidFill>
                <a:latin typeface="Consolas"/>
              </a:rPr>
              <a:t>Valence = P(positive) − P(negative), continuous on −1 … +1.</a:t>
            </a:r>
          </a:p>
          <a:p>
            <a:pPr>
              <a:lnSpc>
                <a:spcPct val="125000"/>
              </a:lnSpc>
              <a:spcBef>
                <a:spcPts val="0"/>
              </a:spcBef>
              <a:spcAft>
                <a:spcPts val="0"/>
              </a:spcAft>
            </a:pPr>
            <a:r>
              <a:rPr sz="1150" b="0" i="0">
                <a:solidFill>
                  <a:srgbClr val="5A6B6E"/>
                </a:solidFill>
                <a:latin typeface="Calibri"/>
              </a:rPr>
              <a:t>BERTopic uses sentence embeddings, so semantically similar comments cluster even when they share no keywords.</a:t>
            </a:r>
          </a:p>
        </p:txBody>
      </p:sp>
      <p:sp>
        <p:nvSpPr>
          <p:cNvPr id="11" name="Rectangle 10"/>
          <p:cNvSpPr/>
          <p:nvPr/>
        </p:nvSpPr>
        <p:spPr>
          <a:xfrm>
            <a:off x="6278727" y="1874519"/>
            <a:ext cx="5163159" cy="3840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8727" y="1874519"/>
            <a:ext cx="32004" cy="3840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34759" y="2075688"/>
            <a:ext cx="4687671" cy="34381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PROGRESS</a:t>
            </a:r>
          </a:p>
        </p:txBody>
      </p:sp>
      <p:graphicFrame>
        <p:nvGraphicFramePr>
          <p:cNvPr id="14" name="Table 13"/>
          <p:cNvGraphicFramePr>
            <a:graphicFrameLocks noGrp="1"/>
          </p:cNvGraphicFramePr>
          <p:nvPr/>
        </p:nvGraphicFramePr>
        <p:xfrm>
          <a:off x="6534759" y="2441448"/>
          <a:ext cx="4651094" cy="2121408"/>
        </p:xfrm>
        <a:graphic>
          <a:graphicData uri="http://schemas.openxmlformats.org/drawingml/2006/table">
            <a:tbl>
              <a:tblPr>
                <a:tableStyleId>{5C22544A-7EE6-4342-B048-85BDC9FD1C3A}</a:tableStyleId>
              </a:tblPr>
              <a:tblGrid>
                <a:gridCol w="3348788"/>
                <a:gridCol w="1302306"/>
              </a:tblGrid>
              <a:tr h="265176">
                <a:tc>
                  <a:txBody>
                    <a:bodyPr wrap="square"/>
                    <a:lstStyle/>
                    <a:p>
                      <a:pPr>
                        <a:lnSpc>
                          <a:spcPct val="100000"/>
                        </a:lnSpc>
                      </a:pPr>
                      <a:r>
                        <a:rPr sz="1050" b="0">
                          <a:solidFill>
                            <a:srgbClr val="0F1A1C"/>
                          </a:solidFill>
                          <a:latin typeface="Calibri"/>
                        </a:rPr>
                        <a:t>EDA — real &amp; synthetic</a:t>
                      </a:r>
                    </a:p>
                  </a:txBody>
                  <a:tcPr marL="64008" marR="64008" marT="18288" marB="18288" anchor="ctr">
                    <a:solidFill>
                      <a:srgbClr val="EEF2F2"/>
                    </a:solidFill>
                  </a:tcPr>
                </a:tc>
                <a:tc>
                  <a:txBody>
                    <a:bodyPr wrap="square"/>
                    <a:lstStyle/>
                    <a:p>
                      <a:pPr algn="r">
                        <a:lnSpc>
                          <a:spcPct val="100000"/>
                        </a:lnSpc>
                      </a:pPr>
                      <a:r>
                        <a:rPr sz="1050" b="1">
                          <a:solidFill>
                            <a:srgbClr val="2A664C"/>
                          </a:solidFill>
                          <a:latin typeface="Consolas"/>
                        </a:rPr>
                        <a:t>DONE</a:t>
                      </a:r>
                    </a:p>
                  </a:txBody>
                  <a:tcPr marL="64008" marR="64008" marT="18288" marB="18288" anchor="ctr">
                    <a:solidFill>
                      <a:srgbClr val="EEF2F2"/>
                    </a:solidFill>
                  </a:tcPr>
                </a:tc>
              </a:tr>
              <a:tr h="265176">
                <a:tc>
                  <a:txBody>
                    <a:bodyPr wrap="square"/>
                    <a:lstStyle/>
                    <a:p>
                      <a:pPr>
                        <a:lnSpc>
                          <a:spcPct val="100000"/>
                        </a:lnSpc>
                      </a:pPr>
                      <a:r>
                        <a:rPr sz="1050" b="0">
                          <a:solidFill>
                            <a:srgbClr val="0F1A1C"/>
                          </a:solidFill>
                          <a:latin typeface="Calibri"/>
                        </a:rPr>
                        <a:t>Cleaning &amp; survey scores</a:t>
                      </a:r>
                    </a:p>
                  </a:txBody>
                  <a:tcPr marL="64008" marR="64008" marT="18288" marB="18288" anchor="ctr">
                    <a:solidFill>
                      <a:srgbClr val="FFFFFF"/>
                    </a:solidFill>
                  </a:tcPr>
                </a:tc>
                <a:tc>
                  <a:txBody>
                    <a:bodyPr wrap="square"/>
                    <a:lstStyle/>
                    <a:p>
                      <a:pPr algn="r">
                        <a:lnSpc>
                          <a:spcPct val="100000"/>
                        </a:lnSpc>
                      </a:pPr>
                      <a:r>
                        <a:rPr sz="1050" b="1">
                          <a:solidFill>
                            <a:srgbClr val="2A664C"/>
                          </a:solidFill>
                          <a:latin typeface="Consolas"/>
                        </a:rPr>
                        <a:t>DONE</a:t>
                      </a:r>
                    </a:p>
                  </a:txBody>
                  <a:tcPr marL="64008" marR="64008" marT="18288" marB="18288" anchor="ctr">
                    <a:solidFill>
                      <a:srgbClr val="FFFFFF"/>
                    </a:solidFill>
                  </a:tcPr>
                </a:tc>
              </a:tr>
              <a:tr h="265176">
                <a:tc>
                  <a:txBody>
                    <a:bodyPr wrap="square"/>
                    <a:lstStyle/>
                    <a:p>
                      <a:pPr>
                        <a:lnSpc>
                          <a:spcPct val="100000"/>
                        </a:lnSpc>
                      </a:pPr>
                      <a:r>
                        <a:rPr sz="1050" b="0">
                          <a:solidFill>
                            <a:srgbClr val="0F1A1C"/>
                          </a:solidFill>
                          <a:latin typeface="Calibri"/>
                        </a:rPr>
                        <a:t>Zero-shot proof of concept</a:t>
                      </a:r>
                    </a:p>
                  </a:txBody>
                  <a:tcPr marL="64008" marR="64008" marT="18288" marB="18288" anchor="ctr">
                    <a:solidFill>
                      <a:srgbClr val="EEF2F2"/>
                    </a:solidFill>
                  </a:tcPr>
                </a:tc>
                <a:tc>
                  <a:txBody>
                    <a:bodyPr wrap="square"/>
                    <a:lstStyle/>
                    <a:p>
                      <a:pPr algn="r">
                        <a:lnSpc>
                          <a:spcPct val="100000"/>
                        </a:lnSpc>
                      </a:pPr>
                      <a:r>
                        <a:rPr sz="1050" b="1">
                          <a:solidFill>
                            <a:srgbClr val="2A664C"/>
                          </a:solidFill>
                          <a:latin typeface="Consolas"/>
                        </a:rPr>
                        <a:t>DONE</a:t>
                      </a:r>
                    </a:p>
                  </a:txBody>
                  <a:tcPr marL="64008" marR="64008" marT="18288" marB="18288" anchor="ctr">
                    <a:solidFill>
                      <a:srgbClr val="EEF2F2"/>
                    </a:solidFill>
                  </a:tcPr>
                </a:tc>
              </a:tr>
              <a:tr h="265176">
                <a:tc>
                  <a:txBody>
                    <a:bodyPr wrap="square"/>
                    <a:lstStyle/>
                    <a:p>
                      <a:pPr>
                        <a:lnSpc>
                          <a:spcPct val="100000"/>
                        </a:lnSpc>
                      </a:pPr>
                      <a:r>
                        <a:rPr sz="1050" b="0">
                          <a:solidFill>
                            <a:srgbClr val="0F1A1C"/>
                          </a:solidFill>
                          <a:latin typeface="Calibri"/>
                        </a:rPr>
                        <a:t>Sentiment — continuous valence</a:t>
                      </a:r>
                    </a:p>
                  </a:txBody>
                  <a:tcPr marL="64008" marR="64008" marT="18288" marB="18288" anchor="ctr">
                    <a:solidFill>
                      <a:srgbClr val="FFFFFF"/>
                    </a:solidFill>
                  </a:tcPr>
                </a:tc>
                <a:tc>
                  <a:txBody>
                    <a:bodyPr wrap="square"/>
                    <a:lstStyle/>
                    <a:p>
                      <a:pPr algn="r">
                        <a:lnSpc>
                          <a:spcPct val="100000"/>
                        </a:lnSpc>
                      </a:pPr>
                      <a:r>
                        <a:rPr sz="1050" b="1">
                          <a:solidFill>
                            <a:srgbClr val="2A664C"/>
                          </a:solidFill>
                          <a:latin typeface="Consolas"/>
                        </a:rPr>
                        <a:t>DONE</a:t>
                      </a:r>
                    </a:p>
                  </a:txBody>
                  <a:tcPr marL="64008" marR="64008" marT="18288" marB="18288" anchor="ctr">
                    <a:solidFill>
                      <a:srgbClr val="FFFFFF"/>
                    </a:solidFill>
                  </a:tcPr>
                </a:tc>
              </a:tr>
              <a:tr h="265176">
                <a:tc>
                  <a:txBody>
                    <a:bodyPr wrap="square"/>
                    <a:lstStyle/>
                    <a:p>
                      <a:pPr>
                        <a:lnSpc>
                          <a:spcPct val="100000"/>
                        </a:lnSpc>
                      </a:pPr>
                      <a:r>
                        <a:rPr sz="1050" b="0">
                          <a:solidFill>
                            <a:srgbClr val="0F1A1C"/>
                          </a:solidFill>
                          <a:latin typeface="Calibri"/>
                        </a:rPr>
                        <a:t>BERTopic incl. grid searches</a:t>
                      </a:r>
                    </a:p>
                  </a:txBody>
                  <a:tcPr marL="64008" marR="64008" marT="18288" marB="18288" anchor="ctr">
                    <a:solidFill>
                      <a:srgbClr val="EEF2F2"/>
                    </a:solidFill>
                  </a:tcPr>
                </a:tc>
                <a:tc>
                  <a:txBody>
                    <a:bodyPr wrap="square"/>
                    <a:lstStyle/>
                    <a:p>
                      <a:pPr algn="r">
                        <a:lnSpc>
                          <a:spcPct val="100000"/>
                        </a:lnSpc>
                      </a:pPr>
                      <a:r>
                        <a:rPr sz="1050" b="1">
                          <a:solidFill>
                            <a:srgbClr val="2A664C"/>
                          </a:solidFill>
                          <a:latin typeface="Consolas"/>
                        </a:rPr>
                        <a:t>DONE</a:t>
                      </a:r>
                    </a:p>
                  </a:txBody>
                  <a:tcPr marL="64008" marR="64008" marT="18288" marB="18288" anchor="ctr">
                    <a:solidFill>
                      <a:srgbClr val="EEF2F2"/>
                    </a:solidFill>
                  </a:tcPr>
                </a:tc>
              </a:tr>
              <a:tr h="265176">
                <a:tc>
                  <a:txBody>
                    <a:bodyPr wrap="square"/>
                    <a:lstStyle/>
                    <a:p>
                      <a:pPr>
                        <a:lnSpc>
                          <a:spcPct val="100000"/>
                        </a:lnSpc>
                      </a:pPr>
                      <a:r>
                        <a:rPr sz="1050" b="0">
                          <a:solidFill>
                            <a:srgbClr val="0F1A1C"/>
                          </a:solidFill>
                          <a:latin typeface="Calibri"/>
                        </a:rPr>
                        <a:t>Dashboard concept</a:t>
                      </a:r>
                    </a:p>
                  </a:txBody>
                  <a:tcPr marL="64008" marR="64008" marT="18288" marB="18288" anchor="ctr">
                    <a:solidFill>
                      <a:srgbClr val="FFFFFF"/>
                    </a:solidFill>
                  </a:tcPr>
                </a:tc>
                <a:tc>
                  <a:txBody>
                    <a:bodyPr wrap="square"/>
                    <a:lstStyle/>
                    <a:p>
                      <a:pPr algn="r">
                        <a:lnSpc>
                          <a:spcPct val="100000"/>
                        </a:lnSpc>
                      </a:pPr>
                      <a:r>
                        <a:rPr sz="1050" b="1">
                          <a:solidFill>
                            <a:srgbClr val="2A664C"/>
                          </a:solidFill>
                          <a:latin typeface="Consolas"/>
                        </a:rPr>
                        <a:t>DONE</a:t>
                      </a:r>
                    </a:p>
                  </a:txBody>
                  <a:tcPr marL="64008" marR="64008" marT="18288" marB="18288" anchor="ctr">
                    <a:solidFill>
                      <a:srgbClr val="FFFFFF"/>
                    </a:solidFill>
                  </a:tcPr>
                </a:tc>
              </a:tr>
              <a:tr h="265176">
                <a:tc>
                  <a:txBody>
                    <a:bodyPr wrap="square"/>
                    <a:lstStyle/>
                    <a:p>
                      <a:pPr>
                        <a:lnSpc>
                          <a:spcPct val="100000"/>
                        </a:lnSpc>
                      </a:pPr>
                      <a:r>
                        <a:rPr sz="1050" b="0">
                          <a:solidFill>
                            <a:srgbClr val="0F1A1C"/>
                          </a:solidFill>
                          <a:latin typeface="Calibri"/>
                        </a:rPr>
                        <a:t>Arousal dimension</a:t>
                      </a:r>
                    </a:p>
                  </a:txBody>
                  <a:tcPr marL="64008" marR="64008" marT="18288" marB="18288" anchor="ctr">
                    <a:solidFill>
                      <a:srgbClr val="EEF2F2"/>
                    </a:solidFill>
                  </a:tcPr>
                </a:tc>
                <a:tc>
                  <a:txBody>
                    <a:bodyPr wrap="square"/>
                    <a:lstStyle/>
                    <a:p>
                      <a:pPr algn="r">
                        <a:lnSpc>
                          <a:spcPct val="100000"/>
                        </a:lnSpc>
                      </a:pPr>
                      <a:r>
                        <a:rPr sz="1050" b="1">
                          <a:solidFill>
                            <a:srgbClr val="8F6414"/>
                          </a:solidFill>
                          <a:latin typeface="Consolas"/>
                        </a:rPr>
                        <a:t>OPEN</a:t>
                      </a:r>
                    </a:p>
                  </a:txBody>
                  <a:tcPr marL="64008" marR="64008" marT="18288" marB="18288" anchor="ctr">
                    <a:solidFill>
                      <a:srgbClr val="EEF2F2"/>
                    </a:solidFill>
                  </a:tcPr>
                </a:tc>
              </a:tr>
              <a:tr h="265176">
                <a:tc>
                  <a:txBody>
                    <a:bodyPr wrap="square"/>
                    <a:lstStyle/>
                    <a:p>
                      <a:pPr>
                        <a:lnSpc>
                          <a:spcPct val="100000"/>
                        </a:lnSpc>
                      </a:pPr>
                      <a:r>
                        <a:rPr sz="1050" b="0">
                          <a:solidFill>
                            <a:srgbClr val="0F1A1C"/>
                          </a:solidFill>
                          <a:latin typeface="Calibri"/>
                        </a:rPr>
                        <a:t>Engagement prediction model</a:t>
                      </a:r>
                    </a:p>
                  </a:txBody>
                  <a:tcPr marL="64008" marR="64008" marT="18288" marB="18288" anchor="ctr">
                    <a:solidFill>
                      <a:srgbClr val="FFFFFF"/>
                    </a:solidFill>
                  </a:tcPr>
                </a:tc>
                <a:tc>
                  <a:txBody>
                    <a:bodyPr wrap="square"/>
                    <a:lstStyle/>
                    <a:p>
                      <a:pPr algn="r">
                        <a:lnSpc>
                          <a:spcPct val="100000"/>
                        </a:lnSpc>
                      </a:pPr>
                      <a:r>
                        <a:rPr sz="1050" b="1">
                          <a:solidFill>
                            <a:srgbClr val="8F6414"/>
                          </a:solidFill>
                          <a:latin typeface="Consolas"/>
                        </a:rPr>
                        <a:t>OPEN</a:t>
                      </a:r>
                    </a:p>
                  </a:txBody>
                  <a:tcPr marL="64008" marR="64008" marT="18288" marB="18288" anchor="ctr">
                    <a:solidFill>
                      <a:srgbClr val="FFFFFF"/>
                    </a:solidFill>
                  </a:tcPr>
                </a:tc>
              </a:tr>
            </a:tbl>
          </a:graphicData>
        </a:graphic>
      </p:graphicFrame>
      <p:sp>
        <p:nvSpPr>
          <p:cNvPr id="15" name="TextBox 14"/>
          <p:cNvSpPr txBox="1"/>
          <p:nvPr/>
        </p:nvSpPr>
        <p:spPr>
          <a:xfrm>
            <a:off x="6534759" y="4663440"/>
            <a:ext cx="4651095" cy="822960"/>
          </a:xfrm>
          <a:prstGeom prst="rect">
            <a:avLst/>
          </a:prstGeom>
          <a:noFill/>
        </p:spPr>
        <p:txBody>
          <a:bodyPr wrap="square" lIns="0" rIns="0" tIns="0" bIns="0">
            <a:spAutoFit/>
          </a:bodyPr>
          <a:lstStyle/>
          <a:p>
            <a:pPr>
              <a:lnSpc>
                <a:spcPct val="130000"/>
              </a:lnSpc>
              <a:spcBef>
                <a:spcPts val="0"/>
              </a:spcBef>
              <a:spcAft>
                <a:spcPts val="0"/>
              </a:spcAft>
            </a:pPr>
            <a:r>
              <a:rPr sz="1150" b="0" i="0">
                <a:solidFill>
                  <a:srgbClr val="0F1A1C"/>
                </a:solidFill>
                <a:latin typeface="Calibri"/>
              </a:rPr>
              <a:t>The core building blocks of the MVP are implemented. What remains is the second emotional axis and the predictive layer.</a:t>
            </a:r>
          </a:p>
        </p:txBody>
      </p:sp>
      <p:sp>
        <p:nvSpPr>
          <p:cNvPr id="16" name="TextBox 15"/>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METRICS</a:t>
            </a:r>
            <a:r>
              <a:rPr sz="1000">
                <a:solidFill>
                  <a:srgbClr val="8A9B9E"/>
                </a:solidFill>
                <a:latin typeface="Consolas"/>
              </a:rPr>
              <a:t>   ·   HOW SUCCESS IS MEASURED</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Topic Coherence (C_v)</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TextBox 5"/>
          <p:cNvSpPr txBox="1"/>
          <p:nvPr/>
        </p:nvSpPr>
        <p:spPr>
          <a:xfrm>
            <a:off x="749808" y="1755648"/>
            <a:ext cx="7484455" cy="457200"/>
          </a:xfrm>
          <a:prstGeom prst="rect">
            <a:avLst/>
          </a:prstGeom>
          <a:noFill/>
        </p:spPr>
        <p:txBody>
          <a:bodyPr wrap="square" lIns="0" rIns="0" tIns="0" bIns="0">
            <a:spAutoFit/>
          </a:bodyPr>
          <a:lstStyle/>
          <a:p>
            <a:pPr>
              <a:lnSpc>
                <a:spcPct val="120000"/>
              </a:lnSpc>
              <a:spcBef>
                <a:spcPts val="0"/>
              </a:spcBef>
              <a:spcAft>
                <a:spcPts val="0"/>
              </a:spcAft>
            </a:pPr>
            <a:r>
              <a:rPr sz="1600" b="0" i="0">
                <a:solidFill>
                  <a:srgbClr val="5A6B6E"/>
                </a:solidFill>
                <a:latin typeface="Georgia"/>
              </a:rPr>
              <a:t>Measures how well the terms inside one topic belong together semantically.</a:t>
            </a:r>
          </a:p>
        </p:txBody>
      </p:sp>
      <p:sp>
        <p:nvSpPr>
          <p:cNvPr id="7" name="Rectangle 6"/>
          <p:cNvSpPr/>
          <p:nvPr/>
        </p:nvSpPr>
        <p:spPr>
          <a:xfrm>
            <a:off x="749808" y="2377440"/>
            <a:ext cx="2480995" cy="141732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9264" y="2560320"/>
            <a:ext cx="2042083" cy="1106424"/>
          </a:xfrm>
          <a:prstGeom prst="rect">
            <a:avLst/>
          </a:prstGeom>
          <a:noFill/>
        </p:spPr>
        <p:txBody>
          <a:bodyPr wrap="square" lIns="0" rIns="0" tIns="0" bIns="0">
            <a:spAutoFit/>
          </a:bodyPr>
          <a:lstStyle/>
          <a:p>
            <a:pPr>
              <a:lnSpc>
                <a:spcPct val="100000"/>
              </a:lnSpc>
              <a:spcBef>
                <a:spcPts val="0"/>
              </a:spcBef>
              <a:spcAft>
                <a:spcPts val="200"/>
              </a:spcAft>
            </a:pPr>
            <a:r>
              <a:rPr sz="2600" b="0" i="0">
                <a:solidFill>
                  <a:srgbClr val="14636E"/>
                </a:solidFill>
                <a:latin typeface="Georgia"/>
              </a:rPr>
              <a:t>0.350</a:t>
            </a:r>
          </a:p>
          <a:p>
            <a:pPr>
              <a:lnSpc>
                <a:spcPct val="120000"/>
              </a:lnSpc>
              <a:spcBef>
                <a:spcPts val="0"/>
              </a:spcBef>
              <a:spcAft>
                <a:spcPts val="400"/>
              </a:spcAft>
            </a:pPr>
            <a:r>
              <a:rPr sz="900" b="0" i="0">
                <a:solidFill>
                  <a:srgbClr val="5A6B6E"/>
                </a:solidFill>
                <a:latin typeface="Consolas"/>
              </a:rPr>
              <a:t>C_V COHERENCE</a:t>
            </a:r>
          </a:p>
          <a:p>
            <a:pPr>
              <a:lnSpc>
                <a:spcPct val="115000"/>
              </a:lnSpc>
              <a:spcBef>
                <a:spcPts val="0"/>
              </a:spcBef>
              <a:spcAft>
                <a:spcPts val="0"/>
              </a:spcAft>
            </a:pPr>
            <a:r>
              <a:rPr sz="1000" b="0" i="0">
                <a:solidFill>
                  <a:srgbClr val="5A6B6E"/>
                </a:solidFill>
                <a:latin typeface="Calibri"/>
              </a:rPr>
              <a:t>Current best configuration. Higher = more consistent, more interpretable topics.</a:t>
            </a:r>
          </a:p>
        </p:txBody>
      </p:sp>
      <p:sp>
        <p:nvSpPr>
          <p:cNvPr id="9" name="Rectangle 8"/>
          <p:cNvSpPr/>
          <p:nvPr/>
        </p:nvSpPr>
        <p:spPr>
          <a:xfrm>
            <a:off x="3486835" y="2377440"/>
            <a:ext cx="2480995" cy="14173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706291" y="2560320"/>
            <a:ext cx="2042083" cy="1106424"/>
          </a:xfrm>
          <a:prstGeom prst="rect">
            <a:avLst/>
          </a:prstGeom>
          <a:noFill/>
        </p:spPr>
        <p:txBody>
          <a:bodyPr wrap="square" lIns="0" rIns="0" tIns="0" bIns="0">
            <a:spAutoFit/>
          </a:bodyPr>
          <a:lstStyle/>
          <a:p>
            <a:pPr>
              <a:lnSpc>
                <a:spcPct val="100000"/>
              </a:lnSpc>
              <a:spcBef>
                <a:spcPts val="0"/>
              </a:spcBef>
              <a:spcAft>
                <a:spcPts val="200"/>
              </a:spcAft>
            </a:pPr>
            <a:r>
              <a:rPr sz="2600" b="0" i="0">
                <a:solidFill>
                  <a:srgbClr val="0F1A1C"/>
                </a:solidFill>
                <a:latin typeface="Georgia"/>
              </a:rPr>
              <a:t>18.1 %</a:t>
            </a:r>
          </a:p>
          <a:p>
            <a:pPr>
              <a:lnSpc>
                <a:spcPct val="120000"/>
              </a:lnSpc>
              <a:spcBef>
                <a:spcPts val="0"/>
              </a:spcBef>
              <a:spcAft>
                <a:spcPts val="400"/>
              </a:spcAft>
            </a:pPr>
            <a:r>
              <a:rPr sz="900" b="0" i="0">
                <a:solidFill>
                  <a:srgbClr val="5A6B6E"/>
                </a:solidFill>
                <a:latin typeface="Consolas"/>
              </a:rPr>
              <a:t>OUTLIER RATE</a:t>
            </a:r>
          </a:p>
          <a:p>
            <a:pPr>
              <a:lnSpc>
                <a:spcPct val="115000"/>
              </a:lnSpc>
              <a:spcBef>
                <a:spcPts val="0"/>
              </a:spcBef>
              <a:spcAft>
                <a:spcPts val="0"/>
              </a:spcAft>
            </a:pPr>
            <a:r>
              <a:rPr sz="1000" b="0" i="0">
                <a:solidFill>
                  <a:srgbClr val="5A6B6E"/>
                </a:solidFill>
                <a:latin typeface="Calibri"/>
              </a:rPr>
              <a:t>Share of comments in the noise cluster (−1). Coverage metric.</a:t>
            </a:r>
          </a:p>
        </p:txBody>
      </p:sp>
      <p:sp>
        <p:nvSpPr>
          <p:cNvPr id="11" name="Rectangle 10"/>
          <p:cNvSpPr/>
          <p:nvPr/>
        </p:nvSpPr>
        <p:spPr>
          <a:xfrm>
            <a:off x="6223863" y="2377440"/>
            <a:ext cx="2480995" cy="14173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43319" y="2560320"/>
            <a:ext cx="2042083" cy="1106424"/>
          </a:xfrm>
          <a:prstGeom prst="rect">
            <a:avLst/>
          </a:prstGeom>
          <a:noFill/>
        </p:spPr>
        <p:txBody>
          <a:bodyPr wrap="square" lIns="0" rIns="0" tIns="0" bIns="0">
            <a:spAutoFit/>
          </a:bodyPr>
          <a:lstStyle/>
          <a:p>
            <a:pPr>
              <a:lnSpc>
                <a:spcPct val="100000"/>
              </a:lnSpc>
              <a:spcBef>
                <a:spcPts val="0"/>
              </a:spcBef>
              <a:spcAft>
                <a:spcPts val="200"/>
              </a:spcAft>
            </a:pPr>
            <a:r>
              <a:rPr sz="2600" b="0" i="0">
                <a:solidFill>
                  <a:srgbClr val="0F1A1C"/>
                </a:solidFill>
                <a:latin typeface="Georgia"/>
              </a:rPr>
              <a:t>100 %</a:t>
            </a:r>
          </a:p>
          <a:p>
            <a:pPr>
              <a:lnSpc>
                <a:spcPct val="120000"/>
              </a:lnSpc>
              <a:spcBef>
                <a:spcPts val="0"/>
              </a:spcBef>
              <a:spcAft>
                <a:spcPts val="400"/>
              </a:spcAft>
            </a:pPr>
            <a:r>
              <a:rPr sz="900" b="0" i="0">
                <a:solidFill>
                  <a:srgbClr val="5A6B6E"/>
                </a:solidFill>
                <a:latin typeface="Consolas"/>
              </a:rPr>
              <a:t>COMMENT COVERAGE</a:t>
            </a:r>
          </a:p>
          <a:p>
            <a:pPr>
              <a:lnSpc>
                <a:spcPct val="115000"/>
              </a:lnSpc>
              <a:spcBef>
                <a:spcPts val="0"/>
              </a:spcBef>
              <a:spcAft>
                <a:spcPts val="0"/>
              </a:spcAft>
            </a:pPr>
            <a:r>
              <a:rPr sz="1000" b="0" i="0">
                <a:solidFill>
                  <a:srgbClr val="5A6B6E"/>
                </a:solidFill>
                <a:latin typeface="Calibri"/>
              </a:rPr>
              <a:t>All 5,000 valid comments received a valence score. Target ≥ 95 %.</a:t>
            </a:r>
          </a:p>
        </p:txBody>
      </p:sp>
      <p:sp>
        <p:nvSpPr>
          <p:cNvPr id="13" name="Rectangle 12"/>
          <p:cNvSpPr/>
          <p:nvPr/>
        </p:nvSpPr>
        <p:spPr>
          <a:xfrm>
            <a:off x="8960891" y="2377440"/>
            <a:ext cx="2480995" cy="14173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80347" y="2560320"/>
            <a:ext cx="2042083" cy="1106424"/>
          </a:xfrm>
          <a:prstGeom prst="rect">
            <a:avLst/>
          </a:prstGeom>
          <a:noFill/>
        </p:spPr>
        <p:txBody>
          <a:bodyPr wrap="square" lIns="0" rIns="0" tIns="0" bIns="0">
            <a:spAutoFit/>
          </a:bodyPr>
          <a:lstStyle/>
          <a:p>
            <a:pPr>
              <a:lnSpc>
                <a:spcPct val="100000"/>
              </a:lnSpc>
              <a:spcBef>
                <a:spcPts val="0"/>
              </a:spcBef>
              <a:spcAft>
                <a:spcPts val="200"/>
              </a:spcAft>
            </a:pPr>
            <a:r>
              <a:rPr sz="2600" b="0" i="0">
                <a:solidFill>
                  <a:srgbClr val="0F1A1C"/>
                </a:solidFill>
                <a:latin typeface="Georgia"/>
              </a:rPr>
              <a:t>MAE · R²</a:t>
            </a:r>
          </a:p>
          <a:p>
            <a:pPr>
              <a:lnSpc>
                <a:spcPct val="120000"/>
              </a:lnSpc>
              <a:spcBef>
                <a:spcPts val="0"/>
              </a:spcBef>
              <a:spcAft>
                <a:spcPts val="400"/>
              </a:spcAft>
            </a:pPr>
            <a:r>
              <a:rPr sz="900" b="0" i="0">
                <a:solidFill>
                  <a:srgbClr val="5A6B6E"/>
                </a:solidFill>
                <a:latin typeface="Consolas"/>
              </a:rPr>
              <a:t>PREDICTIVE LAYER</a:t>
            </a:r>
          </a:p>
          <a:p>
            <a:pPr>
              <a:lnSpc>
                <a:spcPct val="115000"/>
              </a:lnSpc>
              <a:spcBef>
                <a:spcPts val="0"/>
              </a:spcBef>
              <a:spcAft>
                <a:spcPts val="0"/>
              </a:spcAft>
            </a:pPr>
            <a:r>
              <a:rPr sz="1000" b="0" i="0">
                <a:solidFill>
                  <a:srgbClr val="5A6B6E"/>
                </a:solidFill>
                <a:latin typeface="Calibri"/>
              </a:rPr>
              <a:t>Planned for engagement prediction. Targets MAE &lt; 0.60, R² &gt; 0.30.</a:t>
            </a:r>
          </a:p>
        </p:txBody>
      </p:sp>
      <p:sp>
        <p:nvSpPr>
          <p:cNvPr id="15" name="Rectangle 14"/>
          <p:cNvSpPr/>
          <p:nvPr/>
        </p:nvSpPr>
        <p:spPr>
          <a:xfrm>
            <a:off x="749808" y="4069080"/>
            <a:ext cx="5163159" cy="10515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49808" y="4069080"/>
            <a:ext cx="32004" cy="10515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4270248"/>
            <a:ext cx="4687671" cy="649224"/>
          </a:xfrm>
          <a:prstGeom prst="rect">
            <a:avLst/>
          </a:prstGeom>
          <a:noFill/>
        </p:spPr>
        <p:txBody>
          <a:bodyPr wrap="square" lIns="0" rIns="0" tIns="0" bIns="0">
            <a:spAutoFit/>
          </a:bodyPr>
          <a:lstStyle/>
          <a:p>
            <a:pPr>
              <a:lnSpc>
                <a:spcPct val="120000"/>
              </a:lnSpc>
              <a:spcBef>
                <a:spcPts val="0"/>
              </a:spcBef>
              <a:spcAft>
                <a:spcPts val="400"/>
              </a:spcAft>
            </a:pPr>
            <a:r>
              <a:rPr sz="950" b="1" i="0">
                <a:solidFill>
                  <a:srgbClr val="14636E"/>
                </a:solidFill>
                <a:latin typeface="Consolas"/>
              </a:rPr>
              <a:t>COHERENT TOPIC</a:t>
            </a:r>
          </a:p>
          <a:p>
            <a:pPr>
              <a:lnSpc>
                <a:spcPct val="120000"/>
              </a:lnSpc>
              <a:spcBef>
                <a:spcPts val="0"/>
              </a:spcBef>
              <a:spcAft>
                <a:spcPts val="0"/>
              </a:spcAft>
            </a:pPr>
            <a:r>
              <a:rPr sz="1200" b="0" i="0">
                <a:solidFill>
                  <a:srgbClr val="2A664C"/>
                </a:solidFill>
                <a:latin typeface="Consolas"/>
              </a:rPr>
              <a:t>communication · feedback · transparency · information</a:t>
            </a:r>
          </a:p>
        </p:txBody>
      </p:sp>
      <p:sp>
        <p:nvSpPr>
          <p:cNvPr id="18" name="Rectangle 17"/>
          <p:cNvSpPr/>
          <p:nvPr/>
        </p:nvSpPr>
        <p:spPr>
          <a:xfrm>
            <a:off x="6278727" y="4069080"/>
            <a:ext cx="5163159" cy="10515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78727" y="4069080"/>
            <a:ext cx="32004" cy="10515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34759" y="4270248"/>
            <a:ext cx="4687671" cy="649224"/>
          </a:xfrm>
          <a:prstGeom prst="rect">
            <a:avLst/>
          </a:prstGeom>
          <a:noFill/>
        </p:spPr>
        <p:txBody>
          <a:bodyPr wrap="square" lIns="0" rIns="0" tIns="0" bIns="0">
            <a:spAutoFit/>
          </a:bodyPr>
          <a:lstStyle/>
          <a:p>
            <a:pPr>
              <a:lnSpc>
                <a:spcPct val="120000"/>
              </a:lnSpc>
              <a:spcBef>
                <a:spcPts val="0"/>
              </a:spcBef>
              <a:spcAft>
                <a:spcPts val="400"/>
              </a:spcAft>
            </a:pPr>
            <a:r>
              <a:rPr sz="950" b="1" i="0">
                <a:solidFill>
                  <a:srgbClr val="14636E"/>
                </a:solidFill>
                <a:latin typeface="Consolas"/>
              </a:rPr>
              <a:t>INCOHERENT TOPIC</a:t>
            </a:r>
          </a:p>
          <a:p>
            <a:pPr>
              <a:lnSpc>
                <a:spcPct val="120000"/>
              </a:lnSpc>
              <a:spcBef>
                <a:spcPts val="0"/>
              </a:spcBef>
              <a:spcAft>
                <a:spcPts val="0"/>
              </a:spcAft>
            </a:pPr>
            <a:r>
              <a:rPr sz="1200" b="0" i="0">
                <a:solidFill>
                  <a:srgbClr val="9A4037"/>
                </a:solidFill>
                <a:latin typeface="Consolas"/>
              </a:rPr>
              <a:t>feedback · summer · dog · finance</a:t>
            </a:r>
          </a:p>
        </p:txBody>
      </p:sp>
      <p:sp>
        <p:nvSpPr>
          <p:cNvPr id="21" name="TextBox 20"/>
          <p:cNvSpPr txBox="1"/>
          <p:nvPr/>
        </p:nvSpPr>
        <p:spPr>
          <a:xfrm>
            <a:off x="749808" y="5349240"/>
            <a:ext cx="10692079" cy="640080"/>
          </a:xfrm>
          <a:prstGeom prst="rect">
            <a:avLst/>
          </a:prstGeom>
          <a:noFill/>
        </p:spPr>
        <p:txBody>
          <a:bodyPr wrap="square" lIns="0" rIns="0" tIns="0" bIns="0">
            <a:spAutoFit/>
          </a:bodyPr>
          <a:lstStyle/>
          <a:p>
            <a:pPr>
              <a:lnSpc>
                <a:spcPct val="125000"/>
              </a:lnSpc>
              <a:spcBef>
                <a:spcPts val="0"/>
              </a:spcBef>
              <a:spcAft>
                <a:spcPts val="0"/>
              </a:spcAft>
            </a:pPr>
            <a:r>
              <a:rPr sz="1150" b="0" i="0">
                <a:solidFill>
                  <a:srgbClr val="5A6B6E"/>
                </a:solidFill>
                <a:latin typeface="Calibri"/>
              </a:rPr>
              <a:t>Topic modelling has no ground-truth labels, so classification metrics do not apply. Coherence, outlier rate and coverage are reported together — each one alone can be gamed.</a:t>
            </a:r>
          </a:p>
        </p:txBody>
      </p:sp>
      <p:sp>
        <p:nvSpPr>
          <p:cNvPr id="22" name="TextBox 21"/>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PRODUCT</a:t>
            </a:r>
            <a:r>
              <a:rPr sz="1000">
                <a:solidFill>
                  <a:srgbClr val="8A9B9E"/>
                </a:solidFill>
                <a:latin typeface="Consolas"/>
              </a:rPr>
              <a:t>   ·   TARGET DASHBOARD &amp; ROADMAP</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Four pages, one question each</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2005507" cy="1883664"/>
          </a:xfrm>
          <a:prstGeom prst="rect">
            <a:avLst/>
          </a:prstGeom>
          <a:noFill/>
        </p:spPr>
        <p:txBody>
          <a:bodyPr wrap="square" lIns="0" rIns="0" tIns="0" bIns="0">
            <a:spAutoFit/>
          </a:bodyPr>
          <a:lstStyle/>
          <a:p>
            <a:pPr>
              <a:lnSpc>
                <a:spcPct val="120000"/>
              </a:lnSpc>
              <a:spcBef>
                <a:spcPts val="0"/>
              </a:spcBef>
              <a:spcAft>
                <a:spcPts val="400"/>
              </a:spcAft>
            </a:pPr>
            <a:r>
              <a:rPr sz="900" b="0" i="0">
                <a:solidFill>
                  <a:srgbClr val="8A9B9E"/>
                </a:solidFill>
                <a:latin typeface="Consolas"/>
              </a:rPr>
              <a:t>PAGE 1</a:t>
            </a:r>
          </a:p>
          <a:p>
            <a:pPr>
              <a:lnSpc>
                <a:spcPct val="105000"/>
              </a:lnSpc>
              <a:spcBef>
                <a:spcPts val="0"/>
              </a:spcBef>
              <a:spcAft>
                <a:spcPts val="600"/>
              </a:spcAft>
            </a:pPr>
            <a:r>
              <a:rPr sz="1500" b="0" i="0">
                <a:solidFill>
                  <a:srgbClr val="0F1A1C"/>
                </a:solidFill>
                <a:latin typeface="Georgia"/>
              </a:rPr>
              <a:t>Overview</a:t>
            </a:r>
          </a:p>
          <a:p>
            <a:pPr>
              <a:lnSpc>
                <a:spcPct val="125000"/>
              </a:lnSpc>
              <a:spcBef>
                <a:spcPts val="0"/>
              </a:spcBef>
              <a:spcAft>
                <a:spcPts val="0"/>
              </a:spcAft>
            </a:pPr>
            <a:r>
              <a:rPr sz="1100" b="0" i="0">
                <a:solidFill>
                  <a:srgbClr val="5A6B6E"/>
                </a:solidFill>
                <a:latin typeface="Calibri"/>
              </a:rPr>
              <a:t>Comment volume, average valence, participation, iteration filter.</a:t>
            </a:r>
          </a:p>
        </p:txBody>
      </p:sp>
      <p:sp>
        <p:nvSpPr>
          <p:cNvPr id="9" name="Rectangle 8"/>
          <p:cNvSpPr/>
          <p:nvPr/>
        </p:nvSpPr>
        <p:spPr>
          <a:xfrm>
            <a:off x="3486835" y="1874519"/>
            <a:ext cx="2480995" cy="228600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3486835"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742867" y="2075688"/>
            <a:ext cx="2005507" cy="1883664"/>
          </a:xfrm>
          <a:prstGeom prst="rect">
            <a:avLst/>
          </a:prstGeom>
          <a:noFill/>
        </p:spPr>
        <p:txBody>
          <a:bodyPr wrap="square" lIns="0" rIns="0" tIns="0" bIns="0">
            <a:spAutoFit/>
          </a:bodyPr>
          <a:lstStyle/>
          <a:p>
            <a:pPr>
              <a:lnSpc>
                <a:spcPct val="120000"/>
              </a:lnSpc>
              <a:spcBef>
                <a:spcPts val="0"/>
              </a:spcBef>
              <a:spcAft>
                <a:spcPts val="400"/>
              </a:spcAft>
            </a:pPr>
            <a:r>
              <a:rPr sz="900" b="0" i="0">
                <a:solidFill>
                  <a:srgbClr val="8A9B9E"/>
                </a:solidFill>
                <a:latin typeface="Consolas"/>
              </a:rPr>
              <a:t>PAGE 2</a:t>
            </a:r>
          </a:p>
          <a:p>
            <a:pPr>
              <a:lnSpc>
                <a:spcPct val="105000"/>
              </a:lnSpc>
              <a:spcBef>
                <a:spcPts val="0"/>
              </a:spcBef>
              <a:spcAft>
                <a:spcPts val="600"/>
              </a:spcAft>
            </a:pPr>
            <a:r>
              <a:rPr sz="1500" b="0" i="0">
                <a:solidFill>
                  <a:srgbClr val="14636E"/>
                </a:solidFill>
                <a:latin typeface="Georgia"/>
              </a:rPr>
              <a:t>Core Affect Map</a:t>
            </a:r>
          </a:p>
          <a:p>
            <a:pPr>
              <a:lnSpc>
                <a:spcPct val="125000"/>
              </a:lnSpc>
              <a:spcBef>
                <a:spcPts val="0"/>
              </a:spcBef>
              <a:spcAft>
                <a:spcPts val="0"/>
              </a:spcAft>
            </a:pPr>
            <a:r>
              <a:rPr sz="1100" b="0" i="0">
                <a:solidFill>
                  <a:srgbClr val="5A6B6E"/>
                </a:solidFill>
                <a:latin typeface="Calibri"/>
              </a:rPr>
              <a:t>Comments and topic clusters positioned on valence × arousal. The centrepiece.</a:t>
            </a:r>
          </a:p>
        </p:txBody>
      </p:sp>
      <p:sp>
        <p:nvSpPr>
          <p:cNvPr id="12" name="Rectangle 11"/>
          <p:cNvSpPr/>
          <p:nvPr/>
        </p:nvSpPr>
        <p:spPr>
          <a:xfrm>
            <a:off x="6223863"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23863"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79895" y="2075688"/>
            <a:ext cx="2005507" cy="1883664"/>
          </a:xfrm>
          <a:prstGeom prst="rect">
            <a:avLst/>
          </a:prstGeom>
          <a:noFill/>
        </p:spPr>
        <p:txBody>
          <a:bodyPr wrap="square" lIns="0" rIns="0" tIns="0" bIns="0">
            <a:spAutoFit/>
          </a:bodyPr>
          <a:lstStyle/>
          <a:p>
            <a:pPr>
              <a:lnSpc>
                <a:spcPct val="120000"/>
              </a:lnSpc>
              <a:spcBef>
                <a:spcPts val="0"/>
              </a:spcBef>
              <a:spcAft>
                <a:spcPts val="400"/>
              </a:spcAft>
            </a:pPr>
            <a:r>
              <a:rPr sz="900" b="0" i="0">
                <a:solidFill>
                  <a:srgbClr val="8A9B9E"/>
                </a:solidFill>
                <a:latin typeface="Consolas"/>
              </a:rPr>
              <a:t>PAGE 3</a:t>
            </a:r>
          </a:p>
          <a:p>
            <a:pPr>
              <a:lnSpc>
                <a:spcPct val="105000"/>
              </a:lnSpc>
              <a:spcBef>
                <a:spcPts val="0"/>
              </a:spcBef>
              <a:spcAft>
                <a:spcPts val="600"/>
              </a:spcAft>
            </a:pPr>
            <a:r>
              <a:rPr sz="1500" b="0" i="0">
                <a:solidFill>
                  <a:srgbClr val="0F1A1C"/>
                </a:solidFill>
                <a:latin typeface="Georgia"/>
              </a:rPr>
              <a:t>Topics &amp; Trends</a:t>
            </a:r>
          </a:p>
          <a:p>
            <a:pPr>
              <a:lnSpc>
                <a:spcPct val="125000"/>
              </a:lnSpc>
              <a:spcBef>
                <a:spcPts val="0"/>
              </a:spcBef>
              <a:spcAft>
                <a:spcPts val="0"/>
              </a:spcAft>
            </a:pPr>
            <a:r>
              <a:rPr sz="1100" b="0" i="0">
                <a:solidFill>
                  <a:srgbClr val="5A6B6E"/>
                </a:solidFill>
                <a:latin typeface="Calibri"/>
              </a:rPr>
              <a:t>Topic frequency, movement across iterations, emotion per topic.</a:t>
            </a:r>
          </a:p>
        </p:txBody>
      </p:sp>
      <p:sp>
        <p:nvSpPr>
          <p:cNvPr id="15" name="Rectangle 14"/>
          <p:cNvSpPr/>
          <p:nvPr/>
        </p:nvSpPr>
        <p:spPr>
          <a:xfrm>
            <a:off x="8960891"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960891"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216923" y="2075688"/>
            <a:ext cx="2005507" cy="1883664"/>
          </a:xfrm>
          <a:prstGeom prst="rect">
            <a:avLst/>
          </a:prstGeom>
          <a:noFill/>
        </p:spPr>
        <p:txBody>
          <a:bodyPr wrap="square" lIns="0" rIns="0" tIns="0" bIns="0">
            <a:spAutoFit/>
          </a:bodyPr>
          <a:lstStyle/>
          <a:p>
            <a:pPr>
              <a:lnSpc>
                <a:spcPct val="120000"/>
              </a:lnSpc>
              <a:spcBef>
                <a:spcPts val="0"/>
              </a:spcBef>
              <a:spcAft>
                <a:spcPts val="400"/>
              </a:spcAft>
            </a:pPr>
            <a:r>
              <a:rPr sz="900" b="0" i="0">
                <a:solidFill>
                  <a:srgbClr val="8A9B9E"/>
                </a:solidFill>
                <a:latin typeface="Consolas"/>
              </a:rPr>
              <a:t>PAGE 4</a:t>
            </a:r>
          </a:p>
          <a:p>
            <a:pPr>
              <a:lnSpc>
                <a:spcPct val="105000"/>
              </a:lnSpc>
              <a:spcBef>
                <a:spcPts val="0"/>
              </a:spcBef>
              <a:spcAft>
                <a:spcPts val="600"/>
              </a:spcAft>
            </a:pPr>
            <a:r>
              <a:rPr sz="1500" b="0" i="0">
                <a:solidFill>
                  <a:srgbClr val="0F1A1C"/>
                </a:solidFill>
                <a:latin typeface="Georgia"/>
              </a:rPr>
              <a:t>Organisational Comparison</a:t>
            </a:r>
          </a:p>
          <a:p>
            <a:pPr>
              <a:lnSpc>
                <a:spcPct val="125000"/>
              </a:lnSpc>
              <a:spcBef>
                <a:spcPts val="0"/>
              </a:spcBef>
              <a:spcAft>
                <a:spcPts val="0"/>
              </a:spcAft>
            </a:pPr>
            <a:r>
              <a:rPr sz="1100" b="0" i="0">
                <a:solidFill>
                  <a:srgbClr val="5A6B6E"/>
                </a:solidFill>
                <a:latin typeface="Calibri"/>
              </a:rPr>
              <a:t>Business units side by side, valence against survey scores.</a:t>
            </a:r>
          </a:p>
        </p:txBody>
      </p:sp>
      <p:sp>
        <p:nvSpPr>
          <p:cNvPr id="18" name="Rectangle 17"/>
          <p:cNvSpPr/>
          <p:nvPr/>
        </p:nvSpPr>
        <p:spPr>
          <a:xfrm>
            <a:off x="749808" y="4434840"/>
            <a:ext cx="10692079" cy="128016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49808" y="4434840"/>
            <a:ext cx="32004" cy="12801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05840" y="4636007"/>
            <a:ext cx="10216591" cy="87782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PROJECT PROGRESS ≈ 65 %</a:t>
            </a:r>
          </a:p>
          <a:p>
            <a:pPr>
              <a:lnSpc>
                <a:spcPct val="130000"/>
              </a:lnSpc>
              <a:spcBef>
                <a:spcPts val="0"/>
              </a:spcBef>
              <a:spcAft>
                <a:spcPts val="0"/>
              </a:spcAft>
            </a:pPr>
            <a:r>
              <a:rPr sz="1250" b="0" i="0">
                <a:solidFill>
                  <a:srgbClr val="0F1A1C"/>
                </a:solidFill>
                <a:latin typeface="Calibri"/>
              </a:rPr>
              <a:t>Data layer, sentiment layer, topic layer and dashboard concept are in place. Remaining: the arousal axis, topic consolidation, the predictive model, dashboard finalisation and the evaluation write-up.</a:t>
            </a:r>
          </a:p>
        </p:txBody>
      </p:sp>
      <p:sp>
        <p:nvSpPr>
          <p:cNvPr id="21" name="TextBox 20"/>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OUTLOOK</a:t>
            </a:r>
            <a:r>
              <a:rPr sz="1000">
                <a:solidFill>
                  <a:srgbClr val="8A9B9E"/>
                </a:solidFill>
                <a:latin typeface="Consolas"/>
              </a:rPr>
              <a:t>   ·   RISKS &amp; NEXT STEPS</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What could go wrong, and what happens next</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5163159"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1883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9A4037"/>
                </a:solidFill>
                <a:latin typeface="Consolas"/>
              </a:rPr>
              <a:t>RISKS</a:t>
            </a:r>
          </a:p>
          <a:p>
            <a:pPr>
              <a:lnSpc>
                <a:spcPct val="118000"/>
              </a:lnSpc>
              <a:spcAft>
                <a:spcPts val="400"/>
              </a:spcAft>
            </a:pPr>
            <a:r>
              <a:rPr sz="1150">
                <a:solidFill>
                  <a:srgbClr val="14636E"/>
                </a:solidFill>
                <a:latin typeface="Calibri"/>
              </a:rPr>
              <a:t>▪  </a:t>
            </a:r>
            <a:r>
              <a:rPr sz="1150" b="1">
                <a:solidFill>
                  <a:srgbClr val="0F1A1C"/>
                </a:solidFill>
                <a:latin typeface="Calibri"/>
              </a:rPr>
              <a:t>Synthetic text quality.  </a:t>
            </a:r>
            <a:r>
              <a:rPr sz="1150">
                <a:solidFill>
                  <a:srgbClr val="0F1A1C"/>
                </a:solidFill>
                <a:latin typeface="Calibri"/>
              </a:rPr>
              <a:t>Generated comments are more repetitive than real ones, which depresses topic quality — the models look worse than they are.</a:t>
            </a:r>
          </a:p>
          <a:p>
            <a:pPr>
              <a:lnSpc>
                <a:spcPct val="118000"/>
              </a:lnSpc>
              <a:spcAft>
                <a:spcPts val="400"/>
              </a:spcAft>
            </a:pPr>
            <a:r>
              <a:rPr sz="1150">
                <a:solidFill>
                  <a:srgbClr val="14636E"/>
                </a:solidFill>
                <a:latin typeface="Calibri"/>
              </a:rPr>
              <a:t>▪  </a:t>
            </a:r>
            <a:r>
              <a:rPr sz="1150" b="1">
                <a:solidFill>
                  <a:srgbClr val="0F1A1C"/>
                </a:solidFill>
                <a:latin typeface="Calibri"/>
              </a:rPr>
              <a:t>Arousal still open.  </a:t>
            </a:r>
            <a:r>
              <a:rPr sz="1150">
                <a:solidFill>
                  <a:srgbClr val="0F1A1C"/>
                </a:solidFill>
                <a:latin typeface="Calibri"/>
              </a:rPr>
              <a:t>The second Core Affect axis has no validated model yet.</a:t>
            </a:r>
          </a:p>
          <a:p>
            <a:pPr>
              <a:lnSpc>
                <a:spcPct val="118000"/>
              </a:lnSpc>
              <a:spcAft>
                <a:spcPts val="400"/>
              </a:spcAft>
            </a:pPr>
            <a:r>
              <a:rPr sz="1150">
                <a:solidFill>
                  <a:srgbClr val="14636E"/>
                </a:solidFill>
                <a:latin typeface="Calibri"/>
              </a:rPr>
              <a:t>▪  </a:t>
            </a:r>
            <a:r>
              <a:rPr sz="1150" b="1">
                <a:solidFill>
                  <a:srgbClr val="0F1A1C"/>
                </a:solidFill>
                <a:latin typeface="Calibri"/>
              </a:rPr>
              <a:t>Topic granularity.  </a:t>
            </a:r>
            <a:r>
              <a:rPr sz="1150">
                <a:solidFill>
                  <a:srgbClr val="0F1A1C"/>
                </a:solidFill>
                <a:latin typeface="Calibri"/>
              </a:rPr>
              <a:t>303 micro-topics with a median of 11 comments each is too granular to act on.</a:t>
            </a:r>
          </a:p>
          <a:p>
            <a:pPr>
              <a:lnSpc>
                <a:spcPct val="118000"/>
              </a:lnSpc>
              <a:spcAft>
                <a:spcPts val="0"/>
              </a:spcAft>
            </a:pPr>
            <a:r>
              <a:rPr sz="1150">
                <a:solidFill>
                  <a:srgbClr val="14636E"/>
                </a:solidFill>
                <a:latin typeface="Calibri"/>
              </a:rPr>
              <a:t>▪  </a:t>
            </a:r>
            <a:r>
              <a:rPr sz="1150" b="1">
                <a:solidFill>
                  <a:srgbClr val="0F1A1C"/>
                </a:solidFill>
                <a:latin typeface="Calibri"/>
              </a:rPr>
              <a:t>Compute cost.  </a:t>
            </a:r>
            <a:r>
              <a:rPr sz="1150">
                <a:solidFill>
                  <a:srgbClr val="0F1A1C"/>
                </a:solidFill>
                <a:latin typeface="Calibri"/>
              </a:rPr>
              <a:t>Full reruns are slow without caching.</a:t>
            </a:r>
          </a:p>
        </p:txBody>
      </p:sp>
      <p:sp>
        <p:nvSpPr>
          <p:cNvPr id="9" name="Rectangle 8"/>
          <p:cNvSpPr/>
          <p:nvPr/>
        </p:nvSpPr>
        <p:spPr>
          <a:xfrm>
            <a:off x="6278727" y="1874519"/>
            <a:ext cx="5163159"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34759" y="2075688"/>
            <a:ext cx="4687671" cy="1883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NEXT STEPS</a:t>
            </a:r>
          </a:p>
          <a:p>
            <a:pPr>
              <a:lnSpc>
                <a:spcPct val="118000"/>
              </a:lnSpc>
              <a:spcAft>
                <a:spcPts val="400"/>
              </a:spcAft>
            </a:pPr>
            <a:r>
              <a:rPr sz="1150">
                <a:solidFill>
                  <a:srgbClr val="14636E"/>
                </a:solidFill>
                <a:latin typeface="Calibri"/>
              </a:rPr>
              <a:t>▪  </a:t>
            </a:r>
            <a:r>
              <a:rPr sz="1150" b="1">
                <a:solidFill>
                  <a:srgbClr val="0F1A1C"/>
                </a:solidFill>
                <a:latin typeface="Calibri"/>
              </a:rPr>
              <a:t>Emotion mapping </a:t>
            </a:r>
            <a:r>
              <a:rPr sz="1150">
                <a:solidFill>
                  <a:srgbClr val="0F1A1C"/>
                </a:solidFill>
                <a:latin typeface="Calibri"/>
              </a:rPr>
              <a:t>— a German emotion model mapped onto valence and arousal coordinates</a:t>
            </a:r>
          </a:p>
          <a:p>
            <a:pPr>
              <a:lnSpc>
                <a:spcPct val="118000"/>
              </a:lnSpc>
              <a:spcAft>
                <a:spcPts val="400"/>
              </a:spcAft>
            </a:pPr>
            <a:r>
              <a:rPr sz="1150">
                <a:solidFill>
                  <a:srgbClr val="14636E"/>
                </a:solidFill>
                <a:latin typeface="Calibri"/>
              </a:rPr>
              <a:t>▪  </a:t>
            </a:r>
            <a:r>
              <a:rPr sz="1150" b="1">
                <a:solidFill>
                  <a:srgbClr val="0F1A1C"/>
                </a:solidFill>
                <a:latin typeface="Calibri"/>
              </a:rPr>
              <a:t>Topic consolidation </a:t>
            </a:r>
            <a:r>
              <a:rPr sz="1150">
                <a:solidFill>
                  <a:srgbClr val="0F1A1C"/>
                </a:solidFill>
                <a:latin typeface="Calibri"/>
              </a:rPr>
              <a:t>— merge micro-topics into actionable themes</a:t>
            </a:r>
          </a:p>
          <a:p>
            <a:pPr>
              <a:lnSpc>
                <a:spcPct val="118000"/>
              </a:lnSpc>
              <a:spcAft>
                <a:spcPts val="400"/>
              </a:spcAft>
            </a:pPr>
            <a:r>
              <a:rPr sz="1150">
                <a:solidFill>
                  <a:srgbClr val="14636E"/>
                </a:solidFill>
                <a:latin typeface="Calibri"/>
              </a:rPr>
              <a:t>▪  </a:t>
            </a:r>
            <a:r>
              <a:rPr sz="1150" b="1">
                <a:solidFill>
                  <a:srgbClr val="0F1A1C"/>
                </a:solidFill>
                <a:latin typeface="Calibri"/>
              </a:rPr>
              <a:t>Topic trends  </a:t>
            </a:r>
            <a:r>
              <a:rPr sz="1150">
                <a:solidFill>
                  <a:srgbClr val="0F1A1C"/>
                </a:solidFill>
                <a:latin typeface="Calibri"/>
              </a:rPr>
              <a:t>across iterations, and organisational comparisons</a:t>
            </a:r>
          </a:p>
          <a:p>
            <a:pPr>
              <a:lnSpc>
                <a:spcPct val="118000"/>
              </a:lnSpc>
              <a:spcAft>
                <a:spcPts val="400"/>
              </a:spcAft>
            </a:pPr>
            <a:r>
              <a:rPr sz="1150">
                <a:solidFill>
                  <a:srgbClr val="14636E"/>
                </a:solidFill>
                <a:latin typeface="Calibri"/>
              </a:rPr>
              <a:t>▪  </a:t>
            </a:r>
            <a:r>
              <a:rPr sz="1150" b="1">
                <a:solidFill>
                  <a:srgbClr val="0F1A1C"/>
                </a:solidFill>
                <a:latin typeface="Calibri"/>
              </a:rPr>
              <a:t>Dashboard finalisation  </a:t>
            </a:r>
            <a:r>
              <a:rPr sz="1150">
                <a:solidFill>
                  <a:srgbClr val="0F1A1C"/>
                </a:solidFill>
                <a:latin typeface="Calibri"/>
              </a:rPr>
              <a:t>in Power BI</a:t>
            </a:r>
          </a:p>
          <a:p>
            <a:pPr>
              <a:lnSpc>
                <a:spcPct val="118000"/>
              </a:lnSpc>
              <a:spcAft>
                <a:spcPts val="0"/>
              </a:spcAft>
            </a:pPr>
            <a:r>
              <a:rPr sz="1150">
                <a:solidFill>
                  <a:srgbClr val="14636E"/>
                </a:solidFill>
                <a:latin typeface="Calibri"/>
              </a:rPr>
              <a:t>▪  </a:t>
            </a:r>
            <a:r>
              <a:rPr sz="1150" b="1">
                <a:solidFill>
                  <a:srgbClr val="0F1A1C"/>
                </a:solidFill>
                <a:latin typeface="Calibri"/>
              </a:rPr>
              <a:t>Evaluation </a:t>
            </a:r>
            <a:r>
              <a:rPr sz="1150">
                <a:solidFill>
                  <a:srgbClr val="0F1A1C"/>
                </a:solidFill>
                <a:latin typeface="Calibri"/>
              </a:rPr>
              <a:t>— coherence, valence vs. engagement, predictive metrics</a:t>
            </a:r>
          </a:p>
        </p:txBody>
      </p:sp>
      <p:sp>
        <p:nvSpPr>
          <p:cNvPr id="12" name="Rectangle 11"/>
          <p:cNvSpPr/>
          <p:nvPr/>
        </p:nvSpPr>
        <p:spPr>
          <a:xfrm>
            <a:off x="749808" y="4526280"/>
            <a:ext cx="27432" cy="10515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4572000"/>
            <a:ext cx="10234879" cy="1051560"/>
          </a:xfrm>
          <a:prstGeom prst="rect">
            <a:avLst/>
          </a:prstGeom>
          <a:noFill/>
        </p:spPr>
        <p:txBody>
          <a:bodyPr wrap="square" lIns="0" rIns="0" tIns="0" bIns="0">
            <a:spAutoFit/>
          </a:bodyPr>
          <a:lstStyle/>
          <a:p>
            <a:pPr>
              <a:lnSpc>
                <a:spcPct val="125000"/>
              </a:lnSpc>
              <a:spcBef>
                <a:spcPts val="0"/>
              </a:spcBef>
              <a:spcAft>
                <a:spcPts val="0"/>
              </a:spcAft>
            </a:pPr>
            <a:r>
              <a:rPr sz="1500" b="0" i="0">
                <a:solidFill>
                  <a:srgbClr val="0F1A1C"/>
                </a:solidFill>
                <a:latin typeface="Georgia"/>
              </a:rPr>
              <a:t>My goal is to build a system that turns thousands of open employee comments into more than a list of topics: it shows which emotions sit behind them, and which measures can be derived from that — for a single unit or for the whole organisation.</a:t>
            </a:r>
          </a:p>
        </p:txBody>
      </p:sp>
      <p:sp>
        <p:nvSpPr>
          <p:cNvPr id="14" name="TextBox 13"/>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0584"/>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808" y="2468880"/>
            <a:ext cx="8686800" cy="1828800"/>
          </a:xfrm>
          <a:prstGeom prst="rect">
            <a:avLst/>
          </a:prstGeom>
          <a:noFill/>
        </p:spPr>
        <p:txBody>
          <a:bodyPr wrap="square" lIns="0" rIns="0" tIns="0" bIns="0">
            <a:spAutoFit/>
          </a:bodyPr>
          <a:lstStyle/>
          <a:p>
            <a:pPr>
              <a:lnSpc>
                <a:spcPct val="100000"/>
              </a:lnSpc>
              <a:spcBef>
                <a:spcPts val="0"/>
              </a:spcBef>
              <a:spcAft>
                <a:spcPts val="1000"/>
              </a:spcAft>
            </a:pPr>
            <a:r>
              <a:rPr sz="5400" b="0" i="0">
                <a:solidFill>
                  <a:srgbClr val="0F1A1C"/>
                </a:solidFill>
                <a:latin typeface="Georgia"/>
              </a:rPr>
              <a:t>Appendix</a:t>
            </a:r>
          </a:p>
          <a:p>
            <a:pPr>
              <a:lnSpc>
                <a:spcPct val="120000"/>
              </a:lnSpc>
              <a:spcBef>
                <a:spcPts val="0"/>
              </a:spcBef>
              <a:spcAft>
                <a:spcPts val="1200"/>
              </a:spcAft>
            </a:pPr>
            <a:r>
              <a:rPr sz="1400" b="0" i="0">
                <a:solidFill>
                  <a:srgbClr val="14636E"/>
                </a:solidFill>
                <a:latin typeface="Consolas"/>
              </a:rPr>
              <a:t>TECHNICAL DEEP DIVE — BACKUP SLIDES, NOT PRESENTED</a:t>
            </a:r>
          </a:p>
          <a:p>
            <a:pPr>
              <a:lnSpc>
                <a:spcPct val="135000"/>
              </a:lnSpc>
              <a:spcBef>
                <a:spcPts val="0"/>
              </a:spcBef>
              <a:spcAft>
                <a:spcPts val="0"/>
              </a:spcAft>
            </a:pPr>
            <a:r>
              <a:rPr sz="1300" b="0" i="0">
                <a:solidFill>
                  <a:srgbClr val="5A6B6E"/>
                </a:solidFill>
                <a:latin typeface="Calibri"/>
              </a:rPr>
              <a:t>One slide per pipeline stage: what was analysed, which technical steps were taken, why, and what came out. Written to be read, not shown.</a:t>
            </a:r>
          </a:p>
        </p:txBody>
      </p:sp>
      <p:sp>
        <p:nvSpPr>
          <p:cNvPr id="5" name="TextBox 4"/>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A1</a:t>
            </a:r>
            <a:r>
              <a:rPr sz="1000">
                <a:solidFill>
                  <a:srgbClr val="8A9B9E"/>
                </a:solidFill>
                <a:latin typeface="Consolas"/>
              </a:rPr>
              <a:t>   ·   NOTEBOOK MAP</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From survey export to analytical dataset</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graphicFrame>
        <p:nvGraphicFramePr>
          <p:cNvPr id="6" name="Table 5"/>
          <p:cNvGraphicFramePr>
            <a:graphicFrameLocks noGrp="1"/>
          </p:cNvGraphicFramePr>
          <p:nvPr/>
        </p:nvGraphicFramePr>
        <p:xfrm>
          <a:off x="749808" y="1874519"/>
          <a:ext cx="10692077" cy="2194560"/>
        </p:xfrm>
        <a:graphic>
          <a:graphicData uri="http://schemas.openxmlformats.org/drawingml/2006/table">
            <a:tbl>
              <a:tblPr firstRow="1">
                <a:tableStyleId>{5C22544A-7EE6-4342-B048-85BDC9FD1C3A}</a:tableStyleId>
              </a:tblPr>
              <a:tblGrid>
                <a:gridCol w="641524"/>
                <a:gridCol w="2779940"/>
                <a:gridCol w="4276831"/>
                <a:gridCol w="2993782"/>
              </a:tblGrid>
              <a:tr h="274320">
                <a:tc>
                  <a:txBody>
                    <a:bodyPr wrap="square"/>
                    <a:lstStyle/>
                    <a:p>
                      <a:pPr>
                        <a:lnSpc>
                          <a:spcPct val="100000"/>
                        </a:lnSpc>
                      </a:pPr>
                      <a:r>
                        <a:rPr sz="1000" b="1">
                          <a:solidFill>
                            <a:srgbClr val="5A6B6E"/>
                          </a:solidFill>
                          <a:latin typeface="Consolas"/>
                        </a:rPr>
                        <a:t>#</a:t>
                      </a:r>
                    </a:p>
                  </a:txBody>
                  <a:tcPr marL="64008" marR="64008" marT="18288" marB="18288" anchor="ctr">
                    <a:solidFill>
                      <a:srgbClr val="E2F0F1"/>
                    </a:solidFill>
                  </a:tcPr>
                </a:tc>
                <a:tc>
                  <a:txBody>
                    <a:bodyPr wrap="square"/>
                    <a:lstStyle/>
                    <a:p>
                      <a:pPr>
                        <a:lnSpc>
                          <a:spcPct val="100000"/>
                        </a:lnSpc>
                      </a:pPr>
                      <a:r>
                        <a:rPr sz="1000" b="1">
                          <a:solidFill>
                            <a:srgbClr val="5A6B6E"/>
                          </a:solidFill>
                          <a:latin typeface="Consolas"/>
                        </a:rPr>
                        <a:t>Notebook</a:t>
                      </a:r>
                    </a:p>
                  </a:txBody>
                  <a:tcPr marL="64008" marR="64008" marT="18288" marB="18288" anchor="ctr">
                    <a:solidFill>
                      <a:srgbClr val="E2F0F1"/>
                    </a:solidFill>
                  </a:tcPr>
                </a:tc>
                <a:tc>
                  <a:txBody>
                    <a:bodyPr wrap="square"/>
                    <a:lstStyle/>
                    <a:p>
                      <a:pPr>
                        <a:lnSpc>
                          <a:spcPct val="100000"/>
                        </a:lnSpc>
                      </a:pPr>
                      <a:r>
                        <a:rPr sz="1000" b="1">
                          <a:solidFill>
                            <a:srgbClr val="5A6B6E"/>
                          </a:solidFill>
                          <a:latin typeface="Consolas"/>
                        </a:rPr>
                        <a:t>Question it answers</a:t>
                      </a:r>
                    </a:p>
                  </a:txBody>
                  <a:tcPr marL="64008" marR="64008" marT="18288" marB="18288" anchor="ctr">
                    <a:solidFill>
                      <a:srgbClr val="E2F0F1"/>
                    </a:solidFill>
                  </a:tcPr>
                </a:tc>
                <a:tc>
                  <a:txBody>
                    <a:bodyPr wrap="square"/>
                    <a:lstStyle/>
                    <a:p>
                      <a:pPr>
                        <a:lnSpc>
                          <a:spcPct val="100000"/>
                        </a:lnSpc>
                      </a:pPr>
                      <a:r>
                        <a:rPr sz="1000" b="1">
                          <a:solidFill>
                            <a:srgbClr val="5A6B6E"/>
                          </a:solidFill>
                          <a:latin typeface="Consolas"/>
                        </a:rPr>
                        <a:t>Output</a:t>
                      </a:r>
                    </a:p>
                  </a:txBody>
                  <a:tcPr marL="64008" marR="64008" marT="18288" marB="18288" anchor="ctr">
                    <a:solidFill>
                      <a:srgbClr val="E2F0F1"/>
                    </a:solidFill>
                  </a:tcPr>
                </a:tc>
              </a:tr>
              <a:tr h="384048">
                <a:tc>
                  <a:txBody>
                    <a:bodyPr wrap="square"/>
                    <a:lstStyle/>
                    <a:p>
                      <a:pPr>
                        <a:lnSpc>
                          <a:spcPct val="100000"/>
                        </a:lnSpc>
                      </a:pPr>
                      <a:r>
                        <a:rPr sz="1100" b="0">
                          <a:solidFill>
                            <a:srgbClr val="0F1A1C"/>
                          </a:solidFill>
                          <a:latin typeface="Consolas"/>
                        </a:rPr>
                        <a:t>01</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Synthetic data generation</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Can I build a publishable twin of the real data?</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synthetic survey dataset</a:t>
                      </a:r>
                    </a:p>
                  </a:txBody>
                  <a:tcPr marL="64008" marR="64008" marT="18288" marB="18288" anchor="ctr">
                    <a:solidFill>
                      <a:srgbClr val="FFFFFF"/>
                    </a:solidFill>
                  </a:tcPr>
                </a:tc>
              </a:tr>
              <a:tr h="384048">
                <a:tc>
                  <a:txBody>
                    <a:bodyPr wrap="square"/>
                    <a:lstStyle/>
                    <a:p>
                      <a:pPr>
                        <a:lnSpc>
                          <a:spcPct val="100000"/>
                        </a:lnSpc>
                      </a:pPr>
                      <a:r>
                        <a:rPr sz="1100" b="0">
                          <a:solidFill>
                            <a:srgbClr val="0F1A1C"/>
                          </a:solidFill>
                          <a:latin typeface="Consolas"/>
                        </a:rPr>
                        <a:t>02</a:t>
                      </a:r>
                    </a:p>
                  </a:txBody>
                  <a:tcPr marL="64008" marR="64008" marT="18288" marB="18288" anchor="ctr">
                    <a:solidFill>
                      <a:srgbClr val="EEF2F2"/>
                    </a:solidFill>
                  </a:tcPr>
                </a:tc>
                <a:tc>
                  <a:txBody>
                    <a:bodyPr wrap="square"/>
                    <a:lstStyle/>
                    <a:p>
                      <a:pPr>
                        <a:lnSpc>
                          <a:spcPct val="100000"/>
                        </a:lnSpc>
                      </a:pPr>
                      <a:r>
                        <a:rPr sz="1100" b="0">
                          <a:solidFill>
                            <a:srgbClr val="0F1A1C"/>
                          </a:solidFill>
                          <a:latin typeface="Calibri"/>
                        </a:rPr>
                        <a:t>Exploratory data analysis</a:t>
                      </a:r>
                    </a:p>
                  </a:txBody>
                  <a:tcPr marL="64008" marR="64008" marT="18288" marB="18288" anchor="ctr">
                    <a:solidFill>
                      <a:srgbClr val="EEF2F2"/>
                    </a:solidFill>
                  </a:tcPr>
                </a:tc>
                <a:tc>
                  <a:txBody>
                    <a:bodyPr wrap="square"/>
                    <a:lstStyle/>
                    <a:p>
                      <a:pPr>
                        <a:lnSpc>
                          <a:spcPct val="100000"/>
                        </a:lnSpc>
                      </a:pPr>
                      <a:r>
                        <a:rPr sz="1100" b="0">
                          <a:solidFill>
                            <a:srgbClr val="0F1A1C"/>
                          </a:solidFill>
                          <a:latin typeface="Calibri"/>
                        </a:rPr>
                        <a:t>Are the data usable for NLP at all?</a:t>
                      </a:r>
                    </a:p>
                  </a:txBody>
                  <a:tcPr marL="64008" marR="64008" marT="18288" marB="18288" anchor="ctr">
                    <a:solidFill>
                      <a:srgbClr val="EEF2F2"/>
                    </a:solidFill>
                  </a:tcPr>
                </a:tc>
                <a:tc>
                  <a:txBody>
                    <a:bodyPr wrap="square"/>
                    <a:lstStyle/>
                    <a:p>
                      <a:pPr>
                        <a:lnSpc>
                          <a:spcPct val="100000"/>
                        </a:lnSpc>
                      </a:pPr>
                      <a:r>
                        <a:rPr sz="1100" b="0">
                          <a:solidFill>
                            <a:srgbClr val="0F1A1C"/>
                          </a:solidFill>
                          <a:latin typeface="Calibri"/>
                        </a:rPr>
                        <a:t>cleaned, scored dataset</a:t>
                      </a:r>
                    </a:p>
                  </a:txBody>
                  <a:tcPr marL="64008" marR="64008" marT="18288" marB="18288" anchor="ctr">
                    <a:solidFill>
                      <a:srgbClr val="EEF2F2"/>
                    </a:solidFill>
                  </a:tcPr>
                </a:tc>
              </a:tr>
              <a:tr h="384048">
                <a:tc>
                  <a:txBody>
                    <a:bodyPr wrap="square"/>
                    <a:lstStyle/>
                    <a:p>
                      <a:pPr>
                        <a:lnSpc>
                          <a:spcPct val="100000"/>
                        </a:lnSpc>
                      </a:pPr>
                      <a:r>
                        <a:rPr sz="1100" b="0">
                          <a:solidFill>
                            <a:srgbClr val="0F1A1C"/>
                          </a:solidFill>
                          <a:latin typeface="Consolas"/>
                        </a:rPr>
                        <a:t>03</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Zero-shot text analysis</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Is Core Affect feasible without training data?</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baseline valence / arousal classes</a:t>
                      </a:r>
                    </a:p>
                  </a:txBody>
                  <a:tcPr marL="64008" marR="64008" marT="18288" marB="18288" anchor="ctr">
                    <a:solidFill>
                      <a:srgbClr val="FFFFFF"/>
                    </a:solidFill>
                  </a:tcPr>
                </a:tc>
              </a:tr>
              <a:tr h="384048">
                <a:tc>
                  <a:txBody>
                    <a:bodyPr wrap="square"/>
                    <a:lstStyle/>
                    <a:p>
                      <a:pPr>
                        <a:lnSpc>
                          <a:spcPct val="100000"/>
                        </a:lnSpc>
                      </a:pPr>
                      <a:r>
                        <a:rPr sz="1100" b="0">
                          <a:solidFill>
                            <a:srgbClr val="0F1A1C"/>
                          </a:solidFill>
                          <a:latin typeface="Consolas"/>
                        </a:rPr>
                        <a:t>04</a:t>
                      </a:r>
                    </a:p>
                  </a:txBody>
                  <a:tcPr marL="64008" marR="64008" marT="18288" marB="18288" anchor="ctr">
                    <a:solidFill>
                      <a:srgbClr val="EEF2F2"/>
                    </a:solidFill>
                  </a:tcPr>
                </a:tc>
                <a:tc>
                  <a:txBody>
                    <a:bodyPr wrap="square"/>
                    <a:lstStyle/>
                    <a:p>
                      <a:pPr>
                        <a:lnSpc>
                          <a:spcPct val="100000"/>
                        </a:lnSpc>
                      </a:pPr>
                      <a:r>
                        <a:rPr sz="1100" b="0">
                          <a:solidFill>
                            <a:srgbClr val="0F1A1C"/>
                          </a:solidFill>
                          <a:latin typeface="Calibri"/>
                        </a:rPr>
                        <a:t>German sentiment analysis</a:t>
                      </a:r>
                    </a:p>
                  </a:txBody>
                  <a:tcPr marL="64008" marR="64008" marT="18288" marB="18288" anchor="ctr">
                    <a:solidFill>
                      <a:srgbClr val="EEF2F2"/>
                    </a:solidFill>
                  </a:tcPr>
                </a:tc>
                <a:tc>
                  <a:txBody>
                    <a:bodyPr wrap="square"/>
                    <a:lstStyle/>
                    <a:p>
                      <a:pPr>
                        <a:lnSpc>
                          <a:spcPct val="100000"/>
                        </a:lnSpc>
                      </a:pPr>
                      <a:r>
                        <a:rPr sz="1100" b="0">
                          <a:solidFill>
                            <a:srgbClr val="0F1A1C"/>
                          </a:solidFill>
                          <a:latin typeface="Calibri"/>
                        </a:rPr>
                        <a:t>Can I get a continuous emotional dimension?</a:t>
                      </a:r>
                    </a:p>
                  </a:txBody>
                  <a:tcPr marL="64008" marR="64008" marT="18288" marB="18288" anchor="ctr">
                    <a:solidFill>
                      <a:srgbClr val="EEF2F2"/>
                    </a:solidFill>
                  </a:tcPr>
                </a:tc>
                <a:tc>
                  <a:txBody>
                    <a:bodyPr wrap="square"/>
                    <a:lstStyle/>
                    <a:p>
                      <a:pPr>
                        <a:lnSpc>
                          <a:spcPct val="100000"/>
                        </a:lnSpc>
                      </a:pPr>
                      <a:r>
                        <a:rPr sz="1100" b="0">
                          <a:solidFill>
                            <a:srgbClr val="0F1A1C"/>
                          </a:solidFill>
                          <a:latin typeface="Consolas"/>
                        </a:rPr>
                        <a:t>continuous_valence</a:t>
                      </a:r>
                    </a:p>
                  </a:txBody>
                  <a:tcPr marL="64008" marR="64008" marT="18288" marB="18288" anchor="ctr">
                    <a:solidFill>
                      <a:srgbClr val="EEF2F2"/>
                    </a:solidFill>
                  </a:tcPr>
                </a:tc>
              </a:tr>
              <a:tr h="384048">
                <a:tc>
                  <a:txBody>
                    <a:bodyPr wrap="square"/>
                    <a:lstStyle/>
                    <a:p>
                      <a:pPr>
                        <a:lnSpc>
                          <a:spcPct val="100000"/>
                        </a:lnSpc>
                      </a:pPr>
                      <a:r>
                        <a:rPr sz="1100" b="0">
                          <a:solidFill>
                            <a:srgbClr val="0F1A1C"/>
                          </a:solidFill>
                          <a:latin typeface="Consolas"/>
                        </a:rPr>
                        <a:t>05</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BERTopic topic modelling</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What are employees talking about, and when?</a:t>
                      </a:r>
                    </a:p>
                  </a:txBody>
                  <a:tcPr marL="64008" marR="64008" marT="18288" marB="18288" anchor="ctr">
                    <a:solidFill>
                      <a:srgbClr val="FFFFFF"/>
                    </a:solidFill>
                  </a:tcPr>
                </a:tc>
                <a:tc>
                  <a:txBody>
                    <a:bodyPr wrap="square"/>
                    <a:lstStyle/>
                    <a:p>
                      <a:pPr>
                        <a:lnSpc>
                          <a:spcPct val="100000"/>
                        </a:lnSpc>
                      </a:pPr>
                      <a:r>
                        <a:rPr sz="1100" b="0">
                          <a:solidFill>
                            <a:srgbClr val="0F1A1C"/>
                          </a:solidFill>
                          <a:latin typeface="Calibri"/>
                        </a:rPr>
                        <a:t>topic id, label, trends, C_v</a:t>
                      </a:r>
                    </a:p>
                  </a:txBody>
                  <a:tcPr marL="64008" marR="64008" marT="18288" marB="18288" anchor="ctr">
                    <a:solidFill>
                      <a:srgbClr val="FFFFFF"/>
                    </a:solidFill>
                  </a:tcPr>
                </a:tc>
              </a:tr>
            </a:tbl>
          </a:graphicData>
        </a:graphic>
      </p:graphicFrame>
      <p:sp>
        <p:nvSpPr>
          <p:cNvPr id="7" name="Rectangle 6"/>
          <p:cNvSpPr/>
          <p:nvPr/>
        </p:nvSpPr>
        <p:spPr>
          <a:xfrm>
            <a:off x="749808" y="4480560"/>
            <a:ext cx="10692079" cy="123444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49808" y="4480560"/>
            <a:ext cx="32004" cy="12344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4681728"/>
            <a:ext cx="10216591" cy="83210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WHY NOTEBOOKS PER QUESTION</a:t>
            </a:r>
          </a:p>
          <a:p>
            <a:pPr>
              <a:lnSpc>
                <a:spcPct val="130000"/>
              </a:lnSpc>
              <a:spcBef>
                <a:spcPts val="0"/>
              </a:spcBef>
              <a:spcAft>
                <a:spcPts val="0"/>
              </a:spcAft>
            </a:pPr>
            <a:r>
              <a:rPr sz="1150" b="0" i="0">
                <a:solidFill>
                  <a:srgbClr val="0F1A1C"/>
                </a:solidFill>
                <a:latin typeface="Calibri"/>
              </a:rPr>
              <a:t>Each notebook exists in a  _high5  variant (real data, confidential) and a public variant (synthetic data) — same code, different input. That keeps the confidential analysis reproducible without publishing any comment text.</a:t>
            </a:r>
          </a:p>
        </p:txBody>
      </p:sp>
      <p:sp>
        <p:nvSpPr>
          <p:cNvPr id="10" name="TextBox 9"/>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A2</a:t>
            </a:r>
            <a:r>
              <a:rPr sz="1000">
                <a:solidFill>
                  <a:srgbClr val="8A9B9E"/>
                </a:solidFill>
                <a:latin typeface="Consolas"/>
              </a:rPr>
              <a:t>   ·   DATA UNDERSTANDING</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EDA on real High5 data</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3368954"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2893466" cy="25237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WHAT WAS ANALYSED</a:t>
            </a:r>
          </a:p>
          <a:p>
            <a:pPr>
              <a:lnSpc>
                <a:spcPct val="118000"/>
              </a:lnSpc>
              <a:spcAft>
                <a:spcPts val="500"/>
              </a:spcAft>
            </a:pPr>
            <a:r>
              <a:rPr sz="1050">
                <a:solidFill>
                  <a:srgbClr val="14636E"/>
                </a:solidFill>
                <a:latin typeface="Calibri"/>
              </a:rPr>
              <a:t>▪  </a:t>
            </a:r>
            <a:r>
              <a:rPr sz="1050">
                <a:solidFill>
                  <a:srgbClr val="0F1A1C"/>
                </a:solidFill>
                <a:latin typeface="Calibri"/>
              </a:rPr>
              <a:t>Rows, columns and schema across 17 survey exports</a:t>
            </a:r>
          </a:p>
          <a:p>
            <a:pPr>
              <a:lnSpc>
                <a:spcPct val="118000"/>
              </a:lnSpc>
              <a:spcAft>
                <a:spcPts val="500"/>
              </a:spcAft>
            </a:pPr>
            <a:r>
              <a:rPr sz="1050">
                <a:solidFill>
                  <a:srgbClr val="14636E"/>
                </a:solidFill>
                <a:latin typeface="Calibri"/>
              </a:rPr>
              <a:t>▪  </a:t>
            </a:r>
            <a:r>
              <a:rPr sz="1050">
                <a:solidFill>
                  <a:srgbClr val="0F1A1C"/>
                </a:solidFill>
                <a:latin typeface="Calibri"/>
              </a:rPr>
              <a:t>Availability of free-text comments per iteration</a:t>
            </a:r>
          </a:p>
          <a:p>
            <a:pPr>
              <a:lnSpc>
                <a:spcPct val="118000"/>
              </a:lnSpc>
              <a:spcAft>
                <a:spcPts val="500"/>
              </a:spcAft>
            </a:pPr>
            <a:r>
              <a:rPr sz="1050">
                <a:solidFill>
                  <a:srgbClr val="14636E"/>
                </a:solidFill>
                <a:latin typeface="Calibri"/>
              </a:rPr>
              <a:t>▪  </a:t>
            </a:r>
            <a:r>
              <a:rPr sz="1050">
                <a:solidFill>
                  <a:srgbClr val="0F1A1C"/>
                </a:solidFill>
                <a:latin typeface="Calibri"/>
              </a:rPr>
              <a:t>Missing values — real vs. structural vs. “cannot judge”</a:t>
            </a:r>
          </a:p>
          <a:p>
            <a:pPr>
              <a:lnSpc>
                <a:spcPct val="118000"/>
              </a:lnSpc>
              <a:spcAft>
                <a:spcPts val="500"/>
              </a:spcAft>
            </a:pPr>
            <a:r>
              <a:rPr sz="1050">
                <a:solidFill>
                  <a:srgbClr val="14636E"/>
                </a:solidFill>
                <a:latin typeface="Calibri"/>
              </a:rPr>
              <a:t>▪  </a:t>
            </a:r>
            <a:r>
              <a:rPr sz="1050">
                <a:solidFill>
                  <a:srgbClr val="0F1A1C"/>
                </a:solidFill>
                <a:latin typeface="Calibri"/>
              </a:rPr>
              <a:t>Distribution across iterations and business units</a:t>
            </a:r>
          </a:p>
          <a:p>
            <a:pPr>
              <a:lnSpc>
                <a:spcPct val="118000"/>
              </a:lnSpc>
              <a:spcAft>
                <a:spcPts val="0"/>
              </a:spcAft>
            </a:pPr>
            <a:r>
              <a:rPr sz="1050">
                <a:solidFill>
                  <a:srgbClr val="14636E"/>
                </a:solidFill>
                <a:latin typeface="Calibri"/>
              </a:rPr>
              <a:t>▪  </a:t>
            </a:r>
            <a:r>
              <a:rPr sz="1050">
                <a:solidFill>
                  <a:srgbClr val="0F1A1C"/>
                </a:solidFill>
                <a:latin typeface="Calibri"/>
              </a:rPr>
              <a:t>Duration outliers as a plausibility check</a:t>
            </a:r>
          </a:p>
        </p:txBody>
      </p:sp>
      <p:sp>
        <p:nvSpPr>
          <p:cNvPr id="9" name="Rectangle 8"/>
          <p:cNvSpPr/>
          <p:nvPr/>
        </p:nvSpPr>
        <p:spPr>
          <a:xfrm>
            <a:off x="4411370" y="1874519"/>
            <a:ext cx="3368954"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411370"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667402" y="2075688"/>
            <a:ext cx="2893466" cy="25237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TECHNICAL STEPS</a:t>
            </a:r>
          </a:p>
          <a:p>
            <a:pPr>
              <a:lnSpc>
                <a:spcPct val="118000"/>
              </a:lnSpc>
              <a:spcAft>
                <a:spcPts val="500"/>
              </a:spcAft>
            </a:pPr>
            <a:r>
              <a:rPr sz="1050">
                <a:solidFill>
                  <a:srgbClr val="14636E"/>
                </a:solidFill>
                <a:latin typeface="Calibri"/>
              </a:rPr>
              <a:t>▪  </a:t>
            </a:r>
            <a:r>
              <a:rPr sz="1050">
                <a:solidFill>
                  <a:srgbClr val="0F1A1C"/>
                </a:solidFill>
                <a:latin typeface="Calibri"/>
              </a:rPr>
              <a:t>Harmonise column names across survey generations</a:t>
            </a:r>
          </a:p>
          <a:p>
            <a:pPr>
              <a:lnSpc>
                <a:spcPct val="118000"/>
              </a:lnSpc>
              <a:spcAft>
                <a:spcPts val="500"/>
              </a:spcAft>
            </a:pPr>
            <a:r>
              <a:rPr sz="1050">
                <a:solidFill>
                  <a:srgbClr val="14636E"/>
                </a:solidFill>
                <a:latin typeface="Calibri"/>
              </a:rPr>
              <a:t>▪  </a:t>
            </a:r>
            <a:r>
              <a:rPr sz="1050">
                <a:solidFill>
                  <a:srgbClr val="0F1A1C"/>
                </a:solidFill>
                <a:latin typeface="Calibri"/>
              </a:rPr>
              <a:t>Recode Likert answers to numeric 1–5</a:t>
            </a:r>
          </a:p>
          <a:p>
            <a:pPr>
              <a:lnSpc>
                <a:spcPct val="118000"/>
              </a:lnSpc>
              <a:spcAft>
                <a:spcPts val="500"/>
              </a:spcAft>
            </a:pPr>
            <a:r>
              <a:rPr sz="1050">
                <a:solidFill>
                  <a:srgbClr val="14636E"/>
                </a:solidFill>
                <a:latin typeface="Calibri"/>
              </a:rPr>
              <a:t>▪  </a:t>
            </a:r>
            <a:r>
              <a:rPr sz="1050">
                <a:solidFill>
                  <a:srgbClr val="0F1A1C"/>
                </a:solidFill>
                <a:latin typeface="Calibri"/>
              </a:rPr>
              <a:t>Reverse-code the workload item so high always means favourable</a:t>
            </a:r>
          </a:p>
          <a:p>
            <a:pPr>
              <a:lnSpc>
                <a:spcPct val="118000"/>
              </a:lnSpc>
              <a:spcAft>
                <a:spcPts val="500"/>
              </a:spcAft>
            </a:pPr>
            <a:r>
              <a:rPr sz="1050">
                <a:solidFill>
                  <a:srgbClr val="14636E"/>
                </a:solidFill>
                <a:latin typeface="Calibri"/>
              </a:rPr>
              <a:t>▪  </a:t>
            </a:r>
            <a:r>
              <a:rPr sz="1050">
                <a:solidFill>
                  <a:srgbClr val="0F1A1C"/>
                </a:solidFill>
                <a:latin typeface="Calibri"/>
              </a:rPr>
              <a:t>Separate “cannot judge” from true missing values</a:t>
            </a:r>
          </a:p>
          <a:p>
            <a:pPr>
              <a:lnSpc>
                <a:spcPct val="118000"/>
              </a:lnSpc>
              <a:spcAft>
                <a:spcPts val="500"/>
              </a:spcAft>
            </a:pPr>
            <a:r>
              <a:rPr sz="1050">
                <a:solidFill>
                  <a:srgbClr val="14636E"/>
                </a:solidFill>
                <a:latin typeface="Calibri"/>
              </a:rPr>
              <a:t>▪  </a:t>
            </a:r>
            <a:r>
              <a:rPr sz="1050">
                <a:solidFill>
                  <a:srgbClr val="0F1A1C"/>
                </a:solidFill>
                <a:latin typeface="Calibri"/>
              </a:rPr>
              <a:t>Aggregate 54 items into 8 dimension scores</a:t>
            </a:r>
          </a:p>
          <a:p>
            <a:pPr>
              <a:lnSpc>
                <a:spcPct val="118000"/>
              </a:lnSpc>
              <a:spcAft>
                <a:spcPts val="0"/>
              </a:spcAft>
            </a:pPr>
            <a:r>
              <a:rPr sz="1050">
                <a:solidFill>
                  <a:srgbClr val="14636E"/>
                </a:solidFill>
                <a:latin typeface="Calibri"/>
              </a:rPr>
              <a:t>▪  </a:t>
            </a:r>
            <a:r>
              <a:rPr sz="1050">
                <a:solidFill>
                  <a:srgbClr val="0F1A1C"/>
                </a:solidFill>
                <a:latin typeface="Calibri"/>
              </a:rPr>
              <a:t>Reliability per dimension (Cronbach α)</a:t>
            </a:r>
          </a:p>
        </p:txBody>
      </p:sp>
      <p:sp>
        <p:nvSpPr>
          <p:cNvPr id="12" name="Rectangle 11"/>
          <p:cNvSpPr/>
          <p:nvPr/>
        </p:nvSpPr>
        <p:spPr>
          <a:xfrm>
            <a:off x="8072932" y="1874519"/>
            <a:ext cx="3368954"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72932"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328964" y="2075688"/>
            <a:ext cx="2893466" cy="25237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FINDINGS</a:t>
            </a:r>
          </a:p>
          <a:p>
            <a:pPr>
              <a:lnSpc>
                <a:spcPct val="118000"/>
              </a:lnSpc>
              <a:spcAft>
                <a:spcPts val="500"/>
              </a:spcAft>
            </a:pPr>
            <a:r>
              <a:rPr sz="1050">
                <a:solidFill>
                  <a:srgbClr val="14636E"/>
                </a:solidFill>
                <a:latin typeface="Calibri"/>
              </a:rPr>
              <a:t>▪  </a:t>
            </a:r>
            <a:r>
              <a:rPr sz="1050">
                <a:solidFill>
                  <a:srgbClr val="0F1A1C"/>
                </a:solidFill>
                <a:latin typeface="Calibri"/>
              </a:rPr>
              <a:t>Several survey generations with differing question blocks — structural missingness is expected, not an error</a:t>
            </a:r>
          </a:p>
          <a:p>
            <a:pPr>
              <a:lnSpc>
                <a:spcPct val="118000"/>
              </a:lnSpc>
              <a:spcAft>
                <a:spcPts val="500"/>
              </a:spcAft>
            </a:pPr>
            <a:r>
              <a:rPr sz="1050">
                <a:solidFill>
                  <a:srgbClr val="14636E"/>
                </a:solidFill>
                <a:latin typeface="Calibri"/>
              </a:rPr>
              <a:t>▪  </a:t>
            </a:r>
            <a:r>
              <a:rPr sz="1050">
                <a:solidFill>
                  <a:srgbClr val="0F1A1C"/>
                </a:solidFill>
                <a:latin typeface="Calibri"/>
              </a:rPr>
              <a:t>α between 0.68 and 0.96; teamwork highest, leadership lowest but acceptable</a:t>
            </a:r>
          </a:p>
          <a:p>
            <a:pPr>
              <a:lnSpc>
                <a:spcPct val="118000"/>
              </a:lnSpc>
              <a:spcAft>
                <a:spcPts val="500"/>
              </a:spcAft>
            </a:pPr>
            <a:r>
              <a:rPr sz="1050">
                <a:solidFill>
                  <a:srgbClr val="14636E"/>
                </a:solidFill>
                <a:latin typeface="Calibri"/>
              </a:rPr>
              <a:t>▪  </a:t>
            </a:r>
            <a:r>
              <a:rPr sz="1050">
                <a:solidFill>
                  <a:srgbClr val="0F1A1C"/>
                </a:solidFill>
                <a:latin typeface="Calibri"/>
              </a:rPr>
              <a:t>Commenters rate consistently more critically than non-commenters (−0.05 to −0.36 points)</a:t>
            </a:r>
          </a:p>
          <a:p>
            <a:pPr>
              <a:lnSpc>
                <a:spcPct val="118000"/>
              </a:lnSpc>
              <a:spcAft>
                <a:spcPts val="0"/>
              </a:spcAft>
            </a:pPr>
            <a:r>
              <a:rPr sz="1050">
                <a:solidFill>
                  <a:srgbClr val="14636E"/>
                </a:solidFill>
                <a:latin typeface="Calibri"/>
              </a:rPr>
              <a:t>▪  </a:t>
            </a:r>
            <a:r>
              <a:rPr sz="1050">
                <a:solidFill>
                  <a:srgbClr val="0F1A1C"/>
                </a:solidFill>
                <a:latin typeface="Calibri"/>
              </a:rPr>
              <a:t>≈ 4,300 comments — enough volume for NLP</a:t>
            </a:r>
          </a:p>
        </p:txBody>
      </p:sp>
      <p:sp>
        <p:nvSpPr>
          <p:cNvPr id="15" name="Rectangle 14"/>
          <p:cNvSpPr/>
          <p:nvPr/>
        </p:nvSpPr>
        <p:spPr>
          <a:xfrm>
            <a:off x="749808" y="4983480"/>
            <a:ext cx="10692079" cy="77724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49808" y="4983480"/>
            <a:ext cx="32004" cy="7772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184648"/>
            <a:ext cx="10216591" cy="374904"/>
          </a:xfrm>
          <a:prstGeom prst="rect">
            <a:avLst/>
          </a:prstGeom>
          <a:noFill/>
        </p:spPr>
        <p:txBody>
          <a:bodyPr wrap="square" lIns="0" rIns="0" tIns="0" bIns="0">
            <a:spAutoFit/>
          </a:bodyPr>
          <a:lstStyle/>
          <a:p>
            <a:pPr>
              <a:lnSpc>
                <a:spcPct val="125000"/>
              </a:lnSpc>
              <a:spcBef>
                <a:spcPts val="0"/>
              </a:spcBef>
              <a:spcAft>
                <a:spcPts val="0"/>
              </a:spcAft>
            </a:pPr>
            <a:r>
              <a:rPr sz="1200" b="0" i="0">
                <a:solidFill>
                  <a:srgbClr val="0F1A1C"/>
                </a:solidFill>
                <a:latin typeface="Calibri"/>
              </a:rPr>
              <a:t>Why it matters: without a validated data base, every downstream model measures noise. This notebook produces no model — it produces trust in the input.</a:t>
            </a:r>
          </a:p>
        </p:txBody>
      </p:sp>
      <p:sp>
        <p:nvSpPr>
          <p:cNvPr id="18" name="TextBox 17"/>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A3</a:t>
            </a:r>
            <a:r>
              <a:rPr sz="1000">
                <a:solidFill>
                  <a:srgbClr val="8A9B9E"/>
                </a:solidFill>
                <a:latin typeface="Consolas"/>
              </a:rPr>
              <a:t>   ·   REAL VS. SYNTHETIC</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How the synthetic dataset was validated</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2880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247802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COMPARISON DIMENSIONS</a:t>
            </a:r>
          </a:p>
          <a:p>
            <a:pPr>
              <a:lnSpc>
                <a:spcPct val="118000"/>
              </a:lnSpc>
              <a:spcAft>
                <a:spcPts val="400"/>
              </a:spcAft>
            </a:pPr>
            <a:r>
              <a:rPr sz="1100">
                <a:solidFill>
                  <a:srgbClr val="14636E"/>
                </a:solidFill>
                <a:latin typeface="Calibri"/>
              </a:rPr>
              <a:t>▪  </a:t>
            </a:r>
            <a:r>
              <a:rPr sz="1100" b="1">
                <a:solidFill>
                  <a:srgbClr val="0F1A1C"/>
                </a:solidFill>
                <a:latin typeface="Calibri"/>
              </a:rPr>
              <a:t>Structure — </a:t>
            </a:r>
            <a:r>
              <a:rPr sz="1100">
                <a:solidFill>
                  <a:srgbClr val="0F1A1C"/>
                </a:solidFill>
                <a:latin typeface="Calibri"/>
              </a:rPr>
              <a:t>column count, data types, iterations, answer scales</a:t>
            </a:r>
          </a:p>
          <a:p>
            <a:pPr>
              <a:lnSpc>
                <a:spcPct val="118000"/>
              </a:lnSpc>
              <a:spcAft>
                <a:spcPts val="400"/>
              </a:spcAft>
            </a:pPr>
            <a:r>
              <a:rPr sz="1100">
                <a:solidFill>
                  <a:srgbClr val="14636E"/>
                </a:solidFill>
                <a:latin typeface="Calibri"/>
              </a:rPr>
              <a:t>▪  </a:t>
            </a:r>
            <a:r>
              <a:rPr sz="1100" b="1">
                <a:solidFill>
                  <a:srgbClr val="0F1A1C"/>
                </a:solidFill>
                <a:latin typeface="Calibri"/>
              </a:rPr>
              <a:t>Distributions — </a:t>
            </a:r>
            <a:r>
              <a:rPr sz="1100">
                <a:solidFill>
                  <a:srgbClr val="0F1A1C"/>
                </a:solidFill>
                <a:latin typeface="Calibri"/>
              </a:rPr>
              <a:t>missingness, comment rate, dimension scores</a:t>
            </a:r>
          </a:p>
          <a:p>
            <a:pPr>
              <a:lnSpc>
                <a:spcPct val="118000"/>
              </a:lnSpc>
              <a:spcAft>
                <a:spcPts val="400"/>
              </a:spcAft>
            </a:pPr>
            <a:r>
              <a:rPr sz="1100">
                <a:solidFill>
                  <a:srgbClr val="14636E"/>
                </a:solidFill>
                <a:latin typeface="Calibri"/>
              </a:rPr>
              <a:t>▪  </a:t>
            </a:r>
            <a:r>
              <a:rPr sz="1100" b="1">
                <a:solidFill>
                  <a:srgbClr val="0F1A1C"/>
                </a:solidFill>
                <a:latin typeface="Calibri"/>
              </a:rPr>
              <a:t>Psychometrics — </a:t>
            </a:r>
            <a:r>
              <a:rPr sz="1100">
                <a:solidFill>
                  <a:srgbClr val="0F1A1C"/>
                </a:solidFill>
                <a:latin typeface="Calibri"/>
              </a:rPr>
              <a:t>Cronbach α per dimension, inter-dimension correlations</a:t>
            </a:r>
          </a:p>
          <a:p>
            <a:pPr>
              <a:lnSpc>
                <a:spcPct val="118000"/>
              </a:lnSpc>
              <a:spcAft>
                <a:spcPts val="400"/>
              </a:spcAft>
            </a:pPr>
            <a:r>
              <a:rPr sz="1100">
                <a:solidFill>
                  <a:srgbClr val="14636E"/>
                </a:solidFill>
                <a:latin typeface="Calibri"/>
              </a:rPr>
              <a:t>▪  </a:t>
            </a:r>
            <a:r>
              <a:rPr sz="1100" b="1">
                <a:solidFill>
                  <a:srgbClr val="0F1A1C"/>
                </a:solidFill>
                <a:latin typeface="Calibri"/>
              </a:rPr>
              <a:t>NLP relevance — </a:t>
            </a:r>
            <a:r>
              <a:rPr sz="1100">
                <a:solidFill>
                  <a:srgbClr val="0F1A1C"/>
                </a:solidFill>
                <a:latin typeface="Calibri"/>
              </a:rPr>
              <a:t>comment length, vocabulary richness, topic variety</a:t>
            </a:r>
          </a:p>
          <a:p>
            <a:pPr>
              <a:lnSpc>
                <a:spcPct val="118000"/>
              </a:lnSpc>
              <a:spcAft>
                <a:spcPts val="0"/>
              </a:spcAft>
            </a:pPr>
            <a:r>
              <a:rPr sz="1100">
                <a:solidFill>
                  <a:srgbClr val="14636E"/>
                </a:solidFill>
                <a:latin typeface="Calibri"/>
              </a:rPr>
              <a:t>▪  </a:t>
            </a:r>
            <a:r>
              <a:rPr sz="1100" b="1">
                <a:solidFill>
                  <a:srgbClr val="0F1A1C"/>
                </a:solidFill>
                <a:latin typeface="Calibri"/>
              </a:rPr>
              <a:t>Response behaviour — </a:t>
            </a:r>
            <a:r>
              <a:rPr sz="1100">
                <a:solidFill>
                  <a:srgbClr val="0F1A1C"/>
                </a:solidFill>
                <a:latin typeface="Calibri"/>
              </a:rPr>
              <a:t>commenters vs. non-commenters</a:t>
            </a:r>
          </a:p>
        </p:txBody>
      </p:sp>
      <p:sp>
        <p:nvSpPr>
          <p:cNvPr id="9" name="Rectangle 8"/>
          <p:cNvSpPr/>
          <p:nvPr/>
        </p:nvSpPr>
        <p:spPr>
          <a:xfrm>
            <a:off x="6278727" y="1874519"/>
            <a:ext cx="5163159" cy="2880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34759" y="2075688"/>
            <a:ext cx="4687671" cy="247802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RESULT</a:t>
            </a:r>
          </a:p>
        </p:txBody>
      </p:sp>
      <p:graphicFrame>
        <p:nvGraphicFramePr>
          <p:cNvPr id="12" name="Table 11"/>
          <p:cNvGraphicFramePr>
            <a:graphicFrameLocks noGrp="1"/>
          </p:cNvGraphicFramePr>
          <p:nvPr/>
        </p:nvGraphicFramePr>
        <p:xfrm>
          <a:off x="6534759" y="2423160"/>
          <a:ext cx="4651095" cy="2066544"/>
        </p:xfrm>
        <a:graphic>
          <a:graphicData uri="http://schemas.openxmlformats.org/drawingml/2006/table">
            <a:tbl>
              <a:tblPr firstRow="1">
                <a:tableStyleId>{5C22544A-7EE6-4342-B048-85BDC9FD1C3A}</a:tableStyleId>
              </a:tblPr>
              <a:tblGrid>
                <a:gridCol w="2604613"/>
                <a:gridCol w="2046482"/>
              </a:tblGrid>
              <a:tr h="274320">
                <a:tc>
                  <a:txBody>
                    <a:bodyPr wrap="square"/>
                    <a:lstStyle/>
                    <a:p>
                      <a:pPr>
                        <a:lnSpc>
                          <a:spcPct val="100000"/>
                        </a:lnSpc>
                      </a:pPr>
                      <a:r>
                        <a:rPr sz="900" b="1">
                          <a:solidFill>
                            <a:srgbClr val="5A6B6E"/>
                          </a:solidFill>
                          <a:latin typeface="Consolas"/>
                        </a:rPr>
                        <a:t>Property</a:t>
                      </a:r>
                    </a:p>
                  </a:txBody>
                  <a:tcPr marL="64008" marR="64008" marT="18288" marB="18288" anchor="ctr">
                    <a:solidFill>
                      <a:srgbClr val="E2F0F1"/>
                    </a:solidFill>
                  </a:tcPr>
                </a:tc>
                <a:tc>
                  <a:txBody>
                    <a:bodyPr wrap="square"/>
                    <a:lstStyle/>
                    <a:p>
                      <a:pPr algn="r">
                        <a:lnSpc>
                          <a:spcPct val="100000"/>
                        </a:lnSpc>
                      </a:pPr>
                      <a:r>
                        <a:rPr sz="900" b="1">
                          <a:solidFill>
                            <a:srgbClr val="5A6B6E"/>
                          </a:solidFill>
                          <a:latin typeface="Consolas"/>
                        </a:rPr>
                        <a:t>Synthetic</a:t>
                      </a:r>
                    </a:p>
                  </a:txBody>
                  <a:tcPr marL="64008" marR="64008" marT="18288" marB="18288" anchor="ctr">
                    <a:solidFill>
                      <a:srgbClr val="E2F0F1"/>
                    </a:solidFill>
                  </a:tcPr>
                </a:tc>
              </a:tr>
              <a:tr h="256032">
                <a:tc>
                  <a:txBody>
                    <a:bodyPr wrap="square"/>
                    <a:lstStyle/>
                    <a:p>
                      <a:pPr>
                        <a:lnSpc>
                          <a:spcPct val="100000"/>
                        </a:lnSpc>
                      </a:pPr>
                      <a:r>
                        <a:rPr sz="1000" b="0">
                          <a:solidFill>
                            <a:srgbClr val="0F1A1C"/>
                          </a:solidFill>
                          <a:latin typeface="Calibri"/>
                        </a:rPr>
                        <a:t>Responses × variables</a:t>
                      </a:r>
                    </a:p>
                  </a:txBody>
                  <a:tcPr marL="64008" marR="64008" marT="18288" marB="18288" anchor="ctr">
                    <a:solidFill>
                      <a:srgbClr val="FFFFFF"/>
                    </a:solidFill>
                  </a:tcPr>
                </a:tc>
                <a:tc>
                  <a:txBody>
                    <a:bodyPr wrap="square"/>
                    <a:lstStyle/>
                    <a:p>
                      <a:pPr algn="r">
                        <a:lnSpc>
                          <a:spcPct val="100000"/>
                        </a:lnSpc>
                      </a:pPr>
                      <a:r>
                        <a:rPr sz="1000" b="0">
                          <a:solidFill>
                            <a:srgbClr val="0F1A1C"/>
                          </a:solidFill>
                          <a:latin typeface="Calibri"/>
                        </a:rPr>
                        <a:t>500 × 66 (v1) → 7,000 (v2)</a:t>
                      </a:r>
                    </a:p>
                  </a:txBody>
                  <a:tcPr marL="64008" marR="64008" marT="18288" marB="18288" anchor="ctr">
                    <a:solidFill>
                      <a:srgbClr val="FFFFFF"/>
                    </a:solidFill>
                  </a:tcPr>
                </a:tc>
              </a:tr>
              <a:tr h="256032">
                <a:tc>
                  <a:txBody>
                    <a:bodyPr wrap="square"/>
                    <a:lstStyle/>
                    <a:p>
                      <a:pPr>
                        <a:lnSpc>
                          <a:spcPct val="100000"/>
                        </a:lnSpc>
                      </a:pPr>
                      <a:r>
                        <a:rPr sz="1000" b="0">
                          <a:solidFill>
                            <a:srgbClr val="0F1A1C"/>
                          </a:solidFill>
                          <a:latin typeface="Calibri"/>
                        </a:rPr>
                        <a:t>Comment rate</a:t>
                      </a:r>
                    </a:p>
                  </a:txBody>
                  <a:tcPr marL="64008" marR="64008" marT="18288" marB="18288" anchor="ctr">
                    <a:solidFill>
                      <a:srgbClr val="EEF2F2"/>
                    </a:solidFill>
                  </a:tcPr>
                </a:tc>
                <a:tc>
                  <a:txBody>
                    <a:bodyPr wrap="square"/>
                    <a:lstStyle/>
                    <a:p>
                      <a:pPr algn="r">
                        <a:lnSpc>
                          <a:spcPct val="100000"/>
                        </a:lnSpc>
                      </a:pPr>
                      <a:r>
                        <a:rPr sz="1000" b="0">
                          <a:solidFill>
                            <a:srgbClr val="0F1A1C"/>
                          </a:solidFill>
                          <a:latin typeface="Calibri"/>
                        </a:rPr>
                        <a:t>&gt; 96 %</a:t>
                      </a:r>
                    </a:p>
                  </a:txBody>
                  <a:tcPr marL="64008" marR="64008" marT="18288" marB="18288" anchor="ctr">
                    <a:solidFill>
                      <a:srgbClr val="EEF2F2"/>
                    </a:solidFill>
                  </a:tcPr>
                </a:tc>
              </a:tr>
              <a:tr h="256032">
                <a:tc>
                  <a:txBody>
                    <a:bodyPr wrap="square"/>
                    <a:lstStyle/>
                    <a:p>
                      <a:pPr>
                        <a:lnSpc>
                          <a:spcPct val="100000"/>
                        </a:lnSpc>
                      </a:pPr>
                      <a:r>
                        <a:rPr sz="1000" b="0">
                          <a:solidFill>
                            <a:srgbClr val="0F1A1C"/>
                          </a:solidFill>
                          <a:latin typeface="Calibri"/>
                        </a:rPr>
                        <a:t>Median comment length</a:t>
                      </a:r>
                    </a:p>
                  </a:txBody>
                  <a:tcPr marL="64008" marR="64008" marT="18288" marB="18288" anchor="ctr">
                    <a:solidFill>
                      <a:srgbClr val="FFFFFF"/>
                    </a:solidFill>
                  </a:tcPr>
                </a:tc>
                <a:tc>
                  <a:txBody>
                    <a:bodyPr wrap="square"/>
                    <a:lstStyle/>
                    <a:p>
                      <a:pPr algn="r">
                        <a:lnSpc>
                          <a:spcPct val="100000"/>
                        </a:lnSpc>
                      </a:pPr>
                      <a:r>
                        <a:rPr sz="1000" b="0">
                          <a:solidFill>
                            <a:srgbClr val="0F1A1C"/>
                          </a:solidFill>
                          <a:latin typeface="Calibri"/>
                        </a:rPr>
                        <a:t>25 words</a:t>
                      </a:r>
                    </a:p>
                  </a:txBody>
                  <a:tcPr marL="64008" marR="64008" marT="18288" marB="18288" anchor="ctr">
                    <a:solidFill>
                      <a:srgbClr val="FFFFFF"/>
                    </a:solidFill>
                  </a:tcPr>
                </a:tc>
              </a:tr>
              <a:tr h="256032">
                <a:tc>
                  <a:txBody>
                    <a:bodyPr wrap="square"/>
                    <a:lstStyle/>
                    <a:p>
                      <a:pPr>
                        <a:lnSpc>
                          <a:spcPct val="100000"/>
                        </a:lnSpc>
                      </a:pPr>
                      <a:r>
                        <a:rPr sz="1000" b="0">
                          <a:solidFill>
                            <a:srgbClr val="0F1A1C"/>
                          </a:solidFill>
                          <a:latin typeface="Calibri"/>
                        </a:rPr>
                        <a:t>Dimension scores</a:t>
                      </a:r>
                    </a:p>
                  </a:txBody>
                  <a:tcPr marL="64008" marR="64008" marT="18288" marB="18288" anchor="ctr">
                    <a:solidFill>
                      <a:srgbClr val="EEF2F2"/>
                    </a:solidFill>
                  </a:tcPr>
                </a:tc>
                <a:tc>
                  <a:txBody>
                    <a:bodyPr wrap="square"/>
                    <a:lstStyle/>
                    <a:p>
                      <a:pPr algn="r">
                        <a:lnSpc>
                          <a:spcPct val="100000"/>
                        </a:lnSpc>
                      </a:pPr>
                      <a:r>
                        <a:rPr sz="1000" b="0">
                          <a:solidFill>
                            <a:srgbClr val="0F1A1C"/>
                          </a:solidFill>
                          <a:latin typeface="Calibri"/>
                        </a:rPr>
                        <a:t>3.1 – 3.7 of 5</a:t>
                      </a:r>
                    </a:p>
                  </a:txBody>
                  <a:tcPr marL="64008" marR="64008" marT="18288" marB="18288" anchor="ctr">
                    <a:solidFill>
                      <a:srgbClr val="EEF2F2"/>
                    </a:solidFill>
                  </a:tcPr>
                </a:tc>
              </a:tr>
              <a:tr h="256032">
                <a:tc>
                  <a:txBody>
                    <a:bodyPr wrap="square"/>
                    <a:lstStyle/>
                    <a:p>
                      <a:pPr>
                        <a:lnSpc>
                          <a:spcPct val="100000"/>
                        </a:lnSpc>
                      </a:pPr>
                      <a:r>
                        <a:rPr sz="1000" b="0">
                          <a:solidFill>
                            <a:srgbClr val="0F1A1C"/>
                          </a:solidFill>
                          <a:latin typeface="Calibri"/>
                        </a:rPr>
                        <a:t>Cronbach α</a:t>
                      </a:r>
                    </a:p>
                  </a:txBody>
                  <a:tcPr marL="64008" marR="64008" marT="18288" marB="18288" anchor="ctr">
                    <a:solidFill>
                      <a:srgbClr val="FFFFFF"/>
                    </a:solidFill>
                  </a:tcPr>
                </a:tc>
                <a:tc>
                  <a:txBody>
                    <a:bodyPr wrap="square"/>
                    <a:lstStyle/>
                    <a:p>
                      <a:pPr algn="r">
                        <a:lnSpc>
                          <a:spcPct val="100000"/>
                        </a:lnSpc>
                      </a:pPr>
                      <a:r>
                        <a:rPr sz="1000" b="0">
                          <a:solidFill>
                            <a:srgbClr val="0F1A1C"/>
                          </a:solidFill>
                          <a:latin typeface="Calibri"/>
                        </a:rPr>
                        <a:t>0.68 – 0.96</a:t>
                      </a:r>
                    </a:p>
                  </a:txBody>
                  <a:tcPr marL="64008" marR="64008" marT="18288" marB="18288" anchor="ctr">
                    <a:solidFill>
                      <a:srgbClr val="FFFFFF"/>
                    </a:solidFill>
                  </a:tcPr>
                </a:tc>
              </a:tr>
              <a:tr h="256032">
                <a:tc>
                  <a:txBody>
                    <a:bodyPr wrap="square"/>
                    <a:lstStyle/>
                    <a:p>
                      <a:pPr>
                        <a:lnSpc>
                          <a:spcPct val="100000"/>
                        </a:lnSpc>
                      </a:pPr>
                      <a:r>
                        <a:rPr sz="1000" b="0">
                          <a:solidFill>
                            <a:srgbClr val="0F1A1C"/>
                          </a:solidFill>
                          <a:latin typeface="Calibri"/>
                        </a:rPr>
                        <a:t>r (teamwork, culture)</a:t>
                      </a:r>
                    </a:p>
                  </a:txBody>
                  <a:tcPr marL="64008" marR="64008" marT="18288" marB="18288" anchor="ctr">
                    <a:solidFill>
                      <a:srgbClr val="EEF2F2"/>
                    </a:solidFill>
                  </a:tcPr>
                </a:tc>
                <a:tc>
                  <a:txBody>
                    <a:bodyPr wrap="square"/>
                    <a:lstStyle/>
                    <a:p>
                      <a:pPr algn="r">
                        <a:lnSpc>
                          <a:spcPct val="100000"/>
                        </a:lnSpc>
                      </a:pPr>
                      <a:r>
                        <a:rPr sz="1000" b="0">
                          <a:solidFill>
                            <a:srgbClr val="0F1A1C"/>
                          </a:solidFill>
                          <a:latin typeface="Calibri"/>
                        </a:rPr>
                        <a:t>≈ 0.89</a:t>
                      </a:r>
                    </a:p>
                  </a:txBody>
                  <a:tcPr marL="64008" marR="64008" marT="18288" marB="18288" anchor="ctr">
                    <a:solidFill>
                      <a:srgbClr val="EEF2F2"/>
                    </a:solidFill>
                  </a:tcPr>
                </a:tc>
              </a:tr>
              <a:tr h="256032">
                <a:tc>
                  <a:txBody>
                    <a:bodyPr wrap="square"/>
                    <a:lstStyle/>
                    <a:p>
                      <a:pPr>
                        <a:lnSpc>
                          <a:spcPct val="100000"/>
                        </a:lnSpc>
                      </a:pPr>
                      <a:r>
                        <a:rPr sz="1000" b="0">
                          <a:solidFill>
                            <a:srgbClr val="0F1A1C"/>
                          </a:solidFill>
                          <a:latin typeface="Calibri"/>
                        </a:rPr>
                        <a:t>Business units</a:t>
                      </a:r>
                    </a:p>
                  </a:txBody>
                  <a:tcPr marL="64008" marR="64008" marT="18288" marB="18288" anchor="ctr">
                    <a:solidFill>
                      <a:srgbClr val="FFFFFF"/>
                    </a:solidFill>
                  </a:tcPr>
                </a:tc>
                <a:tc>
                  <a:txBody>
                    <a:bodyPr wrap="square"/>
                    <a:lstStyle/>
                    <a:p>
                      <a:pPr algn="r">
                        <a:lnSpc>
                          <a:spcPct val="100000"/>
                        </a:lnSpc>
                      </a:pPr>
                      <a:r>
                        <a:rPr sz="1000" b="0">
                          <a:solidFill>
                            <a:srgbClr val="0F1A1C"/>
                          </a:solidFill>
                          <a:latin typeface="Calibri"/>
                        </a:rPr>
                        <a:t>5, n = 82 – 114</a:t>
                      </a:r>
                    </a:p>
                  </a:txBody>
                  <a:tcPr marL="64008" marR="64008" marT="18288" marB="18288" anchor="ctr">
                    <a:solidFill>
                      <a:srgbClr val="FFFFFF"/>
                    </a:solidFill>
                  </a:tcPr>
                </a:tc>
              </a:tr>
            </a:tbl>
          </a:graphicData>
        </a:graphic>
      </p:graphicFrame>
      <p:sp>
        <p:nvSpPr>
          <p:cNvPr id="13" name="Rectangle 12"/>
          <p:cNvSpPr/>
          <p:nvPr/>
        </p:nvSpPr>
        <p:spPr>
          <a:xfrm>
            <a:off x="749808" y="4937760"/>
            <a:ext cx="10692079" cy="1143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49808" y="4937760"/>
            <a:ext cx="32004" cy="1143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5138928"/>
            <a:ext cx="10216591" cy="740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9A4037"/>
                </a:solidFill>
                <a:latin typeface="Consolas"/>
              </a:rPr>
              <a:t>HONEST LIMITATION</a:t>
            </a:r>
          </a:p>
          <a:p>
            <a:pPr>
              <a:lnSpc>
                <a:spcPct val="130000"/>
              </a:lnSpc>
              <a:spcBef>
                <a:spcPts val="0"/>
              </a:spcBef>
              <a:spcAft>
                <a:spcPts val="0"/>
              </a:spcAft>
            </a:pPr>
            <a:r>
              <a:rPr sz="1150" b="0" i="0">
                <a:solidFill>
                  <a:srgbClr val="0F1A1C"/>
                </a:solidFill>
                <a:latin typeface="Calibri"/>
              </a:rPr>
              <a:t>Structure and statistics transfer well; language does not. Synthetic comments are more repetitive and share phrasing, which makes topic modelling measurably harder than on real text. The generator was reworked after the first EDA for exactly that reason — and the topic metrics still carry the effect.</a:t>
            </a:r>
          </a:p>
        </p:txBody>
      </p:sp>
      <p:sp>
        <p:nvSpPr>
          <p:cNvPr id="16" name="TextBox 15"/>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A4</a:t>
            </a:r>
            <a:r>
              <a:rPr sz="1000">
                <a:solidFill>
                  <a:srgbClr val="8A9B9E"/>
                </a:solidFill>
                <a:latin typeface="Consolas"/>
              </a:rPr>
              <a:t>   ·   BASELINE MODEL</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Zero-shot prototype — and why it was replaced</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3368954" cy="2880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2893466" cy="247802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SETUP</a:t>
            </a:r>
          </a:p>
          <a:p>
            <a:pPr>
              <a:lnSpc>
                <a:spcPct val="118000"/>
              </a:lnSpc>
              <a:spcAft>
                <a:spcPts val="500"/>
              </a:spcAft>
            </a:pPr>
            <a:r>
              <a:rPr sz="1050">
                <a:solidFill>
                  <a:srgbClr val="14636E"/>
                </a:solidFill>
                <a:latin typeface="Calibri"/>
              </a:rPr>
              <a:t>▪  </a:t>
            </a:r>
            <a:r>
              <a:rPr sz="1050">
                <a:solidFill>
                  <a:srgbClr val="0F1A1C"/>
                </a:solidFill>
                <a:latin typeface="Calibri"/>
              </a:rPr>
              <a:t>Model  MoritzLaurer/mDeBERTa-v3-base-mnli-xnli</a:t>
            </a:r>
          </a:p>
          <a:p>
            <a:pPr>
              <a:lnSpc>
                <a:spcPct val="118000"/>
              </a:lnSpc>
              <a:spcAft>
                <a:spcPts val="500"/>
              </a:spcAft>
            </a:pPr>
            <a:r>
              <a:rPr sz="1050">
                <a:solidFill>
                  <a:srgbClr val="14636E"/>
                </a:solidFill>
                <a:latin typeface="Calibri"/>
              </a:rPr>
              <a:t>▪  </a:t>
            </a:r>
            <a:r>
              <a:rPr sz="1050">
                <a:solidFill>
                  <a:srgbClr val="0F1A1C"/>
                </a:solidFill>
                <a:latin typeface="Calibri"/>
              </a:rPr>
              <a:t>Classification via natural language inference — no training data needed</a:t>
            </a:r>
          </a:p>
          <a:p>
            <a:pPr>
              <a:lnSpc>
                <a:spcPct val="118000"/>
              </a:lnSpc>
              <a:spcAft>
                <a:spcPts val="500"/>
              </a:spcAft>
            </a:pPr>
            <a:r>
              <a:rPr sz="1050">
                <a:solidFill>
                  <a:srgbClr val="14636E"/>
                </a:solidFill>
                <a:latin typeface="Calibri"/>
              </a:rPr>
              <a:t>▪  </a:t>
            </a:r>
            <a:r>
              <a:rPr sz="1050">
                <a:solidFill>
                  <a:srgbClr val="0F1A1C"/>
                </a:solidFill>
                <a:latin typeface="Calibri"/>
              </a:rPr>
              <a:t>Valence labels: positive / neutral / negative</a:t>
            </a:r>
          </a:p>
          <a:p>
            <a:pPr>
              <a:lnSpc>
                <a:spcPct val="118000"/>
              </a:lnSpc>
              <a:spcAft>
                <a:spcPts val="500"/>
              </a:spcAft>
            </a:pPr>
            <a:r>
              <a:rPr sz="1050">
                <a:solidFill>
                  <a:srgbClr val="14636E"/>
                </a:solidFill>
                <a:latin typeface="Calibri"/>
              </a:rPr>
              <a:t>▪  </a:t>
            </a:r>
            <a:r>
              <a:rPr sz="1050">
                <a:solidFill>
                  <a:srgbClr val="0F1A1C"/>
                </a:solidFill>
                <a:latin typeface="Calibri"/>
              </a:rPr>
              <a:t>Arousal labels: high / medium / low activation</a:t>
            </a:r>
          </a:p>
          <a:p>
            <a:pPr>
              <a:lnSpc>
                <a:spcPct val="118000"/>
              </a:lnSpc>
              <a:spcAft>
                <a:spcPts val="0"/>
              </a:spcAft>
            </a:pPr>
            <a:r>
              <a:rPr sz="1050">
                <a:solidFill>
                  <a:srgbClr val="14636E"/>
                </a:solidFill>
                <a:latin typeface="Calibri"/>
              </a:rPr>
              <a:t>▪  </a:t>
            </a:r>
            <a:r>
              <a:rPr sz="1050">
                <a:solidFill>
                  <a:srgbClr val="0F1A1C"/>
                </a:solidFill>
                <a:latin typeface="Calibri"/>
              </a:rPr>
              <a:t>Both dimensions scored per comment, exported as Core Affect coordinates</a:t>
            </a:r>
          </a:p>
        </p:txBody>
      </p:sp>
      <p:sp>
        <p:nvSpPr>
          <p:cNvPr id="9" name="Rectangle 8"/>
          <p:cNvSpPr/>
          <p:nvPr/>
        </p:nvSpPr>
        <p:spPr>
          <a:xfrm>
            <a:off x="4411370" y="1874519"/>
            <a:ext cx="3368954" cy="2880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411370"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667402" y="2075688"/>
            <a:ext cx="2893466" cy="247802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WHAT IT PROVED</a:t>
            </a:r>
          </a:p>
          <a:p>
            <a:pPr>
              <a:lnSpc>
                <a:spcPct val="118000"/>
              </a:lnSpc>
              <a:spcAft>
                <a:spcPts val="500"/>
              </a:spcAft>
            </a:pPr>
            <a:r>
              <a:rPr sz="1050">
                <a:solidFill>
                  <a:srgbClr val="14636E"/>
                </a:solidFill>
                <a:latin typeface="Calibri"/>
              </a:rPr>
              <a:t>▪  </a:t>
            </a:r>
            <a:r>
              <a:rPr sz="1050">
                <a:solidFill>
                  <a:srgbClr val="0F1A1C"/>
                </a:solidFill>
                <a:latin typeface="Calibri"/>
              </a:rPr>
              <a:t>End-to-end pipeline works: load → classify → derive coordinates → export</a:t>
            </a:r>
          </a:p>
          <a:p>
            <a:pPr>
              <a:lnSpc>
                <a:spcPct val="118000"/>
              </a:lnSpc>
              <a:spcAft>
                <a:spcPts val="500"/>
              </a:spcAft>
            </a:pPr>
            <a:r>
              <a:rPr sz="1050">
                <a:solidFill>
                  <a:srgbClr val="14636E"/>
                </a:solidFill>
                <a:latin typeface="Calibri"/>
              </a:rPr>
              <a:t>▪  </a:t>
            </a:r>
            <a:r>
              <a:rPr sz="1050">
                <a:solidFill>
                  <a:srgbClr val="0F1A1C"/>
                </a:solidFill>
                <a:latin typeface="Calibri"/>
              </a:rPr>
              <a:t>The Core Affect idea is technically feasible on German comments</a:t>
            </a:r>
          </a:p>
          <a:p>
            <a:pPr>
              <a:lnSpc>
                <a:spcPct val="118000"/>
              </a:lnSpc>
              <a:spcAft>
                <a:spcPts val="500"/>
              </a:spcAft>
            </a:pPr>
            <a:r>
              <a:rPr sz="1050">
                <a:solidFill>
                  <a:srgbClr val="14636E"/>
                </a:solidFill>
                <a:latin typeface="Calibri"/>
              </a:rPr>
              <a:t>▪  </a:t>
            </a:r>
            <a:r>
              <a:rPr sz="1050">
                <a:solidFill>
                  <a:srgbClr val="0F1A1C"/>
                </a:solidFill>
                <a:latin typeface="Calibri"/>
              </a:rPr>
              <a:t>The only component so far that produces arousal estimates at all</a:t>
            </a:r>
          </a:p>
          <a:p>
            <a:pPr>
              <a:lnSpc>
                <a:spcPct val="118000"/>
              </a:lnSpc>
              <a:spcAft>
                <a:spcPts val="0"/>
              </a:spcAft>
            </a:pPr>
            <a:r>
              <a:rPr sz="1050">
                <a:solidFill>
                  <a:srgbClr val="14636E"/>
                </a:solidFill>
                <a:latin typeface="Calibri"/>
              </a:rPr>
              <a:t>▪  </a:t>
            </a:r>
            <a:r>
              <a:rPr sz="1050">
                <a:solidFill>
                  <a:srgbClr val="0F1A1C"/>
                </a:solidFill>
                <a:latin typeface="Calibri"/>
              </a:rPr>
              <a:t>Useful as a fast feasibility test before investing in a specialised model</a:t>
            </a:r>
          </a:p>
        </p:txBody>
      </p:sp>
      <p:sp>
        <p:nvSpPr>
          <p:cNvPr id="12" name="Rectangle 11"/>
          <p:cNvSpPr/>
          <p:nvPr/>
        </p:nvSpPr>
        <p:spPr>
          <a:xfrm>
            <a:off x="8072932" y="1874519"/>
            <a:ext cx="3368954" cy="288036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72932"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328964" y="2075688"/>
            <a:ext cx="2893466" cy="247802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WHY IT STAYS A BASELINE</a:t>
            </a:r>
          </a:p>
          <a:p>
            <a:pPr>
              <a:lnSpc>
                <a:spcPct val="118000"/>
              </a:lnSpc>
              <a:spcAft>
                <a:spcPts val="500"/>
              </a:spcAft>
            </a:pPr>
            <a:r>
              <a:rPr sz="1050">
                <a:solidFill>
                  <a:srgbClr val="14636E"/>
                </a:solidFill>
                <a:latin typeface="Calibri"/>
              </a:rPr>
              <a:t>▪  </a:t>
            </a:r>
            <a:r>
              <a:rPr sz="1050">
                <a:solidFill>
                  <a:srgbClr val="0F1A1C"/>
                </a:solidFill>
                <a:latin typeface="Calibri"/>
              </a:rPr>
              <a:t>Unstable arousal — label wording drives the result, and three coarse classes are not enough</a:t>
            </a:r>
          </a:p>
          <a:p>
            <a:pPr>
              <a:lnSpc>
                <a:spcPct val="118000"/>
              </a:lnSpc>
              <a:spcAft>
                <a:spcPts val="500"/>
              </a:spcAft>
            </a:pPr>
            <a:r>
              <a:rPr sz="1050">
                <a:solidFill>
                  <a:srgbClr val="14636E"/>
                </a:solidFill>
                <a:latin typeface="Calibri"/>
              </a:rPr>
              <a:t>▪  </a:t>
            </a:r>
            <a:r>
              <a:rPr sz="1050">
                <a:solidFill>
                  <a:srgbClr val="0F1A1C"/>
                </a:solidFill>
                <a:latin typeface="Calibri"/>
              </a:rPr>
              <a:t>Discrete output — no continuous dimension for the Core Affect Map</a:t>
            </a:r>
          </a:p>
          <a:p>
            <a:pPr>
              <a:lnSpc>
                <a:spcPct val="118000"/>
              </a:lnSpc>
              <a:spcAft>
                <a:spcPts val="0"/>
              </a:spcAft>
            </a:pPr>
            <a:r>
              <a:rPr sz="1050">
                <a:solidFill>
                  <a:srgbClr val="14636E"/>
                </a:solidFill>
                <a:latin typeface="Calibri"/>
              </a:rPr>
              <a:t>▪  </a:t>
            </a:r>
            <a:r>
              <a:rPr sz="1050">
                <a:solidFill>
                  <a:srgbClr val="0F1A1C"/>
                </a:solidFill>
                <a:latin typeface="Calibri"/>
              </a:rPr>
              <a:t>Slow — ≈ 1.7 comments/s, about 50 min for 5,000 comments, roughly 12× slower than the specialised sentiment model</a:t>
            </a:r>
          </a:p>
        </p:txBody>
      </p:sp>
      <p:sp>
        <p:nvSpPr>
          <p:cNvPr id="15" name="Rounded Rectangle 14"/>
          <p:cNvSpPr/>
          <p:nvPr/>
        </p:nvSpPr>
        <p:spPr>
          <a:xfrm>
            <a:off x="8072932" y="4937760"/>
            <a:ext cx="2377440" cy="219456"/>
          </a:xfrm>
          <a:prstGeom prst="roundRect">
            <a:avLst>
              <a:gd name="adj" fmla="val 30000"/>
            </a:avLst>
          </a:prstGeom>
          <a:noFill/>
          <a:ln w="9525">
            <a:solidFill>
              <a:srgbClr val="9A403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20000"/>
              </a:lnSpc>
              <a:spcBef>
                <a:spcPts val="0"/>
              </a:spcBef>
              <a:spcAft>
                <a:spcPts val="0"/>
              </a:spcAft>
            </a:pPr>
            <a:r>
              <a:rPr sz="850" b="1" i="0">
                <a:solidFill>
                  <a:srgbClr val="9A4037"/>
                </a:solidFill>
                <a:latin typeface="Consolas"/>
              </a:rPr>
              <a:t>KEPT AS BASELINE, NOT PRODUCT</a:t>
            </a:r>
          </a:p>
        </p:txBody>
      </p:sp>
      <p:sp>
        <p:nvSpPr>
          <p:cNvPr id="16" name="TextBox 15"/>
          <p:cNvSpPr txBox="1"/>
          <p:nvPr/>
        </p:nvSpPr>
        <p:spPr>
          <a:xfrm>
            <a:off x="749808" y="4937760"/>
            <a:ext cx="6077559" cy="822960"/>
          </a:xfrm>
          <a:prstGeom prst="rect">
            <a:avLst/>
          </a:prstGeom>
          <a:noFill/>
        </p:spPr>
        <p:txBody>
          <a:bodyPr wrap="square" lIns="0" rIns="0" tIns="0" bIns="0">
            <a:spAutoFit/>
          </a:bodyPr>
          <a:lstStyle/>
          <a:p>
            <a:pPr>
              <a:lnSpc>
                <a:spcPct val="125000"/>
              </a:lnSpc>
              <a:spcBef>
                <a:spcPts val="0"/>
              </a:spcBef>
              <a:spcAft>
                <a:spcPts val="0"/>
              </a:spcAft>
            </a:pPr>
            <a:r>
              <a:rPr sz="1150" b="0" i="0">
                <a:solidFill>
                  <a:srgbClr val="5A6B6E"/>
                </a:solidFill>
                <a:latin typeface="Calibri"/>
              </a:rPr>
              <a:t>Decision: the zero-shot model remains documented as a proof of concept. The product uses German Sentiment BERT for valence, and arousal is being solved separately (see A9).</a:t>
            </a:r>
          </a:p>
        </p:txBody>
      </p:sp>
      <p:sp>
        <p:nvSpPr>
          <p:cNvPr id="17" name="TextBox 16"/>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A5</a:t>
            </a:r>
            <a:r>
              <a:rPr sz="1000">
                <a:solidFill>
                  <a:srgbClr val="8A9B9E"/>
                </a:solidFill>
                <a:latin typeface="Consolas"/>
              </a:rPr>
              <a:t>   ·   SENTIMENT LAYER</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German Sentiment BERT → continuous valence</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2971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971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25694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TECHNICAL STEPS</a:t>
            </a:r>
          </a:p>
          <a:p>
            <a:pPr>
              <a:lnSpc>
                <a:spcPct val="118000"/>
              </a:lnSpc>
              <a:spcAft>
                <a:spcPts val="400"/>
              </a:spcAft>
            </a:pPr>
            <a:r>
              <a:rPr sz="1100">
                <a:solidFill>
                  <a:srgbClr val="14636E"/>
                </a:solidFill>
                <a:latin typeface="Calibri"/>
              </a:rPr>
              <a:t>▪  </a:t>
            </a:r>
            <a:r>
              <a:rPr sz="1100">
                <a:solidFill>
                  <a:srgbClr val="0F1A1C"/>
                </a:solidFill>
                <a:latin typeface="Calibri"/>
              </a:rPr>
              <a:t>Filter to valid comments (has_comment == True) — 5,000 of 7,000 rows</a:t>
            </a:r>
          </a:p>
          <a:p>
            <a:pPr>
              <a:lnSpc>
                <a:spcPct val="118000"/>
              </a:lnSpc>
              <a:spcAft>
                <a:spcPts val="400"/>
              </a:spcAft>
            </a:pPr>
            <a:r>
              <a:rPr sz="1100">
                <a:solidFill>
                  <a:srgbClr val="14636E"/>
                </a:solidFill>
                <a:latin typeface="Calibri"/>
              </a:rPr>
              <a:t>▪  </a:t>
            </a:r>
            <a:r>
              <a:rPr sz="1100">
                <a:solidFill>
                  <a:srgbClr val="0F1A1C"/>
                </a:solidFill>
                <a:latin typeface="Calibri"/>
              </a:rPr>
              <a:t>Model  oliverguhr/german-sentiment-bert  via HF pipeline, top_k=None, truncation enabled</a:t>
            </a:r>
          </a:p>
          <a:p>
            <a:pPr>
              <a:lnSpc>
                <a:spcPct val="118000"/>
              </a:lnSpc>
              <a:spcAft>
                <a:spcPts val="400"/>
              </a:spcAft>
            </a:pPr>
            <a:r>
              <a:rPr sz="1100">
                <a:solidFill>
                  <a:srgbClr val="14636E"/>
                </a:solidFill>
                <a:latin typeface="Calibri"/>
              </a:rPr>
              <a:t>▪  </a:t>
            </a:r>
            <a:r>
              <a:rPr sz="1100">
                <a:solidFill>
                  <a:srgbClr val="0F1A1C"/>
                </a:solidFill>
                <a:latin typeface="Calibri"/>
              </a:rPr>
              <a:t>Keep all three probabilities per comment, not just the argmax label</a:t>
            </a:r>
          </a:p>
          <a:p>
            <a:pPr>
              <a:lnSpc>
                <a:spcPct val="118000"/>
              </a:lnSpc>
              <a:spcAft>
                <a:spcPts val="400"/>
              </a:spcAft>
            </a:pPr>
            <a:r>
              <a:rPr sz="1100">
                <a:solidFill>
                  <a:srgbClr val="14636E"/>
                </a:solidFill>
                <a:latin typeface="Calibri"/>
              </a:rPr>
              <a:t>▪  </a:t>
            </a:r>
            <a:r>
              <a:rPr sz="1100">
                <a:solidFill>
                  <a:srgbClr val="0F1A1C"/>
                </a:solidFill>
                <a:latin typeface="Calibri"/>
              </a:rPr>
              <a:t>Derive  continuous_valence = P(pos) − P(neg),  range −1 … +1</a:t>
            </a:r>
          </a:p>
          <a:p>
            <a:pPr>
              <a:lnSpc>
                <a:spcPct val="118000"/>
              </a:lnSpc>
              <a:spcAft>
                <a:spcPts val="400"/>
              </a:spcAft>
            </a:pPr>
            <a:r>
              <a:rPr sz="1100">
                <a:solidFill>
                  <a:srgbClr val="14636E"/>
                </a:solidFill>
                <a:latin typeface="Calibri"/>
              </a:rPr>
              <a:t>▪  </a:t>
            </a:r>
            <a:r>
              <a:rPr sz="1100">
                <a:solidFill>
                  <a:srgbClr val="0F1A1C"/>
                </a:solidFill>
                <a:latin typeface="Calibri"/>
              </a:rPr>
              <a:t>Merge back onto the survey rows, export the enriched dataset for Power BI</a:t>
            </a:r>
          </a:p>
          <a:p>
            <a:pPr>
              <a:lnSpc>
                <a:spcPct val="118000"/>
              </a:lnSpc>
              <a:spcAft>
                <a:spcPts val="0"/>
              </a:spcAft>
            </a:pPr>
            <a:r>
              <a:rPr sz="1100">
                <a:solidFill>
                  <a:srgbClr val="14636E"/>
                </a:solidFill>
                <a:latin typeface="Calibri"/>
              </a:rPr>
              <a:t>▪  </a:t>
            </a:r>
            <a:r>
              <a:rPr sz="1100">
                <a:solidFill>
                  <a:srgbClr val="0F1A1C"/>
                </a:solidFill>
                <a:latin typeface="Calibri"/>
              </a:rPr>
              <a:t>Throughput ≈ 20 comments/s — 5,000 comments in about 4 minutes</a:t>
            </a:r>
          </a:p>
        </p:txBody>
      </p:sp>
      <p:sp>
        <p:nvSpPr>
          <p:cNvPr id="9" name="Rectangle 8"/>
          <p:cNvSpPr/>
          <p:nvPr/>
        </p:nvSpPr>
        <p:spPr>
          <a:xfrm>
            <a:off x="6278727" y="1874519"/>
            <a:ext cx="5163159" cy="2971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874519"/>
            <a:ext cx="32004" cy="2971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34759" y="2075688"/>
            <a:ext cx="4687671" cy="25694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FROM VERSION 1 TO VERSION 2</a:t>
            </a:r>
          </a:p>
        </p:txBody>
      </p:sp>
      <p:graphicFrame>
        <p:nvGraphicFramePr>
          <p:cNvPr id="12" name="Table 11"/>
          <p:cNvGraphicFramePr>
            <a:graphicFrameLocks noGrp="1"/>
          </p:cNvGraphicFramePr>
          <p:nvPr/>
        </p:nvGraphicFramePr>
        <p:xfrm>
          <a:off x="6534759" y="2423160"/>
          <a:ext cx="4651095" cy="1097280"/>
        </p:xfrm>
        <a:graphic>
          <a:graphicData uri="http://schemas.openxmlformats.org/drawingml/2006/table">
            <a:tbl>
              <a:tblPr firstRow="1">
                <a:tableStyleId>{5C22544A-7EE6-4342-B048-85BDC9FD1C3A}</a:tableStyleId>
              </a:tblPr>
              <a:tblGrid>
                <a:gridCol w="2092993"/>
                <a:gridCol w="2558102"/>
              </a:tblGrid>
              <a:tr h="274320">
                <a:tc>
                  <a:txBody>
                    <a:bodyPr wrap="square"/>
                    <a:lstStyle/>
                    <a:p>
                      <a:pPr>
                        <a:lnSpc>
                          <a:spcPct val="100000"/>
                        </a:lnSpc>
                      </a:pPr>
                      <a:r>
                        <a:rPr sz="950" b="1">
                          <a:solidFill>
                            <a:srgbClr val="5A6B6E"/>
                          </a:solidFill>
                          <a:latin typeface="Consolas"/>
                        </a:rPr>
                        <a:t>Zero-shot</a:t>
                      </a:r>
                    </a:p>
                  </a:txBody>
                  <a:tcPr marL="64008" marR="64008" marT="18288" marB="18288" anchor="ctr">
                    <a:solidFill>
                      <a:srgbClr val="E2F0F1"/>
                    </a:solidFill>
                  </a:tcPr>
                </a:tc>
                <a:tc>
                  <a:txBody>
                    <a:bodyPr wrap="square"/>
                    <a:lstStyle/>
                    <a:p>
                      <a:pPr>
                        <a:lnSpc>
                          <a:spcPct val="100000"/>
                        </a:lnSpc>
                      </a:pPr>
                      <a:r>
                        <a:rPr sz="950" b="1">
                          <a:solidFill>
                            <a:srgbClr val="5A6B6E"/>
                          </a:solidFill>
                          <a:latin typeface="Consolas"/>
                        </a:rPr>
                        <a:t>German Sentiment BERT</a:t>
                      </a:r>
                    </a:p>
                  </a:txBody>
                  <a:tcPr marL="64008" marR="64008" marT="18288" marB="18288" anchor="ctr">
                    <a:solidFill>
                      <a:srgbClr val="E2F0F1"/>
                    </a:solidFill>
                  </a:tcPr>
                </a:tc>
              </a:tr>
              <a:tr h="274320">
                <a:tc>
                  <a:txBody>
                    <a:bodyPr wrap="square"/>
                    <a:lstStyle/>
                    <a:p>
                      <a:pPr>
                        <a:lnSpc>
                          <a:spcPct val="100000"/>
                        </a:lnSpc>
                      </a:pPr>
                      <a:r>
                        <a:rPr sz="1050" b="0">
                          <a:solidFill>
                            <a:srgbClr val="0F1A1C"/>
                          </a:solidFill>
                          <a:latin typeface="Calibri"/>
                        </a:rPr>
                        <a:t>3 discrete states</a:t>
                      </a:r>
                    </a:p>
                  </a:txBody>
                  <a:tcPr marL="64008" marR="64008" marT="18288" marB="18288" anchor="ctr">
                    <a:solidFill>
                      <a:srgbClr val="FFFFFF"/>
                    </a:solidFill>
                  </a:tcPr>
                </a:tc>
                <a:tc>
                  <a:txBody>
                    <a:bodyPr wrap="square"/>
                    <a:lstStyle/>
                    <a:p>
                      <a:pPr>
                        <a:lnSpc>
                          <a:spcPct val="100000"/>
                        </a:lnSpc>
                      </a:pPr>
                      <a:r>
                        <a:rPr sz="1050" b="0">
                          <a:solidFill>
                            <a:srgbClr val="0F1A1C"/>
                          </a:solidFill>
                          <a:latin typeface="Calibri"/>
                        </a:rPr>
                        <a:t>continuous −1 … +1</a:t>
                      </a:r>
                    </a:p>
                  </a:txBody>
                  <a:tcPr marL="64008" marR="64008" marT="18288" marB="18288" anchor="ctr">
                    <a:solidFill>
                      <a:srgbClr val="FFFFFF"/>
                    </a:solidFill>
                  </a:tcPr>
                </a:tc>
              </a:tr>
              <a:tr h="274320">
                <a:tc>
                  <a:txBody>
                    <a:bodyPr wrap="square"/>
                    <a:lstStyle/>
                    <a:p>
                      <a:pPr>
                        <a:lnSpc>
                          <a:spcPct val="100000"/>
                        </a:lnSpc>
                      </a:pPr>
                      <a:r>
                        <a:rPr sz="1050" b="0">
                          <a:solidFill>
                            <a:srgbClr val="0F1A1C"/>
                          </a:solidFill>
                          <a:latin typeface="Calibri"/>
                        </a:rPr>
                        <a:t>low differentiation</a:t>
                      </a:r>
                    </a:p>
                  </a:txBody>
                  <a:tcPr marL="64008" marR="64008" marT="18288" marB="18288" anchor="ctr">
                    <a:solidFill>
                      <a:srgbClr val="EEF2F2"/>
                    </a:solidFill>
                  </a:tcPr>
                </a:tc>
                <a:tc>
                  <a:txBody>
                    <a:bodyPr wrap="square"/>
                    <a:lstStyle/>
                    <a:p>
                      <a:pPr>
                        <a:lnSpc>
                          <a:spcPct val="100000"/>
                        </a:lnSpc>
                      </a:pPr>
                      <a:r>
                        <a:rPr sz="1050" b="0">
                          <a:solidFill>
                            <a:srgbClr val="0F1A1C"/>
                          </a:solidFill>
                          <a:latin typeface="Calibri"/>
                        </a:rPr>
                        <a:t>intensity is preserved</a:t>
                      </a:r>
                    </a:p>
                  </a:txBody>
                  <a:tcPr marL="64008" marR="64008" marT="18288" marB="18288" anchor="ctr">
                    <a:solidFill>
                      <a:srgbClr val="EEF2F2"/>
                    </a:solidFill>
                  </a:tcPr>
                </a:tc>
              </a:tr>
              <a:tr h="274320">
                <a:tc>
                  <a:txBody>
                    <a:bodyPr wrap="square"/>
                    <a:lstStyle/>
                    <a:p>
                      <a:pPr>
                        <a:lnSpc>
                          <a:spcPct val="100000"/>
                        </a:lnSpc>
                      </a:pPr>
                      <a:r>
                        <a:rPr sz="1050" b="0">
                          <a:solidFill>
                            <a:srgbClr val="0F1A1C"/>
                          </a:solidFill>
                          <a:latin typeface="Calibri"/>
                        </a:rPr>
                        <a:t>limited dashboard use</a:t>
                      </a:r>
                    </a:p>
                  </a:txBody>
                  <a:tcPr marL="64008" marR="64008" marT="18288" marB="18288" anchor="ctr">
                    <a:solidFill>
                      <a:srgbClr val="FFFFFF"/>
                    </a:solidFill>
                  </a:tcPr>
                </a:tc>
                <a:tc>
                  <a:txBody>
                    <a:bodyPr wrap="square"/>
                    <a:lstStyle/>
                    <a:p>
                      <a:pPr>
                        <a:lnSpc>
                          <a:spcPct val="100000"/>
                        </a:lnSpc>
                      </a:pPr>
                      <a:r>
                        <a:rPr sz="1050" b="0">
                          <a:solidFill>
                            <a:srgbClr val="0F1A1C"/>
                          </a:solidFill>
                          <a:latin typeface="Calibri"/>
                        </a:rPr>
                        <a:t>axis 1 of the Core Affect Map</a:t>
                      </a:r>
                    </a:p>
                  </a:txBody>
                  <a:tcPr marL="64008" marR="64008" marT="18288" marB="18288" anchor="ctr">
                    <a:solidFill>
                      <a:srgbClr val="FFFFFF"/>
                    </a:solidFill>
                  </a:tcPr>
                </a:tc>
              </a:tr>
            </a:tbl>
          </a:graphicData>
        </a:graphic>
      </p:graphicFrame>
      <p:sp>
        <p:nvSpPr>
          <p:cNvPr id="13" name="TextBox 12"/>
          <p:cNvSpPr txBox="1"/>
          <p:nvPr/>
        </p:nvSpPr>
        <p:spPr>
          <a:xfrm>
            <a:off x="6534759" y="3794760"/>
            <a:ext cx="4651095" cy="1097280"/>
          </a:xfrm>
          <a:prstGeom prst="rect">
            <a:avLst/>
          </a:prstGeom>
          <a:noFill/>
        </p:spPr>
        <p:txBody>
          <a:bodyPr wrap="square" lIns="0" rIns="0" tIns="0" bIns="0">
            <a:spAutoFit/>
          </a:bodyPr>
          <a:lstStyle/>
          <a:p>
            <a:pPr>
              <a:lnSpc>
                <a:spcPct val="128000"/>
              </a:lnSpc>
              <a:spcBef>
                <a:spcPts val="0"/>
              </a:spcBef>
              <a:spcAft>
                <a:spcPts val="0"/>
              </a:spcAft>
            </a:pPr>
            <a:r>
              <a:rPr sz="1150" b="0" i="0">
                <a:solidFill>
                  <a:srgbClr val="0F1A1C"/>
                </a:solidFill>
                <a:latin typeface="Calibri"/>
              </a:rPr>
              <a:t>The valence distribution is polarised, not centred: mass at both ends, mean ≈ −0.24 in the exported sample. That matches the EDA finding that people who comment are the more critical subgroup.</a:t>
            </a:r>
          </a:p>
        </p:txBody>
      </p:sp>
      <p:sp>
        <p:nvSpPr>
          <p:cNvPr id="14" name="Rectangle 13"/>
          <p:cNvSpPr/>
          <p:nvPr/>
        </p:nvSpPr>
        <p:spPr>
          <a:xfrm>
            <a:off x="749808" y="4983480"/>
            <a:ext cx="10692079" cy="1143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49808" y="4983480"/>
            <a:ext cx="32004" cy="1143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05840" y="5184648"/>
            <a:ext cx="10216591" cy="740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8F6414"/>
                </a:solidFill>
                <a:latin typeface="Consolas"/>
              </a:rPr>
              <a:t>OPEN POINT</a:t>
            </a:r>
          </a:p>
          <a:p>
            <a:pPr>
              <a:lnSpc>
                <a:spcPct val="128000"/>
              </a:lnSpc>
              <a:spcBef>
                <a:spcPts val="0"/>
              </a:spcBef>
              <a:spcAft>
                <a:spcPts val="0"/>
              </a:spcAft>
            </a:pPr>
            <a:r>
              <a:rPr sz="1150" b="0" i="0">
                <a:solidFill>
                  <a:srgbClr val="0F1A1C"/>
                </a:solidFill>
                <a:latin typeface="Calibri"/>
              </a:rPr>
              <a:t>The model is trained on general German, not on survey language. Domain fit still needs a manual spot check against a hand-labelled sample of comments before the valence axis is treated as validated.</a:t>
            </a:r>
          </a:p>
        </p:txBody>
      </p:sp>
      <p:sp>
        <p:nvSpPr>
          <p:cNvPr id="17" name="TextBox 16"/>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A6</a:t>
            </a:r>
            <a:r>
              <a:rPr sz="1000">
                <a:solidFill>
                  <a:srgbClr val="8A9B9E"/>
                </a:solidFill>
                <a:latin typeface="Consolas"/>
              </a:rPr>
              <a:t>   ·   TOPIC LAYER — ITERATIONS</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BERTopic: four representation experiments</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1883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PIPELINE</a:t>
            </a:r>
          </a:p>
          <a:p>
            <a:pPr>
              <a:lnSpc>
                <a:spcPct val="118000"/>
              </a:lnSpc>
              <a:spcAft>
                <a:spcPts val="400"/>
              </a:spcAft>
            </a:pPr>
            <a:r>
              <a:rPr sz="1100">
                <a:solidFill>
                  <a:srgbClr val="14636E"/>
                </a:solidFill>
                <a:latin typeface="Calibri"/>
              </a:rPr>
              <a:t>▪  </a:t>
            </a:r>
            <a:r>
              <a:rPr sz="1100" b="1">
                <a:solidFill>
                  <a:srgbClr val="0F1A1C"/>
                </a:solidFill>
                <a:latin typeface="Calibri"/>
              </a:rPr>
              <a:t>Embeddings —  </a:t>
            </a:r>
            <a:r>
              <a:rPr sz="1100">
                <a:solidFill>
                  <a:srgbClr val="0F1A1C"/>
                </a:solidFill>
                <a:latin typeface="Calibri"/>
              </a:rPr>
              <a:t>paraphrase-multilingual-MiniLM-L12-v2</a:t>
            </a:r>
          </a:p>
          <a:p>
            <a:pPr>
              <a:lnSpc>
                <a:spcPct val="118000"/>
              </a:lnSpc>
              <a:spcAft>
                <a:spcPts val="400"/>
              </a:spcAft>
            </a:pPr>
            <a:r>
              <a:rPr sz="1100">
                <a:solidFill>
                  <a:srgbClr val="14636E"/>
                </a:solidFill>
                <a:latin typeface="Calibri"/>
              </a:rPr>
              <a:t>▪  </a:t>
            </a:r>
            <a:r>
              <a:rPr sz="1100" b="1">
                <a:solidFill>
                  <a:srgbClr val="0F1A1C"/>
                </a:solidFill>
                <a:latin typeface="Calibri"/>
              </a:rPr>
              <a:t>UMAP —  </a:t>
            </a:r>
            <a:r>
              <a:rPr sz="1100">
                <a:solidFill>
                  <a:srgbClr val="0F1A1C"/>
                </a:solidFill>
                <a:latin typeface="Calibri"/>
              </a:rPr>
              <a:t>dimensionality reduction, cosine metric, 5 components</a:t>
            </a:r>
          </a:p>
          <a:p>
            <a:pPr>
              <a:lnSpc>
                <a:spcPct val="118000"/>
              </a:lnSpc>
              <a:spcAft>
                <a:spcPts val="400"/>
              </a:spcAft>
            </a:pPr>
            <a:r>
              <a:rPr sz="1100">
                <a:solidFill>
                  <a:srgbClr val="14636E"/>
                </a:solidFill>
                <a:latin typeface="Calibri"/>
              </a:rPr>
              <a:t>▪  </a:t>
            </a:r>
            <a:r>
              <a:rPr sz="1100" b="1">
                <a:solidFill>
                  <a:srgbClr val="0F1A1C"/>
                </a:solidFill>
                <a:latin typeface="Calibri"/>
              </a:rPr>
              <a:t>HDBSCAN —  </a:t>
            </a:r>
            <a:r>
              <a:rPr sz="1100">
                <a:solidFill>
                  <a:srgbClr val="0F1A1C"/>
                </a:solidFill>
                <a:latin typeface="Calibri"/>
              </a:rPr>
              <a:t>density clustering, EOM cluster selection</a:t>
            </a:r>
          </a:p>
          <a:p>
            <a:pPr>
              <a:lnSpc>
                <a:spcPct val="118000"/>
              </a:lnSpc>
              <a:spcAft>
                <a:spcPts val="400"/>
              </a:spcAft>
            </a:pPr>
            <a:r>
              <a:rPr sz="1100">
                <a:solidFill>
                  <a:srgbClr val="14636E"/>
                </a:solidFill>
                <a:latin typeface="Calibri"/>
              </a:rPr>
              <a:t>▪  </a:t>
            </a:r>
            <a:r>
              <a:rPr sz="1100" b="1">
                <a:solidFill>
                  <a:srgbClr val="0F1A1C"/>
                </a:solidFill>
                <a:latin typeface="Calibri"/>
              </a:rPr>
              <a:t>c-TF-IDF + representation model —  </a:t>
            </a:r>
            <a:r>
              <a:rPr sz="1100">
                <a:solidFill>
                  <a:srgbClr val="0F1A1C"/>
                </a:solidFill>
                <a:latin typeface="Calibri"/>
              </a:rPr>
              <a:t>topic keyword extraction</a:t>
            </a:r>
          </a:p>
          <a:p>
            <a:pPr>
              <a:lnSpc>
                <a:spcPct val="118000"/>
              </a:lnSpc>
              <a:spcAft>
                <a:spcPts val="0"/>
              </a:spcAft>
            </a:pPr>
            <a:r>
              <a:rPr sz="1100">
                <a:solidFill>
                  <a:srgbClr val="14636E"/>
                </a:solidFill>
                <a:latin typeface="Calibri"/>
              </a:rPr>
              <a:t>▪  </a:t>
            </a:r>
            <a:r>
              <a:rPr sz="1100">
                <a:solidFill>
                  <a:srgbClr val="0F1A1C"/>
                </a:solidFill>
                <a:latin typeface="Calibri"/>
              </a:rPr>
              <a:t>fixed random_state = 42 throughout, so configurations stay comparable</a:t>
            </a:r>
          </a:p>
        </p:txBody>
      </p:sp>
      <p:sp>
        <p:nvSpPr>
          <p:cNvPr id="9" name="Rectangle 8"/>
          <p:cNvSpPr/>
          <p:nvPr/>
        </p:nvSpPr>
        <p:spPr>
          <a:xfrm>
            <a:off x="6278727" y="1874519"/>
            <a:ext cx="5163159"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34759" y="2075688"/>
            <a:ext cx="4687671" cy="1883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WHAT WAS CHANGED, AND WHAT HAPPENED</a:t>
            </a:r>
          </a:p>
        </p:txBody>
      </p:sp>
      <p:graphicFrame>
        <p:nvGraphicFramePr>
          <p:cNvPr id="12" name="Table 11"/>
          <p:cNvGraphicFramePr>
            <a:graphicFrameLocks noGrp="1"/>
          </p:cNvGraphicFramePr>
          <p:nvPr/>
        </p:nvGraphicFramePr>
        <p:xfrm>
          <a:off x="6534759" y="2423160"/>
          <a:ext cx="4651094" cy="1371600"/>
        </p:xfrm>
        <a:graphic>
          <a:graphicData uri="http://schemas.openxmlformats.org/drawingml/2006/table">
            <a:tbl>
              <a:tblPr firstRow="1">
                <a:tableStyleId>{5C22544A-7EE6-4342-B048-85BDC9FD1C3A}</a:tableStyleId>
              </a:tblPr>
              <a:tblGrid>
                <a:gridCol w="3348788"/>
                <a:gridCol w="1302306"/>
              </a:tblGrid>
              <a:tr h="274320">
                <a:tc>
                  <a:txBody>
                    <a:bodyPr wrap="square"/>
                    <a:lstStyle/>
                    <a:p>
                      <a:pPr>
                        <a:lnSpc>
                          <a:spcPct val="100000"/>
                        </a:lnSpc>
                      </a:pPr>
                      <a:r>
                        <a:rPr sz="950" b="1">
                          <a:solidFill>
                            <a:srgbClr val="5A6B6E"/>
                          </a:solidFill>
                          <a:latin typeface="Consolas"/>
                        </a:rPr>
                        <a:t>Configuration</a:t>
                      </a:r>
                    </a:p>
                  </a:txBody>
                  <a:tcPr marL="64008" marR="64008" marT="18288" marB="18288" anchor="ctr">
                    <a:solidFill>
                      <a:srgbClr val="E2F0F1"/>
                    </a:solidFill>
                  </a:tcPr>
                </a:tc>
                <a:tc>
                  <a:txBody>
                    <a:bodyPr wrap="square"/>
                    <a:lstStyle/>
                    <a:p>
                      <a:pPr algn="r">
                        <a:lnSpc>
                          <a:spcPct val="100000"/>
                        </a:lnSpc>
                      </a:pPr>
                      <a:r>
                        <a:rPr sz="950" b="1">
                          <a:solidFill>
                            <a:srgbClr val="5A6B6E"/>
                          </a:solidFill>
                          <a:latin typeface="Consolas"/>
                        </a:rPr>
                        <a:t>Topics</a:t>
                      </a:r>
                    </a:p>
                  </a:txBody>
                  <a:tcPr marL="64008" marR="64008" marT="18288" marB="18288" anchor="ctr">
                    <a:solidFill>
                      <a:srgbClr val="E2F0F1"/>
                    </a:solidFill>
                  </a:tcPr>
                </a:tc>
              </a:tr>
              <a:tr h="274320">
                <a:tc>
                  <a:txBody>
                    <a:bodyPr wrap="square"/>
                    <a:lstStyle/>
                    <a:p>
                      <a:pPr>
                        <a:lnSpc>
                          <a:spcPct val="100000"/>
                        </a:lnSpc>
                      </a:pPr>
                      <a:r>
                        <a:rPr sz="1050" b="0">
                          <a:solidFill>
                            <a:srgbClr val="0F1A1C"/>
                          </a:solidFill>
                          <a:latin typeface="Calibri"/>
                        </a:rPr>
                        <a:t>Baseline BERTopic</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27</a:t>
                      </a:r>
                    </a:p>
                  </a:txBody>
                  <a:tcPr marL="64008" marR="64008" marT="18288" marB="18288" anchor="ctr">
                    <a:solidFill>
                      <a:srgbClr val="FFFFFF"/>
                    </a:solidFill>
                  </a:tcPr>
                </a:tc>
              </a:tr>
              <a:tr h="274320">
                <a:tc>
                  <a:txBody>
                    <a:bodyPr wrap="square"/>
                    <a:lstStyle/>
                    <a:p>
                      <a:pPr>
                        <a:lnSpc>
                          <a:spcPct val="100000"/>
                        </a:lnSpc>
                      </a:pPr>
                      <a:r>
                        <a:rPr sz="1050" b="0">
                          <a:solidFill>
                            <a:srgbClr val="0F1A1C"/>
                          </a:solidFill>
                          <a:latin typeface="Calibri"/>
                        </a:rPr>
                        <a:t>+ CountVectorizer, extended stopwords</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42</a:t>
                      </a:r>
                    </a:p>
                  </a:txBody>
                  <a:tcPr marL="64008" marR="64008" marT="18288" marB="18288" anchor="ctr">
                    <a:solidFill>
                      <a:srgbClr val="EEF2F2"/>
                    </a:solidFill>
                  </a:tcPr>
                </a:tc>
              </a:tr>
              <a:tr h="274320">
                <a:tc>
                  <a:txBody>
                    <a:bodyPr wrap="square"/>
                    <a:lstStyle/>
                    <a:p>
                      <a:pPr>
                        <a:lnSpc>
                          <a:spcPct val="100000"/>
                        </a:lnSpc>
                      </a:pPr>
                      <a:r>
                        <a:rPr sz="1050" b="0">
                          <a:solidFill>
                            <a:srgbClr val="0F1A1C"/>
                          </a:solidFill>
                          <a:latin typeface="Calibri"/>
                        </a:rPr>
                        <a:t>+ KeyBERTInspired representation</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38</a:t>
                      </a:r>
                    </a:p>
                  </a:txBody>
                  <a:tcPr marL="64008" marR="64008" marT="18288" marB="18288" anchor="ctr">
                    <a:solidFill>
                      <a:srgbClr val="FFFFFF"/>
                    </a:solidFill>
                  </a:tcPr>
                </a:tc>
              </a:tr>
              <a:tr h="274320">
                <a:tc>
                  <a:txBody>
                    <a:bodyPr wrap="square"/>
                    <a:lstStyle/>
                    <a:p>
                      <a:pPr>
                        <a:lnSpc>
                          <a:spcPct val="100000"/>
                        </a:lnSpc>
                      </a:pPr>
                      <a:r>
                        <a:rPr sz="1050" b="0">
                          <a:solidFill>
                            <a:srgbClr val="9A4037"/>
                          </a:solidFill>
                          <a:latin typeface="Calibri"/>
                        </a:rPr>
                        <a:t>+ BM25 weighting — rejected</a:t>
                      </a:r>
                    </a:p>
                  </a:txBody>
                  <a:tcPr marL="64008" marR="64008" marT="18288" marB="18288" anchor="ctr">
                    <a:solidFill>
                      <a:srgbClr val="EEF2F2"/>
                    </a:solidFill>
                  </a:tcPr>
                </a:tc>
                <a:tc>
                  <a:txBody>
                    <a:bodyPr wrap="square"/>
                    <a:lstStyle/>
                    <a:p>
                      <a:pPr algn="r">
                        <a:lnSpc>
                          <a:spcPct val="100000"/>
                        </a:lnSpc>
                      </a:pPr>
                      <a:r>
                        <a:rPr sz="1050" b="0">
                          <a:solidFill>
                            <a:srgbClr val="9A4037"/>
                          </a:solidFill>
                          <a:latin typeface="Calibri"/>
                        </a:rPr>
                        <a:t>collapsed</a:t>
                      </a:r>
                    </a:p>
                  </a:txBody>
                  <a:tcPr marL="64008" marR="64008" marT="18288" marB="18288" anchor="ctr">
                    <a:solidFill>
                      <a:srgbClr val="EEF2F2"/>
                    </a:solidFill>
                  </a:tcPr>
                </a:tc>
              </a:tr>
            </a:tbl>
          </a:graphicData>
        </a:graphic>
      </p:graphicFrame>
      <p:sp>
        <p:nvSpPr>
          <p:cNvPr id="13" name="Rectangle 12"/>
          <p:cNvSpPr/>
          <p:nvPr/>
        </p:nvSpPr>
        <p:spPr>
          <a:xfrm>
            <a:off x="749808" y="4434840"/>
            <a:ext cx="10692079" cy="1737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49808" y="4434840"/>
            <a:ext cx="32004" cy="1737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636007"/>
            <a:ext cx="10216591" cy="133502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READING THE EXPERIMENTS</a:t>
            </a:r>
          </a:p>
          <a:p>
            <a:pPr>
              <a:lnSpc>
                <a:spcPct val="118000"/>
              </a:lnSpc>
              <a:spcAft>
                <a:spcPts val="400"/>
              </a:spcAft>
            </a:pPr>
            <a:r>
              <a:rPr sz="1100">
                <a:solidFill>
                  <a:srgbClr val="14636E"/>
                </a:solidFill>
                <a:latin typeface="Calibri"/>
              </a:rPr>
              <a:t>▪  </a:t>
            </a:r>
            <a:r>
              <a:rPr sz="1100" b="1">
                <a:solidFill>
                  <a:srgbClr val="0F1A1C"/>
                </a:solidFill>
                <a:latin typeface="Calibri"/>
              </a:rPr>
              <a:t>Stopwords —  </a:t>
            </a:r>
            <a:r>
              <a:rPr sz="1100">
                <a:solidFill>
                  <a:srgbClr val="0F1A1C"/>
                </a:solidFill>
                <a:latin typeface="Calibri"/>
              </a:rPr>
              <a:t>Survey boilerplate (“diskutiert”, “Kontext”, “wird”) dominated the keyword lists. An extended German + survey-specific stopword list, refined over several passes, mattered most for readability.</a:t>
            </a:r>
          </a:p>
          <a:p>
            <a:pPr>
              <a:lnSpc>
                <a:spcPct val="118000"/>
              </a:lnSpc>
              <a:spcAft>
                <a:spcPts val="400"/>
              </a:spcAft>
            </a:pPr>
            <a:r>
              <a:rPr sz="1100">
                <a:solidFill>
                  <a:srgbClr val="14636E"/>
                </a:solidFill>
                <a:latin typeface="Calibri"/>
              </a:rPr>
              <a:t>▪  </a:t>
            </a:r>
            <a:r>
              <a:rPr sz="1100" b="1">
                <a:solidFill>
                  <a:srgbClr val="0F1A1C"/>
                </a:solidFill>
                <a:latin typeface="Calibri"/>
              </a:rPr>
              <a:t>KeyBERTInspired —  </a:t>
            </a:r>
            <a:r>
              <a:rPr sz="1100">
                <a:solidFill>
                  <a:srgbClr val="0F1A1C"/>
                </a:solidFill>
                <a:latin typeface="Calibri"/>
              </a:rPr>
              <a:t>re-ranks candidate keywords by embedding similarity to the topic instead of raw frequency — noticeably more interpretable labels.</a:t>
            </a:r>
          </a:p>
          <a:p>
            <a:pPr>
              <a:lnSpc>
                <a:spcPct val="118000"/>
              </a:lnSpc>
              <a:spcAft>
                <a:spcPts val="0"/>
              </a:spcAft>
            </a:pPr>
            <a:r>
              <a:rPr sz="1100">
                <a:solidFill>
                  <a:srgbClr val="14636E"/>
                </a:solidFill>
                <a:latin typeface="Calibri"/>
              </a:rPr>
              <a:t>▪  </a:t>
            </a:r>
            <a:r>
              <a:rPr sz="1100" b="1">
                <a:solidFill>
                  <a:srgbClr val="0F1A1C"/>
                </a:solidFill>
                <a:latin typeface="Calibri"/>
              </a:rPr>
              <a:t>BM25 —  </a:t>
            </a:r>
            <a:r>
              <a:rPr sz="1100">
                <a:solidFill>
                  <a:srgbClr val="0F1A1C"/>
                </a:solidFill>
                <a:latin typeface="Calibri"/>
              </a:rPr>
              <a:t>expected to sharpen topic-specific terms; instead nearly all comments collapsed into one dominant topic with a few small satellites. Dropped, and documented as a negative result.</a:t>
            </a:r>
          </a:p>
        </p:txBody>
      </p:sp>
      <p:sp>
        <p:nvSpPr>
          <p:cNvPr id="16" name="TextBox 15"/>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A7</a:t>
            </a:r>
            <a:r>
              <a:rPr sz="1000">
                <a:solidFill>
                  <a:srgbClr val="8A9B9E"/>
                </a:solidFill>
                <a:latin typeface="Consolas"/>
              </a:rPr>
              <a:t>   ·   TOPIC LAYER — HYPERPARAMETERS</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Two grid searches: clustering, then projection</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36576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36576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32552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STEP 1 — HDBSCAN MIN_CLUSTER_SIZE</a:t>
            </a:r>
          </a:p>
          <a:p>
            <a:pPr>
              <a:lnSpc>
                <a:spcPct val="120000"/>
              </a:lnSpc>
              <a:spcBef>
                <a:spcPts val="0"/>
              </a:spcBef>
              <a:spcAft>
                <a:spcPts val="600"/>
              </a:spcAft>
            </a:pPr>
            <a:r>
              <a:rPr sz="950" b="0" i="0">
                <a:solidFill>
                  <a:srgbClr val="8A9B9E"/>
                </a:solidFill>
                <a:latin typeface="Consolas"/>
              </a:rPr>
              <a:t>5 CONFIGURATIONS · SYNTHETIC DATA, N = 5,000</a:t>
            </a:r>
          </a:p>
        </p:txBody>
      </p:sp>
      <p:graphicFrame>
        <p:nvGraphicFramePr>
          <p:cNvPr id="9" name="Table 8"/>
          <p:cNvGraphicFramePr>
            <a:graphicFrameLocks noGrp="1"/>
          </p:cNvGraphicFramePr>
          <p:nvPr/>
        </p:nvGraphicFramePr>
        <p:xfrm>
          <a:off x="1005840" y="2743200"/>
          <a:ext cx="4651094" cy="1554480"/>
        </p:xfrm>
        <a:graphic>
          <a:graphicData uri="http://schemas.openxmlformats.org/drawingml/2006/table">
            <a:tbl>
              <a:tblPr firstRow="1">
                <a:tableStyleId>{5C22544A-7EE6-4342-B048-85BDC9FD1C3A}</a:tableStyleId>
              </a:tblPr>
              <a:tblGrid>
                <a:gridCol w="1581372"/>
                <a:gridCol w="930219"/>
                <a:gridCol w="1116262"/>
                <a:gridCol w="1023241"/>
              </a:tblGrid>
              <a:tr h="274320">
                <a:tc>
                  <a:txBody>
                    <a:bodyPr wrap="square"/>
                    <a:lstStyle/>
                    <a:p>
                      <a:pPr>
                        <a:lnSpc>
                          <a:spcPct val="100000"/>
                        </a:lnSpc>
                      </a:pPr>
                      <a:r>
                        <a:rPr sz="950" b="1">
                          <a:solidFill>
                            <a:srgbClr val="5A6B6E"/>
                          </a:solidFill>
                          <a:latin typeface="Consolas"/>
                        </a:rPr>
                        <a:t>min_cluster_size</a:t>
                      </a:r>
                    </a:p>
                  </a:txBody>
                  <a:tcPr marL="64008" marR="64008" marT="18288" marB="18288" anchor="ctr">
                    <a:solidFill>
                      <a:srgbClr val="E2F0F1"/>
                    </a:solidFill>
                  </a:tcPr>
                </a:tc>
                <a:tc>
                  <a:txBody>
                    <a:bodyPr wrap="square"/>
                    <a:lstStyle/>
                    <a:p>
                      <a:pPr algn="r">
                        <a:lnSpc>
                          <a:spcPct val="100000"/>
                        </a:lnSpc>
                      </a:pPr>
                      <a:r>
                        <a:rPr sz="950" b="1">
                          <a:solidFill>
                            <a:srgbClr val="5A6B6E"/>
                          </a:solidFill>
                          <a:latin typeface="Consolas"/>
                        </a:rPr>
                        <a:t>Topics</a:t>
                      </a:r>
                    </a:p>
                  </a:txBody>
                  <a:tcPr marL="64008" marR="64008" marT="18288" marB="18288" anchor="ctr">
                    <a:solidFill>
                      <a:srgbClr val="E2F0F1"/>
                    </a:solidFill>
                  </a:tcPr>
                </a:tc>
                <a:tc>
                  <a:txBody>
                    <a:bodyPr wrap="square"/>
                    <a:lstStyle/>
                    <a:p>
                      <a:pPr algn="r">
                        <a:lnSpc>
                          <a:spcPct val="100000"/>
                        </a:lnSpc>
                      </a:pPr>
                      <a:r>
                        <a:rPr sz="950" b="1">
                          <a:solidFill>
                            <a:srgbClr val="5A6B6E"/>
                          </a:solidFill>
                          <a:latin typeface="Consolas"/>
                        </a:rPr>
                        <a:t>Outliers</a:t>
                      </a:r>
                    </a:p>
                  </a:txBody>
                  <a:tcPr marL="64008" marR="64008" marT="18288" marB="18288" anchor="ctr">
                    <a:solidFill>
                      <a:srgbClr val="E2F0F1"/>
                    </a:solidFill>
                  </a:tcPr>
                </a:tc>
                <a:tc>
                  <a:txBody>
                    <a:bodyPr wrap="square"/>
                    <a:lstStyle/>
                    <a:p>
                      <a:pPr algn="r">
                        <a:lnSpc>
                          <a:spcPct val="100000"/>
                        </a:lnSpc>
                      </a:pPr>
                      <a:r>
                        <a:rPr sz="950" b="1">
                          <a:solidFill>
                            <a:srgbClr val="5A6B6E"/>
                          </a:solidFill>
                          <a:latin typeface="Consolas"/>
                        </a:rPr>
                        <a:t>Rate</a:t>
                      </a:r>
                    </a:p>
                  </a:txBody>
                  <a:tcPr marL="64008" marR="64008" marT="18288" marB="18288" anchor="ctr">
                    <a:solidFill>
                      <a:srgbClr val="E2F0F1"/>
                    </a:solidFill>
                  </a:tcPr>
                </a:tc>
              </a:tr>
              <a:tr h="256032">
                <a:tc>
                  <a:txBody>
                    <a:bodyPr wrap="square"/>
                    <a:lstStyle/>
                    <a:p>
                      <a:pPr>
                        <a:lnSpc>
                          <a:spcPct val="100000"/>
                        </a:lnSpc>
                      </a:pPr>
                      <a:r>
                        <a:rPr sz="1050" b="1">
                          <a:solidFill>
                            <a:srgbClr val="14636E"/>
                          </a:solidFill>
                          <a:latin typeface="Calibri"/>
                        </a:rPr>
                        <a:t>5</a:t>
                      </a:r>
                    </a:p>
                  </a:txBody>
                  <a:tcPr marL="64008" marR="64008" marT="18288" marB="18288" anchor="ctr">
                    <a:solidFill>
                      <a:srgbClr val="FFFFFF"/>
                    </a:solidFill>
                  </a:tcPr>
                </a:tc>
                <a:tc>
                  <a:txBody>
                    <a:bodyPr wrap="square"/>
                    <a:lstStyle/>
                    <a:p>
                      <a:pPr algn="r">
                        <a:lnSpc>
                          <a:spcPct val="100000"/>
                        </a:lnSpc>
                      </a:pPr>
                      <a:r>
                        <a:rPr sz="1050" b="1">
                          <a:solidFill>
                            <a:srgbClr val="14636E"/>
                          </a:solidFill>
                          <a:latin typeface="Calibri"/>
                        </a:rPr>
                        <a:t>208</a:t>
                      </a:r>
                    </a:p>
                  </a:txBody>
                  <a:tcPr marL="64008" marR="64008" marT="18288" marB="18288" anchor="ctr">
                    <a:solidFill>
                      <a:srgbClr val="FFFFFF"/>
                    </a:solidFill>
                  </a:tcPr>
                </a:tc>
                <a:tc>
                  <a:txBody>
                    <a:bodyPr wrap="square"/>
                    <a:lstStyle/>
                    <a:p>
                      <a:pPr algn="r">
                        <a:lnSpc>
                          <a:spcPct val="100000"/>
                        </a:lnSpc>
                      </a:pPr>
                      <a:r>
                        <a:rPr sz="1050" b="1">
                          <a:solidFill>
                            <a:srgbClr val="14636E"/>
                          </a:solidFill>
                          <a:latin typeface="Calibri"/>
                        </a:rPr>
                        <a:t>1,045</a:t>
                      </a:r>
                    </a:p>
                  </a:txBody>
                  <a:tcPr marL="64008" marR="64008" marT="18288" marB="18288" anchor="ctr">
                    <a:solidFill>
                      <a:srgbClr val="FFFFFF"/>
                    </a:solidFill>
                  </a:tcPr>
                </a:tc>
                <a:tc>
                  <a:txBody>
                    <a:bodyPr wrap="square"/>
                    <a:lstStyle/>
                    <a:p>
                      <a:pPr algn="r">
                        <a:lnSpc>
                          <a:spcPct val="100000"/>
                        </a:lnSpc>
                      </a:pPr>
                      <a:r>
                        <a:rPr sz="1050" b="1">
                          <a:solidFill>
                            <a:srgbClr val="14636E"/>
                          </a:solidFill>
                          <a:latin typeface="Calibri"/>
                        </a:rPr>
                        <a:t>20.9 %</a:t>
                      </a:r>
                    </a:p>
                  </a:txBody>
                  <a:tcPr marL="64008" marR="64008" marT="18288" marB="18288" anchor="ctr">
                    <a:solidFill>
                      <a:srgbClr val="FFFFFF"/>
                    </a:solidFill>
                  </a:tcPr>
                </a:tc>
              </a:tr>
              <a:tr h="256032">
                <a:tc>
                  <a:txBody>
                    <a:bodyPr wrap="square"/>
                    <a:lstStyle/>
                    <a:p>
                      <a:pPr>
                        <a:lnSpc>
                          <a:spcPct val="100000"/>
                        </a:lnSpc>
                      </a:pPr>
                      <a:r>
                        <a:rPr sz="1050" b="0">
                          <a:solidFill>
                            <a:srgbClr val="0F1A1C"/>
                          </a:solidFill>
                          <a:latin typeface="Calibri"/>
                        </a:rPr>
                        <a:t>10</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101</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878</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17.6 %</a:t>
                      </a:r>
                    </a:p>
                  </a:txBody>
                  <a:tcPr marL="64008" marR="64008" marT="18288" marB="18288" anchor="ctr">
                    <a:solidFill>
                      <a:srgbClr val="EEF2F2"/>
                    </a:solidFill>
                  </a:tcPr>
                </a:tc>
              </a:tr>
              <a:tr h="256032">
                <a:tc>
                  <a:txBody>
                    <a:bodyPr wrap="square"/>
                    <a:lstStyle/>
                    <a:p>
                      <a:pPr>
                        <a:lnSpc>
                          <a:spcPct val="100000"/>
                        </a:lnSpc>
                      </a:pPr>
                      <a:r>
                        <a:rPr sz="1050" b="0">
                          <a:solidFill>
                            <a:srgbClr val="0F1A1C"/>
                          </a:solidFill>
                          <a:latin typeface="Calibri"/>
                        </a:rPr>
                        <a:t>15</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68</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863</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17.3 %</a:t>
                      </a:r>
                    </a:p>
                  </a:txBody>
                  <a:tcPr marL="64008" marR="64008" marT="18288" marB="18288" anchor="ctr">
                    <a:solidFill>
                      <a:srgbClr val="FFFFFF"/>
                    </a:solidFill>
                  </a:tcPr>
                </a:tc>
              </a:tr>
              <a:tr h="256032">
                <a:tc>
                  <a:txBody>
                    <a:bodyPr wrap="square"/>
                    <a:lstStyle/>
                    <a:p>
                      <a:pPr>
                        <a:lnSpc>
                          <a:spcPct val="100000"/>
                        </a:lnSpc>
                      </a:pPr>
                      <a:r>
                        <a:rPr sz="1050" b="0">
                          <a:solidFill>
                            <a:srgbClr val="0F1A1C"/>
                          </a:solidFill>
                          <a:latin typeface="Calibri"/>
                        </a:rPr>
                        <a:t>20</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37</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556</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11.1 %</a:t>
                      </a:r>
                    </a:p>
                  </a:txBody>
                  <a:tcPr marL="64008" marR="64008" marT="18288" marB="18288" anchor="ctr">
                    <a:solidFill>
                      <a:srgbClr val="EEF2F2"/>
                    </a:solidFill>
                  </a:tcPr>
                </a:tc>
              </a:tr>
              <a:tr h="256032">
                <a:tc>
                  <a:txBody>
                    <a:bodyPr wrap="square"/>
                    <a:lstStyle/>
                    <a:p>
                      <a:pPr>
                        <a:lnSpc>
                          <a:spcPct val="100000"/>
                        </a:lnSpc>
                      </a:pPr>
                      <a:r>
                        <a:rPr sz="1050" b="0">
                          <a:solidFill>
                            <a:srgbClr val="0F1A1C"/>
                          </a:solidFill>
                          <a:latin typeface="Calibri"/>
                        </a:rPr>
                        <a:t>25</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22</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108</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2.2 %</a:t>
                      </a:r>
                    </a:p>
                  </a:txBody>
                  <a:tcPr marL="64008" marR="64008" marT="18288" marB="18288" anchor="ctr">
                    <a:solidFill>
                      <a:srgbClr val="FFFFFF"/>
                    </a:solidFill>
                  </a:tcPr>
                </a:tc>
              </a:tr>
            </a:tbl>
          </a:graphicData>
        </a:graphic>
      </p:graphicFrame>
      <p:sp>
        <p:nvSpPr>
          <p:cNvPr id="10" name="TextBox 9"/>
          <p:cNvSpPr txBox="1"/>
          <p:nvPr/>
        </p:nvSpPr>
        <p:spPr>
          <a:xfrm>
            <a:off x="1005840" y="4480560"/>
            <a:ext cx="4651095" cy="1188720"/>
          </a:xfrm>
          <a:prstGeom prst="rect">
            <a:avLst/>
          </a:prstGeom>
          <a:noFill/>
        </p:spPr>
        <p:txBody>
          <a:bodyPr wrap="square" lIns="0" rIns="0" tIns="0" bIns="0">
            <a:spAutoFit/>
          </a:bodyPr>
          <a:lstStyle/>
          <a:p>
            <a:pPr>
              <a:lnSpc>
                <a:spcPct val="125000"/>
              </a:lnSpc>
              <a:spcBef>
                <a:spcPts val="0"/>
              </a:spcBef>
              <a:spcAft>
                <a:spcPts val="0"/>
              </a:spcAft>
            </a:pPr>
            <a:r>
              <a:rPr sz="1100" b="0" i="0">
                <a:solidFill>
                  <a:srgbClr val="0F1A1C"/>
                </a:solidFill>
                <a:latin typeface="Calibri"/>
              </a:rPr>
              <a:t>Clear trade-off: larger minimum clusters crush the outlier rate but also crush granularity — 22 topics for 5,000 comments says almost nothing. min_cluster_size = 5 was carried forward to keep a differentiated structure, with the outlier rate to be addressed by the projection step instead.</a:t>
            </a:r>
          </a:p>
        </p:txBody>
      </p:sp>
      <p:sp>
        <p:nvSpPr>
          <p:cNvPr id="11" name="Rectangle 10"/>
          <p:cNvSpPr/>
          <p:nvPr/>
        </p:nvSpPr>
        <p:spPr>
          <a:xfrm>
            <a:off x="6278727" y="1874519"/>
            <a:ext cx="5163159" cy="36576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8727" y="1874519"/>
            <a:ext cx="32004" cy="36576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34759" y="2075688"/>
            <a:ext cx="4687671" cy="32552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STEP 2 — UMAP N_NEIGHBORS × MIN_DIST</a:t>
            </a:r>
          </a:p>
          <a:p>
            <a:pPr>
              <a:lnSpc>
                <a:spcPct val="120000"/>
              </a:lnSpc>
              <a:spcBef>
                <a:spcPts val="0"/>
              </a:spcBef>
              <a:spcAft>
                <a:spcPts val="600"/>
              </a:spcAft>
            </a:pPr>
            <a:r>
              <a:rPr sz="950" b="0" i="0">
                <a:solidFill>
                  <a:srgbClr val="8A9B9E"/>
                </a:solidFill>
                <a:latin typeface="Consolas"/>
              </a:rPr>
              <a:t>9 COMBINATIONS · MIN_CLUSTER_SIZE FIXED AT 5</a:t>
            </a:r>
          </a:p>
        </p:txBody>
      </p:sp>
      <p:graphicFrame>
        <p:nvGraphicFramePr>
          <p:cNvPr id="14" name="Table 13"/>
          <p:cNvGraphicFramePr>
            <a:graphicFrameLocks noGrp="1"/>
          </p:cNvGraphicFramePr>
          <p:nvPr/>
        </p:nvGraphicFramePr>
        <p:xfrm>
          <a:off x="6534759" y="2743200"/>
          <a:ext cx="4651094" cy="1810512"/>
        </p:xfrm>
        <a:graphic>
          <a:graphicData uri="http://schemas.openxmlformats.org/drawingml/2006/table">
            <a:tbl>
              <a:tblPr firstRow="1">
                <a:tableStyleId>{5C22544A-7EE6-4342-B048-85BDC9FD1C3A}</a:tableStyleId>
              </a:tblPr>
              <a:tblGrid>
                <a:gridCol w="1302306"/>
                <a:gridCol w="1023241"/>
                <a:gridCol w="930219"/>
                <a:gridCol w="1395328"/>
              </a:tblGrid>
              <a:tr h="274320">
                <a:tc>
                  <a:txBody>
                    <a:bodyPr wrap="square"/>
                    <a:lstStyle/>
                    <a:p>
                      <a:pPr>
                        <a:lnSpc>
                          <a:spcPct val="100000"/>
                        </a:lnSpc>
                      </a:pPr>
                      <a:r>
                        <a:rPr sz="950" b="1">
                          <a:solidFill>
                            <a:srgbClr val="5A6B6E"/>
                          </a:solidFill>
                          <a:latin typeface="Consolas"/>
                        </a:rPr>
                        <a:t>n_neighbors</a:t>
                      </a:r>
                    </a:p>
                  </a:txBody>
                  <a:tcPr marL="64008" marR="64008" marT="18288" marB="18288" anchor="ctr">
                    <a:solidFill>
                      <a:srgbClr val="E2F0F1"/>
                    </a:solidFill>
                  </a:tcPr>
                </a:tc>
                <a:tc>
                  <a:txBody>
                    <a:bodyPr wrap="square"/>
                    <a:lstStyle/>
                    <a:p>
                      <a:pPr algn="r">
                        <a:lnSpc>
                          <a:spcPct val="100000"/>
                        </a:lnSpc>
                      </a:pPr>
                      <a:r>
                        <a:rPr sz="950" b="1">
                          <a:solidFill>
                            <a:srgbClr val="5A6B6E"/>
                          </a:solidFill>
                          <a:latin typeface="Consolas"/>
                        </a:rPr>
                        <a:t>min_dist</a:t>
                      </a:r>
                    </a:p>
                  </a:txBody>
                  <a:tcPr marL="64008" marR="64008" marT="18288" marB="18288" anchor="ctr">
                    <a:solidFill>
                      <a:srgbClr val="E2F0F1"/>
                    </a:solidFill>
                  </a:tcPr>
                </a:tc>
                <a:tc>
                  <a:txBody>
                    <a:bodyPr wrap="square"/>
                    <a:lstStyle/>
                    <a:p>
                      <a:pPr algn="r">
                        <a:lnSpc>
                          <a:spcPct val="100000"/>
                        </a:lnSpc>
                      </a:pPr>
                      <a:r>
                        <a:rPr sz="950" b="1">
                          <a:solidFill>
                            <a:srgbClr val="5A6B6E"/>
                          </a:solidFill>
                          <a:latin typeface="Consolas"/>
                        </a:rPr>
                        <a:t>Topics</a:t>
                      </a:r>
                    </a:p>
                  </a:txBody>
                  <a:tcPr marL="64008" marR="64008" marT="18288" marB="18288" anchor="ctr">
                    <a:solidFill>
                      <a:srgbClr val="E2F0F1"/>
                    </a:solidFill>
                  </a:tcPr>
                </a:tc>
                <a:tc>
                  <a:txBody>
                    <a:bodyPr wrap="square"/>
                    <a:lstStyle/>
                    <a:p>
                      <a:pPr algn="r">
                        <a:lnSpc>
                          <a:spcPct val="100000"/>
                        </a:lnSpc>
                      </a:pPr>
                      <a:r>
                        <a:rPr sz="950" b="1">
                          <a:solidFill>
                            <a:srgbClr val="5A6B6E"/>
                          </a:solidFill>
                          <a:latin typeface="Consolas"/>
                        </a:rPr>
                        <a:t>Outlier rate</a:t>
                      </a:r>
                    </a:p>
                  </a:txBody>
                  <a:tcPr marL="64008" marR="64008" marT="18288" marB="18288" anchor="ctr">
                    <a:solidFill>
                      <a:srgbClr val="E2F0F1"/>
                    </a:solidFill>
                  </a:tcPr>
                </a:tc>
              </a:tr>
              <a:tr h="256032">
                <a:tc>
                  <a:txBody>
                    <a:bodyPr wrap="square"/>
                    <a:lstStyle/>
                    <a:p>
                      <a:pPr>
                        <a:lnSpc>
                          <a:spcPct val="100000"/>
                        </a:lnSpc>
                      </a:pPr>
                      <a:r>
                        <a:rPr sz="1050" b="0">
                          <a:solidFill>
                            <a:srgbClr val="0F1A1C"/>
                          </a:solidFill>
                          <a:latin typeface="Calibri"/>
                        </a:rPr>
                        <a:t>15</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0.3</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14</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0.4 %</a:t>
                      </a:r>
                    </a:p>
                  </a:txBody>
                  <a:tcPr marL="64008" marR="64008" marT="18288" marB="18288" anchor="ctr">
                    <a:solidFill>
                      <a:srgbClr val="FFFFFF"/>
                    </a:solidFill>
                  </a:tcPr>
                </a:tc>
              </a:tr>
              <a:tr h="256032">
                <a:tc>
                  <a:txBody>
                    <a:bodyPr wrap="square"/>
                    <a:lstStyle/>
                    <a:p>
                      <a:pPr>
                        <a:lnSpc>
                          <a:spcPct val="100000"/>
                        </a:lnSpc>
                      </a:pPr>
                      <a:r>
                        <a:rPr sz="1050" b="0">
                          <a:solidFill>
                            <a:srgbClr val="0F1A1C"/>
                          </a:solidFill>
                          <a:latin typeface="Calibri"/>
                        </a:rPr>
                        <a:t>30</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0.3</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16</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0.8 %</a:t>
                      </a:r>
                    </a:p>
                  </a:txBody>
                  <a:tcPr marL="64008" marR="64008" marT="18288" marB="18288" anchor="ctr">
                    <a:solidFill>
                      <a:srgbClr val="EEF2F2"/>
                    </a:solidFill>
                  </a:tcPr>
                </a:tc>
              </a:tr>
              <a:tr h="256032">
                <a:tc>
                  <a:txBody>
                    <a:bodyPr wrap="square"/>
                    <a:lstStyle/>
                    <a:p>
                      <a:pPr>
                        <a:lnSpc>
                          <a:spcPct val="100000"/>
                        </a:lnSpc>
                      </a:pPr>
                      <a:r>
                        <a:rPr sz="1050" b="0">
                          <a:solidFill>
                            <a:srgbClr val="0F1A1C"/>
                          </a:solidFill>
                          <a:latin typeface="Calibri"/>
                        </a:rPr>
                        <a:t>5</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0.3</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95</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10.6 %</a:t>
                      </a:r>
                    </a:p>
                  </a:txBody>
                  <a:tcPr marL="64008" marR="64008" marT="18288" marB="18288" anchor="ctr">
                    <a:solidFill>
                      <a:srgbClr val="FFFFFF"/>
                    </a:solidFill>
                  </a:tcPr>
                </a:tc>
              </a:tr>
              <a:tr h="256032">
                <a:tc>
                  <a:txBody>
                    <a:bodyPr wrap="square"/>
                    <a:lstStyle/>
                    <a:p>
                      <a:pPr>
                        <a:lnSpc>
                          <a:spcPct val="100000"/>
                        </a:lnSpc>
                      </a:pPr>
                      <a:r>
                        <a:rPr sz="1050" b="1">
                          <a:solidFill>
                            <a:srgbClr val="14636E"/>
                          </a:solidFill>
                          <a:latin typeface="Calibri"/>
                        </a:rPr>
                        <a:t>5</a:t>
                      </a:r>
                    </a:p>
                  </a:txBody>
                  <a:tcPr marL="64008" marR="64008" marT="18288" marB="18288" anchor="ctr">
                    <a:solidFill>
                      <a:srgbClr val="EEF2F2"/>
                    </a:solidFill>
                  </a:tcPr>
                </a:tc>
                <a:tc>
                  <a:txBody>
                    <a:bodyPr wrap="square"/>
                    <a:lstStyle/>
                    <a:p>
                      <a:pPr algn="r">
                        <a:lnSpc>
                          <a:spcPct val="100000"/>
                        </a:lnSpc>
                      </a:pPr>
                      <a:r>
                        <a:rPr sz="1050" b="1">
                          <a:solidFill>
                            <a:srgbClr val="14636E"/>
                          </a:solidFill>
                          <a:latin typeface="Calibri"/>
                        </a:rPr>
                        <a:t>0.0</a:t>
                      </a:r>
                    </a:p>
                  </a:txBody>
                  <a:tcPr marL="64008" marR="64008" marT="18288" marB="18288" anchor="ctr">
                    <a:solidFill>
                      <a:srgbClr val="EEF2F2"/>
                    </a:solidFill>
                  </a:tcPr>
                </a:tc>
                <a:tc>
                  <a:txBody>
                    <a:bodyPr wrap="square"/>
                    <a:lstStyle/>
                    <a:p>
                      <a:pPr algn="r">
                        <a:lnSpc>
                          <a:spcPct val="100000"/>
                        </a:lnSpc>
                      </a:pPr>
                      <a:r>
                        <a:rPr sz="1050" b="1">
                          <a:solidFill>
                            <a:srgbClr val="14636E"/>
                          </a:solidFill>
                          <a:latin typeface="Calibri"/>
                        </a:rPr>
                        <a:t>304</a:t>
                      </a:r>
                    </a:p>
                  </a:txBody>
                  <a:tcPr marL="64008" marR="64008" marT="18288" marB="18288" anchor="ctr">
                    <a:solidFill>
                      <a:srgbClr val="EEF2F2"/>
                    </a:solidFill>
                  </a:tcPr>
                </a:tc>
                <a:tc>
                  <a:txBody>
                    <a:bodyPr wrap="square"/>
                    <a:lstStyle/>
                    <a:p>
                      <a:pPr algn="r">
                        <a:lnSpc>
                          <a:spcPct val="100000"/>
                        </a:lnSpc>
                      </a:pPr>
                      <a:r>
                        <a:rPr sz="1050" b="1">
                          <a:solidFill>
                            <a:srgbClr val="14636E"/>
                          </a:solidFill>
                          <a:latin typeface="Calibri"/>
                        </a:rPr>
                        <a:t>18.1 %</a:t>
                      </a:r>
                    </a:p>
                  </a:txBody>
                  <a:tcPr marL="64008" marR="64008" marT="18288" marB="18288" anchor="ctr">
                    <a:solidFill>
                      <a:srgbClr val="EEF2F2"/>
                    </a:solidFill>
                  </a:tcPr>
                </a:tc>
              </a:tr>
              <a:tr h="256032">
                <a:tc>
                  <a:txBody>
                    <a:bodyPr wrap="square"/>
                    <a:lstStyle/>
                    <a:p>
                      <a:pPr>
                        <a:lnSpc>
                          <a:spcPct val="100000"/>
                        </a:lnSpc>
                      </a:pPr>
                      <a:r>
                        <a:rPr sz="1050" b="0">
                          <a:solidFill>
                            <a:srgbClr val="0F1A1C"/>
                          </a:solidFill>
                          <a:latin typeface="Calibri"/>
                        </a:rPr>
                        <a:t>15</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0.0</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208</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20.9 %</a:t>
                      </a:r>
                    </a:p>
                  </a:txBody>
                  <a:tcPr marL="64008" marR="64008" marT="18288" marB="18288" anchor="ctr">
                    <a:solidFill>
                      <a:srgbClr val="FFFFFF"/>
                    </a:solidFill>
                  </a:tcPr>
                </a:tc>
              </a:tr>
              <a:tr h="256032">
                <a:tc>
                  <a:txBody>
                    <a:bodyPr wrap="square"/>
                    <a:lstStyle/>
                    <a:p>
                      <a:pPr>
                        <a:lnSpc>
                          <a:spcPct val="100000"/>
                        </a:lnSpc>
                      </a:pPr>
                      <a:r>
                        <a:rPr sz="1050" b="0">
                          <a:solidFill>
                            <a:srgbClr val="0F1A1C"/>
                          </a:solidFill>
                          <a:latin typeface="Calibri"/>
                        </a:rPr>
                        <a:t>30</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0.1</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168</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27.5 %</a:t>
                      </a:r>
                    </a:p>
                  </a:txBody>
                  <a:tcPr marL="64008" marR="64008" marT="18288" marB="18288" anchor="ctr">
                    <a:solidFill>
                      <a:srgbClr val="EEF2F2"/>
                    </a:solidFill>
                  </a:tcPr>
                </a:tc>
              </a:tr>
            </a:tbl>
          </a:graphicData>
        </a:graphic>
      </p:graphicFrame>
      <p:sp>
        <p:nvSpPr>
          <p:cNvPr id="15" name="TextBox 14"/>
          <p:cNvSpPr txBox="1"/>
          <p:nvPr/>
        </p:nvSpPr>
        <p:spPr>
          <a:xfrm>
            <a:off x="6534759" y="4754879"/>
            <a:ext cx="4651095" cy="1005840"/>
          </a:xfrm>
          <a:prstGeom prst="rect">
            <a:avLst/>
          </a:prstGeom>
          <a:noFill/>
        </p:spPr>
        <p:txBody>
          <a:bodyPr wrap="square" lIns="0" rIns="0" tIns="0" bIns="0">
            <a:spAutoFit/>
          </a:bodyPr>
          <a:lstStyle/>
          <a:p>
            <a:pPr>
              <a:lnSpc>
                <a:spcPct val="125000"/>
              </a:lnSpc>
              <a:spcBef>
                <a:spcPts val="0"/>
              </a:spcBef>
              <a:spcAft>
                <a:spcPts val="0"/>
              </a:spcAft>
            </a:pPr>
            <a:r>
              <a:rPr sz="1100" b="0" i="0">
                <a:solidFill>
                  <a:srgbClr val="0F1A1C"/>
                </a:solidFill>
                <a:latin typeface="Calibri"/>
              </a:rPr>
              <a:t>6 of 9 shown; the remaining combinations landed between 22 % and 25 %. A high min_dist looks excellent on the outlier metric and is misleading — 14 topics for 5,000 comments is one large blob, not a finding.</a:t>
            </a:r>
          </a:p>
        </p:txBody>
      </p:sp>
      <p:sp>
        <p:nvSpPr>
          <p:cNvPr id="16" name="TextBox 15"/>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A8</a:t>
            </a:r>
            <a:r>
              <a:rPr sz="1000">
                <a:solidFill>
                  <a:srgbClr val="8A9B9E"/>
                </a:solidFill>
                <a:latin typeface="Consolas"/>
              </a:rPr>
              <a:t>   ·   TOPIC LAYER — EVALUATION</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Final configuration and its honest verdict</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3368954" cy="329184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32918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2893466" cy="288950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SELECTED CONFIGURATION</a:t>
            </a:r>
          </a:p>
          <a:p>
            <a:pPr>
              <a:lnSpc>
                <a:spcPct val="118000"/>
              </a:lnSpc>
              <a:spcAft>
                <a:spcPts val="400"/>
              </a:spcAft>
            </a:pPr>
            <a:r>
              <a:rPr sz="1050">
                <a:solidFill>
                  <a:srgbClr val="14636E"/>
                </a:solidFill>
                <a:latin typeface="Calibri"/>
              </a:rPr>
              <a:t>▪  </a:t>
            </a:r>
            <a:r>
              <a:rPr sz="1050">
                <a:solidFill>
                  <a:srgbClr val="0F1A1C"/>
                </a:solidFill>
                <a:latin typeface="Calibri"/>
              </a:rPr>
              <a:t>CountVectorizer with extended German + survey stopwords</a:t>
            </a:r>
          </a:p>
          <a:p>
            <a:pPr>
              <a:lnSpc>
                <a:spcPct val="118000"/>
              </a:lnSpc>
              <a:spcAft>
                <a:spcPts val="400"/>
              </a:spcAft>
            </a:pPr>
            <a:r>
              <a:rPr sz="1050">
                <a:solidFill>
                  <a:srgbClr val="14636E"/>
                </a:solidFill>
                <a:latin typeface="Calibri"/>
              </a:rPr>
              <a:t>▪  </a:t>
            </a:r>
            <a:r>
              <a:rPr sz="1050">
                <a:solidFill>
                  <a:srgbClr val="0F1A1C"/>
                </a:solidFill>
                <a:latin typeface="Calibri"/>
              </a:rPr>
              <a:t>KeyBERTInspired representation</a:t>
            </a:r>
          </a:p>
          <a:p>
            <a:pPr>
              <a:lnSpc>
                <a:spcPct val="118000"/>
              </a:lnSpc>
              <a:spcAft>
                <a:spcPts val="400"/>
              </a:spcAft>
            </a:pPr>
            <a:r>
              <a:rPr sz="1050">
                <a:solidFill>
                  <a:srgbClr val="14636E"/>
                </a:solidFill>
                <a:latin typeface="Calibri"/>
              </a:rPr>
              <a:t>▪  </a:t>
            </a:r>
            <a:r>
              <a:rPr sz="1050">
                <a:solidFill>
                  <a:srgbClr val="0F1A1C"/>
                </a:solidFill>
                <a:latin typeface="Calibri"/>
              </a:rPr>
              <a:t>UMAP  n_neighbors = 5,  min_dist = 0.0,  5 components, cosine</a:t>
            </a:r>
          </a:p>
          <a:p>
            <a:pPr>
              <a:lnSpc>
                <a:spcPct val="118000"/>
              </a:lnSpc>
              <a:spcAft>
                <a:spcPts val="400"/>
              </a:spcAft>
            </a:pPr>
            <a:r>
              <a:rPr sz="1050">
                <a:solidFill>
                  <a:srgbClr val="14636E"/>
                </a:solidFill>
                <a:latin typeface="Calibri"/>
              </a:rPr>
              <a:t>▪  </a:t>
            </a:r>
            <a:r>
              <a:rPr sz="1050">
                <a:solidFill>
                  <a:srgbClr val="0F1A1C"/>
                </a:solidFill>
                <a:latin typeface="Calibri"/>
              </a:rPr>
              <a:t>HDBSCAN  min_cluster_size = 5,  EOM selection</a:t>
            </a:r>
          </a:p>
          <a:p>
            <a:pPr>
              <a:lnSpc>
                <a:spcPct val="118000"/>
              </a:lnSpc>
              <a:spcAft>
                <a:spcPts val="0"/>
              </a:spcAft>
            </a:pPr>
            <a:r>
              <a:rPr sz="1050">
                <a:solidFill>
                  <a:srgbClr val="14636E"/>
                </a:solidFill>
                <a:latin typeface="Calibri"/>
              </a:rPr>
              <a:t>▪  </a:t>
            </a:r>
            <a:r>
              <a:rPr sz="1050">
                <a:solidFill>
                  <a:srgbClr val="0F1A1C"/>
                </a:solidFill>
                <a:latin typeface="Calibri"/>
              </a:rPr>
              <a:t>calculate_probabilities = True, so each comment carries a topic probability</a:t>
            </a:r>
          </a:p>
        </p:txBody>
      </p:sp>
      <p:sp>
        <p:nvSpPr>
          <p:cNvPr id="9" name="Rectangle 8"/>
          <p:cNvSpPr/>
          <p:nvPr/>
        </p:nvSpPr>
        <p:spPr>
          <a:xfrm>
            <a:off x="4411370" y="1874519"/>
            <a:ext cx="3368954" cy="329184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411370" y="1874519"/>
            <a:ext cx="32004" cy="32918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667402" y="2075688"/>
            <a:ext cx="2893466" cy="288950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QUALITY — SYNTHETIC RUN</a:t>
            </a:r>
          </a:p>
        </p:txBody>
      </p:sp>
      <p:graphicFrame>
        <p:nvGraphicFramePr>
          <p:cNvPr id="12" name="Table 11"/>
          <p:cNvGraphicFramePr>
            <a:graphicFrameLocks noGrp="1"/>
          </p:cNvGraphicFramePr>
          <p:nvPr/>
        </p:nvGraphicFramePr>
        <p:xfrm>
          <a:off x="4667402" y="2423160"/>
          <a:ext cx="2856889" cy="1792224"/>
        </p:xfrm>
        <a:graphic>
          <a:graphicData uri="http://schemas.openxmlformats.org/drawingml/2006/table">
            <a:tbl>
              <a:tblPr>
                <a:tableStyleId>{5C22544A-7EE6-4342-B048-85BDC9FD1C3A}</a:tableStyleId>
              </a:tblPr>
              <a:tblGrid>
                <a:gridCol w="1599858"/>
                <a:gridCol w="1257031"/>
              </a:tblGrid>
              <a:tr h="256032">
                <a:tc>
                  <a:txBody>
                    <a:bodyPr wrap="square"/>
                    <a:lstStyle/>
                    <a:p>
                      <a:pPr>
                        <a:lnSpc>
                          <a:spcPct val="100000"/>
                        </a:lnSpc>
                      </a:pPr>
                      <a:r>
                        <a:rPr sz="1050" b="0">
                          <a:solidFill>
                            <a:srgbClr val="0F1A1C"/>
                          </a:solidFill>
                          <a:latin typeface="Calibri"/>
                        </a:rPr>
                        <a:t>Documents</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5,000</a:t>
                      </a:r>
                    </a:p>
                  </a:txBody>
                  <a:tcPr marL="64008" marR="64008" marT="18288" marB="18288" anchor="ctr">
                    <a:solidFill>
                      <a:srgbClr val="EEF2F2"/>
                    </a:solidFill>
                  </a:tcPr>
                </a:tc>
              </a:tr>
              <a:tr h="256032">
                <a:tc>
                  <a:txBody>
                    <a:bodyPr wrap="square"/>
                    <a:lstStyle/>
                    <a:p>
                      <a:pPr>
                        <a:lnSpc>
                          <a:spcPct val="100000"/>
                        </a:lnSpc>
                      </a:pPr>
                      <a:r>
                        <a:rPr sz="1050" b="0">
                          <a:solidFill>
                            <a:srgbClr val="0F1A1C"/>
                          </a:solidFill>
                          <a:latin typeface="Calibri"/>
                        </a:rPr>
                        <a:t>Topics excl. outlier</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303</a:t>
                      </a:r>
                    </a:p>
                  </a:txBody>
                  <a:tcPr marL="64008" marR="64008" marT="18288" marB="18288" anchor="ctr">
                    <a:solidFill>
                      <a:srgbClr val="FFFFFF"/>
                    </a:solidFill>
                  </a:tcPr>
                </a:tc>
              </a:tr>
              <a:tr h="256032">
                <a:tc>
                  <a:txBody>
                    <a:bodyPr wrap="square"/>
                    <a:lstStyle/>
                    <a:p>
                      <a:pPr>
                        <a:lnSpc>
                          <a:spcPct val="100000"/>
                        </a:lnSpc>
                      </a:pPr>
                      <a:r>
                        <a:rPr sz="1050" b="0">
                          <a:solidFill>
                            <a:srgbClr val="0F1A1C"/>
                          </a:solidFill>
                          <a:latin typeface="Calibri"/>
                        </a:rPr>
                        <a:t>Outliers</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905  (18.1 %)</a:t>
                      </a:r>
                    </a:p>
                  </a:txBody>
                  <a:tcPr marL="64008" marR="64008" marT="18288" marB="18288" anchor="ctr">
                    <a:solidFill>
                      <a:srgbClr val="EEF2F2"/>
                    </a:solidFill>
                  </a:tcPr>
                </a:tc>
              </a:tr>
              <a:tr h="256032">
                <a:tc>
                  <a:txBody>
                    <a:bodyPr wrap="square"/>
                    <a:lstStyle/>
                    <a:p>
                      <a:pPr>
                        <a:lnSpc>
                          <a:spcPct val="100000"/>
                        </a:lnSpc>
                      </a:pPr>
                      <a:r>
                        <a:rPr sz="1050" b="0">
                          <a:solidFill>
                            <a:srgbClr val="0F1A1C"/>
                          </a:solidFill>
                          <a:latin typeface="Calibri"/>
                        </a:rPr>
                        <a:t>Mean / median size</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13.5 / 11</a:t>
                      </a:r>
                    </a:p>
                  </a:txBody>
                  <a:tcPr marL="64008" marR="64008" marT="18288" marB="18288" anchor="ctr">
                    <a:solidFill>
                      <a:srgbClr val="FFFFFF"/>
                    </a:solidFill>
                  </a:tcPr>
                </a:tc>
              </a:tr>
              <a:tr h="256032">
                <a:tc>
                  <a:txBody>
                    <a:bodyPr wrap="square"/>
                    <a:lstStyle/>
                    <a:p>
                      <a:pPr>
                        <a:lnSpc>
                          <a:spcPct val="100000"/>
                        </a:lnSpc>
                      </a:pPr>
                      <a:r>
                        <a:rPr sz="1050" b="0">
                          <a:solidFill>
                            <a:srgbClr val="0F1A1C"/>
                          </a:solidFill>
                          <a:latin typeface="Calibri"/>
                        </a:rPr>
                        <a:t>Topics ≥ 25 comments</a:t>
                      </a:r>
                    </a:p>
                  </a:txBody>
                  <a:tcPr marL="64008" marR="64008" marT="18288" marB="18288" anchor="ctr">
                    <a:solidFill>
                      <a:srgbClr val="EEF2F2"/>
                    </a:solidFill>
                  </a:tcPr>
                </a:tc>
                <a:tc>
                  <a:txBody>
                    <a:bodyPr wrap="square"/>
                    <a:lstStyle/>
                    <a:p>
                      <a:pPr algn="r">
                        <a:lnSpc>
                          <a:spcPct val="100000"/>
                        </a:lnSpc>
                      </a:pPr>
                      <a:r>
                        <a:rPr sz="1050" b="0">
                          <a:solidFill>
                            <a:srgbClr val="0F1A1C"/>
                          </a:solidFill>
                          <a:latin typeface="Calibri"/>
                        </a:rPr>
                        <a:t>22</a:t>
                      </a:r>
                    </a:p>
                  </a:txBody>
                  <a:tcPr marL="64008" marR="64008" marT="18288" marB="18288" anchor="ctr">
                    <a:solidFill>
                      <a:srgbClr val="EEF2F2"/>
                    </a:solidFill>
                  </a:tcPr>
                </a:tc>
              </a:tr>
              <a:tr h="256032">
                <a:tc>
                  <a:txBody>
                    <a:bodyPr wrap="square"/>
                    <a:lstStyle/>
                    <a:p>
                      <a:pPr>
                        <a:lnSpc>
                          <a:spcPct val="100000"/>
                        </a:lnSpc>
                      </a:pPr>
                      <a:r>
                        <a:rPr sz="1050" b="0">
                          <a:solidFill>
                            <a:srgbClr val="0F1A1C"/>
                          </a:solidFill>
                          <a:latin typeface="Calibri"/>
                        </a:rPr>
                        <a:t>Topics &lt; 10 comments</a:t>
                      </a:r>
                    </a:p>
                  </a:txBody>
                  <a:tcPr marL="64008" marR="64008" marT="18288" marB="18288" anchor="ctr">
                    <a:solidFill>
                      <a:srgbClr val="FFFFFF"/>
                    </a:solidFill>
                  </a:tcPr>
                </a:tc>
                <a:tc>
                  <a:txBody>
                    <a:bodyPr wrap="square"/>
                    <a:lstStyle/>
                    <a:p>
                      <a:pPr algn="r">
                        <a:lnSpc>
                          <a:spcPct val="100000"/>
                        </a:lnSpc>
                      </a:pPr>
                      <a:r>
                        <a:rPr sz="1050" b="0">
                          <a:solidFill>
                            <a:srgbClr val="0F1A1C"/>
                          </a:solidFill>
                          <a:latin typeface="Calibri"/>
                        </a:rPr>
                        <a:t>115</a:t>
                      </a:r>
                    </a:p>
                  </a:txBody>
                  <a:tcPr marL="64008" marR="64008" marT="18288" marB="18288" anchor="ctr">
                    <a:solidFill>
                      <a:srgbClr val="FFFFFF"/>
                    </a:solidFill>
                  </a:tcPr>
                </a:tc>
              </a:tr>
              <a:tr h="256032">
                <a:tc>
                  <a:txBody>
                    <a:bodyPr wrap="square"/>
                    <a:lstStyle/>
                    <a:p>
                      <a:pPr>
                        <a:lnSpc>
                          <a:spcPct val="100000"/>
                        </a:lnSpc>
                      </a:pPr>
                      <a:r>
                        <a:rPr sz="1050" b="1">
                          <a:solidFill>
                            <a:srgbClr val="0F1A1C"/>
                          </a:solidFill>
                          <a:latin typeface="Calibri"/>
                        </a:rPr>
                        <a:t>C_v coherence</a:t>
                      </a:r>
                    </a:p>
                  </a:txBody>
                  <a:tcPr marL="64008" marR="64008" marT="18288" marB="18288" anchor="ctr">
                    <a:solidFill>
                      <a:srgbClr val="EEF2F2"/>
                    </a:solidFill>
                  </a:tcPr>
                </a:tc>
                <a:tc>
                  <a:txBody>
                    <a:bodyPr wrap="square"/>
                    <a:lstStyle/>
                    <a:p>
                      <a:pPr algn="r">
                        <a:lnSpc>
                          <a:spcPct val="100000"/>
                        </a:lnSpc>
                      </a:pPr>
                      <a:r>
                        <a:rPr sz="1050" b="1">
                          <a:solidFill>
                            <a:srgbClr val="14636E"/>
                          </a:solidFill>
                          <a:latin typeface="Calibri"/>
                        </a:rPr>
                        <a:t>0.350</a:t>
                      </a:r>
                    </a:p>
                  </a:txBody>
                  <a:tcPr marL="64008" marR="64008" marT="18288" marB="18288" anchor="ctr">
                    <a:solidFill>
                      <a:srgbClr val="EEF2F2"/>
                    </a:solidFill>
                  </a:tcPr>
                </a:tc>
              </a:tr>
            </a:tbl>
          </a:graphicData>
        </a:graphic>
      </p:graphicFrame>
      <p:sp>
        <p:nvSpPr>
          <p:cNvPr id="13" name="TextBox 12"/>
          <p:cNvSpPr txBox="1"/>
          <p:nvPr/>
        </p:nvSpPr>
        <p:spPr>
          <a:xfrm>
            <a:off x="4667402" y="4343400"/>
            <a:ext cx="2856890" cy="640080"/>
          </a:xfrm>
          <a:prstGeom prst="rect">
            <a:avLst/>
          </a:prstGeom>
          <a:noFill/>
        </p:spPr>
        <p:txBody>
          <a:bodyPr wrap="square" lIns="0" rIns="0" tIns="0" bIns="0">
            <a:spAutoFit/>
          </a:bodyPr>
          <a:lstStyle/>
          <a:p>
            <a:pPr>
              <a:lnSpc>
                <a:spcPct val="125000"/>
              </a:lnSpc>
              <a:spcBef>
                <a:spcPts val="0"/>
              </a:spcBef>
              <a:spcAft>
                <a:spcPts val="0"/>
              </a:spcAft>
            </a:pPr>
            <a:r>
              <a:rPr sz="1050" b="0" i="0">
                <a:solidFill>
                  <a:srgbClr val="5A6B6E"/>
                </a:solidFill>
                <a:latin typeface="Calibri"/>
              </a:rPr>
              <a:t>Real-data run for comparison: 4,297 documents → 215 topics, 29.5 % outliers.</a:t>
            </a:r>
          </a:p>
        </p:txBody>
      </p:sp>
      <p:sp>
        <p:nvSpPr>
          <p:cNvPr id="14" name="Rectangle 13"/>
          <p:cNvSpPr/>
          <p:nvPr/>
        </p:nvSpPr>
        <p:spPr>
          <a:xfrm>
            <a:off x="8072932" y="1874519"/>
            <a:ext cx="3368954" cy="329184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072932" y="1874519"/>
            <a:ext cx="32004" cy="32918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28964" y="2075688"/>
            <a:ext cx="2893466" cy="288950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9A4037"/>
                </a:solidFill>
                <a:latin typeface="Consolas"/>
              </a:rPr>
              <a:t>VERDICT &amp; FIX</a:t>
            </a:r>
          </a:p>
          <a:p>
            <a:pPr>
              <a:lnSpc>
                <a:spcPct val="118000"/>
              </a:lnSpc>
              <a:spcAft>
                <a:spcPts val="400"/>
              </a:spcAft>
            </a:pPr>
            <a:r>
              <a:rPr sz="1050">
                <a:solidFill>
                  <a:srgbClr val="14636E"/>
                </a:solidFill>
                <a:latin typeface="Calibri"/>
              </a:rPr>
              <a:t>▪  </a:t>
            </a:r>
            <a:r>
              <a:rPr sz="1050" b="1">
                <a:solidFill>
                  <a:srgbClr val="0F1A1C"/>
                </a:solidFill>
                <a:latin typeface="Calibri"/>
              </a:rPr>
              <a:t>Too granular.  </a:t>
            </a:r>
            <a:r>
              <a:rPr sz="1050">
                <a:solidFill>
                  <a:srgbClr val="0F1A1C"/>
                </a:solidFill>
                <a:latin typeface="Calibri"/>
              </a:rPr>
              <a:t>303 topics with a median of 11 comments are micro-topics; only 22 are large enough to act on.</a:t>
            </a:r>
          </a:p>
          <a:p>
            <a:pPr>
              <a:lnSpc>
                <a:spcPct val="118000"/>
              </a:lnSpc>
              <a:spcAft>
                <a:spcPts val="400"/>
              </a:spcAft>
            </a:pPr>
            <a:r>
              <a:rPr sz="1050">
                <a:solidFill>
                  <a:srgbClr val="14636E"/>
                </a:solidFill>
                <a:latin typeface="Calibri"/>
              </a:rPr>
              <a:t>▪  </a:t>
            </a:r>
            <a:r>
              <a:rPr sz="1050" b="1">
                <a:solidFill>
                  <a:srgbClr val="0F1A1C"/>
                </a:solidFill>
                <a:latin typeface="Calibri"/>
              </a:rPr>
              <a:t>C_v = 0.350 is modest.  </a:t>
            </a:r>
            <a:r>
              <a:rPr sz="1050">
                <a:solidFill>
                  <a:srgbClr val="0F1A1C"/>
                </a:solidFill>
                <a:latin typeface="Calibri"/>
              </a:rPr>
              <a:t>Partly the synthetic text: repetitive phrasing produces overlapping keyword sets across topics.</a:t>
            </a:r>
          </a:p>
          <a:p>
            <a:pPr>
              <a:lnSpc>
                <a:spcPct val="118000"/>
              </a:lnSpc>
              <a:spcAft>
                <a:spcPts val="0"/>
              </a:spcAft>
            </a:pPr>
            <a:r>
              <a:rPr sz="1050">
                <a:solidFill>
                  <a:srgbClr val="14636E"/>
                </a:solidFill>
                <a:latin typeface="Calibri"/>
              </a:rPr>
              <a:t>▪  </a:t>
            </a:r>
            <a:r>
              <a:rPr sz="1050" b="1">
                <a:solidFill>
                  <a:srgbClr val="0F1A1C"/>
                </a:solidFill>
                <a:latin typeface="Calibri"/>
              </a:rPr>
              <a:t>Next:  </a:t>
            </a:r>
            <a:r>
              <a:rPr sz="1050">
                <a:solidFill>
                  <a:srgbClr val="0F1A1C"/>
                </a:solidFill>
                <a:latin typeface="Calibri"/>
              </a:rPr>
              <a:t>reduce topics to a manageable set, re-evaluate coherence per configuration, then repeat the whole comparison on real comments.</a:t>
            </a:r>
          </a:p>
        </p:txBody>
      </p:sp>
      <p:sp>
        <p:nvSpPr>
          <p:cNvPr id="17" name="TextBox 16"/>
          <p:cNvSpPr txBox="1"/>
          <p:nvPr/>
        </p:nvSpPr>
        <p:spPr>
          <a:xfrm>
            <a:off x="749808" y="5394960"/>
            <a:ext cx="10692079" cy="640080"/>
          </a:xfrm>
          <a:prstGeom prst="rect">
            <a:avLst/>
          </a:prstGeom>
          <a:noFill/>
        </p:spPr>
        <p:txBody>
          <a:bodyPr wrap="square" lIns="0" rIns="0" tIns="0" bIns="0">
            <a:spAutoFit/>
          </a:bodyPr>
          <a:lstStyle/>
          <a:p>
            <a:pPr>
              <a:lnSpc>
                <a:spcPct val="125000"/>
              </a:lnSpc>
              <a:spcBef>
                <a:spcPts val="0"/>
              </a:spcBef>
              <a:spcAft>
                <a:spcPts val="0"/>
              </a:spcAft>
            </a:pPr>
            <a:r>
              <a:rPr sz="1150" b="0" i="1">
                <a:solidFill>
                  <a:srgbClr val="5A6B6E"/>
                </a:solidFill>
                <a:latin typeface="Calibri"/>
              </a:rPr>
              <a:t>Reported as measured. The coherence value is not yet where it needs to be, and the granularity problem is named as a risk rather than smoothed over.</a:t>
            </a:r>
          </a:p>
        </p:txBody>
      </p:sp>
      <p:sp>
        <p:nvSpPr>
          <p:cNvPr id="18" name="TextBox 17"/>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A9</a:t>
            </a:r>
            <a:r>
              <a:rPr sz="1000">
                <a:solidFill>
                  <a:srgbClr val="8A9B9E"/>
                </a:solidFill>
                <a:latin typeface="Consolas"/>
              </a:rPr>
              <a:t>   ·   OPEN QUESTION</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How arousal gets its axis</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3368954" cy="2697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697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2893466" cy="22951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THE GAP</a:t>
            </a:r>
          </a:p>
          <a:p>
            <a:pPr>
              <a:lnSpc>
                <a:spcPct val="130000"/>
              </a:lnSpc>
              <a:spcBef>
                <a:spcPts val="0"/>
              </a:spcBef>
              <a:spcAft>
                <a:spcPts val="600"/>
              </a:spcAft>
            </a:pPr>
            <a:r>
              <a:rPr sz="1150" b="0" i="0">
                <a:solidFill>
                  <a:srgbClr val="0F1A1C"/>
                </a:solidFill>
                <a:latin typeface="Calibri"/>
              </a:rPr>
              <a:t>German Sentiment BERT delivers valence only. Without arousal the Core Affect Map has one axis — stress and resignation stay indistinguishable, although they call for opposite measures.</a:t>
            </a:r>
          </a:p>
          <a:p>
            <a:pPr>
              <a:lnSpc>
                <a:spcPct val="130000"/>
              </a:lnSpc>
              <a:spcBef>
                <a:spcPts val="0"/>
              </a:spcBef>
              <a:spcAft>
                <a:spcPts val="0"/>
              </a:spcAft>
            </a:pPr>
            <a:r>
              <a:rPr sz="1150" b="0" i="0">
                <a:solidFill>
                  <a:srgbClr val="5A6B6E"/>
                </a:solidFill>
                <a:latin typeface="Calibri"/>
              </a:rPr>
              <a:t>The zero-shot prototype produced arousal classes (low / medium / high), but they were not stable enough to build a dashboard axis on.</a:t>
            </a:r>
          </a:p>
        </p:txBody>
      </p:sp>
      <p:sp>
        <p:nvSpPr>
          <p:cNvPr id="9" name="Rectangle 8"/>
          <p:cNvSpPr/>
          <p:nvPr/>
        </p:nvSpPr>
        <p:spPr>
          <a:xfrm>
            <a:off x="4411370" y="1874519"/>
            <a:ext cx="3368954" cy="269748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411370" y="1874519"/>
            <a:ext cx="32004" cy="2697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667402" y="2075688"/>
            <a:ext cx="2893466" cy="22951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PREFERRED ROUTE — EMOTION MAPPING</a:t>
            </a:r>
          </a:p>
          <a:p>
            <a:pPr>
              <a:lnSpc>
                <a:spcPct val="118000"/>
              </a:lnSpc>
              <a:spcAft>
                <a:spcPts val="400"/>
              </a:spcAft>
            </a:pPr>
            <a:r>
              <a:rPr sz="1050">
                <a:solidFill>
                  <a:srgbClr val="14636E"/>
                </a:solidFill>
                <a:latin typeface="Calibri"/>
              </a:rPr>
              <a:t>▪  </a:t>
            </a:r>
            <a:r>
              <a:rPr sz="1050">
                <a:solidFill>
                  <a:srgbClr val="0F1A1C"/>
                </a:solidFill>
                <a:latin typeface="Calibri"/>
              </a:rPr>
              <a:t>A German emotion classifier (e.g. ChrisLalk/German-Emotions) predicts discrete emotions: frustration, uncertainty, pride, hope, anger, joy</a:t>
            </a:r>
          </a:p>
          <a:p>
            <a:pPr>
              <a:lnSpc>
                <a:spcPct val="118000"/>
              </a:lnSpc>
              <a:spcAft>
                <a:spcPts val="400"/>
              </a:spcAft>
            </a:pPr>
            <a:r>
              <a:rPr sz="1050">
                <a:solidFill>
                  <a:srgbClr val="14636E"/>
                </a:solidFill>
                <a:latin typeface="Calibri"/>
              </a:rPr>
              <a:t>▪  </a:t>
            </a:r>
            <a:r>
              <a:rPr sz="1050">
                <a:solidFill>
                  <a:srgbClr val="0F1A1C"/>
                </a:solidFill>
                <a:latin typeface="Calibri"/>
              </a:rPr>
              <a:t>Each emotion carries known valence and arousal coordinates from affect research</a:t>
            </a:r>
          </a:p>
          <a:p>
            <a:pPr>
              <a:lnSpc>
                <a:spcPct val="118000"/>
              </a:lnSpc>
              <a:spcAft>
                <a:spcPts val="400"/>
              </a:spcAft>
            </a:pPr>
            <a:r>
              <a:rPr sz="1050">
                <a:solidFill>
                  <a:srgbClr val="14636E"/>
                </a:solidFill>
                <a:latin typeface="Calibri"/>
              </a:rPr>
              <a:t>▪  </a:t>
            </a:r>
            <a:r>
              <a:rPr sz="1050">
                <a:solidFill>
                  <a:srgbClr val="0F1A1C"/>
                </a:solidFill>
                <a:latin typeface="Calibri"/>
              </a:rPr>
              <a:t>Probability-weighted mapping yields continuous coordinates per comment</a:t>
            </a:r>
          </a:p>
          <a:p>
            <a:pPr>
              <a:lnSpc>
                <a:spcPct val="118000"/>
              </a:lnSpc>
              <a:spcAft>
                <a:spcPts val="0"/>
              </a:spcAft>
            </a:pPr>
            <a:r>
              <a:rPr sz="1050">
                <a:solidFill>
                  <a:srgbClr val="14636E"/>
                </a:solidFill>
                <a:latin typeface="Calibri"/>
              </a:rPr>
              <a:t>▪  </a:t>
            </a:r>
            <a:r>
              <a:rPr sz="1050">
                <a:solidFill>
                  <a:srgbClr val="0F1A1C"/>
                </a:solidFill>
                <a:latin typeface="Calibri"/>
              </a:rPr>
              <a:t>Reuses established theory instead of inventing a scale</a:t>
            </a:r>
          </a:p>
        </p:txBody>
      </p:sp>
      <p:sp>
        <p:nvSpPr>
          <p:cNvPr id="12" name="Rectangle 11"/>
          <p:cNvSpPr/>
          <p:nvPr/>
        </p:nvSpPr>
        <p:spPr>
          <a:xfrm>
            <a:off x="8072932" y="1874519"/>
            <a:ext cx="3368954" cy="2697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72932" y="1874519"/>
            <a:ext cx="32004" cy="2697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328964" y="2075688"/>
            <a:ext cx="2893466" cy="22951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FALLBACK &amp; VALIDATION</a:t>
            </a:r>
          </a:p>
          <a:p>
            <a:pPr>
              <a:lnSpc>
                <a:spcPct val="118000"/>
              </a:lnSpc>
              <a:spcAft>
                <a:spcPts val="400"/>
              </a:spcAft>
            </a:pPr>
            <a:r>
              <a:rPr sz="1050">
                <a:solidFill>
                  <a:srgbClr val="14636E"/>
                </a:solidFill>
                <a:latin typeface="Calibri"/>
              </a:rPr>
              <a:t>▪  </a:t>
            </a:r>
            <a:r>
              <a:rPr sz="1050">
                <a:solidFill>
                  <a:srgbClr val="0F1A1C"/>
                </a:solidFill>
                <a:latin typeface="Calibri"/>
              </a:rPr>
              <a:t>Train a custom arousal model on emotional language, comment features and survey items — needs labelled data, only worth it with time to spare</a:t>
            </a:r>
          </a:p>
          <a:p>
            <a:pPr>
              <a:lnSpc>
                <a:spcPct val="118000"/>
              </a:lnSpc>
              <a:spcAft>
                <a:spcPts val="400"/>
              </a:spcAft>
            </a:pPr>
            <a:r>
              <a:rPr sz="1050">
                <a:solidFill>
                  <a:srgbClr val="14636E"/>
                </a:solidFill>
                <a:latin typeface="Calibri"/>
              </a:rPr>
              <a:t>▪  </a:t>
            </a:r>
            <a:r>
              <a:rPr sz="1050">
                <a:solidFill>
                  <a:srgbClr val="0F1A1C"/>
                </a:solidFill>
                <a:latin typeface="Calibri"/>
              </a:rPr>
              <a:t>Either way: correlate valence and arousal against engagement, team, culture and leadership scores</a:t>
            </a:r>
          </a:p>
          <a:p>
            <a:pPr>
              <a:lnSpc>
                <a:spcPct val="118000"/>
              </a:lnSpc>
              <a:spcAft>
                <a:spcPts val="0"/>
              </a:spcAft>
            </a:pPr>
            <a:r>
              <a:rPr sz="1050">
                <a:solidFill>
                  <a:srgbClr val="14636E"/>
                </a:solidFill>
                <a:latin typeface="Calibri"/>
              </a:rPr>
              <a:t>▪  </a:t>
            </a:r>
            <a:r>
              <a:rPr sz="1050">
                <a:solidFill>
                  <a:srgbClr val="0F1A1C"/>
                </a:solidFill>
                <a:latin typeface="Calibri"/>
              </a:rPr>
              <a:t>If the emotional layer carries signal, those relationships have to show up</a:t>
            </a:r>
          </a:p>
        </p:txBody>
      </p:sp>
      <p:sp>
        <p:nvSpPr>
          <p:cNvPr id="15" name="Rectangle 14"/>
          <p:cNvSpPr/>
          <p:nvPr/>
        </p:nvSpPr>
        <p:spPr>
          <a:xfrm>
            <a:off x="749808" y="4800600"/>
            <a:ext cx="10692079" cy="11887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49808" y="4800600"/>
            <a:ext cx="32004" cy="11887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01768"/>
            <a:ext cx="10216591" cy="78638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WHY THIS MATTERS FOR THE PRODUCT</a:t>
            </a:r>
          </a:p>
          <a:p>
            <a:pPr>
              <a:lnSpc>
                <a:spcPct val="130000"/>
              </a:lnSpc>
              <a:spcBef>
                <a:spcPts val="0"/>
              </a:spcBef>
              <a:spcAft>
                <a:spcPts val="0"/>
              </a:spcAft>
            </a:pPr>
            <a:r>
              <a:rPr sz="1150" b="0" i="0">
                <a:solidFill>
                  <a:srgbClr val="0F1A1C"/>
                </a:solidFill>
                <a:latin typeface="Calibri"/>
              </a:rPr>
              <a:t>Valence alone answers “is it good or bad?”. Arousal answers “is there energy behind it?” — the difference between a team that is angry and a team that has given up. The recommended measures for those two states are opposites, which is the entire argument for the Barrett-inspired framework.</a:t>
            </a:r>
          </a:p>
        </p:txBody>
      </p:sp>
      <p:sp>
        <p:nvSpPr>
          <p:cNvPr id="18" name="TextBox 17"/>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A10</a:t>
            </a:r>
            <a:r>
              <a:rPr sz="1000">
                <a:solidFill>
                  <a:srgbClr val="8A9B9E"/>
                </a:solidFill>
                <a:latin typeface="Consolas"/>
              </a:rPr>
              <a:t>   ·   ENGINEERING</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Performance and reproducibility</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4687671" cy="25237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PROBLEM</a:t>
            </a:r>
          </a:p>
          <a:p>
            <a:pPr>
              <a:lnSpc>
                <a:spcPct val="125000"/>
              </a:lnSpc>
              <a:spcBef>
                <a:spcPts val="0"/>
              </a:spcBef>
              <a:spcAft>
                <a:spcPts val="600"/>
              </a:spcAft>
            </a:pPr>
            <a:r>
              <a:rPr sz="1150" b="0" i="0">
                <a:solidFill>
                  <a:srgbClr val="0F1A1C"/>
                </a:solidFill>
                <a:latin typeface="Calibri"/>
              </a:rPr>
              <a:t>Several steps are expensive and are recomputed on every notebook run:</a:t>
            </a:r>
          </a:p>
          <a:p>
            <a:pPr>
              <a:lnSpc>
                <a:spcPct val="118000"/>
              </a:lnSpc>
              <a:spcAft>
                <a:spcPts val="400"/>
              </a:spcAft>
            </a:pPr>
            <a:r>
              <a:rPr sz="1100">
                <a:solidFill>
                  <a:srgbClr val="14636E"/>
                </a:solidFill>
                <a:latin typeface="Calibri"/>
              </a:rPr>
              <a:t>▪  </a:t>
            </a:r>
            <a:r>
              <a:rPr sz="1100">
                <a:solidFill>
                  <a:srgbClr val="0F1A1C"/>
                </a:solidFill>
                <a:latin typeface="Calibri"/>
              </a:rPr>
              <a:t>Sentence embeddings for 5,000 comments — ≈ 30 s per fit, repeated for every grid cell</a:t>
            </a:r>
          </a:p>
          <a:p>
            <a:pPr>
              <a:lnSpc>
                <a:spcPct val="118000"/>
              </a:lnSpc>
              <a:spcAft>
                <a:spcPts val="400"/>
              </a:spcAft>
            </a:pPr>
            <a:r>
              <a:rPr sz="1100">
                <a:solidFill>
                  <a:srgbClr val="14636E"/>
                </a:solidFill>
                <a:latin typeface="Calibri"/>
              </a:rPr>
              <a:t>▪  </a:t>
            </a:r>
            <a:r>
              <a:rPr sz="1100">
                <a:solidFill>
                  <a:srgbClr val="0F1A1C"/>
                </a:solidFill>
                <a:latin typeface="Calibri"/>
              </a:rPr>
              <a:t>Sentiment inference — ≈ 4 min per full pass</a:t>
            </a:r>
          </a:p>
          <a:p>
            <a:pPr>
              <a:lnSpc>
                <a:spcPct val="118000"/>
              </a:lnSpc>
              <a:spcAft>
                <a:spcPts val="400"/>
              </a:spcAft>
            </a:pPr>
            <a:r>
              <a:rPr sz="1100">
                <a:solidFill>
                  <a:srgbClr val="14636E"/>
                </a:solidFill>
                <a:latin typeface="Calibri"/>
              </a:rPr>
              <a:t>▪  </a:t>
            </a:r>
            <a:r>
              <a:rPr sz="1100">
                <a:solidFill>
                  <a:srgbClr val="0F1A1C"/>
                </a:solidFill>
                <a:latin typeface="Calibri"/>
              </a:rPr>
              <a:t>Zero-shot classification — ≈ 50 min per full pass</a:t>
            </a:r>
          </a:p>
          <a:p>
            <a:pPr>
              <a:lnSpc>
                <a:spcPct val="118000"/>
              </a:lnSpc>
              <a:spcAft>
                <a:spcPts val="0"/>
              </a:spcAft>
            </a:pPr>
            <a:r>
              <a:rPr sz="1100">
                <a:solidFill>
                  <a:srgbClr val="14636E"/>
                </a:solidFill>
                <a:latin typeface="Calibri"/>
              </a:rPr>
              <a:t>▪  </a:t>
            </a:r>
            <a:r>
              <a:rPr sz="1100">
                <a:solidFill>
                  <a:srgbClr val="0F1A1C"/>
                </a:solidFill>
                <a:latin typeface="Calibri"/>
              </a:rPr>
              <a:t>BERTopic — 5 HDBSCAN + 9 UMAP configurations during tuning</a:t>
            </a:r>
          </a:p>
        </p:txBody>
      </p:sp>
      <p:sp>
        <p:nvSpPr>
          <p:cNvPr id="9" name="Rectangle 8"/>
          <p:cNvSpPr/>
          <p:nvPr/>
        </p:nvSpPr>
        <p:spPr>
          <a:xfrm>
            <a:off x="6278727" y="1874519"/>
            <a:ext cx="5163159"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34759" y="2075688"/>
            <a:ext cx="4687671" cy="252374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OPTIONS EVALUATED</a:t>
            </a:r>
          </a:p>
        </p:txBody>
      </p:sp>
      <p:graphicFrame>
        <p:nvGraphicFramePr>
          <p:cNvPr id="12" name="Table 11"/>
          <p:cNvGraphicFramePr>
            <a:graphicFrameLocks noGrp="1"/>
          </p:cNvGraphicFramePr>
          <p:nvPr/>
        </p:nvGraphicFramePr>
        <p:xfrm>
          <a:off x="6534759" y="2423160"/>
          <a:ext cx="4651094" cy="1207008"/>
        </p:xfrm>
        <a:graphic>
          <a:graphicData uri="http://schemas.openxmlformats.org/drawingml/2006/table">
            <a:tbl>
              <a:tblPr firstRow="1">
                <a:tableStyleId>{5C22544A-7EE6-4342-B048-85BDC9FD1C3A}</a:tableStyleId>
              </a:tblPr>
              <a:tblGrid>
                <a:gridCol w="1116262"/>
                <a:gridCol w="3534832"/>
              </a:tblGrid>
              <a:tr h="274320">
                <a:tc>
                  <a:txBody>
                    <a:bodyPr wrap="square"/>
                    <a:lstStyle/>
                    <a:p>
                      <a:pPr>
                        <a:lnSpc>
                          <a:spcPct val="100000"/>
                        </a:lnSpc>
                      </a:pPr>
                      <a:r>
                        <a:rPr sz="950" b="1">
                          <a:solidFill>
                            <a:srgbClr val="5A6B6E"/>
                          </a:solidFill>
                          <a:latin typeface="Consolas"/>
                        </a:rPr>
                        <a:t>Format</a:t>
                      </a:r>
                    </a:p>
                  </a:txBody>
                  <a:tcPr marL="64008" marR="64008" marT="18288" marB="18288" anchor="ctr">
                    <a:solidFill>
                      <a:srgbClr val="E2F0F1"/>
                    </a:solidFill>
                  </a:tcPr>
                </a:tc>
                <a:tc>
                  <a:txBody>
                    <a:bodyPr wrap="square"/>
                    <a:lstStyle/>
                    <a:p>
                      <a:pPr>
                        <a:lnSpc>
                          <a:spcPct val="100000"/>
                        </a:lnSpc>
                      </a:pPr>
                      <a:r>
                        <a:rPr sz="950" b="1">
                          <a:solidFill>
                            <a:srgbClr val="5A6B6E"/>
                          </a:solidFill>
                          <a:latin typeface="Consolas"/>
                        </a:rPr>
                        <a:t>Assessment</a:t>
                      </a:r>
                    </a:p>
                  </a:txBody>
                  <a:tcPr marL="64008" marR="64008" marT="18288" marB="18288" anchor="ctr">
                    <a:solidFill>
                      <a:srgbClr val="E2F0F1"/>
                    </a:solidFill>
                  </a:tcPr>
                </a:tc>
              </a:tr>
              <a:tr h="310896">
                <a:tc>
                  <a:txBody>
                    <a:bodyPr wrap="square"/>
                    <a:lstStyle/>
                    <a:p>
                      <a:pPr>
                        <a:lnSpc>
                          <a:spcPct val="100000"/>
                        </a:lnSpc>
                      </a:pPr>
                      <a:r>
                        <a:rPr sz="1050" b="0">
                          <a:solidFill>
                            <a:srgbClr val="0F1A1C"/>
                          </a:solidFill>
                          <a:latin typeface="Calibri"/>
                        </a:rPr>
                        <a:t>CSV</a:t>
                      </a:r>
                    </a:p>
                  </a:txBody>
                  <a:tcPr marL="64008" marR="64008" marT="18288" marB="18288" anchor="ctr">
                    <a:solidFill>
                      <a:srgbClr val="FFFFFF"/>
                    </a:solidFill>
                  </a:tcPr>
                </a:tc>
                <a:tc>
                  <a:txBody>
                    <a:bodyPr wrap="square"/>
                    <a:lstStyle/>
                    <a:p>
                      <a:pPr>
                        <a:lnSpc>
                          <a:spcPct val="100000"/>
                        </a:lnSpc>
                      </a:pPr>
                      <a:r>
                        <a:rPr sz="1050" b="0">
                          <a:solidFill>
                            <a:srgbClr val="0F1A1C"/>
                          </a:solidFill>
                          <a:latin typeface="Calibri"/>
                        </a:rPr>
                        <a:t>Readable, but large, slow, loses dtypes</a:t>
                      </a:r>
                    </a:p>
                  </a:txBody>
                  <a:tcPr marL="64008" marR="64008" marT="18288" marB="18288" anchor="ctr">
                    <a:solidFill>
                      <a:srgbClr val="FFFFFF"/>
                    </a:solidFill>
                  </a:tcPr>
                </a:tc>
              </a:tr>
              <a:tr h="310896">
                <a:tc>
                  <a:txBody>
                    <a:bodyPr wrap="square"/>
                    <a:lstStyle/>
                    <a:p>
                      <a:pPr>
                        <a:lnSpc>
                          <a:spcPct val="100000"/>
                        </a:lnSpc>
                      </a:pPr>
                      <a:r>
                        <a:rPr sz="1050" b="0">
                          <a:solidFill>
                            <a:srgbClr val="0F1A1C"/>
                          </a:solidFill>
                          <a:latin typeface="Calibri"/>
                        </a:rPr>
                        <a:t>SQLite</a:t>
                      </a:r>
                    </a:p>
                  </a:txBody>
                  <a:tcPr marL="64008" marR="64008" marT="18288" marB="18288" anchor="ctr">
                    <a:solidFill>
                      <a:srgbClr val="EEF2F2"/>
                    </a:solidFill>
                  </a:tcPr>
                </a:tc>
                <a:tc>
                  <a:txBody>
                    <a:bodyPr wrap="square"/>
                    <a:lstStyle/>
                    <a:p>
                      <a:pPr>
                        <a:lnSpc>
                          <a:spcPct val="100000"/>
                        </a:lnSpc>
                      </a:pPr>
                      <a:r>
                        <a:rPr sz="1050" b="0">
                          <a:solidFill>
                            <a:srgbClr val="0F1A1C"/>
                          </a:solidFill>
                          <a:latin typeface="Calibri"/>
                        </a:rPr>
                        <a:t>Good for relational queries across iterations</a:t>
                      </a:r>
                    </a:p>
                  </a:txBody>
                  <a:tcPr marL="64008" marR="64008" marT="18288" marB="18288" anchor="ctr">
                    <a:solidFill>
                      <a:srgbClr val="EEF2F2"/>
                    </a:solidFill>
                  </a:tcPr>
                </a:tc>
              </a:tr>
              <a:tr h="310896">
                <a:tc>
                  <a:txBody>
                    <a:bodyPr wrap="square"/>
                    <a:lstStyle/>
                    <a:p>
                      <a:pPr>
                        <a:lnSpc>
                          <a:spcPct val="100000"/>
                        </a:lnSpc>
                      </a:pPr>
                      <a:r>
                        <a:rPr sz="1050" b="1">
                          <a:solidFill>
                            <a:srgbClr val="14636E"/>
                          </a:solidFill>
                          <a:latin typeface="Calibri"/>
                        </a:rPr>
                        <a:t>Parquet</a:t>
                      </a:r>
                    </a:p>
                  </a:txBody>
                  <a:tcPr marL="64008" marR="64008" marT="18288" marB="18288" anchor="ctr">
                    <a:solidFill>
                      <a:srgbClr val="FFFFFF"/>
                    </a:solidFill>
                  </a:tcPr>
                </a:tc>
                <a:tc>
                  <a:txBody>
                    <a:bodyPr wrap="square"/>
                    <a:lstStyle/>
                    <a:p>
                      <a:pPr>
                        <a:lnSpc>
                          <a:spcPct val="100000"/>
                        </a:lnSpc>
                      </a:pPr>
                      <a:r>
                        <a:rPr sz="1050" b="0">
                          <a:solidFill>
                            <a:srgbClr val="14636E"/>
                          </a:solidFill>
                          <a:latin typeface="Calibri"/>
                        </a:rPr>
                        <a:t>Columnar, compressed, keeps dtypes, fastest reload</a:t>
                      </a:r>
                    </a:p>
                  </a:txBody>
                  <a:tcPr marL="64008" marR="64008" marT="18288" marB="18288" anchor="ctr">
                    <a:solidFill>
                      <a:srgbClr val="FFFFFF"/>
                    </a:solidFill>
                  </a:tcPr>
                </a:tc>
              </a:tr>
            </a:tbl>
          </a:graphicData>
        </a:graphic>
      </p:graphicFrame>
      <p:sp>
        <p:nvSpPr>
          <p:cNvPr id="13" name="TextBox 12"/>
          <p:cNvSpPr txBox="1"/>
          <p:nvPr/>
        </p:nvSpPr>
        <p:spPr>
          <a:xfrm>
            <a:off x="6534759" y="3749039"/>
            <a:ext cx="4651095" cy="914400"/>
          </a:xfrm>
          <a:prstGeom prst="rect">
            <a:avLst/>
          </a:prstGeom>
          <a:noFill/>
        </p:spPr>
        <p:txBody>
          <a:bodyPr wrap="square" lIns="0" rIns="0" tIns="0" bIns="0">
            <a:spAutoFit/>
          </a:bodyPr>
          <a:lstStyle/>
          <a:p>
            <a:pPr>
              <a:lnSpc>
                <a:spcPct val="125000"/>
              </a:lnSpc>
              <a:spcBef>
                <a:spcPts val="0"/>
              </a:spcBef>
              <a:spcAft>
                <a:spcPts val="0"/>
              </a:spcAft>
            </a:pPr>
            <a:r>
              <a:rPr sz="1100" b="0" i="0">
                <a:solidFill>
                  <a:srgbClr val="0F1A1C"/>
                </a:solidFill>
                <a:latin typeface="Calibri"/>
              </a:rPr>
              <a:t>Current plan: persist cleaned_data.parquet, sentiment_results.parquet and topic_results.parquet, keyed by comment id so the layers can be joined independently.</a:t>
            </a:r>
          </a:p>
        </p:txBody>
      </p:sp>
      <p:sp>
        <p:nvSpPr>
          <p:cNvPr id="14" name="Rounded Rectangle 13"/>
          <p:cNvSpPr/>
          <p:nvPr/>
        </p:nvSpPr>
        <p:spPr>
          <a:xfrm>
            <a:off x="749808" y="4983480"/>
            <a:ext cx="2194560" cy="219456"/>
          </a:xfrm>
          <a:prstGeom prst="roundRect">
            <a:avLst>
              <a:gd name="adj" fmla="val 30000"/>
            </a:avLst>
          </a:prstGeom>
          <a:noFill/>
          <a:ln w="9525">
            <a:solidFill>
              <a:srgbClr val="8F641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20000"/>
              </a:lnSpc>
              <a:spcBef>
                <a:spcPts val="0"/>
              </a:spcBef>
              <a:spcAft>
                <a:spcPts val="0"/>
              </a:spcAft>
            </a:pPr>
            <a:r>
              <a:rPr sz="850" b="1" i="0">
                <a:solidFill>
                  <a:srgbClr val="8F6414"/>
                </a:solidFill>
                <a:latin typeface="Consolas"/>
              </a:rPr>
              <a:t>EVALUATED, NOT IMPLEMENTED</a:t>
            </a:r>
          </a:p>
        </p:txBody>
      </p:sp>
      <p:sp>
        <p:nvSpPr>
          <p:cNvPr id="15" name="TextBox 14"/>
          <p:cNvSpPr txBox="1"/>
          <p:nvPr/>
        </p:nvSpPr>
        <p:spPr>
          <a:xfrm>
            <a:off x="749808" y="5349240"/>
            <a:ext cx="10692079" cy="640080"/>
          </a:xfrm>
          <a:prstGeom prst="rect">
            <a:avLst/>
          </a:prstGeom>
          <a:noFill/>
        </p:spPr>
        <p:txBody>
          <a:bodyPr wrap="square" lIns="0" rIns="0" tIns="0" bIns="0">
            <a:spAutoFit/>
          </a:bodyPr>
          <a:lstStyle/>
          <a:p>
            <a:pPr>
              <a:lnSpc>
                <a:spcPct val="125000"/>
              </a:lnSpc>
              <a:spcBef>
                <a:spcPts val="0"/>
              </a:spcBef>
              <a:spcAft>
                <a:spcPts val="0"/>
              </a:spcAft>
            </a:pPr>
            <a:r>
              <a:rPr sz="1150" b="0" i="0">
                <a:solidFill>
                  <a:srgbClr val="5A6B6E"/>
                </a:solidFill>
                <a:latin typeface="Calibri"/>
              </a:rPr>
              <a:t>Say this plainly if it comes up: caching is a decision on the table, not a finished part of the pipeline. The reproducibility argument — same input, same intermediate artefacts, same dashboard — is why it is worth doing before the final evaluation runs.</a:t>
            </a:r>
          </a:p>
        </p:txBody>
      </p:sp>
      <p:sp>
        <p:nvSpPr>
          <p:cNvPr id="16" name="TextBox 15"/>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420624"/>
            <a:ext cx="10692079" cy="274320"/>
          </a:xfrm>
          <a:prstGeom prst="rect">
            <a:avLst/>
          </a:prstGeom>
          <a:noFill/>
        </p:spPr>
        <p:txBody>
          <a:bodyPr wrap="square" lIns="0" rIns="0" tIns="0" bIns="0">
            <a:spAutoFit/>
          </a:bodyPr>
          <a:lstStyle/>
          <a:p>
            <a:pPr>
              <a:lnSpc>
                <a:spcPct val="120000"/>
              </a:lnSpc>
              <a:spcBef>
                <a:spcPts val="0"/>
              </a:spcBef>
              <a:spcAft>
                <a:spcPts val="0"/>
              </a:spcAft>
            </a:pPr>
            <a:r>
              <a:rPr sz="1000" b="1" i="0">
                <a:solidFill>
                  <a:srgbClr val="14636E"/>
                </a:solidFill>
                <a:latin typeface="Consolas"/>
              </a:rPr>
              <a:t>APPENDIX A11</a:t>
            </a:r>
            <a:r>
              <a:rPr sz="1000">
                <a:solidFill>
                  <a:srgbClr val="8A9B9E"/>
                </a:solidFill>
                <a:latin typeface="Consolas"/>
              </a:rPr>
              <a:t>   ·   DEFINITION OF DONE</a:t>
            </a:r>
          </a:p>
        </p:txBody>
      </p:sp>
      <p:sp>
        <p:nvSpPr>
          <p:cNvPr id="4" name="TextBox 3"/>
          <p:cNvSpPr txBox="1"/>
          <p:nvPr/>
        </p:nvSpPr>
        <p:spPr>
          <a:xfrm>
            <a:off x="749808" y="786384"/>
            <a:ext cx="9195188" cy="914400"/>
          </a:xfrm>
          <a:prstGeom prst="rect">
            <a:avLst/>
          </a:prstGeom>
          <a:noFill/>
        </p:spPr>
        <p:txBody>
          <a:bodyPr wrap="square" lIns="0" rIns="0" tIns="0" bIns="0">
            <a:spAutoFit/>
          </a:bodyPr>
          <a:lstStyle/>
          <a:p>
            <a:pPr>
              <a:lnSpc>
                <a:spcPct val="100000"/>
              </a:lnSpc>
              <a:spcBef>
                <a:spcPts val="0"/>
              </a:spcBef>
              <a:spcAft>
                <a:spcPts val="0"/>
              </a:spcAft>
            </a:pPr>
            <a:r>
              <a:rPr sz="3000" b="0" i="0">
                <a:solidFill>
                  <a:srgbClr val="0F1A1C"/>
                </a:solidFill>
                <a:latin typeface="Georgia"/>
              </a:rPr>
              <a:t>What makes this project a success</a:t>
            </a:r>
          </a:p>
        </p:txBody>
      </p:sp>
      <p:sp>
        <p:nvSpPr>
          <p:cNvPr id="5" name="TextBox 4"/>
          <p:cNvSpPr txBox="1"/>
          <p:nvPr/>
        </p:nvSpPr>
        <p:spPr>
          <a:xfrm>
            <a:off x="749808" y="6355080"/>
            <a:ext cx="10692079" cy="256032"/>
          </a:xfrm>
          <a:prstGeom prst="rect">
            <a:avLst/>
          </a:prstGeom>
          <a:noFill/>
        </p:spPr>
        <p:txBody>
          <a:bodyPr wrap="square" lIns="0" rIns="0" t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2075688"/>
            <a:ext cx="2005507" cy="1883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DATA PRODUCT</a:t>
            </a:r>
          </a:p>
          <a:p>
            <a:pPr>
              <a:lnSpc>
                <a:spcPct val="118000"/>
              </a:lnSpc>
              <a:spcAft>
                <a:spcPts val="500"/>
              </a:spcAft>
            </a:pPr>
            <a:r>
              <a:rPr sz="1050">
                <a:solidFill>
                  <a:srgbClr val="14636E"/>
                </a:solidFill>
                <a:latin typeface="Calibri"/>
              </a:rPr>
              <a:t>▪  </a:t>
            </a:r>
            <a:r>
              <a:rPr sz="1050">
                <a:solidFill>
                  <a:srgbClr val="0F1A1C"/>
                </a:solidFill>
                <a:latin typeface="Calibri"/>
              </a:rPr>
              <a:t>≥ 95 % of comments processed automatically</a:t>
            </a:r>
          </a:p>
          <a:p>
            <a:pPr>
              <a:lnSpc>
                <a:spcPct val="118000"/>
              </a:lnSpc>
              <a:spcAft>
                <a:spcPts val="500"/>
              </a:spcAft>
            </a:pPr>
            <a:r>
              <a:rPr sz="1050">
                <a:solidFill>
                  <a:srgbClr val="14636E"/>
                </a:solidFill>
                <a:latin typeface="Calibri"/>
              </a:rPr>
              <a:t>▪  </a:t>
            </a:r>
            <a:r>
              <a:rPr sz="1050">
                <a:solidFill>
                  <a:srgbClr val="0F1A1C"/>
                </a:solidFill>
                <a:latin typeface="Calibri"/>
              </a:rPr>
              <a:t>Reproducible, rerunnable pipeline</a:t>
            </a:r>
          </a:p>
          <a:p>
            <a:pPr>
              <a:lnSpc>
                <a:spcPct val="118000"/>
              </a:lnSpc>
              <a:spcAft>
                <a:spcPts val="500"/>
              </a:spcAft>
            </a:pPr>
            <a:r>
              <a:rPr sz="1050">
                <a:solidFill>
                  <a:srgbClr val="14636E"/>
                </a:solidFill>
                <a:latin typeface="Calibri"/>
              </a:rPr>
              <a:t>▪  </a:t>
            </a:r>
            <a:r>
              <a:rPr sz="1050">
                <a:solidFill>
                  <a:srgbClr val="0F1A1C"/>
                </a:solidFill>
                <a:latin typeface="Calibri"/>
              </a:rPr>
              <a:t>Dashboard-ready export generated automatically</a:t>
            </a:r>
          </a:p>
          <a:p>
            <a:pPr>
              <a:lnSpc>
                <a:spcPct val="118000"/>
              </a:lnSpc>
              <a:spcAft>
                <a:spcPts val="0"/>
              </a:spcAft>
            </a:pPr>
            <a:r>
              <a:rPr sz="1050">
                <a:solidFill>
                  <a:srgbClr val="14636E"/>
                </a:solidFill>
                <a:latin typeface="Calibri"/>
              </a:rPr>
              <a:t>▪  </a:t>
            </a:r>
            <a:r>
              <a:rPr sz="1050">
                <a:solidFill>
                  <a:srgbClr val="0F1A1C"/>
                </a:solidFill>
                <a:latin typeface="Calibri"/>
              </a:rPr>
              <a:t>Power BI integration</a:t>
            </a:r>
          </a:p>
        </p:txBody>
      </p:sp>
      <p:sp>
        <p:nvSpPr>
          <p:cNvPr id="9" name="Rectangle 8"/>
          <p:cNvSpPr/>
          <p:nvPr/>
        </p:nvSpPr>
        <p:spPr>
          <a:xfrm>
            <a:off x="3486835"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3486835"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742867" y="2075688"/>
            <a:ext cx="2005507" cy="1883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NLP</a:t>
            </a:r>
          </a:p>
          <a:p>
            <a:pPr>
              <a:lnSpc>
                <a:spcPct val="118000"/>
              </a:lnSpc>
              <a:spcAft>
                <a:spcPts val="500"/>
              </a:spcAft>
            </a:pPr>
            <a:r>
              <a:rPr sz="1050">
                <a:solidFill>
                  <a:srgbClr val="14636E"/>
                </a:solidFill>
                <a:latin typeface="Calibri"/>
              </a:rPr>
              <a:t>▪  </a:t>
            </a:r>
            <a:r>
              <a:rPr sz="1050">
                <a:solidFill>
                  <a:srgbClr val="0F1A1C"/>
                </a:solidFill>
                <a:latin typeface="Calibri"/>
              </a:rPr>
              <a:t>Continuous valence — done</a:t>
            </a:r>
          </a:p>
          <a:p>
            <a:pPr>
              <a:lnSpc>
                <a:spcPct val="118000"/>
              </a:lnSpc>
              <a:spcAft>
                <a:spcPts val="500"/>
              </a:spcAft>
            </a:pPr>
            <a:r>
              <a:rPr sz="1050">
                <a:solidFill>
                  <a:srgbClr val="14636E"/>
                </a:solidFill>
                <a:latin typeface="Calibri"/>
              </a:rPr>
              <a:t>▪  </a:t>
            </a:r>
            <a:r>
              <a:rPr sz="1050">
                <a:solidFill>
                  <a:srgbClr val="0F1A1C"/>
                </a:solidFill>
                <a:latin typeface="Calibri"/>
              </a:rPr>
              <a:t>Interpretable topic clusters — granularity open</a:t>
            </a:r>
          </a:p>
          <a:p>
            <a:pPr>
              <a:lnSpc>
                <a:spcPct val="118000"/>
              </a:lnSpc>
              <a:spcAft>
                <a:spcPts val="0"/>
              </a:spcAft>
            </a:pPr>
            <a:r>
              <a:rPr sz="1050">
                <a:solidFill>
                  <a:srgbClr val="14636E"/>
                </a:solidFill>
                <a:latin typeface="Calibri"/>
              </a:rPr>
              <a:t>▪  </a:t>
            </a:r>
            <a:r>
              <a:rPr sz="1050">
                <a:solidFill>
                  <a:srgbClr val="0F1A1C"/>
                </a:solidFill>
                <a:latin typeface="Calibri"/>
              </a:rPr>
              <a:t>Continuous arousal — open</a:t>
            </a:r>
          </a:p>
        </p:txBody>
      </p:sp>
      <p:sp>
        <p:nvSpPr>
          <p:cNvPr id="12" name="Rectangle 11"/>
          <p:cNvSpPr/>
          <p:nvPr/>
        </p:nvSpPr>
        <p:spPr>
          <a:xfrm>
            <a:off x="6223863"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23863"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79895" y="2075688"/>
            <a:ext cx="2005507" cy="1883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PREDICTIVE LAYER</a:t>
            </a:r>
          </a:p>
          <a:p>
            <a:pPr>
              <a:lnSpc>
                <a:spcPct val="118000"/>
              </a:lnSpc>
              <a:spcAft>
                <a:spcPts val="500"/>
              </a:spcAft>
            </a:pPr>
            <a:r>
              <a:rPr sz="1050">
                <a:solidFill>
                  <a:srgbClr val="14636E"/>
                </a:solidFill>
                <a:latin typeface="Calibri"/>
              </a:rPr>
              <a:t>▪  </a:t>
            </a:r>
            <a:r>
              <a:rPr sz="1050">
                <a:solidFill>
                  <a:srgbClr val="0F1A1C"/>
                </a:solidFill>
                <a:latin typeface="Calibri"/>
              </a:rPr>
              <a:t>Comment → engagement score</a:t>
            </a:r>
          </a:p>
          <a:p>
            <a:pPr>
              <a:lnSpc>
                <a:spcPct val="118000"/>
              </a:lnSpc>
              <a:spcAft>
                <a:spcPts val="500"/>
              </a:spcAft>
            </a:pPr>
            <a:r>
              <a:rPr sz="1050">
                <a:solidFill>
                  <a:srgbClr val="14636E"/>
                </a:solidFill>
                <a:latin typeface="Calibri"/>
              </a:rPr>
              <a:t>▪  </a:t>
            </a:r>
            <a:r>
              <a:rPr sz="1050">
                <a:solidFill>
                  <a:srgbClr val="0F1A1C"/>
                </a:solidFill>
                <a:latin typeface="Calibri"/>
              </a:rPr>
              <a:t>TF-IDF baseline vs. gradient boosting</a:t>
            </a:r>
          </a:p>
          <a:p>
            <a:pPr>
              <a:lnSpc>
                <a:spcPct val="118000"/>
              </a:lnSpc>
              <a:spcAft>
                <a:spcPts val="0"/>
              </a:spcAft>
            </a:pPr>
            <a:r>
              <a:rPr sz="1050">
                <a:solidFill>
                  <a:srgbClr val="14636E"/>
                </a:solidFill>
                <a:latin typeface="Calibri"/>
              </a:rPr>
              <a:t>▪  </a:t>
            </a:r>
            <a:r>
              <a:rPr sz="1050">
                <a:solidFill>
                  <a:srgbClr val="0F1A1C"/>
                </a:solidFill>
                <a:latin typeface="Calibri"/>
              </a:rPr>
              <a:t>Targets: MAE &lt; 0.60, RMSE &lt; 0.80, R² &gt; 0.30</a:t>
            </a:r>
          </a:p>
        </p:txBody>
      </p:sp>
      <p:sp>
        <p:nvSpPr>
          <p:cNvPr id="15" name="Rectangle 14"/>
          <p:cNvSpPr/>
          <p:nvPr/>
        </p:nvSpPr>
        <p:spPr>
          <a:xfrm>
            <a:off x="8960891"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960891"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216923" y="2075688"/>
            <a:ext cx="2005507" cy="1883664"/>
          </a:xfrm>
          <a:prstGeom prst="rect">
            <a:avLst/>
          </a:prstGeom>
          <a:noFill/>
        </p:spPr>
        <p:txBody>
          <a:bodyPr wrap="square" lIns="0" rIns="0" tIns="0" bIns="0">
            <a:spAutoFit/>
          </a:bodyPr>
          <a:lstStyle/>
          <a:p>
            <a:pPr>
              <a:lnSpc>
                <a:spcPct val="120000"/>
              </a:lnSpc>
              <a:spcBef>
                <a:spcPts val="0"/>
              </a:spcBef>
              <a:spcAft>
                <a:spcPts val="600"/>
              </a:spcAft>
            </a:pPr>
            <a:r>
              <a:rPr sz="950" b="1" i="0">
                <a:solidFill>
                  <a:srgbClr val="14636E"/>
                </a:solidFill>
                <a:latin typeface="Consolas"/>
              </a:rPr>
              <a:t>BUSINESS VALUE</a:t>
            </a:r>
          </a:p>
          <a:p>
            <a:pPr>
              <a:lnSpc>
                <a:spcPct val="118000"/>
              </a:lnSpc>
              <a:spcAft>
                <a:spcPts val="500"/>
              </a:spcAft>
            </a:pPr>
            <a:r>
              <a:rPr sz="1050">
                <a:solidFill>
                  <a:srgbClr val="14636E"/>
                </a:solidFill>
                <a:latin typeface="Calibri"/>
              </a:rPr>
              <a:t>▪  </a:t>
            </a:r>
            <a:r>
              <a:rPr sz="1050">
                <a:solidFill>
                  <a:srgbClr val="0F1A1C"/>
                </a:solidFill>
                <a:latin typeface="Calibri"/>
              </a:rPr>
              <a:t>3–5 actionable findings</a:t>
            </a:r>
          </a:p>
          <a:p>
            <a:pPr>
              <a:lnSpc>
                <a:spcPct val="118000"/>
              </a:lnSpc>
              <a:spcAft>
                <a:spcPts val="500"/>
              </a:spcAft>
            </a:pPr>
            <a:r>
              <a:rPr sz="1050">
                <a:solidFill>
                  <a:srgbClr val="14636E"/>
                </a:solidFill>
                <a:latin typeface="Calibri"/>
              </a:rPr>
              <a:t>▪  </a:t>
            </a:r>
            <a:r>
              <a:rPr sz="1050">
                <a:solidFill>
                  <a:srgbClr val="0F1A1C"/>
                </a:solidFill>
                <a:latin typeface="Calibri"/>
              </a:rPr>
              <a:t>e.g. valence ↔ engagement, workload topics ↔ low sentiment</a:t>
            </a:r>
          </a:p>
          <a:p>
            <a:pPr>
              <a:lnSpc>
                <a:spcPct val="118000"/>
              </a:lnSpc>
              <a:spcAft>
                <a:spcPts val="0"/>
              </a:spcAft>
            </a:pPr>
            <a:r>
              <a:rPr sz="1050">
                <a:solidFill>
                  <a:srgbClr val="14636E"/>
                </a:solidFill>
                <a:latin typeface="Calibri"/>
              </a:rPr>
              <a:t>▪  </a:t>
            </a:r>
            <a:r>
              <a:rPr sz="1050">
                <a:solidFill>
                  <a:srgbClr val="0F1A1C"/>
                </a:solidFill>
                <a:latin typeface="Calibri"/>
              </a:rPr>
              <a:t>Measurable differences between business units</a:t>
            </a:r>
          </a:p>
        </p:txBody>
      </p:sp>
      <p:sp>
        <p:nvSpPr>
          <p:cNvPr id="18" name="Rectangle 17"/>
          <p:cNvSpPr/>
          <p:nvPr/>
        </p:nvSpPr>
        <p:spPr>
          <a:xfrm>
            <a:off x="749808" y="4526280"/>
            <a:ext cx="27432" cy="10515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05840" y="4572000"/>
            <a:ext cx="10234879" cy="1005840"/>
          </a:xfrm>
          <a:prstGeom prst="rect">
            <a:avLst/>
          </a:prstGeom>
          <a:noFill/>
        </p:spPr>
        <p:txBody>
          <a:bodyPr wrap="square" lIns="0" rIns="0" tIns="0" bIns="0">
            <a:spAutoFit/>
          </a:bodyPr>
          <a:lstStyle/>
          <a:p>
            <a:pPr>
              <a:lnSpc>
                <a:spcPct val="125000"/>
              </a:lnSpc>
              <a:spcBef>
                <a:spcPts val="0"/>
              </a:spcBef>
              <a:spcAft>
                <a:spcPts val="0"/>
              </a:spcAft>
            </a:pPr>
            <a:r>
              <a:rPr sz="1500" b="0" i="0">
                <a:solidFill>
                  <a:srgbClr val="0F1A1C"/>
                </a:solidFill>
                <a:latin typeface="Georgia"/>
              </a:rPr>
              <a:t>The project succeeds if it shows a working end-to-end NLP pipeline, a Barrett-inspired Core Affect dashboard, meaningful topics, and insights a manager can actually act on.</a:t>
            </a:r>
          </a:p>
        </p:txBody>
      </p:sp>
      <p:sp>
        <p:nvSpPr>
          <p:cNvPr id="20" name="TextBox 19"/>
          <p:cNvSpPr txBox="1"/>
          <p:nvPr/>
        </p:nvSpPr>
        <p:spPr>
          <a:xfrm>
            <a:off x="9613087" y="6355080"/>
            <a:ext cx="1828800" cy="256032"/>
          </a:xfrm>
          <a:prstGeom prst="rect">
            <a:avLst/>
          </a:prstGeom>
          <a:noFill/>
        </p:spPr>
        <p:txBody>
          <a:bodyPr wrap="square" lIns="0" rIns="0" tIns="0" bIns="0">
            <a:spAutoFit/>
          </a:bodyPr>
          <a:lstStyle/>
          <a:p>
            <a:pPr algn="r">
              <a:lnSpc>
                <a:spcPct val="120000"/>
              </a:lnSpc>
              <a:spcBef>
                <a:spcPts val="0"/>
              </a:spcBef>
              <a:spcAft>
                <a:spcPts val="0"/>
              </a:spcAft>
            </a:pPr>
            <a:r>
              <a:rPr sz="900" b="0" i="0">
                <a:solidFill>
                  <a:srgbClr val="8A9B9E"/>
                </a:solidFill>
                <a:latin typeface="Consolas"/>
              </a:rP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ELFI — Emotional &amp; Latent Feedback Interpretation</dc:title>
  <dc:subject>Capstone midterm presentation</dc:subject>
  <dc:creator/>
  <cp:keywords/>
  <dc:description>Midterm deck: main story (slides 1-9) plus technical appendix (A1-A11). Speaker notes in the notes pane.</dc:description>
  <cp:lastModifiedBy>Steve Canny</cp:lastModifiedBy>
  <cp:revision>1</cp:revision>
  <dcterms:created xsi:type="dcterms:W3CDTF">2013-01-27T09:14:16Z</dcterms:created>
  <dcterms:modified xsi:type="dcterms:W3CDTF">2013-01-27T09:15:58Z</dcterms:modified>
  <cp:category/>
</cp:coreProperties>
</file>