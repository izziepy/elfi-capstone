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80"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658"/>
  </p:normalViewPr>
  <p:slideViewPr>
    <p:cSldViewPr snapToGrid="0" snapToObjects="1">
      <p:cViewPr varScale="1">
        <p:scale>
          <a:sx n="107" d="100"/>
          <a:sy n="107" d="100"/>
        </p:scale>
        <p:origin x="1280"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06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3" name="Picture 2" descr="key_visual.png"/>
          <p:cNvPicPr>
            <a:picLocks noChangeAspect="1"/>
          </p:cNvPicPr>
          <p:nvPr/>
        </p:nvPicPr>
        <p:blipFill>
          <a:blip r:embed="rId3"/>
          <a:stretch>
            <a:fillRect/>
          </a:stretch>
        </p:blipFill>
        <p:spPr>
          <a:xfrm>
            <a:off x="5333695" y="0"/>
            <a:ext cx="6858000" cy="6858000"/>
          </a:xfrm>
          <a:prstGeom prst="rect">
            <a:avLst/>
          </a:prstGeom>
        </p:spPr>
      </p:pic>
      <p:sp>
        <p:nvSpPr>
          <p:cNvPr id="4" name="TextBox 3"/>
          <p:cNvSpPr txBox="1"/>
          <p:nvPr/>
        </p:nvSpPr>
        <p:spPr>
          <a:xfrm>
            <a:off x="978407" y="1920240"/>
            <a:ext cx="5486400" cy="1097280"/>
          </a:xfrm>
          <a:prstGeom prst="rect">
            <a:avLst/>
          </a:prstGeom>
          <a:noFill/>
        </p:spPr>
        <p:txBody>
          <a:bodyPr wrap="square" lIns="0" tIns="0" rIns="0" bIns="0">
            <a:spAutoFit/>
          </a:bodyPr>
          <a:lstStyle/>
          <a:p>
            <a:pPr algn="l">
              <a:lnSpc>
                <a:spcPct val="124000"/>
              </a:lnSpc>
              <a:spcBef>
                <a:spcPts val="0"/>
              </a:spcBef>
              <a:spcAft>
                <a:spcPts val="600"/>
              </a:spcAft>
            </a:pPr>
            <a:r>
              <a:rPr sz="6000" b="1">
                <a:solidFill>
                  <a:srgbClr val="33333A"/>
                </a:solidFill>
                <a:latin typeface="Calibri Light"/>
              </a:rPr>
              <a:t>ELFI</a:t>
            </a:r>
          </a:p>
        </p:txBody>
      </p:sp>
      <p:sp>
        <p:nvSpPr>
          <p:cNvPr id="5" name="TextBox 4"/>
          <p:cNvSpPr txBox="1"/>
          <p:nvPr/>
        </p:nvSpPr>
        <p:spPr>
          <a:xfrm>
            <a:off x="978407" y="2926080"/>
            <a:ext cx="5669280" cy="548640"/>
          </a:xfrm>
          <a:prstGeom prst="rect">
            <a:avLst/>
          </a:prstGeom>
          <a:noFill/>
        </p:spPr>
        <p:txBody>
          <a:bodyPr wrap="square" lIns="0" tIns="0" rIns="0" bIns="0">
            <a:spAutoFit/>
          </a:bodyPr>
          <a:lstStyle/>
          <a:p>
            <a:pPr algn="l">
              <a:lnSpc>
                <a:spcPct val="124000"/>
              </a:lnSpc>
              <a:spcBef>
                <a:spcPts val="0"/>
              </a:spcBef>
              <a:spcAft>
                <a:spcPts val="0"/>
              </a:spcAft>
            </a:pPr>
            <a:r>
              <a:rPr sz="1900" b="0" dirty="0">
                <a:solidFill>
                  <a:srgbClr val="53514E"/>
                </a:solidFill>
                <a:latin typeface="Calibri Light"/>
              </a:rPr>
              <a:t>Emotional &amp; Latent Feedback Interpretation</a:t>
            </a:r>
          </a:p>
        </p:txBody>
      </p:sp>
      <p:sp>
        <p:nvSpPr>
          <p:cNvPr id="6" name="Rectangle 5"/>
          <p:cNvSpPr/>
          <p:nvPr/>
        </p:nvSpPr>
        <p:spPr>
          <a:xfrm>
            <a:off x="1005840" y="3703320"/>
            <a:ext cx="1371600" cy="41148"/>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78407" y="4023360"/>
            <a:ext cx="3666745" cy="764440"/>
          </a:xfrm>
          <a:prstGeom prst="rect">
            <a:avLst/>
          </a:prstGeom>
          <a:noFill/>
        </p:spPr>
        <p:txBody>
          <a:bodyPr wrap="square" lIns="0" tIns="0" rIns="0" bIns="0">
            <a:spAutoFit/>
          </a:bodyPr>
          <a:lstStyle/>
          <a:p>
            <a:pPr algn="l">
              <a:lnSpc>
                <a:spcPct val="124000"/>
              </a:lnSpc>
              <a:spcBef>
                <a:spcPts val="0"/>
              </a:spcBef>
              <a:spcAft>
                <a:spcPts val="800"/>
              </a:spcAft>
            </a:pPr>
            <a:r>
              <a:rPr sz="2200" b="0" dirty="0">
                <a:solidFill>
                  <a:srgbClr val="33333A"/>
                </a:solidFill>
                <a:latin typeface="Calibri Light"/>
              </a:rPr>
              <a:t>The longer version</a:t>
            </a:r>
          </a:p>
          <a:p>
            <a:pPr algn="l">
              <a:lnSpc>
                <a:spcPct val="126000"/>
              </a:lnSpc>
              <a:spcBef>
                <a:spcPts val="0"/>
              </a:spcBef>
              <a:spcAft>
                <a:spcPts val="0"/>
              </a:spcAft>
            </a:pPr>
            <a:r>
              <a:rPr sz="1350" b="0" dirty="0">
                <a:solidFill>
                  <a:srgbClr val="6E6B66"/>
                </a:solidFill>
                <a:latin typeface="Calibri"/>
              </a:rPr>
              <a:t>One slide per step, one per model. </a:t>
            </a:r>
          </a:p>
        </p:txBody>
      </p:sp>
      <p:sp>
        <p:nvSpPr>
          <p:cNvPr id="8" name="TextBox 7"/>
          <p:cNvSpPr txBox="1"/>
          <p:nvPr/>
        </p:nvSpPr>
        <p:spPr>
          <a:xfrm>
            <a:off x="978407" y="5852160"/>
            <a:ext cx="5486400" cy="365760"/>
          </a:xfrm>
          <a:prstGeom prst="rect">
            <a:avLst/>
          </a:prstGeom>
          <a:noFill/>
        </p:spPr>
        <p:txBody>
          <a:bodyPr wrap="square" lIns="0" tIns="0" rIns="0" bIns="0">
            <a:spAutoFit/>
          </a:bodyPr>
          <a:lstStyle/>
          <a:p>
            <a:pPr algn="l">
              <a:lnSpc>
                <a:spcPct val="124000"/>
              </a:lnSpc>
              <a:spcBef>
                <a:spcPts val="0"/>
              </a:spcBef>
              <a:spcAft>
                <a:spcPts val="500"/>
              </a:spcAft>
            </a:pPr>
            <a:r>
              <a:rPr sz="1200" b="0">
                <a:solidFill>
                  <a:srgbClr val="53514E"/>
                </a:solidFill>
                <a:latin typeface="Calibri"/>
              </a:rPr>
              <a:t>Iris Detemple  ·  Capstone Project  ·  neuefische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CONTENTS</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What is on which slide</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Jump wherever the question goes</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645920"/>
            <a:ext cx="5163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THE CHAIN, AND THE THEORY BEHIND IT</a:t>
            </a:r>
          </a:p>
        </p:txBody>
      </p:sp>
      <p:sp>
        <p:nvSpPr>
          <p:cNvPr id="9" name="TextBox 8"/>
          <p:cNvSpPr txBox="1"/>
          <p:nvPr/>
        </p:nvSpPr>
        <p:spPr>
          <a:xfrm>
            <a:off x="658368" y="19568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03</a:t>
            </a:r>
          </a:p>
        </p:txBody>
      </p:sp>
      <p:sp>
        <p:nvSpPr>
          <p:cNvPr id="10" name="TextBox 9"/>
          <p:cNvSpPr txBox="1"/>
          <p:nvPr/>
        </p:nvSpPr>
        <p:spPr>
          <a:xfrm>
            <a:off x="1133856" y="19568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Two datasets, and why</a:t>
            </a:r>
          </a:p>
        </p:txBody>
      </p:sp>
      <p:sp>
        <p:nvSpPr>
          <p:cNvPr id="11" name="TextBox 10"/>
          <p:cNvSpPr txBox="1"/>
          <p:nvPr/>
        </p:nvSpPr>
        <p:spPr>
          <a:xfrm>
            <a:off x="658368" y="232257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04</a:t>
            </a:r>
          </a:p>
        </p:txBody>
      </p:sp>
      <p:sp>
        <p:nvSpPr>
          <p:cNvPr id="12" name="TextBox 11"/>
          <p:cNvSpPr txBox="1"/>
          <p:nvPr/>
        </p:nvSpPr>
        <p:spPr>
          <a:xfrm>
            <a:off x="1133856" y="232257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01 — cleaning and quality signals</a:t>
            </a:r>
          </a:p>
        </p:txBody>
      </p:sp>
      <p:sp>
        <p:nvSpPr>
          <p:cNvPr id="13" name="TextBox 12"/>
          <p:cNvSpPr txBox="1"/>
          <p:nvPr/>
        </p:nvSpPr>
        <p:spPr>
          <a:xfrm>
            <a:off x="658368" y="268833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05</a:t>
            </a:r>
          </a:p>
        </p:txBody>
      </p:sp>
      <p:sp>
        <p:nvSpPr>
          <p:cNvPr id="14" name="TextBox 13"/>
          <p:cNvSpPr txBox="1"/>
          <p:nvPr/>
        </p:nvSpPr>
        <p:spPr>
          <a:xfrm>
            <a:off x="1133856" y="268833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01 — rebuilding the unit hierarchy</a:t>
            </a:r>
          </a:p>
        </p:txBody>
      </p:sp>
      <p:sp>
        <p:nvSpPr>
          <p:cNvPr id="15" name="TextBox 14"/>
          <p:cNvSpPr txBox="1"/>
          <p:nvPr/>
        </p:nvSpPr>
        <p:spPr>
          <a:xfrm>
            <a:off x="658368" y="305409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06</a:t>
            </a:r>
          </a:p>
        </p:txBody>
      </p:sp>
      <p:sp>
        <p:nvSpPr>
          <p:cNvPr id="16" name="TextBox 15"/>
          <p:cNvSpPr txBox="1"/>
          <p:nvPr/>
        </p:nvSpPr>
        <p:spPr>
          <a:xfrm>
            <a:off x="1133856" y="305409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02 — how to validate without labels</a:t>
            </a:r>
          </a:p>
        </p:txBody>
      </p:sp>
      <p:sp>
        <p:nvSpPr>
          <p:cNvPr id="17" name="TextBox 16"/>
          <p:cNvSpPr txBox="1"/>
          <p:nvPr/>
        </p:nvSpPr>
        <p:spPr>
          <a:xfrm>
            <a:off x="658368" y="341985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07</a:t>
            </a:r>
          </a:p>
        </p:txBody>
      </p:sp>
      <p:sp>
        <p:nvSpPr>
          <p:cNvPr id="18" name="TextBox 17"/>
          <p:cNvSpPr txBox="1"/>
          <p:nvPr/>
        </p:nvSpPr>
        <p:spPr>
          <a:xfrm>
            <a:off x="1133856" y="341985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02 — valence: the two candidates</a:t>
            </a:r>
          </a:p>
        </p:txBody>
      </p:sp>
      <p:sp>
        <p:nvSpPr>
          <p:cNvPr id="19" name="TextBox 18"/>
          <p:cNvSpPr txBox="1"/>
          <p:nvPr/>
        </p:nvSpPr>
        <p:spPr>
          <a:xfrm>
            <a:off x="658368" y="37856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08</a:t>
            </a:r>
          </a:p>
        </p:txBody>
      </p:sp>
      <p:sp>
        <p:nvSpPr>
          <p:cNvPr id="20" name="TextBox 19"/>
          <p:cNvSpPr txBox="1"/>
          <p:nvPr/>
        </p:nvSpPr>
        <p:spPr>
          <a:xfrm>
            <a:off x="1133856" y="37856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Valence — the scale it produces</a:t>
            </a:r>
          </a:p>
        </p:txBody>
      </p:sp>
      <p:sp>
        <p:nvSpPr>
          <p:cNvPr id="21" name="TextBox 20"/>
          <p:cNvSpPr txBox="1"/>
          <p:nvPr/>
        </p:nvSpPr>
        <p:spPr>
          <a:xfrm>
            <a:off x="658368" y="415137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09</a:t>
            </a:r>
          </a:p>
        </p:txBody>
      </p:sp>
      <p:sp>
        <p:nvSpPr>
          <p:cNvPr id="22" name="TextBox 21"/>
          <p:cNvSpPr txBox="1"/>
          <p:nvPr/>
        </p:nvSpPr>
        <p:spPr>
          <a:xfrm>
            <a:off x="1133856" y="415137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03 — arousal: six candidates</a:t>
            </a:r>
          </a:p>
        </p:txBody>
      </p:sp>
      <p:sp>
        <p:nvSpPr>
          <p:cNvPr id="23" name="TextBox 22"/>
          <p:cNvSpPr txBox="1"/>
          <p:nvPr/>
        </p:nvSpPr>
        <p:spPr>
          <a:xfrm>
            <a:off x="658368" y="451713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10</a:t>
            </a:r>
          </a:p>
        </p:txBody>
      </p:sp>
      <p:sp>
        <p:nvSpPr>
          <p:cNvPr id="24" name="TextBox 23"/>
          <p:cNvSpPr txBox="1"/>
          <p:nvPr/>
        </p:nvSpPr>
        <p:spPr>
          <a:xfrm>
            <a:off x="1133856" y="451713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03 — the independence test</a:t>
            </a:r>
          </a:p>
        </p:txBody>
      </p:sp>
      <p:sp>
        <p:nvSpPr>
          <p:cNvPr id="25" name="TextBox 24"/>
          <p:cNvSpPr txBox="1"/>
          <p:nvPr/>
        </p:nvSpPr>
        <p:spPr>
          <a:xfrm>
            <a:off x="658368" y="488289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11</a:t>
            </a:r>
          </a:p>
        </p:txBody>
      </p:sp>
      <p:sp>
        <p:nvSpPr>
          <p:cNvPr id="26" name="TextBox 25"/>
          <p:cNvSpPr txBox="1"/>
          <p:nvPr/>
        </p:nvSpPr>
        <p:spPr>
          <a:xfrm>
            <a:off x="1133856" y="488289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Arousal — the scale it produces</a:t>
            </a:r>
          </a:p>
        </p:txBody>
      </p:sp>
      <p:sp>
        <p:nvSpPr>
          <p:cNvPr id="27" name="TextBox 26"/>
          <p:cNvSpPr txBox="1"/>
          <p:nvPr/>
        </p:nvSpPr>
        <p:spPr>
          <a:xfrm>
            <a:off x="658368" y="524865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12</a:t>
            </a:r>
          </a:p>
        </p:txBody>
      </p:sp>
      <p:sp>
        <p:nvSpPr>
          <p:cNvPr id="28" name="TextBox 27"/>
          <p:cNvSpPr txBox="1"/>
          <p:nvPr/>
        </p:nvSpPr>
        <p:spPr>
          <a:xfrm>
            <a:off x="1133856" y="524865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dirty="0">
                <a:solidFill>
                  <a:srgbClr val="33333A"/>
                </a:solidFill>
                <a:latin typeface="Calibri"/>
              </a:rPr>
              <a:t>Russell — affect as a circle</a:t>
            </a:r>
          </a:p>
        </p:txBody>
      </p:sp>
      <p:sp>
        <p:nvSpPr>
          <p:cNvPr id="29" name="TextBox 28"/>
          <p:cNvSpPr txBox="1"/>
          <p:nvPr/>
        </p:nvSpPr>
        <p:spPr>
          <a:xfrm>
            <a:off x="658368" y="56144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E8785A"/>
                </a:solidFill>
                <a:latin typeface="Calibri"/>
              </a:rPr>
              <a:t>13</a:t>
            </a:r>
          </a:p>
        </p:txBody>
      </p:sp>
      <p:sp>
        <p:nvSpPr>
          <p:cNvPr id="30" name="TextBox 29"/>
          <p:cNvSpPr txBox="1"/>
          <p:nvPr/>
        </p:nvSpPr>
        <p:spPr>
          <a:xfrm>
            <a:off x="1133856" y="56144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04 — the circumplex in ELFI</a:t>
            </a:r>
          </a:p>
        </p:txBody>
      </p:sp>
      <p:sp>
        <p:nvSpPr>
          <p:cNvPr id="31" name="TextBox 30"/>
          <p:cNvSpPr txBox="1"/>
          <p:nvPr/>
        </p:nvSpPr>
        <p:spPr>
          <a:xfrm>
            <a:off x="6370167" y="1645920"/>
            <a:ext cx="5163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THE CHAIN, MODELS, METHOD</a:t>
            </a:r>
          </a:p>
        </p:txBody>
      </p:sp>
      <p:sp>
        <p:nvSpPr>
          <p:cNvPr id="32" name="TextBox 31"/>
          <p:cNvSpPr txBox="1"/>
          <p:nvPr/>
        </p:nvSpPr>
        <p:spPr>
          <a:xfrm>
            <a:off x="6370167" y="19568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14</a:t>
            </a:r>
          </a:p>
        </p:txBody>
      </p:sp>
      <p:sp>
        <p:nvSpPr>
          <p:cNvPr id="33" name="TextBox 32"/>
          <p:cNvSpPr txBox="1"/>
          <p:nvPr/>
        </p:nvSpPr>
        <p:spPr>
          <a:xfrm>
            <a:off x="6845655" y="19568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Barrett — emotions as constructions</a:t>
            </a:r>
          </a:p>
        </p:txBody>
      </p:sp>
      <p:sp>
        <p:nvSpPr>
          <p:cNvPr id="34" name="TextBox 33"/>
          <p:cNvSpPr txBox="1"/>
          <p:nvPr/>
        </p:nvSpPr>
        <p:spPr>
          <a:xfrm>
            <a:off x="6370167" y="232257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15</a:t>
            </a:r>
          </a:p>
        </p:txBody>
      </p:sp>
      <p:sp>
        <p:nvSpPr>
          <p:cNvPr id="35" name="TextBox 34"/>
          <p:cNvSpPr txBox="1"/>
          <p:nvPr/>
        </p:nvSpPr>
        <p:spPr>
          <a:xfrm>
            <a:off x="6845655" y="232257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05 — how the themes are found</a:t>
            </a:r>
          </a:p>
        </p:txBody>
      </p:sp>
      <p:sp>
        <p:nvSpPr>
          <p:cNvPr id="36" name="TextBox 35"/>
          <p:cNvSpPr txBox="1"/>
          <p:nvPr/>
        </p:nvSpPr>
        <p:spPr>
          <a:xfrm>
            <a:off x="6370167" y="268833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16</a:t>
            </a:r>
          </a:p>
        </p:txBody>
      </p:sp>
      <p:sp>
        <p:nvSpPr>
          <p:cNvPr id="37" name="TextBox 36"/>
          <p:cNvSpPr txBox="1"/>
          <p:nvPr/>
        </p:nvSpPr>
        <p:spPr>
          <a:xfrm>
            <a:off x="6845655" y="268833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05 — does language predict engagement?</a:t>
            </a:r>
          </a:p>
        </p:txBody>
      </p:sp>
      <p:sp>
        <p:nvSpPr>
          <p:cNvPr id="38" name="TextBox 37"/>
          <p:cNvSpPr txBox="1"/>
          <p:nvPr/>
        </p:nvSpPr>
        <p:spPr>
          <a:xfrm>
            <a:off x="6370167" y="305409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17</a:t>
            </a:r>
          </a:p>
        </p:txBody>
      </p:sp>
      <p:sp>
        <p:nvSpPr>
          <p:cNvPr id="39" name="TextBox 38"/>
          <p:cNvSpPr txBox="1"/>
          <p:nvPr/>
        </p:nvSpPr>
        <p:spPr>
          <a:xfrm>
            <a:off x="6845655" y="305409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05 — the confound test</a:t>
            </a:r>
          </a:p>
        </p:txBody>
      </p:sp>
      <p:sp>
        <p:nvSpPr>
          <p:cNvPr id="40" name="TextBox 39"/>
          <p:cNvSpPr txBox="1"/>
          <p:nvPr/>
        </p:nvSpPr>
        <p:spPr>
          <a:xfrm>
            <a:off x="6370167" y="341985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18</a:t>
            </a:r>
          </a:p>
        </p:txBody>
      </p:sp>
      <p:sp>
        <p:nvSpPr>
          <p:cNvPr id="41" name="TextBox 40"/>
          <p:cNvSpPr txBox="1"/>
          <p:nvPr/>
        </p:nvSpPr>
        <p:spPr>
          <a:xfrm>
            <a:off x="6845655" y="341985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06 — the star schema and suppression</a:t>
            </a:r>
          </a:p>
        </p:txBody>
      </p:sp>
      <p:sp>
        <p:nvSpPr>
          <p:cNvPr id="42" name="TextBox 41"/>
          <p:cNvSpPr txBox="1"/>
          <p:nvPr/>
        </p:nvSpPr>
        <p:spPr>
          <a:xfrm>
            <a:off x="6370167" y="37856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19</a:t>
            </a:r>
          </a:p>
        </p:txBody>
      </p:sp>
      <p:sp>
        <p:nvSpPr>
          <p:cNvPr id="43" name="TextBox 42"/>
          <p:cNvSpPr txBox="1"/>
          <p:nvPr/>
        </p:nvSpPr>
        <p:spPr>
          <a:xfrm>
            <a:off x="6845655" y="37856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Step 07 — a data-driven axis (add-on)</a:t>
            </a:r>
          </a:p>
        </p:txBody>
      </p:sp>
      <p:sp>
        <p:nvSpPr>
          <p:cNvPr id="44" name="TextBox 43"/>
          <p:cNvSpPr txBox="1"/>
          <p:nvPr/>
        </p:nvSpPr>
        <p:spPr>
          <a:xfrm>
            <a:off x="6370167" y="415137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20</a:t>
            </a:r>
          </a:p>
        </p:txBody>
      </p:sp>
      <p:sp>
        <p:nvSpPr>
          <p:cNvPr id="45" name="TextBox 44"/>
          <p:cNvSpPr txBox="1"/>
          <p:nvPr/>
        </p:nvSpPr>
        <p:spPr>
          <a:xfrm>
            <a:off x="6845655" y="415137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The four models</a:t>
            </a:r>
          </a:p>
        </p:txBody>
      </p:sp>
      <p:sp>
        <p:nvSpPr>
          <p:cNvPr id="46" name="TextBox 45"/>
          <p:cNvSpPr txBox="1"/>
          <p:nvPr/>
        </p:nvSpPr>
        <p:spPr>
          <a:xfrm>
            <a:off x="6370167" y="451713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21</a:t>
            </a:r>
          </a:p>
        </p:txBody>
      </p:sp>
      <p:sp>
        <p:nvSpPr>
          <p:cNvPr id="47" name="TextBox 46"/>
          <p:cNvSpPr txBox="1"/>
          <p:nvPr/>
        </p:nvSpPr>
        <p:spPr>
          <a:xfrm>
            <a:off x="6845655" y="451713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The two word lists</a:t>
            </a:r>
          </a:p>
        </p:txBody>
      </p:sp>
      <p:sp>
        <p:nvSpPr>
          <p:cNvPr id="48" name="TextBox 47"/>
          <p:cNvSpPr txBox="1"/>
          <p:nvPr/>
        </p:nvSpPr>
        <p:spPr>
          <a:xfrm>
            <a:off x="6370167" y="488289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22</a:t>
            </a:r>
          </a:p>
        </p:txBody>
      </p:sp>
      <p:sp>
        <p:nvSpPr>
          <p:cNvPr id="49" name="TextBox 48"/>
          <p:cNvSpPr txBox="1"/>
          <p:nvPr/>
        </p:nvSpPr>
        <p:spPr>
          <a:xfrm>
            <a:off x="6845655" y="488289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Stopwords — the biggest single gain</a:t>
            </a:r>
          </a:p>
        </p:txBody>
      </p:sp>
      <p:sp>
        <p:nvSpPr>
          <p:cNvPr id="50" name="TextBox 49"/>
          <p:cNvSpPr txBox="1"/>
          <p:nvPr/>
        </p:nvSpPr>
        <p:spPr>
          <a:xfrm>
            <a:off x="6370167" y="524865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23</a:t>
            </a:r>
          </a:p>
        </p:txBody>
      </p:sp>
      <p:sp>
        <p:nvSpPr>
          <p:cNvPr id="51" name="TextBox 50"/>
          <p:cNvSpPr txBox="1"/>
          <p:nvPr/>
        </p:nvSpPr>
        <p:spPr>
          <a:xfrm>
            <a:off x="6845655" y="524865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How the quality of all this was judged</a:t>
            </a:r>
          </a:p>
        </p:txBody>
      </p:sp>
      <p:sp>
        <p:nvSpPr>
          <p:cNvPr id="52" name="TextBox 51"/>
          <p:cNvSpPr txBox="1"/>
          <p:nvPr/>
        </p:nvSpPr>
        <p:spPr>
          <a:xfrm>
            <a:off x="6370167" y="5614416"/>
            <a:ext cx="457200" cy="274320"/>
          </a:xfrm>
          <a:prstGeom prst="rect">
            <a:avLst/>
          </a:prstGeom>
          <a:noFill/>
        </p:spPr>
        <p:txBody>
          <a:bodyPr wrap="square" lIns="0" tIns="0" rIns="0" bIns="0">
            <a:spAutoFit/>
          </a:bodyPr>
          <a:lstStyle/>
          <a:p>
            <a:pPr algn="l">
              <a:lnSpc>
                <a:spcPct val="124000"/>
              </a:lnSpc>
              <a:spcBef>
                <a:spcPts val="0"/>
              </a:spcBef>
              <a:spcAft>
                <a:spcPts val="0"/>
              </a:spcAft>
            </a:pPr>
            <a:r>
              <a:rPr sz="1200" b="1">
                <a:solidFill>
                  <a:srgbClr val="3E9E96"/>
                </a:solidFill>
                <a:latin typeface="Calibri"/>
              </a:rPr>
              <a:t>24</a:t>
            </a:r>
          </a:p>
        </p:txBody>
      </p:sp>
      <p:sp>
        <p:nvSpPr>
          <p:cNvPr id="53" name="TextBox 52"/>
          <p:cNvSpPr txBox="1"/>
          <p:nvPr/>
        </p:nvSpPr>
        <p:spPr>
          <a:xfrm>
            <a:off x="6845655" y="5614416"/>
            <a:ext cx="4687671" cy="2743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What it cannot do</a:t>
            </a:r>
          </a:p>
        </p:txBody>
      </p:sp>
      <p:sp>
        <p:nvSpPr>
          <p:cNvPr id="54" name="TextBox 53"/>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03</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Two datasets, and why</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Quality figures from the real survey, content from the synthetic twin</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The real comments cannot be shown, so a synthetic twin was built first — and it turned out to be the better place to develop in anyway.</a:t>
            </a:r>
          </a:p>
        </p:txBody>
      </p:sp>
      <p:sp>
        <p:nvSpPr>
          <p:cNvPr id="9" name="TextBox 8"/>
          <p:cNvSpPr txBox="1"/>
          <p:nvPr/>
        </p:nvSpPr>
        <p:spPr>
          <a:xfrm>
            <a:off x="658368" y="2798064"/>
            <a:ext cx="5181447"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WHY A SYNTHETIC TWIN AT ALL</a:t>
            </a:r>
          </a:p>
        </p:txBody>
      </p:sp>
      <p:sp>
        <p:nvSpPr>
          <p:cNvPr id="10" name="TextBox 9"/>
          <p:cNvSpPr txBox="1"/>
          <p:nvPr/>
        </p:nvSpPr>
        <p:spPr>
          <a:xfrm>
            <a:off x="658368" y="3108960"/>
            <a:ext cx="5181447" cy="2194560"/>
          </a:xfrm>
          <a:prstGeom prst="rect">
            <a:avLst/>
          </a:prstGeom>
          <a:noFill/>
        </p:spPr>
        <p:txBody>
          <a:bodyPr wrap="square" lIns="0" tIns="0" rIns="0" bIns="0">
            <a:spAutoFit/>
          </a:bodyPr>
          <a:lstStyle/>
          <a:p>
            <a:pPr>
              <a:lnSpc>
                <a:spcPct val="122000"/>
              </a:lnSpc>
              <a:spcAft>
                <a:spcPts val="1000"/>
              </a:spcAft>
            </a:pPr>
            <a:r>
              <a:rPr sz="1300" b="1">
                <a:solidFill>
                  <a:srgbClr val="E8785A"/>
                </a:solidFill>
                <a:latin typeface="Calibri"/>
              </a:rPr>
              <a:t>—   </a:t>
            </a:r>
            <a:r>
              <a:rPr sz="1300">
                <a:solidFill>
                  <a:srgbClr val="33333A"/>
                </a:solidFill>
                <a:latin typeface="Calibri"/>
              </a:rPr>
              <a:t>Employee comments are confidential. They do not leave the company.</a:t>
            </a:r>
          </a:p>
          <a:p>
            <a:pPr>
              <a:lnSpc>
                <a:spcPct val="122000"/>
              </a:lnSpc>
              <a:spcAft>
                <a:spcPts val="1000"/>
              </a:spcAft>
            </a:pPr>
            <a:r>
              <a:rPr sz="1300" b="1">
                <a:solidFill>
                  <a:srgbClr val="E8785A"/>
                </a:solidFill>
                <a:latin typeface="Calibri"/>
              </a:rPr>
              <a:t>—   </a:t>
            </a:r>
            <a:r>
              <a:rPr sz="1300">
                <a:solidFill>
                  <a:srgbClr val="33333A"/>
                </a:solidFill>
                <a:latin typeface="Calibri"/>
              </a:rPr>
              <a:t>Every generated comment has a prescribed theme and a target valence — so the truth is known and the method can be checked against it.</a:t>
            </a:r>
          </a:p>
          <a:p>
            <a:pPr>
              <a:lnSpc>
                <a:spcPct val="122000"/>
              </a:lnSpc>
              <a:spcAft>
                <a:spcPts val="0"/>
              </a:spcAft>
            </a:pPr>
            <a:r>
              <a:rPr sz="1300" b="1">
                <a:solidFill>
                  <a:srgbClr val="E8785A"/>
                </a:solidFill>
                <a:latin typeface="Calibri"/>
              </a:rPr>
              <a:t>—   </a:t>
            </a:r>
            <a:r>
              <a:rPr sz="1300">
                <a:solidFill>
                  <a:srgbClr val="33333A"/>
                </a:solidFill>
                <a:latin typeface="Calibri"/>
              </a:rPr>
              <a:t>The whole chain could be built, tested and documented without touching a real comment.</a:t>
            </a:r>
          </a:p>
        </p:txBody>
      </p:sp>
      <p:sp>
        <p:nvSpPr>
          <p:cNvPr id="11" name="Rectangle 10"/>
          <p:cNvSpPr/>
          <p:nvPr/>
        </p:nvSpPr>
        <p:spPr>
          <a:xfrm>
            <a:off x="6351879" y="2688336"/>
            <a:ext cx="5181447" cy="248716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351879" y="2688336"/>
            <a:ext cx="5181447"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662775" y="2944368"/>
            <a:ext cx="4559655"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WHAT TRANSFERS AND WHAT DOES NOT</a:t>
            </a:r>
          </a:p>
        </p:txBody>
      </p:sp>
      <p:sp>
        <p:nvSpPr>
          <p:cNvPr id="14" name="TextBox 13"/>
          <p:cNvSpPr txBox="1"/>
          <p:nvPr/>
        </p:nvSpPr>
        <p:spPr>
          <a:xfrm>
            <a:off x="6662775" y="3255264"/>
            <a:ext cx="4559655" cy="1828800"/>
          </a:xfrm>
          <a:prstGeom prst="rect">
            <a:avLst/>
          </a:prstGeom>
          <a:noFill/>
        </p:spPr>
        <p:txBody>
          <a:bodyPr wrap="square" lIns="0" tIns="0" rIns="0" bIns="0">
            <a:spAutoFit/>
          </a:bodyPr>
          <a:lstStyle/>
          <a:p>
            <a:pPr>
              <a:lnSpc>
                <a:spcPct val="122000"/>
              </a:lnSpc>
              <a:spcAft>
                <a:spcPts val="1000"/>
              </a:spcAft>
            </a:pPr>
            <a:r>
              <a:rPr sz="1300" b="1">
                <a:solidFill>
                  <a:srgbClr val="3E9E96"/>
                </a:solidFill>
                <a:latin typeface="Calibri"/>
              </a:rPr>
              <a:t>—   </a:t>
            </a:r>
            <a:r>
              <a:rPr sz="1300">
                <a:solidFill>
                  <a:srgbClr val="33333A"/>
                </a:solidFill>
                <a:latin typeface="Calibri"/>
              </a:rPr>
              <a:t>The structure transfers: same 54 items, same export shape, same pipeline, same models.</a:t>
            </a:r>
          </a:p>
          <a:p>
            <a:pPr>
              <a:lnSpc>
                <a:spcPct val="122000"/>
              </a:lnSpc>
              <a:spcAft>
                <a:spcPts val="1000"/>
              </a:spcAft>
            </a:pPr>
            <a:r>
              <a:rPr sz="1300" b="1">
                <a:solidFill>
                  <a:srgbClr val="3E9E96"/>
                </a:solidFill>
                <a:latin typeface="Calibri"/>
              </a:rPr>
              <a:t>—   </a:t>
            </a:r>
            <a:r>
              <a:rPr sz="1300">
                <a:solidFill>
                  <a:srgbClr val="33333A"/>
                </a:solidFill>
                <a:latin typeface="Calibri"/>
              </a:rPr>
              <a:t>The order of the methods transfers: the same candidate wins on both.</a:t>
            </a:r>
          </a:p>
          <a:p>
            <a:pPr>
              <a:lnSpc>
                <a:spcPct val="122000"/>
              </a:lnSpc>
              <a:spcAft>
                <a:spcPts val="0"/>
              </a:spcAft>
            </a:pPr>
            <a:r>
              <a:rPr sz="1300" b="1">
                <a:solidFill>
                  <a:srgbClr val="3E9E96"/>
                </a:solidFill>
                <a:latin typeface="Calibri"/>
              </a:rPr>
              <a:t>—   </a:t>
            </a:r>
            <a:r>
              <a:rPr sz="1300">
                <a:solidFill>
                  <a:srgbClr val="33333A"/>
                </a:solidFill>
                <a:latin typeface="Calibri"/>
              </a:rPr>
              <a:t>The effect sizes do not. Synthetic comments say what they mean more plainly than real ones.</a:t>
            </a:r>
          </a:p>
        </p:txBody>
      </p:sp>
      <p:sp>
        <p:nvSpPr>
          <p:cNvPr id="15" name="TextBox 14"/>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Generated locally with Gemma 2 · 9B via Ollama. The generator itself is not shared.</a:t>
            </a:r>
          </a:p>
        </p:txBody>
      </p:sp>
      <p:sp>
        <p:nvSpPr>
          <p:cNvPr id="16" name="TextBox 15"/>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04</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01 — cleaning, and who to trust</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No row is ever deleted. Doubtful ones are marked.</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Two signals, and a rule that only fires when both agree.</a:t>
            </a:r>
          </a:p>
        </p:txBody>
      </p:sp>
      <p:sp>
        <p:nvSpPr>
          <p:cNvPr id="9" name="TextBox 8"/>
          <p:cNvSpPr txBox="1"/>
          <p:nvPr/>
        </p:nvSpPr>
        <p:spPr>
          <a:xfrm>
            <a:off x="658368" y="2674620"/>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Answered unusually fast</a:t>
            </a:r>
          </a:p>
        </p:txBody>
      </p:sp>
      <p:sp>
        <p:nvSpPr>
          <p:cNvPr id="10" name="Rectangle 9"/>
          <p:cNvSpPr/>
          <p:nvPr/>
        </p:nvSpPr>
        <p:spPr>
          <a:xfrm>
            <a:off x="3721608" y="2683764"/>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3721608" y="2683764"/>
            <a:ext cx="2886883"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061911" y="2674620"/>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4.7 %  (4.8 %)</a:t>
            </a:r>
          </a:p>
        </p:txBody>
      </p:sp>
      <p:sp>
        <p:nvSpPr>
          <p:cNvPr id="13" name="TextBox 12"/>
          <p:cNvSpPr txBox="1"/>
          <p:nvPr/>
        </p:nvSpPr>
        <p:spPr>
          <a:xfrm>
            <a:off x="3721608" y="2944368"/>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bottom 5 % of completion times</a:t>
            </a:r>
          </a:p>
        </p:txBody>
      </p:sp>
      <p:sp>
        <p:nvSpPr>
          <p:cNvPr id="14" name="TextBox 13"/>
          <p:cNvSpPr txBox="1"/>
          <p:nvPr/>
        </p:nvSpPr>
        <p:spPr>
          <a:xfrm>
            <a:off x="658368" y="3351276"/>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Almost no variation in answers</a:t>
            </a:r>
          </a:p>
        </p:txBody>
      </p:sp>
      <p:sp>
        <p:nvSpPr>
          <p:cNvPr id="15" name="Rectangle 14"/>
          <p:cNvSpPr/>
          <p:nvPr/>
        </p:nvSpPr>
        <p:spPr>
          <a:xfrm>
            <a:off x="3721608" y="3360420"/>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3721608" y="3360420"/>
            <a:ext cx="1596999"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7061911" y="3351276"/>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2.6 %  (2.1 %)</a:t>
            </a:r>
          </a:p>
        </p:txBody>
      </p:sp>
      <p:sp>
        <p:nvSpPr>
          <p:cNvPr id="18" name="TextBox 17"/>
          <p:cNvSpPr txBox="1"/>
          <p:nvPr/>
        </p:nvSpPr>
        <p:spPr>
          <a:xfrm>
            <a:off x="3721608" y="3621024"/>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answer spread below 0.3</a:t>
            </a:r>
          </a:p>
        </p:txBody>
      </p:sp>
      <p:sp>
        <p:nvSpPr>
          <p:cNvPr id="19" name="TextBox 18"/>
          <p:cNvSpPr txBox="1"/>
          <p:nvPr/>
        </p:nvSpPr>
        <p:spPr>
          <a:xfrm>
            <a:off x="658368" y="4027931"/>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Both at the same time — flagged</a:t>
            </a:r>
          </a:p>
        </p:txBody>
      </p:sp>
      <p:sp>
        <p:nvSpPr>
          <p:cNvPr id="20" name="Rectangle 19"/>
          <p:cNvSpPr/>
          <p:nvPr/>
        </p:nvSpPr>
        <p:spPr>
          <a:xfrm>
            <a:off x="3721608" y="4037075"/>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3721608" y="4037075"/>
            <a:ext cx="307115"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7061911" y="4027931"/>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0.5 %  (0.04 %)</a:t>
            </a:r>
          </a:p>
        </p:txBody>
      </p:sp>
      <p:sp>
        <p:nvSpPr>
          <p:cNvPr id="23" name="TextBox 22"/>
          <p:cNvSpPr txBox="1"/>
          <p:nvPr/>
        </p:nvSpPr>
        <p:spPr>
          <a:xfrm>
            <a:off x="3721608" y="4297679"/>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the only rule that fires</a:t>
            </a:r>
          </a:p>
        </p:txBody>
      </p:sp>
      <p:sp>
        <p:nvSpPr>
          <p:cNvPr id="24" name="TextBox 23"/>
          <p:cNvSpPr txBox="1"/>
          <p:nvPr/>
        </p:nvSpPr>
        <p:spPr>
          <a:xfrm>
            <a:off x="658368" y="4754880"/>
            <a:ext cx="7308799" cy="54864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Share of all questionnaires. Answering fast can mean decisive; low variation can mean a consistent opinion. Either signal alone would suspect a few percent on thin evidence.</a:t>
            </a:r>
          </a:p>
        </p:txBody>
      </p:sp>
      <p:sp>
        <p:nvSpPr>
          <p:cNvPr id="25" name="Rectangle 24"/>
          <p:cNvSpPr/>
          <p:nvPr/>
        </p:nvSpPr>
        <p:spPr>
          <a:xfrm>
            <a:off x="8287207" y="2560320"/>
            <a:ext cx="3246120" cy="283464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p:cNvSpPr/>
          <p:nvPr/>
        </p:nvSpPr>
        <p:spPr>
          <a:xfrm>
            <a:off x="8287207" y="2560320"/>
            <a:ext cx="3246120"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8598103" y="2816352"/>
            <a:ext cx="26517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WHY THE CUT SITS AT 0.3</a:t>
            </a:r>
          </a:p>
        </p:txBody>
      </p:sp>
      <p:sp>
        <p:nvSpPr>
          <p:cNvPr id="28" name="TextBox 27"/>
          <p:cNvSpPr txBox="1"/>
          <p:nvPr/>
        </p:nvSpPr>
        <p:spPr>
          <a:xfrm>
            <a:off x="8598103" y="3127248"/>
            <a:ext cx="2624327" cy="2240280"/>
          </a:xfrm>
          <a:prstGeom prst="rect">
            <a:avLst/>
          </a:prstGeom>
          <a:noFill/>
        </p:spPr>
        <p:txBody>
          <a:bodyPr wrap="square" lIns="0" tIns="0" rIns="0" bIns="0">
            <a:spAutoFit/>
          </a:bodyPr>
          <a:lstStyle/>
          <a:p>
            <a:pPr algn="l">
              <a:lnSpc>
                <a:spcPct val="124000"/>
              </a:lnSpc>
              <a:spcBef>
                <a:spcPts val="0"/>
              </a:spcBef>
              <a:spcAft>
                <a:spcPts val="800"/>
              </a:spcAft>
            </a:pPr>
            <a:r>
              <a:rPr sz="1200" b="0">
                <a:solidFill>
                  <a:srgbClr val="6E6B66"/>
                </a:solidFill>
                <a:latin typeface="Calibri"/>
              </a:rPr>
              <a:t>The spread of answers does not fade out smoothly towards zero. There is a spike at exactly zero — people who gave the identical answer to all 54 items — then an almost empty stretch, then the main distribution.</a:t>
            </a:r>
          </a:p>
          <a:p>
            <a:pPr algn="l">
              <a:lnSpc>
                <a:spcPct val="124000"/>
              </a:lnSpc>
              <a:spcBef>
                <a:spcPts val="0"/>
              </a:spcBef>
              <a:spcAft>
                <a:spcPts val="0"/>
              </a:spcAft>
            </a:pPr>
            <a:r>
              <a:rPr sz="1200" b="0">
                <a:solidFill>
                  <a:srgbClr val="33333A"/>
                </a:solidFill>
                <a:latin typeface="Calibri"/>
              </a:rPr>
              <a:t>The cut falls inside the empty stretch. It separates a real group instead of slicing a percentage off a curve.</a:t>
            </a:r>
          </a:p>
        </p:txBody>
      </p:sp>
      <p:sp>
        <p:nvSpPr>
          <p:cNvPr id="29" name="TextBox 28"/>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30" name="TextBox 29"/>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05</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01 — rebuilding the unit hierarchy</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Four levels are reconstructed. One of them is reported on.</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The survey asks for the business unit as a chain of dropdowns. Each answer decides which question comes next.</a:t>
            </a:r>
          </a:p>
        </p:txBody>
      </p:sp>
      <p:sp>
        <p:nvSpPr>
          <p:cNvPr id="9" name="TextBox 8"/>
          <p:cNvSpPr txBox="1"/>
          <p:nvPr/>
        </p:nvSpPr>
        <p:spPr>
          <a:xfrm>
            <a:off x="658368" y="2724912"/>
            <a:ext cx="6668719" cy="2606040"/>
          </a:xfrm>
          <a:prstGeom prst="rect">
            <a:avLst/>
          </a:prstGeom>
          <a:noFill/>
        </p:spPr>
        <p:txBody>
          <a:bodyPr wrap="square" lIns="0" tIns="0" rIns="0" bIns="0">
            <a:spAutoFit/>
          </a:bodyPr>
          <a:lstStyle/>
          <a:p>
            <a:pPr algn="l">
              <a:lnSpc>
                <a:spcPct val="126000"/>
              </a:lnSpc>
              <a:spcBef>
                <a:spcPts val="0"/>
              </a:spcBef>
              <a:spcAft>
                <a:spcPts val="1200"/>
              </a:spcAft>
            </a:pPr>
            <a:r>
              <a:rPr sz="1300" b="0">
                <a:solidFill>
                  <a:srgbClr val="6E6B66"/>
                </a:solidFill>
                <a:latin typeface="Calibri"/>
              </a:rPr>
              <a:t>Different survey runs asked about organisational belonging in different ways — those variants had to be mapped onto one common hierarchy before any unit could be compared at all.</a:t>
            </a:r>
          </a:p>
          <a:p>
            <a:pPr algn="l">
              <a:lnSpc>
                <a:spcPct val="126000"/>
              </a:lnSpc>
              <a:spcBef>
                <a:spcPts val="0"/>
              </a:spcBef>
              <a:spcAft>
                <a:spcPts val="1200"/>
              </a:spcAft>
            </a:pPr>
            <a:r>
              <a:rPr sz="1300" b="0">
                <a:solidFill>
                  <a:srgbClr val="33333A"/>
                </a:solidFill>
                <a:latin typeface="Calibri"/>
              </a:rPr>
              <a:t/>
            </a:r>
          </a:p>
          <a:p>
            <a:pPr algn="l">
              <a:lnSpc>
                <a:spcPct val="126000"/>
              </a:lnSpc>
              <a:spcBef>
                <a:spcPts val="0"/>
              </a:spcBef>
              <a:spcAft>
                <a:spcPts val="1200"/>
              </a:spcAft>
            </a:pPr>
            <a:r>
              <a:rPr sz="1300" b="0">
                <a:solidFill>
                  <a:srgbClr val="6E6B66"/>
                </a:solidFill>
                <a:latin typeface="Calibri"/>
              </a:rPr>
              <a:t>Codes are then normalised: whitespace, placeholder dashes, trailing brackets and a curated synonym table for the spellings people use for the same unit.</a:t>
            </a:r>
          </a:p>
          <a:p>
            <a:pPr algn="l">
              <a:lnSpc>
                <a:spcPct val="126000"/>
              </a:lnSpc>
              <a:spcBef>
                <a:spcPts val="0"/>
              </a:spcBef>
              <a:spcAft>
                <a:spcPts val="0"/>
              </a:spcAft>
            </a:pPr>
            <a:r>
              <a:rPr sz="1300" b="0">
                <a:solidFill>
                  <a:srgbClr val="33333A"/>
                </a:solidFill>
                <a:latin typeface="Calibri"/>
              </a:rPr>
              <a:t>The dashboard then reports at division level and no finer. The levels below are kept in the data — they are what makes a reliable division assignment possible in the first place — but nothing is evaluated on them.</a:t>
            </a:r>
          </a:p>
        </p:txBody>
      </p:sp>
      <p:sp>
        <p:nvSpPr>
          <p:cNvPr id="10" name="Rectangle 9"/>
          <p:cNvSpPr/>
          <p:nvPr/>
        </p:nvSpPr>
        <p:spPr>
          <a:xfrm>
            <a:off x="7601407" y="2066543"/>
            <a:ext cx="68580" cy="475488"/>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75727" y="2084831"/>
            <a:ext cx="3291840" cy="621792"/>
          </a:xfrm>
          <a:prstGeom prst="rect">
            <a:avLst/>
          </a:prstGeom>
          <a:noFill/>
        </p:spPr>
        <p:txBody>
          <a:bodyPr wrap="square" lIns="0" tIns="0" rIns="0" bIns="0">
            <a:spAutoFit/>
          </a:bodyPr>
          <a:lstStyle/>
          <a:p>
            <a:pPr algn="l">
              <a:lnSpc>
                <a:spcPct val="124000"/>
              </a:lnSpc>
              <a:spcBef>
                <a:spcPts val="0"/>
              </a:spcBef>
              <a:spcAft>
                <a:spcPts val="200"/>
              </a:spcAft>
            </a:pPr>
            <a:r>
              <a:rPr sz="1250" b="0">
                <a:solidFill>
                  <a:srgbClr val="6E6B66"/>
                </a:solidFill>
                <a:latin typeface="Calibri"/>
              </a:rPr>
              <a:t>Level 1</a:t>
            </a:r>
          </a:p>
          <a:p>
            <a:pPr algn="l">
              <a:lnSpc>
                <a:spcPct val="124000"/>
              </a:lnSpc>
              <a:spcBef>
                <a:spcPts val="0"/>
              </a:spcBef>
              <a:spcAft>
                <a:spcPts val="0"/>
              </a:spcAft>
            </a:pPr>
            <a:r>
              <a:rPr sz="1150" b="0">
                <a:solidFill>
                  <a:srgbClr val="9A968E"/>
                </a:solidFill>
                <a:latin typeface="Calibri"/>
              </a:rPr>
              <a:t>the organisation</a:t>
            </a:r>
          </a:p>
        </p:txBody>
      </p:sp>
      <p:sp>
        <p:nvSpPr>
          <p:cNvPr id="12" name="Rectangle 11"/>
          <p:cNvSpPr/>
          <p:nvPr/>
        </p:nvSpPr>
        <p:spPr>
          <a:xfrm>
            <a:off x="7875727" y="2724911"/>
            <a:ext cx="128016" cy="475488"/>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150047" y="2743199"/>
            <a:ext cx="3291840" cy="621792"/>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Level 2</a:t>
            </a:r>
          </a:p>
          <a:p>
            <a:pPr algn="l">
              <a:lnSpc>
                <a:spcPct val="124000"/>
              </a:lnSpc>
              <a:spcBef>
                <a:spcPts val="0"/>
              </a:spcBef>
              <a:spcAft>
                <a:spcPts val="0"/>
              </a:spcAft>
            </a:pPr>
            <a:r>
              <a:rPr sz="1150" b="0">
                <a:solidFill>
                  <a:srgbClr val="6E6B66"/>
                </a:solidFill>
                <a:latin typeface="Calibri"/>
              </a:rPr>
              <a:t>the division — everything is reported here</a:t>
            </a:r>
          </a:p>
        </p:txBody>
      </p:sp>
      <p:sp>
        <p:nvSpPr>
          <p:cNvPr id="14" name="Rectangle 13"/>
          <p:cNvSpPr/>
          <p:nvPr/>
        </p:nvSpPr>
        <p:spPr>
          <a:xfrm>
            <a:off x="8150047" y="3383279"/>
            <a:ext cx="68580" cy="475488"/>
          </a:xfrm>
          <a:prstGeom prst="rect">
            <a:avLst/>
          </a:prstGeom>
          <a:solidFill>
            <a:srgbClr val="9A96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424367" y="3401568"/>
            <a:ext cx="3291840" cy="621792"/>
          </a:xfrm>
          <a:prstGeom prst="rect">
            <a:avLst/>
          </a:prstGeom>
          <a:noFill/>
        </p:spPr>
        <p:txBody>
          <a:bodyPr wrap="square" lIns="0" tIns="0" rIns="0" bIns="0">
            <a:spAutoFit/>
          </a:bodyPr>
          <a:lstStyle/>
          <a:p>
            <a:pPr algn="l">
              <a:lnSpc>
                <a:spcPct val="124000"/>
              </a:lnSpc>
              <a:spcBef>
                <a:spcPts val="0"/>
              </a:spcBef>
              <a:spcAft>
                <a:spcPts val="200"/>
              </a:spcAft>
            </a:pPr>
            <a:r>
              <a:rPr sz="1250" b="0">
                <a:solidFill>
                  <a:srgbClr val="6E6B66"/>
                </a:solidFill>
                <a:latin typeface="Calibri"/>
              </a:rPr>
              <a:t>Level 3</a:t>
            </a:r>
          </a:p>
          <a:p>
            <a:pPr algn="l">
              <a:lnSpc>
                <a:spcPct val="124000"/>
              </a:lnSpc>
              <a:spcBef>
                <a:spcPts val="0"/>
              </a:spcBef>
              <a:spcAft>
                <a:spcPts val="0"/>
              </a:spcAft>
            </a:pPr>
            <a:r>
              <a:rPr sz="1150" b="0">
                <a:solidFill>
                  <a:srgbClr val="9A968E"/>
                </a:solidFill>
                <a:latin typeface="Calibri"/>
              </a:rPr>
              <a:t>finer units, kept but not evaluated</a:t>
            </a:r>
          </a:p>
        </p:txBody>
      </p:sp>
      <p:sp>
        <p:nvSpPr>
          <p:cNvPr id="16" name="Rectangle 15"/>
          <p:cNvSpPr/>
          <p:nvPr/>
        </p:nvSpPr>
        <p:spPr>
          <a:xfrm>
            <a:off x="8424367" y="4041648"/>
            <a:ext cx="68580" cy="475488"/>
          </a:xfrm>
          <a:prstGeom prst="rect">
            <a:avLst/>
          </a:prstGeom>
          <a:solidFill>
            <a:srgbClr val="9A96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698687" y="4059935"/>
            <a:ext cx="3291840" cy="621792"/>
          </a:xfrm>
          <a:prstGeom prst="rect">
            <a:avLst/>
          </a:prstGeom>
          <a:noFill/>
        </p:spPr>
        <p:txBody>
          <a:bodyPr wrap="square" lIns="0" tIns="0" rIns="0" bIns="0">
            <a:spAutoFit/>
          </a:bodyPr>
          <a:lstStyle/>
          <a:p>
            <a:pPr algn="l">
              <a:lnSpc>
                <a:spcPct val="124000"/>
              </a:lnSpc>
              <a:spcBef>
                <a:spcPts val="0"/>
              </a:spcBef>
              <a:spcAft>
                <a:spcPts val="200"/>
              </a:spcAft>
            </a:pPr>
            <a:r>
              <a:rPr sz="1250" b="0">
                <a:solidFill>
                  <a:srgbClr val="6E6B66"/>
                </a:solidFill>
                <a:latin typeface="Calibri"/>
              </a:rPr>
              <a:t>Level 4</a:t>
            </a:r>
          </a:p>
          <a:p>
            <a:pPr algn="l">
              <a:lnSpc>
                <a:spcPct val="124000"/>
              </a:lnSpc>
              <a:spcBef>
                <a:spcPts val="0"/>
              </a:spcBef>
              <a:spcAft>
                <a:spcPts val="0"/>
              </a:spcAft>
            </a:pPr>
            <a:r>
              <a:rPr sz="1150" b="0">
                <a:solidFill>
                  <a:srgbClr val="9A968E"/>
                </a:solidFill>
                <a:latin typeface="Calibri"/>
              </a:rPr>
              <a:t>finer still, kept but not evaluated</a:t>
            </a:r>
          </a:p>
        </p:txBody>
      </p:sp>
      <p:sp>
        <p:nvSpPr>
          <p:cNvPr id="18" name="TextBox 17"/>
          <p:cNvSpPr txBox="1"/>
          <p:nvPr/>
        </p:nvSpPr>
        <p:spPr>
          <a:xfrm>
            <a:off x="7601407" y="4846320"/>
            <a:ext cx="3931920" cy="109728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Reporting stops at division by design, not because of a threshold. Where a team can read its own handful of comments and talk about them, an aggregate adds nothing — reading is better. It earns its keep where reading is no longer possible.</a:t>
            </a:r>
          </a:p>
        </p:txBody>
      </p:sp>
      <p:sp>
        <p:nvSpPr>
          <p:cNvPr id="19" name="TextBox 18"/>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06</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02 — how do you validate without labels?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Nobody rated a single comment by hand</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The survey answers are the label that already exists.</a:t>
            </a:r>
          </a:p>
        </p:txBody>
      </p:sp>
      <p:sp>
        <p:nvSpPr>
          <p:cNvPr id="9" name="TextBox 8"/>
          <p:cNvSpPr txBox="1"/>
          <p:nvPr/>
        </p:nvSpPr>
        <p:spPr>
          <a:xfrm>
            <a:off x="658368" y="2706624"/>
            <a:ext cx="6760159" cy="914400"/>
          </a:xfrm>
          <a:prstGeom prst="rect">
            <a:avLst/>
          </a:prstGeom>
          <a:noFill/>
        </p:spPr>
        <p:txBody>
          <a:bodyPr wrap="square" lIns="0" tIns="0" rIns="0" bIns="0">
            <a:spAutoFit/>
          </a:bodyPr>
          <a:lstStyle/>
          <a:p>
            <a:pPr algn="l">
              <a:lnSpc>
                <a:spcPct val="126000"/>
              </a:lnSpc>
              <a:spcBef>
                <a:spcPts val="0"/>
              </a:spcBef>
              <a:spcAft>
                <a:spcPts val="0"/>
              </a:spcAft>
            </a:pPr>
            <a:r>
              <a:rPr sz="1350" b="0" dirty="0">
                <a:solidFill>
                  <a:srgbClr val="33333A"/>
                </a:solidFill>
                <a:latin typeface="Calibri"/>
              </a:rPr>
              <a:t>Each person wrote a comment and also ticked 54 scale questions. If a measure reads the comment correctly, it should line up with what the same person ticked elsewhere.</a:t>
            </a:r>
          </a:p>
        </p:txBody>
      </p:sp>
      <p:sp>
        <p:nvSpPr>
          <p:cNvPr id="10" name="Rectangle 9"/>
          <p:cNvSpPr/>
          <p:nvPr/>
        </p:nvSpPr>
        <p:spPr>
          <a:xfrm>
            <a:off x="658368" y="3553968"/>
            <a:ext cx="68580" cy="402336"/>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896112" y="3517392"/>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work enjoyment</a:t>
            </a:r>
          </a:p>
          <a:p>
            <a:pPr algn="l">
              <a:lnSpc>
                <a:spcPct val="124000"/>
              </a:lnSpc>
              <a:spcBef>
                <a:spcPts val="0"/>
              </a:spcBef>
              <a:spcAft>
                <a:spcPts val="0"/>
              </a:spcAft>
            </a:pPr>
            <a:r>
              <a:rPr sz="1100" b="0">
                <a:solidFill>
                  <a:srgbClr val="6E6B66"/>
                </a:solidFill>
                <a:latin typeface="Calibri"/>
              </a:rPr>
              <a:t>closest single measure of positive affect at work</a:t>
            </a:r>
          </a:p>
        </p:txBody>
      </p:sp>
      <p:sp>
        <p:nvSpPr>
          <p:cNvPr id="12" name="Rectangle 11"/>
          <p:cNvSpPr/>
          <p:nvPr/>
        </p:nvSpPr>
        <p:spPr>
          <a:xfrm>
            <a:off x="658368" y="4120896"/>
            <a:ext cx="68580" cy="402336"/>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896112" y="4084320"/>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employer recommendation</a:t>
            </a:r>
          </a:p>
          <a:p>
            <a:pPr algn="l">
              <a:lnSpc>
                <a:spcPct val="124000"/>
              </a:lnSpc>
              <a:spcBef>
                <a:spcPts val="0"/>
              </a:spcBef>
              <a:spcAft>
                <a:spcPts val="0"/>
              </a:spcAft>
            </a:pPr>
            <a:r>
              <a:rPr sz="1100" b="0">
                <a:solidFill>
                  <a:srgbClr val="6E6B66"/>
                </a:solidFill>
                <a:latin typeface="Calibri"/>
              </a:rPr>
              <a:t>would you recommend working here</a:t>
            </a:r>
          </a:p>
        </p:txBody>
      </p:sp>
      <p:sp>
        <p:nvSpPr>
          <p:cNvPr id="14" name="Rectangle 13"/>
          <p:cNvSpPr/>
          <p:nvPr/>
        </p:nvSpPr>
        <p:spPr>
          <a:xfrm>
            <a:off x="658368" y="4687824"/>
            <a:ext cx="68580" cy="402336"/>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896112" y="4651248"/>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team mood</a:t>
            </a:r>
          </a:p>
          <a:p>
            <a:pPr algn="l">
              <a:lnSpc>
                <a:spcPct val="124000"/>
              </a:lnSpc>
              <a:spcBef>
                <a:spcPts val="0"/>
              </a:spcBef>
              <a:spcAft>
                <a:spcPts val="0"/>
              </a:spcAft>
            </a:pPr>
            <a:r>
              <a:rPr sz="1100" b="0">
                <a:solidFill>
                  <a:srgbClr val="6E6B66"/>
                </a:solidFill>
                <a:latin typeface="Calibri"/>
              </a:rPr>
              <a:t>how the team feels to them</a:t>
            </a:r>
          </a:p>
        </p:txBody>
      </p:sp>
      <p:sp>
        <p:nvSpPr>
          <p:cNvPr id="16" name="Rectangle 15"/>
          <p:cNvSpPr/>
          <p:nvPr/>
        </p:nvSpPr>
        <p:spPr>
          <a:xfrm>
            <a:off x="5912967" y="3553968"/>
            <a:ext cx="68580" cy="402336"/>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150711" y="3517392"/>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work-life balance</a:t>
            </a:r>
          </a:p>
          <a:p>
            <a:pPr algn="l">
              <a:lnSpc>
                <a:spcPct val="124000"/>
              </a:lnSpc>
              <a:spcBef>
                <a:spcPts val="0"/>
              </a:spcBef>
              <a:spcAft>
                <a:spcPts val="0"/>
              </a:spcAft>
            </a:pPr>
            <a:r>
              <a:rPr sz="1100" b="0">
                <a:solidFill>
                  <a:srgbClr val="6E6B66"/>
                </a:solidFill>
                <a:latin typeface="Calibri"/>
              </a:rPr>
              <a:t>the balance they report</a:t>
            </a:r>
          </a:p>
        </p:txBody>
      </p:sp>
      <p:sp>
        <p:nvSpPr>
          <p:cNvPr id="18" name="Rectangle 17"/>
          <p:cNvSpPr/>
          <p:nvPr/>
        </p:nvSpPr>
        <p:spPr>
          <a:xfrm>
            <a:off x="5912967" y="4120896"/>
            <a:ext cx="68580" cy="402336"/>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150711" y="4084320"/>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engagement score</a:t>
            </a:r>
          </a:p>
          <a:p>
            <a:pPr algn="l">
              <a:lnSpc>
                <a:spcPct val="124000"/>
              </a:lnSpc>
              <a:spcBef>
                <a:spcPts val="0"/>
              </a:spcBef>
              <a:spcAft>
                <a:spcPts val="0"/>
              </a:spcAft>
            </a:pPr>
            <a:r>
              <a:rPr sz="1100" b="0">
                <a:solidFill>
                  <a:srgbClr val="6E6B66"/>
                </a:solidFill>
                <a:latin typeface="Calibri"/>
              </a:rPr>
              <a:t>average of five outcome items</a:t>
            </a:r>
          </a:p>
        </p:txBody>
      </p:sp>
      <p:sp>
        <p:nvSpPr>
          <p:cNvPr id="20" name="Rectangle 19"/>
          <p:cNvSpPr/>
          <p:nvPr/>
        </p:nvSpPr>
        <p:spPr>
          <a:xfrm>
            <a:off x="5912967" y="4687824"/>
            <a:ext cx="68580" cy="402336"/>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150711" y="4651248"/>
            <a:ext cx="4888839" cy="45720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overall score</a:t>
            </a:r>
          </a:p>
          <a:p>
            <a:pPr algn="l">
              <a:lnSpc>
                <a:spcPct val="124000"/>
              </a:lnSpc>
              <a:spcBef>
                <a:spcPts val="0"/>
              </a:spcBef>
              <a:spcAft>
                <a:spcPts val="0"/>
              </a:spcAft>
            </a:pPr>
            <a:r>
              <a:rPr sz="1100" b="0">
                <a:solidFill>
                  <a:srgbClr val="6E6B66"/>
                </a:solidFill>
                <a:latin typeface="Calibri"/>
              </a:rPr>
              <a:t>average across all 54 items</a:t>
            </a:r>
          </a:p>
        </p:txBody>
      </p:sp>
      <p:sp>
        <p:nvSpPr>
          <p:cNvPr id="22" name="Rectangle 21"/>
          <p:cNvSpPr/>
          <p:nvPr/>
        </p:nvSpPr>
        <p:spPr>
          <a:xfrm>
            <a:off x="7692847" y="2615184"/>
            <a:ext cx="3840480" cy="162306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7692847" y="2615184"/>
            <a:ext cx="3840480"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8003743" y="2852928"/>
            <a:ext cx="3200400" cy="168123"/>
          </a:xfrm>
          <a:prstGeom prst="rect">
            <a:avLst/>
          </a:prstGeom>
          <a:noFill/>
        </p:spPr>
        <p:txBody>
          <a:bodyPr wrap="square" lIns="0" tIns="0" rIns="0" bIns="0">
            <a:spAutoFit/>
          </a:bodyPr>
          <a:lstStyle/>
          <a:p>
            <a:pPr algn="l">
              <a:lnSpc>
                <a:spcPct val="124000"/>
              </a:lnSpc>
              <a:spcBef>
                <a:spcPts val="0"/>
              </a:spcBef>
              <a:spcAft>
                <a:spcPts val="0"/>
              </a:spcAft>
            </a:pPr>
            <a:r>
              <a:rPr sz="950" b="1" dirty="0">
                <a:solidFill>
                  <a:srgbClr val="7F70EC"/>
                </a:solidFill>
                <a:latin typeface="Calibri"/>
              </a:rPr>
              <a:t>SPEARMAN, NOT PEARSON</a:t>
            </a:r>
            <a:r>
              <a:rPr lang="de-DE" sz="950" b="1" dirty="0">
                <a:solidFill>
                  <a:srgbClr val="7F70EC"/>
                </a:solidFill>
                <a:latin typeface="Calibri"/>
              </a:rPr>
              <a:t> – Likert Scale </a:t>
            </a:r>
            <a:r>
              <a:rPr lang="de-DE" sz="950" b="1" dirty="0" err="1">
                <a:solidFill>
                  <a:srgbClr val="7F70EC"/>
                </a:solidFill>
                <a:latin typeface="Calibri"/>
              </a:rPr>
              <a:t>is</a:t>
            </a:r>
            <a:r>
              <a:rPr lang="de-DE" sz="950" b="1" dirty="0">
                <a:solidFill>
                  <a:srgbClr val="7F70EC"/>
                </a:solidFill>
                <a:latin typeface="Calibri"/>
              </a:rPr>
              <a:t> ordinal</a:t>
            </a:r>
            <a:endParaRPr sz="950" b="1" dirty="0">
              <a:solidFill>
                <a:srgbClr val="7F70EC"/>
              </a:solidFill>
              <a:latin typeface="Calibri"/>
            </a:endParaRPr>
          </a:p>
        </p:txBody>
      </p:sp>
      <p:sp>
        <p:nvSpPr>
          <p:cNvPr id="25" name="TextBox 24"/>
          <p:cNvSpPr txBox="1"/>
          <p:nvPr/>
        </p:nvSpPr>
        <p:spPr>
          <a:xfrm>
            <a:off x="8003743" y="3145536"/>
            <a:ext cx="3218688" cy="1005840"/>
          </a:xfrm>
          <a:prstGeom prst="rect">
            <a:avLst/>
          </a:prstGeom>
          <a:noFill/>
        </p:spPr>
        <p:txBody>
          <a:bodyPr wrap="square" lIns="0" tIns="0" rIns="0" bIns="0">
            <a:spAutoFit/>
          </a:bodyPr>
          <a:lstStyle/>
          <a:p>
            <a:pPr algn="l">
              <a:lnSpc>
                <a:spcPct val="124000"/>
              </a:lnSpc>
              <a:spcBef>
                <a:spcPts val="0"/>
              </a:spcBef>
              <a:spcAft>
                <a:spcPts val="0"/>
              </a:spcAft>
            </a:pPr>
            <a:r>
              <a:rPr sz="1200" b="0" dirty="0">
                <a:solidFill>
                  <a:srgbClr val="6E6B66"/>
                </a:solidFill>
                <a:latin typeface="Calibri"/>
              </a:rPr>
              <a:t>The measure only asks whether both put the comments in the same order. A five-point scale has no true distances between its steps, so ranking is the honest comparison.</a:t>
            </a:r>
          </a:p>
        </p:txBody>
      </p:sp>
      <p:sp>
        <p:nvSpPr>
          <p:cNvPr id="26" name="TextBox 25"/>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Four of the six overlap — three feed the engagement score, and the overall score averages everything. Effectively three groups, not six.</a:t>
            </a:r>
          </a:p>
        </p:txBody>
      </p:sp>
      <p:sp>
        <p:nvSpPr>
          <p:cNvPr id="27" name="TextBox 26"/>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6</a:t>
            </a:r>
          </a:p>
        </p:txBody>
      </p:sp>
      <p:sp>
        <p:nvSpPr>
          <p:cNvPr id="29" name="Textfeld 28">
            <a:extLst>
              <a:ext uri="{FF2B5EF4-FFF2-40B4-BE49-F238E27FC236}">
                <a16:creationId xmlns:a16="http://schemas.microsoft.com/office/drawing/2014/main" id="{296B1FED-3EF3-70D3-BA49-2764DB861E12}"/>
              </a:ext>
            </a:extLst>
          </p:cNvPr>
          <p:cNvSpPr txBox="1"/>
          <p:nvPr/>
        </p:nvSpPr>
        <p:spPr>
          <a:xfrm>
            <a:off x="658368" y="5343958"/>
            <a:ext cx="6783324" cy="596125"/>
          </a:xfrm>
          <a:prstGeom prst="rect">
            <a:avLst/>
          </a:prstGeom>
          <a:noFill/>
        </p:spPr>
        <p:txBody>
          <a:bodyPr wrap="square">
            <a:spAutoFit/>
          </a:bodyPr>
          <a:lstStyle/>
          <a:p>
            <a:pPr>
              <a:lnSpc>
                <a:spcPct val="126000"/>
              </a:lnSpc>
            </a:pPr>
            <a:r>
              <a:rPr lang="de-DE" sz="1350" dirty="0">
                <a:solidFill>
                  <a:srgbClr val="33333A"/>
                </a:solidFill>
                <a:latin typeface="Calibri"/>
              </a:rPr>
              <a:t>Some </a:t>
            </a:r>
            <a:r>
              <a:rPr lang="de-DE" sz="1350" dirty="0" err="1">
                <a:solidFill>
                  <a:srgbClr val="33333A"/>
                </a:solidFill>
                <a:latin typeface="Calibri"/>
              </a:rPr>
              <a:t>questions</a:t>
            </a:r>
            <a:r>
              <a:rPr lang="de-DE" sz="1350" dirty="0">
                <a:solidFill>
                  <a:srgbClr val="33333A"/>
                </a:solidFill>
                <a:latin typeface="Calibri"/>
              </a:rPr>
              <a:t> of </a:t>
            </a:r>
            <a:r>
              <a:rPr lang="de-DE" sz="1350" dirty="0" err="1">
                <a:solidFill>
                  <a:srgbClr val="33333A"/>
                </a:solidFill>
                <a:latin typeface="Calibri"/>
              </a:rPr>
              <a:t>substance</a:t>
            </a:r>
            <a:r>
              <a:rPr lang="de-DE" sz="1350" dirty="0">
                <a:solidFill>
                  <a:srgbClr val="33333A"/>
                </a:solidFill>
                <a:latin typeface="Calibri"/>
              </a:rPr>
              <a:t> </a:t>
            </a:r>
            <a:r>
              <a:rPr lang="de-DE" sz="1350" dirty="0" err="1">
                <a:solidFill>
                  <a:srgbClr val="33333A"/>
                </a:solidFill>
                <a:latin typeface="Calibri"/>
              </a:rPr>
              <a:t>are</a:t>
            </a:r>
            <a:r>
              <a:rPr lang="de-DE" sz="1350" dirty="0">
                <a:solidFill>
                  <a:srgbClr val="33333A"/>
                </a:solidFill>
                <a:latin typeface="Calibri"/>
              </a:rPr>
              <a:t> still open. </a:t>
            </a:r>
            <a:r>
              <a:rPr lang="de-DE" sz="1350" dirty="0" err="1">
                <a:solidFill>
                  <a:srgbClr val="33333A"/>
                </a:solidFill>
                <a:latin typeface="Calibri"/>
              </a:rPr>
              <a:t>They</a:t>
            </a:r>
            <a:r>
              <a:rPr lang="de-DE" sz="1350" dirty="0">
                <a:solidFill>
                  <a:srgbClr val="33333A"/>
                </a:solidFill>
                <a:latin typeface="Calibri"/>
              </a:rPr>
              <a:t> </a:t>
            </a:r>
            <a:r>
              <a:rPr lang="de-DE" sz="1350" dirty="0" err="1">
                <a:solidFill>
                  <a:srgbClr val="33333A"/>
                </a:solidFill>
                <a:latin typeface="Calibri"/>
              </a:rPr>
              <a:t>were</a:t>
            </a:r>
            <a:r>
              <a:rPr lang="de-DE" sz="1350" dirty="0">
                <a:solidFill>
                  <a:srgbClr val="33333A"/>
                </a:solidFill>
                <a:latin typeface="Calibri"/>
              </a:rPr>
              <a:t> </a:t>
            </a:r>
            <a:r>
              <a:rPr lang="de-DE" sz="1350" dirty="0" err="1">
                <a:solidFill>
                  <a:srgbClr val="33333A"/>
                </a:solidFill>
                <a:latin typeface="Calibri"/>
              </a:rPr>
              <a:t>accepted</a:t>
            </a:r>
            <a:r>
              <a:rPr lang="de-DE" sz="1350" dirty="0">
                <a:solidFill>
                  <a:srgbClr val="33333A"/>
                </a:solidFill>
                <a:latin typeface="Calibri"/>
              </a:rPr>
              <a:t> </a:t>
            </a:r>
            <a:r>
              <a:rPr lang="de-DE" sz="1350" dirty="0" err="1">
                <a:solidFill>
                  <a:srgbClr val="33333A"/>
                </a:solidFill>
                <a:latin typeface="Calibri"/>
              </a:rPr>
              <a:t>knowingly</a:t>
            </a:r>
            <a:r>
              <a:rPr lang="de-DE" sz="1350" dirty="0">
                <a:solidFill>
                  <a:srgbClr val="33333A"/>
                </a:solidFill>
                <a:latin typeface="Calibri"/>
              </a:rPr>
              <a:t>, </a:t>
            </a:r>
            <a:r>
              <a:rPr lang="de-DE" sz="1350" dirty="0" err="1">
                <a:solidFill>
                  <a:srgbClr val="33333A"/>
                </a:solidFill>
                <a:latin typeface="Calibri"/>
              </a:rPr>
              <a:t>within</a:t>
            </a:r>
            <a:r>
              <a:rPr lang="de-DE" sz="1350" dirty="0">
                <a:solidFill>
                  <a:srgbClr val="33333A"/>
                </a:solidFill>
                <a:latin typeface="Calibri"/>
              </a:rPr>
              <a:t> the time the </a:t>
            </a:r>
            <a:r>
              <a:rPr lang="de-DE" sz="1350" dirty="0" err="1">
                <a:solidFill>
                  <a:srgbClr val="33333A"/>
                </a:solidFill>
                <a:latin typeface="Calibri"/>
              </a:rPr>
              <a:t>project</a:t>
            </a:r>
            <a:r>
              <a:rPr lang="de-DE" sz="1350" dirty="0">
                <a:solidFill>
                  <a:srgbClr val="33333A"/>
                </a:solidFill>
                <a:latin typeface="Calibri"/>
              </a:rPr>
              <a:t> </a:t>
            </a:r>
            <a:r>
              <a:rPr lang="de-DE" sz="1350" dirty="0" err="1">
                <a:solidFill>
                  <a:srgbClr val="33333A"/>
                </a:solidFill>
                <a:latin typeface="Calibri"/>
              </a:rPr>
              <a:t>had</a:t>
            </a:r>
            <a:r>
              <a:rPr lang="de-DE" sz="1350" dirty="0">
                <a:solidFill>
                  <a:srgbClr val="33333A"/>
                </a:solidFill>
                <a:latin typeface="Calibri"/>
              </a:rPr>
              <a:t>, </a:t>
            </a:r>
            <a:r>
              <a:rPr lang="de-DE" sz="1350" dirty="0" err="1">
                <a:solidFill>
                  <a:srgbClr val="33333A"/>
                </a:solidFill>
                <a:latin typeface="Calibri"/>
              </a:rPr>
              <a:t>rather</a:t>
            </a:r>
            <a:r>
              <a:rPr lang="de-DE" sz="1350" dirty="0">
                <a:solidFill>
                  <a:srgbClr val="33333A"/>
                </a:solidFill>
                <a:latin typeface="Calibri"/>
              </a:rPr>
              <a:t> </a:t>
            </a:r>
            <a:r>
              <a:rPr lang="de-DE" sz="1350" dirty="0" err="1">
                <a:solidFill>
                  <a:srgbClr val="33333A"/>
                </a:solidFill>
                <a:latin typeface="Calibri"/>
              </a:rPr>
              <a:t>than</a:t>
            </a:r>
            <a:r>
              <a:rPr lang="de-DE" sz="1350" dirty="0">
                <a:solidFill>
                  <a:srgbClr val="33333A"/>
                </a:solidFill>
                <a:latin typeface="Calibri"/>
              </a:rPr>
              <a:t> </a:t>
            </a:r>
            <a:r>
              <a:rPr lang="de-DE" sz="1350" dirty="0" err="1">
                <a:solidFill>
                  <a:srgbClr val="33333A"/>
                </a:solidFill>
                <a:latin typeface="Calibri"/>
              </a:rPr>
              <a:t>overlooked</a:t>
            </a:r>
            <a:r>
              <a:rPr lang="de-DE" sz="1350" dirty="0">
                <a:solidFill>
                  <a:srgbClr val="33333A"/>
                </a:solidFill>
                <a:latin typeface="Calibri"/>
              </a:rPr>
              <a:t> — and </a:t>
            </a:r>
            <a:r>
              <a:rPr lang="de-DE" sz="1350" dirty="0" err="1">
                <a:solidFill>
                  <a:srgbClr val="33333A"/>
                </a:solidFill>
                <a:latin typeface="Calibri"/>
              </a:rPr>
              <a:t>they</a:t>
            </a:r>
            <a:r>
              <a:rPr lang="de-DE" sz="1350" dirty="0">
                <a:solidFill>
                  <a:srgbClr val="33333A"/>
                </a:solidFill>
                <a:latin typeface="Calibri"/>
              </a:rPr>
              <a:t> </a:t>
            </a:r>
            <a:r>
              <a:rPr lang="de-DE" sz="1350" dirty="0" err="1">
                <a:solidFill>
                  <a:srgbClr val="33333A"/>
                </a:solidFill>
                <a:latin typeface="Calibri"/>
              </a:rPr>
              <a:t>are</a:t>
            </a:r>
            <a:r>
              <a:rPr lang="de-DE" sz="1350" dirty="0">
                <a:solidFill>
                  <a:srgbClr val="33333A"/>
                </a:solidFill>
                <a:latin typeface="Calibri"/>
              </a:rPr>
              <a:t> still to </a:t>
            </a:r>
            <a:r>
              <a:rPr lang="de-DE" sz="1350" dirty="0" err="1">
                <a:solidFill>
                  <a:srgbClr val="33333A"/>
                </a:solidFill>
                <a:latin typeface="Calibri"/>
              </a:rPr>
              <a:t>be</a:t>
            </a:r>
            <a:r>
              <a:rPr lang="de-DE" sz="1350" dirty="0">
                <a:solidFill>
                  <a:srgbClr val="33333A"/>
                </a:solidFill>
                <a:latin typeface="Calibri"/>
              </a:rPr>
              <a:t> </a:t>
            </a:r>
            <a:r>
              <a:rPr lang="de-DE" sz="1350" dirty="0" err="1">
                <a:solidFill>
                  <a:srgbClr val="33333A"/>
                </a:solidFill>
                <a:latin typeface="Calibri"/>
              </a:rPr>
              <a:t>discussed</a:t>
            </a:r>
            <a:r>
              <a:rPr lang="de-DE" sz="1350" dirty="0">
                <a:solidFill>
                  <a:srgbClr val="33333A"/>
                </a:solidFill>
                <a:latin typeface="Calibri"/>
              </a:rPr>
              <a:t> </a:t>
            </a:r>
            <a:r>
              <a:rPr lang="de-DE" sz="1350" dirty="0" err="1">
                <a:solidFill>
                  <a:srgbClr val="33333A"/>
                </a:solidFill>
                <a:latin typeface="Calibri"/>
              </a:rPr>
              <a:t>with</a:t>
            </a:r>
            <a:r>
              <a:rPr lang="de-DE" sz="1350" dirty="0">
                <a:solidFill>
                  <a:srgbClr val="33333A"/>
                </a:solidFill>
                <a:latin typeface="Calibri"/>
              </a:rPr>
              <a:t> the </a:t>
            </a:r>
            <a:r>
              <a:rPr lang="de-DE" sz="1350" dirty="0" err="1">
                <a:solidFill>
                  <a:srgbClr val="33333A"/>
                </a:solidFill>
                <a:latin typeface="Calibri"/>
              </a:rPr>
              <a:t>survey</a:t>
            </a:r>
            <a:r>
              <a:rPr lang="de-DE" sz="1350" dirty="0">
                <a:solidFill>
                  <a:srgbClr val="33333A"/>
                </a:solidFill>
                <a:latin typeface="Calibri"/>
              </a:rPr>
              <a:t> </a:t>
            </a:r>
            <a:r>
              <a:rPr lang="de-DE" sz="1350" dirty="0" err="1">
                <a:solidFill>
                  <a:srgbClr val="33333A"/>
                </a:solidFill>
                <a:latin typeface="Calibri"/>
              </a:rPr>
              <a:t>team</a:t>
            </a:r>
            <a:r>
              <a:rPr lang="de-DE" sz="1350" dirty="0">
                <a:solidFill>
                  <a:srgbClr val="33333A"/>
                </a:solidFill>
                <a:latin typeface="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07</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02 — valence: the two candidates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 specialised sentiment model against a general language model</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96795"/>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Sentiment model — simple difference</a:t>
            </a:r>
          </a:p>
        </p:txBody>
      </p:sp>
      <p:sp>
        <p:nvSpPr>
          <p:cNvPr id="9" name="Rectangle 8"/>
          <p:cNvSpPr/>
          <p:nvPr/>
        </p:nvSpPr>
        <p:spPr>
          <a:xfrm>
            <a:off x="3721608" y="1805939"/>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3721608" y="1805939"/>
            <a:ext cx="1666434"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061911" y="1796795"/>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0.24  (0.30)</a:t>
            </a:r>
          </a:p>
        </p:txBody>
      </p:sp>
      <p:sp>
        <p:nvSpPr>
          <p:cNvPr id="12" name="TextBox 11"/>
          <p:cNvSpPr txBox="1"/>
          <p:nvPr/>
        </p:nvSpPr>
        <p:spPr>
          <a:xfrm>
            <a:off x="658368" y="2473452"/>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Sentiment model — neutrality-adjusted</a:t>
            </a:r>
          </a:p>
        </p:txBody>
      </p:sp>
      <p:sp>
        <p:nvSpPr>
          <p:cNvPr id="13" name="Rectangle 12"/>
          <p:cNvSpPr/>
          <p:nvPr/>
        </p:nvSpPr>
        <p:spPr>
          <a:xfrm>
            <a:off x="3721608" y="2482596"/>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3721608" y="2482596"/>
            <a:ext cx="1805303"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7061911" y="2473452"/>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0.26  (0.31)</a:t>
            </a:r>
          </a:p>
        </p:txBody>
      </p:sp>
      <p:sp>
        <p:nvSpPr>
          <p:cNvPr id="16" name="TextBox 15"/>
          <p:cNvSpPr txBox="1"/>
          <p:nvPr/>
        </p:nvSpPr>
        <p:spPr>
          <a:xfrm>
            <a:off x="3721608" y="2743200"/>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two scoring variants, almost the same result</a:t>
            </a:r>
          </a:p>
        </p:txBody>
      </p:sp>
      <p:sp>
        <p:nvSpPr>
          <p:cNvPr id="17" name="TextBox 16"/>
          <p:cNvSpPr txBox="1"/>
          <p:nvPr/>
        </p:nvSpPr>
        <p:spPr>
          <a:xfrm>
            <a:off x="658368" y="3150108"/>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Gemma 2 · 9B, judging blind</a:t>
            </a:r>
          </a:p>
        </p:txBody>
      </p:sp>
      <p:sp>
        <p:nvSpPr>
          <p:cNvPr id="18" name="Rectangle 17"/>
          <p:cNvSpPr/>
          <p:nvPr/>
        </p:nvSpPr>
        <p:spPr>
          <a:xfrm>
            <a:off x="3721608" y="3159252"/>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3721608" y="3159252"/>
            <a:ext cx="2707955"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061911" y="3150108"/>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dirty="0">
                <a:solidFill>
                  <a:srgbClr val="33333A"/>
                </a:solidFill>
                <a:latin typeface="Calibri"/>
              </a:rPr>
              <a:t>0.39  (0.39)</a:t>
            </a:r>
          </a:p>
        </p:txBody>
      </p:sp>
      <p:sp>
        <p:nvSpPr>
          <p:cNvPr id="21" name="TextBox 20"/>
          <p:cNvSpPr txBox="1"/>
          <p:nvPr/>
        </p:nvSpPr>
        <p:spPr>
          <a:xfrm>
            <a:off x="3721608" y="3419856"/>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better on all six criteria, on both datasets</a:t>
            </a:r>
          </a:p>
        </p:txBody>
      </p:sp>
      <p:sp>
        <p:nvSpPr>
          <p:cNvPr id="22" name="TextBox 21"/>
          <p:cNvSpPr txBox="1"/>
          <p:nvPr/>
        </p:nvSpPr>
        <p:spPr>
          <a:xfrm>
            <a:off x="658368" y="3877056"/>
            <a:ext cx="7308799" cy="1554480"/>
          </a:xfrm>
          <a:prstGeom prst="rect">
            <a:avLst/>
          </a:prstGeom>
          <a:noFill/>
        </p:spPr>
        <p:txBody>
          <a:bodyPr wrap="square" lIns="0" tIns="0" rIns="0" bIns="0">
            <a:spAutoFit/>
          </a:bodyPr>
          <a:lstStyle/>
          <a:p>
            <a:pPr algn="l">
              <a:lnSpc>
                <a:spcPct val="120000"/>
              </a:lnSpc>
              <a:spcBef>
                <a:spcPts val="0"/>
              </a:spcBef>
              <a:spcAft>
                <a:spcPts val="800"/>
              </a:spcAft>
            </a:pPr>
            <a:r>
              <a:rPr sz="1500" b="0">
                <a:solidFill>
                  <a:srgbClr val="33333A"/>
                </a:solidFill>
                <a:latin typeface="Calibri Light"/>
              </a:rPr>
              <a:t>Why the sentiment model loses: it is usually very sure.</a:t>
            </a:r>
          </a:p>
          <a:p>
            <a:pPr algn="l">
              <a:lnSpc>
                <a:spcPct val="124000"/>
              </a:lnSpc>
              <a:spcBef>
                <a:spcPts val="0"/>
              </a:spcBef>
              <a:spcAft>
                <a:spcPts val="800"/>
              </a:spcAft>
            </a:pPr>
            <a:r>
              <a:rPr sz="1250" b="0">
                <a:solidFill>
                  <a:srgbClr val="6E6B66"/>
                </a:solidFill>
                <a:latin typeface="Calibri"/>
              </a:rPr>
              <a:t>It puts almost all of its probability on one class, so two thirds of its scores land beyond ±0.9. Comments of quite different tone end up with nearly identical values. It separates positive from negative well and says little about degree.</a:t>
            </a:r>
          </a:p>
          <a:p>
            <a:pPr algn="l">
              <a:lnSpc>
                <a:spcPct val="124000"/>
              </a:lnSpc>
              <a:spcBef>
                <a:spcPts val="0"/>
              </a:spcBef>
              <a:spcAft>
                <a:spcPts val="0"/>
              </a:spcAft>
            </a:pPr>
            <a:r>
              <a:rPr sz="1100" b="0">
                <a:solidFill>
                  <a:srgbClr val="9A968E"/>
                </a:solidFill>
                <a:latin typeface="Calibri"/>
              </a:rPr>
              <a:t>Mean rank correlation across the six survey criteria.</a:t>
            </a:r>
          </a:p>
        </p:txBody>
      </p:sp>
      <p:sp>
        <p:nvSpPr>
          <p:cNvPr id="23" name="Rectangle 22"/>
          <p:cNvSpPr/>
          <p:nvPr/>
        </p:nvSpPr>
        <p:spPr>
          <a:xfrm>
            <a:off x="8287207" y="1755648"/>
            <a:ext cx="3246120" cy="2231136"/>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23"/>
          <p:cNvSpPr/>
          <p:nvPr/>
        </p:nvSpPr>
        <p:spPr>
          <a:xfrm>
            <a:off x="8287207" y="1755648"/>
            <a:ext cx="3246120"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24"/>
          <p:cNvSpPr txBox="1"/>
          <p:nvPr/>
        </p:nvSpPr>
        <p:spPr>
          <a:xfrm>
            <a:off x="8598103" y="1993392"/>
            <a:ext cx="26517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WHAT BLIND MEANS</a:t>
            </a:r>
          </a:p>
        </p:txBody>
      </p:sp>
      <p:sp>
        <p:nvSpPr>
          <p:cNvPr id="26" name="TextBox 25"/>
          <p:cNvSpPr txBox="1"/>
          <p:nvPr/>
        </p:nvSpPr>
        <p:spPr>
          <a:xfrm>
            <a:off x="8598103" y="2286000"/>
            <a:ext cx="2624327" cy="1737360"/>
          </a:xfrm>
          <a:prstGeom prst="rect">
            <a:avLst/>
          </a:prstGeom>
          <a:noFill/>
        </p:spPr>
        <p:txBody>
          <a:bodyPr wrap="square" lIns="0" tIns="0" rIns="0" bIns="0">
            <a:spAutoFit/>
          </a:bodyPr>
          <a:lstStyle/>
          <a:p>
            <a:pPr algn="l">
              <a:lnSpc>
                <a:spcPct val="124000"/>
              </a:lnSpc>
              <a:spcBef>
                <a:spcPts val="0"/>
              </a:spcBef>
              <a:spcAft>
                <a:spcPts val="800"/>
              </a:spcAft>
            </a:pPr>
            <a:r>
              <a:rPr sz="1200" b="0">
                <a:solidFill>
                  <a:srgbClr val="33333A"/>
                </a:solidFill>
                <a:latin typeface="Calibri"/>
              </a:rPr>
              <a:t>The prompt contains the comment text and nothing else. No scale answers, no business unit, no other comments.</a:t>
            </a:r>
          </a:p>
          <a:p>
            <a:pPr algn="l">
              <a:lnSpc>
                <a:spcPct val="124000"/>
              </a:lnSpc>
              <a:spcBef>
                <a:spcPts val="0"/>
              </a:spcBef>
              <a:spcAft>
                <a:spcPts val="0"/>
              </a:spcAft>
            </a:pPr>
            <a:r>
              <a:rPr sz="1200" b="0">
                <a:solidFill>
                  <a:srgbClr val="6E6B66"/>
                </a:solidFill>
                <a:latin typeface="Calibri"/>
              </a:rPr>
              <a:t>An anchored variant that was shown the sentiment score first did worse — it followed the number it was given.</a:t>
            </a:r>
          </a:p>
        </p:txBody>
      </p:sp>
      <p:sp>
        <p:nvSpPr>
          <p:cNvPr id="27" name="Rectangle 26"/>
          <p:cNvSpPr/>
          <p:nvPr/>
        </p:nvSpPr>
        <p:spPr>
          <a:xfrm>
            <a:off x="8287207" y="4133087"/>
            <a:ext cx="3246120" cy="148132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27"/>
          <p:cNvSpPr/>
          <p:nvPr/>
        </p:nvSpPr>
        <p:spPr>
          <a:xfrm>
            <a:off x="8287207" y="4133087"/>
            <a:ext cx="3246120"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8598103" y="4370831"/>
            <a:ext cx="26517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THE COST OF WINNING</a:t>
            </a:r>
          </a:p>
        </p:txBody>
      </p:sp>
      <p:sp>
        <p:nvSpPr>
          <p:cNvPr id="30" name="TextBox 29"/>
          <p:cNvSpPr txBox="1"/>
          <p:nvPr/>
        </p:nvSpPr>
        <p:spPr>
          <a:xfrm>
            <a:off x="8598103" y="4663440"/>
            <a:ext cx="2624327"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The language model uses only 18 distinct values. Fine for groups, too coarse to rank two single comments.</a:t>
            </a:r>
          </a:p>
        </p:txBody>
      </p:sp>
      <p:sp>
        <p:nvSpPr>
          <p:cNvPr id="31" name="TextBox 30"/>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32" name="TextBox 31"/>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08</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Valence — the scale it produces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 continuous quantity, read by an instrument that is not</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760159" cy="597984"/>
          </a:xfrm>
          <a:prstGeom prst="rect">
            <a:avLst/>
          </a:prstGeom>
          <a:noFill/>
        </p:spPr>
        <p:txBody>
          <a:bodyPr wrap="square" lIns="0" tIns="0" rIns="0" bIns="0">
            <a:spAutoFit/>
          </a:bodyPr>
          <a:lstStyle/>
          <a:p>
            <a:pPr>
              <a:lnSpc>
                <a:spcPct val="122000"/>
              </a:lnSpc>
            </a:pPr>
            <a:r>
              <a:rPr lang="de-DE" sz="1650" dirty="0">
                <a:solidFill>
                  <a:srgbClr val="33333A"/>
                </a:solidFill>
                <a:latin typeface="Calibri Light"/>
              </a:rPr>
              <a:t>Valence </a:t>
            </a:r>
            <a:r>
              <a:rPr lang="de-DE" sz="1650" dirty="0" err="1">
                <a:solidFill>
                  <a:srgbClr val="33333A"/>
                </a:solidFill>
                <a:latin typeface="Calibri Light"/>
              </a:rPr>
              <a:t>itself</a:t>
            </a:r>
            <a:r>
              <a:rPr lang="de-DE" sz="1650" dirty="0">
                <a:solidFill>
                  <a:srgbClr val="33333A"/>
                </a:solidFill>
                <a:latin typeface="Calibri Light"/>
              </a:rPr>
              <a:t> </a:t>
            </a:r>
            <a:r>
              <a:rPr lang="de-DE" sz="1650" dirty="0" err="1">
                <a:solidFill>
                  <a:srgbClr val="33333A"/>
                </a:solidFill>
                <a:latin typeface="Calibri Light"/>
              </a:rPr>
              <a:t>is</a:t>
            </a:r>
            <a:r>
              <a:rPr lang="de-DE" sz="1650" dirty="0">
                <a:solidFill>
                  <a:srgbClr val="33333A"/>
                </a:solidFill>
                <a:latin typeface="Calibri Light"/>
              </a:rPr>
              <a:t> </a:t>
            </a:r>
            <a:r>
              <a:rPr lang="de-DE" sz="1650" dirty="0" err="1">
                <a:solidFill>
                  <a:srgbClr val="33333A"/>
                </a:solidFill>
                <a:latin typeface="Calibri Light"/>
              </a:rPr>
              <a:t>continuous</a:t>
            </a:r>
            <a:r>
              <a:rPr lang="de-DE" sz="1650" dirty="0">
                <a:solidFill>
                  <a:srgbClr val="33333A"/>
                </a:solidFill>
                <a:latin typeface="Calibri Light"/>
              </a:rPr>
              <a:t>. The </a:t>
            </a:r>
            <a:r>
              <a:rPr lang="de-DE" sz="1650" dirty="0" err="1">
                <a:solidFill>
                  <a:srgbClr val="33333A"/>
                </a:solidFill>
                <a:latin typeface="Calibri Light"/>
              </a:rPr>
              <a:t>steps</a:t>
            </a:r>
            <a:r>
              <a:rPr lang="de-DE" sz="1650" dirty="0">
                <a:solidFill>
                  <a:srgbClr val="33333A"/>
                </a:solidFill>
                <a:latin typeface="Calibri Light"/>
              </a:rPr>
              <a:t> </a:t>
            </a:r>
            <a:r>
              <a:rPr lang="de-DE" sz="1650" dirty="0" err="1">
                <a:solidFill>
                  <a:srgbClr val="33333A"/>
                </a:solidFill>
                <a:latin typeface="Calibri Light"/>
              </a:rPr>
              <a:t>come</a:t>
            </a:r>
            <a:r>
              <a:rPr lang="de-DE" sz="1650" dirty="0">
                <a:solidFill>
                  <a:srgbClr val="33333A"/>
                </a:solidFill>
                <a:latin typeface="Calibri Light"/>
              </a:rPr>
              <a:t> </a:t>
            </a:r>
            <a:r>
              <a:rPr lang="de-DE" sz="1650" dirty="0" err="1">
                <a:solidFill>
                  <a:srgbClr val="33333A"/>
                </a:solidFill>
                <a:latin typeface="Calibri Light"/>
              </a:rPr>
              <a:t>from</a:t>
            </a:r>
            <a:r>
              <a:rPr lang="de-DE" sz="1650" dirty="0">
                <a:solidFill>
                  <a:srgbClr val="33333A"/>
                </a:solidFill>
                <a:latin typeface="Calibri Light"/>
              </a:rPr>
              <a:t> the </a:t>
            </a:r>
            <a:r>
              <a:rPr lang="de-DE" sz="1650" dirty="0" err="1">
                <a:solidFill>
                  <a:srgbClr val="33333A"/>
                </a:solidFill>
                <a:latin typeface="Calibri Light"/>
              </a:rPr>
              <a:t>instrument</a:t>
            </a:r>
            <a:r>
              <a:rPr lang="de-DE" sz="1650" dirty="0">
                <a:solidFill>
                  <a:srgbClr val="33333A"/>
                </a:solidFill>
                <a:latin typeface="Calibri Light"/>
              </a:rPr>
              <a:t>: a </a:t>
            </a:r>
            <a:r>
              <a:rPr lang="de-DE" sz="1650" dirty="0" err="1">
                <a:solidFill>
                  <a:srgbClr val="33333A"/>
                </a:solidFill>
                <a:latin typeface="Calibri Light"/>
              </a:rPr>
              <a:t>language</a:t>
            </a:r>
            <a:r>
              <a:rPr lang="de-DE" sz="1650" dirty="0">
                <a:solidFill>
                  <a:srgbClr val="33333A"/>
                </a:solidFill>
                <a:latin typeface="Calibri Light"/>
              </a:rPr>
              <a:t> </a:t>
            </a:r>
            <a:r>
              <a:rPr lang="de-DE" sz="1650" dirty="0" err="1">
                <a:solidFill>
                  <a:srgbClr val="33333A"/>
                </a:solidFill>
                <a:latin typeface="Calibri Light"/>
              </a:rPr>
              <a:t>model</a:t>
            </a:r>
            <a:r>
              <a:rPr lang="de-DE" sz="1650" dirty="0">
                <a:solidFill>
                  <a:srgbClr val="33333A"/>
                </a:solidFill>
                <a:latin typeface="Calibri Light"/>
              </a:rPr>
              <a:t> </a:t>
            </a:r>
            <a:r>
              <a:rPr lang="de-DE" sz="1650" dirty="0" err="1">
                <a:solidFill>
                  <a:srgbClr val="33333A"/>
                </a:solidFill>
                <a:latin typeface="Calibri Light"/>
              </a:rPr>
              <a:t>that</a:t>
            </a:r>
            <a:r>
              <a:rPr lang="de-DE" sz="1650" dirty="0">
                <a:solidFill>
                  <a:srgbClr val="33333A"/>
                </a:solidFill>
                <a:latin typeface="Calibri Light"/>
              </a:rPr>
              <a:t> </a:t>
            </a:r>
            <a:r>
              <a:rPr lang="de-DE" sz="1650" dirty="0" err="1">
                <a:solidFill>
                  <a:srgbClr val="33333A"/>
                </a:solidFill>
                <a:latin typeface="Calibri Light"/>
              </a:rPr>
              <a:t>has</a:t>
            </a:r>
            <a:r>
              <a:rPr lang="de-DE" sz="1650" dirty="0">
                <a:solidFill>
                  <a:srgbClr val="33333A"/>
                </a:solidFill>
                <a:latin typeface="Calibri Light"/>
              </a:rPr>
              <a:t> to </a:t>
            </a:r>
            <a:r>
              <a:rPr lang="de-DE" sz="1650" dirty="0" err="1">
                <a:solidFill>
                  <a:srgbClr val="33333A"/>
                </a:solidFill>
                <a:latin typeface="Calibri Light"/>
              </a:rPr>
              <a:t>write</a:t>
            </a:r>
            <a:r>
              <a:rPr lang="de-DE" sz="1650" dirty="0">
                <a:solidFill>
                  <a:srgbClr val="33333A"/>
                </a:solidFill>
                <a:latin typeface="Calibri Light"/>
              </a:rPr>
              <a:t> a </a:t>
            </a:r>
            <a:r>
              <a:rPr lang="de-DE" sz="1650" dirty="0" err="1">
                <a:solidFill>
                  <a:srgbClr val="33333A"/>
                </a:solidFill>
                <a:latin typeface="Calibri Light"/>
              </a:rPr>
              <a:t>number</a:t>
            </a:r>
            <a:r>
              <a:rPr lang="de-DE" sz="1650" dirty="0">
                <a:solidFill>
                  <a:srgbClr val="33333A"/>
                </a:solidFill>
                <a:latin typeface="Calibri Light"/>
              </a:rPr>
              <a:t>, not </a:t>
            </a:r>
            <a:r>
              <a:rPr lang="de-DE" sz="1650" dirty="0" err="1">
                <a:solidFill>
                  <a:srgbClr val="33333A"/>
                </a:solidFill>
                <a:latin typeface="Calibri Light"/>
              </a:rPr>
              <a:t>compute</a:t>
            </a:r>
            <a:r>
              <a:rPr lang="de-DE" sz="1650" dirty="0">
                <a:solidFill>
                  <a:srgbClr val="33333A"/>
                </a:solidFill>
                <a:latin typeface="Calibri Light"/>
              </a:rPr>
              <a:t> </a:t>
            </a:r>
            <a:r>
              <a:rPr lang="de-DE" sz="1650" dirty="0" err="1">
                <a:solidFill>
                  <a:srgbClr val="33333A"/>
                </a:solidFill>
                <a:latin typeface="Calibri Light"/>
              </a:rPr>
              <a:t>one</a:t>
            </a:r>
            <a:r>
              <a:rPr lang="de-DE" sz="1650" dirty="0">
                <a:solidFill>
                  <a:srgbClr val="33333A"/>
                </a:solidFill>
                <a:latin typeface="Calibri Light"/>
              </a:rPr>
              <a:t>.</a:t>
            </a:r>
            <a:endParaRPr sz="1650" dirty="0">
              <a:solidFill>
                <a:srgbClr val="33333A"/>
              </a:solidFill>
              <a:latin typeface="Calibri Light"/>
            </a:endParaRPr>
          </a:p>
        </p:txBody>
      </p:sp>
      <p:sp>
        <p:nvSpPr>
          <p:cNvPr id="9" name="TextBox 8"/>
          <p:cNvSpPr txBox="1"/>
          <p:nvPr/>
        </p:nvSpPr>
        <p:spPr>
          <a:xfrm>
            <a:off x="658368" y="2724912"/>
            <a:ext cx="6760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WHY IT ARRIVES IN STEPS</a:t>
            </a:r>
          </a:p>
        </p:txBody>
      </p:sp>
      <p:sp>
        <p:nvSpPr>
          <p:cNvPr id="10" name="TextBox 9"/>
          <p:cNvSpPr txBox="1"/>
          <p:nvPr/>
        </p:nvSpPr>
        <p:spPr>
          <a:xfrm>
            <a:off x="658368" y="3035808"/>
            <a:ext cx="6760159" cy="2148840"/>
          </a:xfrm>
          <a:prstGeom prst="rect">
            <a:avLst/>
          </a:prstGeom>
          <a:noFill/>
        </p:spPr>
        <p:txBody>
          <a:bodyPr wrap="square" lIns="0" tIns="0" rIns="0" bIns="0">
            <a:spAutoFit/>
          </a:bodyPr>
          <a:lstStyle/>
          <a:p>
            <a:pPr>
              <a:lnSpc>
                <a:spcPct val="122000"/>
              </a:lnSpc>
              <a:spcAft>
                <a:spcPts val="900"/>
              </a:spcAft>
            </a:pPr>
            <a:r>
              <a:rPr sz="1250" b="1">
                <a:solidFill>
                  <a:srgbClr val="E8785A"/>
                </a:solidFill>
                <a:latin typeface="Calibri"/>
              </a:rPr>
              <a:t>—   </a:t>
            </a:r>
            <a:r>
              <a:rPr sz="1250">
                <a:solidFill>
                  <a:srgbClr val="33333A"/>
                </a:solidFill>
                <a:latin typeface="Calibri"/>
              </a:rPr>
              <a:t>The prompt names five anchors — minus one, minus a half, zero, a half, one. The model leans on them and on the round values in between.</a:t>
            </a:r>
          </a:p>
          <a:p>
            <a:pPr>
              <a:lnSpc>
                <a:spcPct val="122000"/>
              </a:lnSpc>
              <a:spcAft>
                <a:spcPts val="900"/>
              </a:spcAft>
            </a:pPr>
            <a:r>
              <a:rPr sz="1250" b="1">
                <a:solidFill>
                  <a:srgbClr val="E8785A"/>
                </a:solidFill>
                <a:latin typeface="Calibri"/>
              </a:rPr>
              <a:t>—   </a:t>
            </a:r>
            <a:r>
              <a:rPr sz="1250">
                <a:solidFill>
                  <a:srgbClr val="33333A"/>
                </a:solidFill>
                <a:latin typeface="Calibri"/>
              </a:rPr>
              <a:t>It does not calculate a number, it writes one. „0.3“ is a short, likely sequence of tokens; „0.37“ is not. Round numbers dominate every text a model has ever been trained on.</a:t>
            </a:r>
          </a:p>
          <a:p>
            <a:pPr>
              <a:lnSpc>
                <a:spcPct val="122000"/>
              </a:lnSpc>
              <a:spcAft>
                <a:spcPts val="0"/>
              </a:spcAft>
            </a:pPr>
            <a:r>
              <a:rPr sz="1250" b="1">
                <a:solidFill>
                  <a:srgbClr val="E8785A"/>
                </a:solidFill>
                <a:latin typeface="Calibri"/>
              </a:rPr>
              <a:t>—   </a:t>
            </a:r>
            <a:r>
              <a:rPr sz="1250">
                <a:solidFill>
                  <a:srgbClr val="33333A"/>
                </a:solidFill>
                <a:latin typeface="Calibri"/>
              </a:rPr>
              <a:t>Decoding is deterministic, so there is no sampling noise to smear the values across the range. The same comment always lands on the same round value.</a:t>
            </a:r>
          </a:p>
        </p:txBody>
      </p:sp>
      <p:sp>
        <p:nvSpPr>
          <p:cNvPr id="11" name="TextBox 10"/>
          <p:cNvSpPr txBox="1"/>
          <p:nvPr/>
        </p:nvSpPr>
        <p:spPr>
          <a:xfrm>
            <a:off x="658368" y="5321808"/>
            <a:ext cx="6760159" cy="822960"/>
          </a:xfrm>
          <a:prstGeom prst="rect">
            <a:avLst/>
          </a:prstGeom>
          <a:noFill/>
        </p:spPr>
        <p:txBody>
          <a:bodyPr wrap="square" lIns="0" tIns="0" rIns="0" bIns="0">
            <a:spAutoFit/>
          </a:bodyPr>
          <a:lstStyle/>
          <a:p>
            <a:pPr algn="l">
              <a:lnSpc>
                <a:spcPct val="124000"/>
              </a:lnSpc>
              <a:spcBef>
                <a:spcPts val="0"/>
              </a:spcBef>
              <a:spcAft>
                <a:spcPts val="0"/>
              </a:spcAft>
            </a:pPr>
            <a:r>
              <a:rPr sz="1250" b="0" dirty="0">
                <a:solidFill>
                  <a:srgbClr val="33333A"/>
                </a:solidFill>
                <a:latin typeface="Calibri"/>
              </a:rPr>
              <a:t>The result: 27 distinct values (18 in the synthetic run), with 18 % of comments (21 %) sitting on the single most common one.</a:t>
            </a:r>
          </a:p>
        </p:txBody>
      </p:sp>
      <p:sp>
        <p:nvSpPr>
          <p:cNvPr id="12" name="Rectangle 11"/>
          <p:cNvSpPr/>
          <p:nvPr/>
        </p:nvSpPr>
        <p:spPr>
          <a:xfrm>
            <a:off x="7692847" y="2651760"/>
            <a:ext cx="3840480" cy="184708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7692847" y="2651760"/>
            <a:ext cx="3840480"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003743" y="2889504"/>
            <a:ext cx="320040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CONTINUOUS IS NOT THE SAME AS USABLE</a:t>
            </a:r>
          </a:p>
        </p:txBody>
      </p:sp>
      <p:sp>
        <p:nvSpPr>
          <p:cNvPr id="15" name="TextBox 14"/>
          <p:cNvSpPr txBox="1"/>
          <p:nvPr/>
        </p:nvSpPr>
        <p:spPr>
          <a:xfrm>
            <a:off x="8003743" y="3182112"/>
            <a:ext cx="3218688" cy="1298448"/>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The sentiment model was continuous — 4,270 distinct values, essentially one per comment. And it was the worse instrument: 56 % of its scores sit beyond ±0.9. Infinitely many steps, nearly all of them at the two ends.</a:t>
            </a:r>
          </a:p>
        </p:txBody>
      </p:sp>
      <p:sp>
        <p:nvSpPr>
          <p:cNvPr id="16" name="Rectangle 15"/>
          <p:cNvSpPr/>
          <p:nvPr/>
        </p:nvSpPr>
        <p:spPr>
          <a:xfrm>
            <a:off x="7692847" y="4608576"/>
            <a:ext cx="3840480" cy="175564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7692847" y="4608576"/>
            <a:ext cx="3840480"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003743" y="4846320"/>
            <a:ext cx="320040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AND WHY IT IS NOT RANK-NORMALISED</a:t>
            </a:r>
          </a:p>
        </p:txBody>
      </p:sp>
      <p:sp>
        <p:nvSpPr>
          <p:cNvPr id="19" name="TextBox 18"/>
          <p:cNvSpPr txBox="1"/>
          <p:nvPr/>
        </p:nvSpPr>
        <p:spPr>
          <a:xfrm>
            <a:off x="8003743" y="5138928"/>
            <a:ext cx="3218688" cy="118872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Because its zero is defined, not statistical: the prompt calls it neutral. Ranking would move that zero onto the median comment — and where most comments are unpleasant, unpleasant ones would end up in the pleasant half.</a:t>
            </a:r>
          </a:p>
        </p:txBody>
      </p:sp>
      <p:sp>
        <p:nvSpPr>
          <p:cNvPr id="20" name="TextBox 19"/>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21" name="TextBox 20"/>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09</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03 — arousal: six candidates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Same procedure as valence, opposite outcome</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730879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The more a method interprets the text, the worse it does here.</a:t>
            </a:r>
          </a:p>
        </p:txBody>
      </p:sp>
      <p:sp>
        <p:nvSpPr>
          <p:cNvPr id="9" name="TextBox 8"/>
          <p:cNvSpPr txBox="1"/>
          <p:nvPr/>
        </p:nvSpPr>
        <p:spPr>
          <a:xfrm>
            <a:off x="658368" y="2674620"/>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dirty="0">
                <a:solidFill>
                  <a:srgbClr val="6E6B66"/>
                </a:solidFill>
                <a:latin typeface="Calibri"/>
              </a:rPr>
              <a:t>Emotion classifier, 28 categories</a:t>
            </a:r>
          </a:p>
        </p:txBody>
      </p:sp>
      <p:sp>
        <p:nvSpPr>
          <p:cNvPr id="10" name="Rectangle 9"/>
          <p:cNvSpPr/>
          <p:nvPr/>
        </p:nvSpPr>
        <p:spPr>
          <a:xfrm>
            <a:off x="3721608" y="2683764"/>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3721608" y="2683764"/>
            <a:ext cx="931583"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7061911" y="2674620"/>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0.07  (0.03)</a:t>
            </a:r>
          </a:p>
        </p:txBody>
      </p:sp>
      <p:sp>
        <p:nvSpPr>
          <p:cNvPr id="13" name="TextBox 12"/>
          <p:cNvSpPr txBox="1"/>
          <p:nvPr/>
        </p:nvSpPr>
        <p:spPr>
          <a:xfrm>
            <a:off x="658368" y="3095244"/>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Gemma 2 · 9B, judging blind</a:t>
            </a:r>
          </a:p>
        </p:txBody>
      </p:sp>
      <p:sp>
        <p:nvSpPr>
          <p:cNvPr id="14" name="Rectangle 13"/>
          <p:cNvSpPr/>
          <p:nvPr/>
        </p:nvSpPr>
        <p:spPr>
          <a:xfrm>
            <a:off x="3721608" y="3104388"/>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3721608" y="3104388"/>
            <a:ext cx="1463916"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7061911" y="3095244"/>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0.11  (0.09)</a:t>
            </a:r>
          </a:p>
        </p:txBody>
      </p:sp>
      <p:sp>
        <p:nvSpPr>
          <p:cNvPr id="17" name="TextBox 16"/>
          <p:cNvSpPr txBox="1"/>
          <p:nvPr/>
        </p:nvSpPr>
        <p:spPr>
          <a:xfrm>
            <a:off x="658368" y="3529584"/>
            <a:ext cx="329184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WORD NORMS — FOUR WAYS TO AGGREGATE</a:t>
            </a:r>
          </a:p>
        </p:txBody>
      </p:sp>
      <p:sp>
        <p:nvSpPr>
          <p:cNvPr id="18" name="Rectangle 17"/>
          <p:cNvSpPr/>
          <p:nvPr/>
        </p:nvSpPr>
        <p:spPr>
          <a:xfrm>
            <a:off x="658368" y="3753611"/>
            <a:ext cx="3017520" cy="10972"/>
          </a:xfrm>
          <a:prstGeom prst="rect">
            <a:avLst/>
          </a:prstGeom>
          <a:solidFill>
            <a:srgbClr val="D9CBB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914400" y="3881628"/>
            <a:ext cx="2807208"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the single peak word</a:t>
            </a:r>
          </a:p>
        </p:txBody>
      </p:sp>
      <p:sp>
        <p:nvSpPr>
          <p:cNvPr id="20" name="Rectangle 19"/>
          <p:cNvSpPr/>
          <p:nvPr/>
        </p:nvSpPr>
        <p:spPr>
          <a:xfrm>
            <a:off x="3721608" y="3890772"/>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3721608" y="3890772"/>
            <a:ext cx="1463916"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7061911" y="3881628"/>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0.11  (0.17)</a:t>
            </a:r>
          </a:p>
        </p:txBody>
      </p:sp>
      <p:sp>
        <p:nvSpPr>
          <p:cNvPr id="23" name="TextBox 22"/>
          <p:cNvSpPr txBox="1"/>
          <p:nvPr/>
        </p:nvSpPr>
        <p:spPr>
          <a:xfrm>
            <a:off x="914400" y="4302252"/>
            <a:ext cx="2807208"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three most extreme words</a:t>
            </a:r>
          </a:p>
        </p:txBody>
      </p:sp>
      <p:sp>
        <p:nvSpPr>
          <p:cNvPr id="24" name="Rectangle 23"/>
          <p:cNvSpPr/>
          <p:nvPr/>
        </p:nvSpPr>
        <p:spPr>
          <a:xfrm>
            <a:off x="3721608" y="4311396"/>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721608" y="4311396"/>
            <a:ext cx="1596999"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7061911" y="4302252"/>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0.12  (0.15)</a:t>
            </a:r>
          </a:p>
        </p:txBody>
      </p:sp>
      <p:sp>
        <p:nvSpPr>
          <p:cNvPr id="27" name="TextBox 26"/>
          <p:cNvSpPr txBox="1"/>
          <p:nvPr/>
        </p:nvSpPr>
        <p:spPr>
          <a:xfrm>
            <a:off x="914400" y="4722876"/>
            <a:ext cx="2807208"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mean over all words</a:t>
            </a:r>
          </a:p>
        </p:txBody>
      </p:sp>
      <p:sp>
        <p:nvSpPr>
          <p:cNvPr id="28" name="Rectangle 27"/>
          <p:cNvSpPr/>
          <p:nvPr/>
        </p:nvSpPr>
        <p:spPr>
          <a:xfrm>
            <a:off x="3721608" y="4732020"/>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Rectangle 28"/>
          <p:cNvSpPr/>
          <p:nvPr/>
        </p:nvSpPr>
        <p:spPr>
          <a:xfrm>
            <a:off x="3721608" y="4732020"/>
            <a:ext cx="2528582"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29"/>
          <p:cNvSpPr txBox="1"/>
          <p:nvPr/>
        </p:nvSpPr>
        <p:spPr>
          <a:xfrm>
            <a:off x="7061911" y="4722876"/>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0.19  (0.17)</a:t>
            </a:r>
          </a:p>
        </p:txBody>
      </p:sp>
      <p:sp>
        <p:nvSpPr>
          <p:cNvPr id="31" name="TextBox 30"/>
          <p:cNvSpPr txBox="1"/>
          <p:nvPr/>
        </p:nvSpPr>
        <p:spPr>
          <a:xfrm>
            <a:off x="914400" y="5143500"/>
            <a:ext cx="2807208"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mean, stopwords removed</a:t>
            </a:r>
          </a:p>
        </p:txBody>
      </p:sp>
      <p:sp>
        <p:nvSpPr>
          <p:cNvPr id="32" name="Rectangle 31"/>
          <p:cNvSpPr/>
          <p:nvPr/>
        </p:nvSpPr>
        <p:spPr>
          <a:xfrm>
            <a:off x="3721608" y="5152644"/>
            <a:ext cx="31939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3721608" y="5152644"/>
            <a:ext cx="2927832"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7061911" y="5143500"/>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0.22  (0.22)</a:t>
            </a:r>
          </a:p>
        </p:txBody>
      </p:sp>
      <p:sp>
        <p:nvSpPr>
          <p:cNvPr id="35" name="TextBox 34"/>
          <p:cNvSpPr txBox="1"/>
          <p:nvPr/>
        </p:nvSpPr>
        <p:spPr>
          <a:xfrm>
            <a:off x="3721608" y="5413248"/>
            <a:ext cx="39712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this last step is the stopword list alone</a:t>
            </a:r>
          </a:p>
        </p:txBody>
      </p:sp>
      <p:sp>
        <p:nvSpPr>
          <p:cNvPr id="36" name="TextBox 35"/>
          <p:cNvSpPr txBox="1"/>
          <p:nvPr/>
        </p:nvSpPr>
        <p:spPr>
          <a:xfrm>
            <a:off x="658368" y="5797296"/>
            <a:ext cx="7308799" cy="54864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Rank correlation against BAWL-R, a word list rated by people, independent of the norms the measure is built from.</a:t>
            </a:r>
          </a:p>
        </p:txBody>
      </p:sp>
      <p:sp>
        <p:nvSpPr>
          <p:cNvPr id="37" name="Rectangle 36"/>
          <p:cNvSpPr/>
          <p:nvPr/>
        </p:nvSpPr>
        <p:spPr>
          <a:xfrm>
            <a:off x="8287207" y="2560320"/>
            <a:ext cx="3246120" cy="2940712"/>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Rectangle 37"/>
          <p:cNvSpPr/>
          <p:nvPr/>
        </p:nvSpPr>
        <p:spPr>
          <a:xfrm>
            <a:off x="8287207" y="2560320"/>
            <a:ext cx="3246120"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8598103" y="2798064"/>
            <a:ext cx="26517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WHY THE SIMPLEST ONE WINS</a:t>
            </a:r>
          </a:p>
        </p:txBody>
      </p:sp>
      <p:sp>
        <p:nvSpPr>
          <p:cNvPr id="40" name="TextBox 39"/>
          <p:cNvSpPr txBox="1"/>
          <p:nvPr/>
        </p:nvSpPr>
        <p:spPr>
          <a:xfrm>
            <a:off x="8598103" y="3090672"/>
            <a:ext cx="2624327" cy="2286000"/>
          </a:xfrm>
          <a:prstGeom prst="rect">
            <a:avLst/>
          </a:prstGeom>
          <a:noFill/>
        </p:spPr>
        <p:txBody>
          <a:bodyPr wrap="square" lIns="0" tIns="0" rIns="0" bIns="0">
            <a:spAutoFit/>
          </a:bodyPr>
          <a:lstStyle/>
          <a:p>
            <a:pPr algn="l">
              <a:lnSpc>
                <a:spcPct val="124000"/>
              </a:lnSpc>
              <a:spcBef>
                <a:spcPts val="0"/>
              </a:spcBef>
              <a:spcAft>
                <a:spcPts val="900"/>
              </a:spcAft>
            </a:pPr>
            <a:r>
              <a:rPr sz="1200" b="0">
                <a:solidFill>
                  <a:srgbClr val="33333A"/>
                </a:solidFill>
                <a:latin typeface="Calibri"/>
              </a:rPr>
              <a:t>Activation is a property of single words. „Shouting“ and „exhausted“ carry it whatever sentence they sit in.</a:t>
            </a:r>
          </a:p>
          <a:p>
            <a:pPr algn="l">
              <a:lnSpc>
                <a:spcPct val="124000"/>
              </a:lnSpc>
              <a:spcBef>
                <a:spcPts val="0"/>
              </a:spcBef>
              <a:spcAft>
                <a:spcPts val="900"/>
              </a:spcAft>
            </a:pPr>
            <a:r>
              <a:rPr sz="1200" b="0">
                <a:solidFill>
                  <a:srgbClr val="6E6B66"/>
                </a:solidFill>
                <a:latin typeface="Calibri"/>
              </a:rPr>
              <a:t>Reading for meaning does not help with that — and it drags the first dimension in, which is the next slide.</a:t>
            </a:r>
          </a:p>
          <a:p>
            <a:pPr algn="l">
              <a:lnSpc>
                <a:spcPct val="124000"/>
              </a:lnSpc>
              <a:spcBef>
                <a:spcPts val="0"/>
              </a:spcBef>
              <a:spcAft>
                <a:spcPts val="0"/>
              </a:spcAft>
            </a:pPr>
            <a:r>
              <a:rPr sz="1200" b="0">
                <a:solidFill>
                  <a:srgbClr val="6E6B66"/>
                </a:solidFill>
                <a:latin typeface="Calibri"/>
              </a:rPr>
              <a:t>The dictionary has no idea about negation, syntax or irony. Here that is not a handicap.</a:t>
            </a:r>
          </a:p>
        </p:txBody>
      </p:sp>
      <p:sp>
        <p:nvSpPr>
          <p:cNvPr id="41" name="TextBox 40"/>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42" name="TextBox 41"/>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10</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03 — the test that decided it</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 second axis must not be the first one in disguise</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dirty="0">
                <a:solidFill>
                  <a:srgbClr val="33333A"/>
                </a:solidFill>
                <a:latin typeface="Calibri Light"/>
              </a:rPr>
              <a:t>Here a value near zero is the good result. It is the only place in the project where that is true.</a:t>
            </a:r>
          </a:p>
        </p:txBody>
      </p:sp>
      <p:sp>
        <p:nvSpPr>
          <p:cNvPr id="9" name="TextBox 8"/>
          <p:cNvSpPr txBox="1"/>
          <p:nvPr/>
        </p:nvSpPr>
        <p:spPr>
          <a:xfrm>
            <a:off x="658368" y="2766060"/>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Word norms, stopwords removed</a:t>
            </a:r>
          </a:p>
        </p:txBody>
      </p:sp>
      <p:sp>
        <p:nvSpPr>
          <p:cNvPr id="10" name="Rectangle 9"/>
          <p:cNvSpPr/>
          <p:nvPr/>
        </p:nvSpPr>
        <p:spPr>
          <a:xfrm>
            <a:off x="3721608" y="2775204"/>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3721608" y="2775204"/>
            <a:ext cx="234582"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604711" y="2766060"/>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0.06  (0.01)</a:t>
            </a:r>
          </a:p>
        </p:txBody>
      </p:sp>
      <p:sp>
        <p:nvSpPr>
          <p:cNvPr id="13" name="TextBox 12"/>
          <p:cNvSpPr txBox="1"/>
          <p:nvPr/>
        </p:nvSpPr>
        <p:spPr>
          <a:xfrm>
            <a:off x="3721608" y="3035808"/>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measures something else — kept</a:t>
            </a:r>
          </a:p>
        </p:txBody>
      </p:sp>
      <p:sp>
        <p:nvSpPr>
          <p:cNvPr id="14" name="TextBox 13"/>
          <p:cNvSpPr txBox="1"/>
          <p:nvPr/>
        </p:nvSpPr>
        <p:spPr>
          <a:xfrm>
            <a:off x="658368" y="3479291"/>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Emotion classifier</a:t>
            </a:r>
          </a:p>
        </p:txBody>
      </p:sp>
      <p:sp>
        <p:nvSpPr>
          <p:cNvPr id="15" name="Rectangle 14"/>
          <p:cNvSpPr/>
          <p:nvPr/>
        </p:nvSpPr>
        <p:spPr>
          <a:xfrm>
            <a:off x="3721608" y="3488436"/>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3721608" y="3488436"/>
            <a:ext cx="625554"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604711" y="3479291"/>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0.16  (0.18)</a:t>
            </a:r>
          </a:p>
        </p:txBody>
      </p:sp>
      <p:sp>
        <p:nvSpPr>
          <p:cNvPr id="18" name="TextBox 17"/>
          <p:cNvSpPr txBox="1"/>
          <p:nvPr/>
        </p:nvSpPr>
        <p:spPr>
          <a:xfrm>
            <a:off x="3721608" y="3749039"/>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reads pleasantness, not activation</a:t>
            </a:r>
          </a:p>
        </p:txBody>
      </p:sp>
      <p:sp>
        <p:nvSpPr>
          <p:cNvPr id="19" name="TextBox 18"/>
          <p:cNvSpPr txBox="1"/>
          <p:nvPr/>
        </p:nvSpPr>
        <p:spPr>
          <a:xfrm>
            <a:off x="658368" y="4192524"/>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Gemma 2 · 9B</a:t>
            </a:r>
          </a:p>
        </p:txBody>
      </p:sp>
      <p:sp>
        <p:nvSpPr>
          <p:cNvPr id="20" name="Rectangle 19"/>
          <p:cNvSpPr/>
          <p:nvPr/>
        </p:nvSpPr>
        <p:spPr>
          <a:xfrm>
            <a:off x="3721608" y="4201668"/>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3721608" y="4201668"/>
            <a:ext cx="2580410"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6604711" y="4192524"/>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0.66  (0.20)</a:t>
            </a:r>
          </a:p>
        </p:txBody>
      </p:sp>
      <p:sp>
        <p:nvSpPr>
          <p:cNvPr id="23" name="TextBox 22"/>
          <p:cNvSpPr txBox="1"/>
          <p:nvPr/>
        </p:nvSpPr>
        <p:spPr>
          <a:xfrm>
            <a:off x="3721608" y="4462272"/>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valence a second time — rejected</a:t>
            </a:r>
          </a:p>
        </p:txBody>
      </p:sp>
      <p:sp>
        <p:nvSpPr>
          <p:cNvPr id="24" name="TextBox 23"/>
          <p:cNvSpPr txBox="1"/>
          <p:nvPr/>
        </p:nvSpPr>
        <p:spPr>
          <a:xfrm>
            <a:off x="658368" y="4919472"/>
            <a:ext cx="6851599" cy="548640"/>
          </a:xfrm>
          <a:prstGeom prst="rect">
            <a:avLst/>
          </a:prstGeom>
          <a:noFill/>
        </p:spPr>
        <p:txBody>
          <a:bodyPr wrap="square" lIns="0" tIns="0" rIns="0" bIns="0">
            <a:spAutoFit/>
          </a:bodyPr>
          <a:lstStyle/>
          <a:p>
            <a:pPr algn="l">
              <a:lnSpc>
                <a:spcPct val="125000"/>
              </a:lnSpc>
              <a:spcBef>
                <a:spcPts val="0"/>
              </a:spcBef>
              <a:spcAft>
                <a:spcPts val="500"/>
              </a:spcAft>
            </a:pPr>
            <a:r>
              <a:rPr sz="1100" b="0" dirty="0">
                <a:solidFill>
                  <a:srgbClr val="9A968E"/>
                </a:solidFill>
                <a:latin typeface="Calibri"/>
              </a:rPr>
              <a:t>Absolute rank correlation with the project's own valence measure. Lower is better. The gap between 0.66 and 0.20 is the clearest difference between the two datasets anywhere in the project — real text gives the model far more to confuse.</a:t>
            </a:r>
          </a:p>
        </p:txBody>
      </p:sp>
      <p:sp>
        <p:nvSpPr>
          <p:cNvPr id="25" name="Rectangle 24"/>
          <p:cNvSpPr/>
          <p:nvPr/>
        </p:nvSpPr>
        <p:spPr>
          <a:xfrm>
            <a:off x="7784287" y="2651760"/>
            <a:ext cx="3749039" cy="312724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Rectangle 25"/>
          <p:cNvSpPr/>
          <p:nvPr/>
        </p:nvSpPr>
        <p:spPr>
          <a:xfrm>
            <a:off x="7784287" y="2651760"/>
            <a:ext cx="3749039"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TextBox 26"/>
          <p:cNvSpPr txBox="1"/>
          <p:nvPr/>
        </p:nvSpPr>
        <p:spPr>
          <a:xfrm>
            <a:off x="8095183" y="2889504"/>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WHY THIS MATTERS MORE THAN THE ACCURACY</a:t>
            </a:r>
          </a:p>
        </p:txBody>
      </p:sp>
      <p:sp>
        <p:nvSpPr>
          <p:cNvPr id="28" name="TextBox 27"/>
          <p:cNvSpPr txBox="1"/>
          <p:nvPr/>
        </p:nvSpPr>
        <p:spPr>
          <a:xfrm>
            <a:off x="8095183" y="3182112"/>
            <a:ext cx="3127247" cy="2340864"/>
          </a:xfrm>
          <a:prstGeom prst="rect">
            <a:avLst/>
          </a:prstGeom>
          <a:noFill/>
        </p:spPr>
        <p:txBody>
          <a:bodyPr wrap="square" lIns="0" tIns="0" rIns="0" bIns="0">
            <a:spAutoFit/>
          </a:bodyPr>
          <a:lstStyle/>
          <a:p>
            <a:pPr algn="l">
              <a:lnSpc>
                <a:spcPct val="124000"/>
              </a:lnSpc>
              <a:spcBef>
                <a:spcPts val="0"/>
              </a:spcBef>
              <a:spcAft>
                <a:spcPts val="900"/>
              </a:spcAft>
            </a:pPr>
            <a:r>
              <a:rPr sz="1250" b="0" dirty="0">
                <a:solidFill>
                  <a:srgbClr val="33333A"/>
                </a:solidFill>
                <a:latin typeface="Calibri"/>
              </a:rPr>
              <a:t>A measure that tracks valence has measured the first dimension again and put a new label on it.</a:t>
            </a:r>
          </a:p>
          <a:p>
            <a:pPr algn="l">
              <a:lnSpc>
                <a:spcPct val="124000"/>
              </a:lnSpc>
              <a:spcBef>
                <a:spcPts val="0"/>
              </a:spcBef>
              <a:spcAft>
                <a:spcPts val="900"/>
              </a:spcAft>
            </a:pPr>
            <a:r>
              <a:rPr sz="1200" b="0" dirty="0">
                <a:solidFill>
                  <a:srgbClr val="6E6B66"/>
                </a:solidFill>
                <a:latin typeface="Calibri"/>
              </a:rPr>
              <a:t>Its individual values look entirely plausible. Nothing in the output says anything is wrong. Only the comparison does.</a:t>
            </a:r>
          </a:p>
          <a:p>
            <a:pPr algn="l">
              <a:lnSpc>
                <a:spcPct val="124000"/>
              </a:lnSpc>
              <a:spcBef>
                <a:spcPts val="0"/>
              </a:spcBef>
              <a:spcAft>
                <a:spcPts val="0"/>
              </a:spcAft>
            </a:pPr>
            <a:r>
              <a:rPr sz="1200" b="0" dirty="0">
                <a:solidFill>
                  <a:srgbClr val="6E6B66"/>
                </a:solidFill>
                <a:latin typeface="Calibri"/>
              </a:rPr>
              <a:t>This is why the language model won on valence and was thrown out here — the same procedure, applied twice, gave opposite answers.</a:t>
            </a:r>
          </a:p>
        </p:txBody>
      </p:sp>
      <p:sp>
        <p:nvSpPr>
          <p:cNvPr id="29" name="TextBox 28"/>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30" name="TextBox 29"/>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11</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Arousal — the scale it produces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The opposite case, and the one that gets normalised</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7601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Arousal is genuinely continuous. What it does not have is a zero — so this is the axis that had to be transformed.</a:t>
            </a:r>
          </a:p>
        </p:txBody>
      </p:sp>
      <p:sp>
        <p:nvSpPr>
          <p:cNvPr id="9" name="TextBox 8"/>
          <p:cNvSpPr txBox="1"/>
          <p:nvPr/>
        </p:nvSpPr>
        <p:spPr>
          <a:xfrm>
            <a:off x="658368" y="2724912"/>
            <a:ext cx="6760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WHAT COMES OUT OF THE DICTIONARY</a:t>
            </a:r>
          </a:p>
        </p:txBody>
      </p:sp>
      <p:sp>
        <p:nvSpPr>
          <p:cNvPr id="10" name="TextBox 9"/>
          <p:cNvSpPr txBox="1"/>
          <p:nvPr/>
        </p:nvSpPr>
        <p:spPr>
          <a:xfrm>
            <a:off x="658368" y="3035808"/>
            <a:ext cx="6760159" cy="2103120"/>
          </a:xfrm>
          <a:prstGeom prst="rect">
            <a:avLst/>
          </a:prstGeom>
          <a:noFill/>
        </p:spPr>
        <p:txBody>
          <a:bodyPr wrap="square" lIns="0" tIns="0" rIns="0" bIns="0">
            <a:spAutoFit/>
          </a:bodyPr>
          <a:lstStyle/>
          <a:p>
            <a:pPr>
              <a:lnSpc>
                <a:spcPct val="122000"/>
              </a:lnSpc>
              <a:spcAft>
                <a:spcPts val="900"/>
              </a:spcAft>
            </a:pPr>
            <a:r>
              <a:rPr sz="1250" b="1">
                <a:solidFill>
                  <a:srgbClr val="E8785A"/>
                </a:solidFill>
                <a:latin typeface="Calibri"/>
              </a:rPr>
              <a:t>—   </a:t>
            </a:r>
            <a:r>
              <a:rPr sz="1250">
                <a:solidFill>
                  <a:srgbClr val="33333A"/>
                </a:solidFill>
                <a:latin typeface="Calibri"/>
              </a:rPr>
              <a:t>An average over word values, so stepless by construction: 4,190 distinct values on 4,328 comments (2,469 on 2,500 in the synthetic run).</a:t>
            </a:r>
          </a:p>
          <a:p>
            <a:pPr>
              <a:lnSpc>
                <a:spcPct val="122000"/>
              </a:lnSpc>
              <a:spcAft>
                <a:spcPts val="900"/>
              </a:spcAft>
            </a:pPr>
            <a:r>
              <a:rPr sz="1250" b="1">
                <a:solidFill>
                  <a:srgbClr val="E8785A"/>
                </a:solidFill>
                <a:latin typeface="Calibri"/>
              </a:rPr>
              <a:t>—   </a:t>
            </a:r>
            <a:r>
              <a:rPr sz="1250">
                <a:solidFill>
                  <a:srgbClr val="33333A"/>
                </a:solidFill>
                <a:latin typeface="Calibri"/>
              </a:rPr>
              <a:t>But the range belongs to the word list, and nothing in it marks a boundary. There is no value at which a comment objectively stops being calm and starts being activated.</a:t>
            </a:r>
          </a:p>
          <a:p>
            <a:pPr>
              <a:lnSpc>
                <a:spcPct val="122000"/>
              </a:lnSpc>
              <a:spcAft>
                <a:spcPts val="0"/>
              </a:spcAft>
            </a:pPr>
            <a:r>
              <a:rPr sz="1250" b="1">
                <a:solidFill>
                  <a:srgbClr val="E8785A"/>
                </a:solidFill>
                <a:latin typeface="Calibri"/>
              </a:rPr>
              <a:t>—   </a:t>
            </a:r>
            <a:r>
              <a:rPr sz="1250">
                <a:solidFill>
                  <a:srgbClr val="33333A"/>
                </a:solidFill>
                <a:latin typeface="Calibri"/>
              </a:rPr>
              <a:t>And without a boundary there are no quadrants. A dividing line has to be chosen — so it is better chosen out loud than hidden.</a:t>
            </a:r>
          </a:p>
        </p:txBody>
      </p:sp>
      <p:sp>
        <p:nvSpPr>
          <p:cNvPr id="11" name="TextBox 10"/>
          <p:cNvSpPr txBox="1"/>
          <p:nvPr/>
        </p:nvSpPr>
        <p:spPr>
          <a:xfrm>
            <a:off x="658368" y="5285231"/>
            <a:ext cx="6760159" cy="868680"/>
          </a:xfrm>
          <a:prstGeom prst="rect">
            <a:avLst/>
          </a:prstGeom>
          <a:noFill/>
        </p:spPr>
        <p:txBody>
          <a:bodyPr wrap="square" lIns="0" tIns="0" rIns="0" bIns="0">
            <a:spAutoFit/>
          </a:bodyPr>
          <a:lstStyle/>
          <a:p>
            <a:pPr algn="l">
              <a:lnSpc>
                <a:spcPct val="124000"/>
              </a:lnSpc>
              <a:spcBef>
                <a:spcPts val="0"/>
              </a:spcBef>
              <a:spcAft>
                <a:spcPts val="0"/>
              </a:spcAft>
            </a:pPr>
            <a:r>
              <a:rPr sz="1250" b="0" dirty="0">
                <a:solidFill>
                  <a:srgbClr val="33333A"/>
                </a:solidFill>
                <a:latin typeface="Calibri"/>
              </a:rPr>
              <a:t>Each comment is therefore placed by its percentile, and the zero line becomes the median comment: above it means more activated than half of them.</a:t>
            </a:r>
          </a:p>
        </p:txBody>
      </p:sp>
      <p:sp>
        <p:nvSpPr>
          <p:cNvPr id="12" name="Rectangle 11"/>
          <p:cNvSpPr/>
          <p:nvPr/>
        </p:nvSpPr>
        <p:spPr>
          <a:xfrm>
            <a:off x="7692847" y="2078736"/>
            <a:ext cx="3840480" cy="202692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7692847" y="2078736"/>
            <a:ext cx="3840480"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003743" y="2316480"/>
            <a:ext cx="320040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WHAT THE TRANSFORM BUYS</a:t>
            </a:r>
          </a:p>
        </p:txBody>
      </p:sp>
      <p:sp>
        <p:nvSpPr>
          <p:cNvPr id="15" name="TextBox 14"/>
          <p:cNvSpPr txBox="1"/>
          <p:nvPr/>
        </p:nvSpPr>
        <p:spPr>
          <a:xfrm>
            <a:off x="8003742" y="2609088"/>
            <a:ext cx="3474721" cy="1815177"/>
          </a:xfrm>
          <a:prstGeom prst="rect">
            <a:avLst/>
          </a:prstGeom>
          <a:noFill/>
        </p:spPr>
        <p:txBody>
          <a:bodyPr wrap="square" lIns="0" tIns="0" rIns="0" bIns="0">
            <a:spAutoFit/>
          </a:bodyPr>
          <a:lstStyle/>
          <a:p>
            <a:pPr>
              <a:lnSpc>
                <a:spcPct val="124000"/>
              </a:lnSpc>
            </a:pPr>
            <a:r>
              <a:rPr lang="de-DE" sz="1200" dirty="0" err="1">
                <a:solidFill>
                  <a:srgbClr val="33333A"/>
                </a:solidFill>
                <a:latin typeface="Calibri"/>
              </a:rPr>
              <a:t>Because</a:t>
            </a:r>
            <a:r>
              <a:rPr lang="de-DE" sz="1200" dirty="0">
                <a:solidFill>
                  <a:srgbClr val="33333A"/>
                </a:solidFill>
                <a:latin typeface="Calibri"/>
              </a:rPr>
              <a:t> </a:t>
            </a:r>
            <a:r>
              <a:rPr lang="de-DE" sz="1200" dirty="0" err="1">
                <a:solidFill>
                  <a:srgbClr val="33333A"/>
                </a:solidFill>
                <a:latin typeface="Calibri"/>
              </a:rPr>
              <a:t>every</a:t>
            </a:r>
            <a:r>
              <a:rPr lang="de-DE" sz="1200" dirty="0">
                <a:solidFill>
                  <a:srgbClr val="33333A"/>
                </a:solidFill>
                <a:latin typeface="Calibri"/>
              </a:rPr>
              <a:t> stretch of the </a:t>
            </a:r>
            <a:r>
              <a:rPr lang="de-DE" sz="1200" dirty="0" err="1">
                <a:solidFill>
                  <a:srgbClr val="33333A"/>
                </a:solidFill>
                <a:latin typeface="Calibri"/>
              </a:rPr>
              <a:t>axis</a:t>
            </a:r>
            <a:r>
              <a:rPr lang="de-DE" sz="1200" dirty="0">
                <a:solidFill>
                  <a:srgbClr val="33333A"/>
                </a:solidFill>
                <a:latin typeface="Calibri"/>
              </a:rPr>
              <a:t> </a:t>
            </a:r>
            <a:r>
              <a:rPr lang="de-DE" sz="1200" dirty="0" err="1">
                <a:solidFill>
                  <a:srgbClr val="33333A"/>
                </a:solidFill>
                <a:latin typeface="Calibri"/>
              </a:rPr>
              <a:t>now</a:t>
            </a:r>
            <a:r>
              <a:rPr lang="de-DE" sz="1200" dirty="0">
                <a:solidFill>
                  <a:srgbClr val="33333A"/>
                </a:solidFill>
                <a:latin typeface="Calibri"/>
              </a:rPr>
              <a:t> </a:t>
            </a:r>
            <a:r>
              <a:rPr lang="de-DE" sz="1200" dirty="0" err="1">
                <a:solidFill>
                  <a:srgbClr val="33333A"/>
                </a:solidFill>
                <a:latin typeface="Calibri"/>
              </a:rPr>
              <a:t>holds</a:t>
            </a:r>
            <a:r>
              <a:rPr lang="de-DE" sz="1200" dirty="0">
                <a:solidFill>
                  <a:srgbClr val="33333A"/>
                </a:solidFill>
                <a:latin typeface="Calibri"/>
              </a:rPr>
              <a:t> the same </a:t>
            </a:r>
            <a:r>
              <a:rPr lang="de-DE" sz="1200" dirty="0" err="1">
                <a:solidFill>
                  <a:srgbClr val="33333A"/>
                </a:solidFill>
                <a:latin typeface="Calibri"/>
              </a:rPr>
              <a:t>number</a:t>
            </a:r>
            <a:r>
              <a:rPr lang="de-DE" sz="1200" dirty="0">
                <a:solidFill>
                  <a:srgbClr val="33333A"/>
                </a:solidFill>
                <a:latin typeface="Calibri"/>
              </a:rPr>
              <a:t> of </a:t>
            </a:r>
            <a:r>
              <a:rPr lang="de-DE" sz="1200" dirty="0" err="1">
                <a:solidFill>
                  <a:srgbClr val="33333A"/>
                </a:solidFill>
                <a:latin typeface="Calibri"/>
              </a:rPr>
              <a:t>comments</a:t>
            </a:r>
            <a:r>
              <a:rPr lang="de-DE" sz="1200" dirty="0">
                <a:solidFill>
                  <a:srgbClr val="33333A"/>
                </a:solidFill>
                <a:latin typeface="Calibri"/>
              </a:rPr>
              <a:t>, the </a:t>
            </a:r>
            <a:r>
              <a:rPr lang="de-DE" sz="1200" dirty="0" err="1">
                <a:solidFill>
                  <a:srgbClr val="33333A"/>
                </a:solidFill>
                <a:latin typeface="Calibri"/>
              </a:rPr>
              <a:t>picture</a:t>
            </a:r>
            <a:r>
              <a:rPr lang="de-DE" sz="1200" dirty="0">
                <a:solidFill>
                  <a:srgbClr val="33333A"/>
                </a:solidFill>
                <a:latin typeface="Calibri"/>
              </a:rPr>
              <a:t> </a:t>
            </a:r>
            <a:r>
              <a:rPr lang="de-DE" sz="1200" dirty="0" err="1">
                <a:solidFill>
                  <a:srgbClr val="33333A"/>
                </a:solidFill>
                <a:latin typeface="Calibri"/>
              </a:rPr>
              <a:t>is</a:t>
            </a:r>
            <a:r>
              <a:rPr lang="de-DE" sz="1200" dirty="0">
                <a:solidFill>
                  <a:srgbClr val="33333A"/>
                </a:solidFill>
                <a:latin typeface="Calibri"/>
              </a:rPr>
              <a:t> not </a:t>
            </a:r>
            <a:r>
              <a:rPr lang="de-DE" sz="1200" dirty="0" err="1">
                <a:solidFill>
                  <a:srgbClr val="33333A"/>
                </a:solidFill>
                <a:latin typeface="Calibri"/>
              </a:rPr>
              <a:t>distorted</a:t>
            </a:r>
            <a:r>
              <a:rPr lang="de-DE" sz="1200" dirty="0">
                <a:solidFill>
                  <a:srgbClr val="33333A"/>
                </a:solidFill>
                <a:latin typeface="Calibri"/>
              </a:rPr>
              <a:t> by the </a:t>
            </a:r>
            <a:r>
              <a:rPr lang="de-DE" sz="1200" dirty="0" err="1">
                <a:solidFill>
                  <a:srgbClr val="33333A"/>
                </a:solidFill>
                <a:latin typeface="Calibri"/>
              </a:rPr>
              <a:t>word</a:t>
            </a:r>
            <a:r>
              <a:rPr lang="de-DE" sz="1200" dirty="0">
                <a:solidFill>
                  <a:srgbClr val="33333A"/>
                </a:solidFill>
                <a:latin typeface="Calibri"/>
              </a:rPr>
              <a:t> </a:t>
            </a:r>
            <a:r>
              <a:rPr lang="de-DE" sz="1200" dirty="0" err="1">
                <a:solidFill>
                  <a:srgbClr val="33333A"/>
                </a:solidFill>
                <a:latin typeface="Calibri"/>
              </a:rPr>
              <a:t>list's</a:t>
            </a:r>
            <a:r>
              <a:rPr lang="de-DE" sz="1200" dirty="0">
                <a:solidFill>
                  <a:srgbClr val="33333A"/>
                </a:solidFill>
                <a:latin typeface="Calibri"/>
              </a:rPr>
              <a:t> own </a:t>
            </a:r>
            <a:r>
              <a:rPr lang="de-DE" sz="1200" dirty="0" err="1">
                <a:solidFill>
                  <a:srgbClr val="33333A"/>
                </a:solidFill>
                <a:latin typeface="Calibri"/>
              </a:rPr>
              <a:t>skew</a:t>
            </a:r>
            <a:r>
              <a:rPr lang="de-DE" sz="1200" dirty="0">
                <a:solidFill>
                  <a:srgbClr val="33333A"/>
                </a:solidFill>
                <a:latin typeface="Calibri"/>
              </a:rPr>
              <a:t>. And it </a:t>
            </a:r>
            <a:r>
              <a:rPr lang="de-DE" sz="1200" dirty="0" err="1">
                <a:solidFill>
                  <a:srgbClr val="33333A"/>
                </a:solidFill>
                <a:latin typeface="Calibri"/>
              </a:rPr>
              <a:t>gave</a:t>
            </a:r>
            <a:r>
              <a:rPr lang="de-DE" sz="1200" dirty="0">
                <a:solidFill>
                  <a:srgbClr val="33333A"/>
                </a:solidFill>
                <a:latin typeface="Calibri"/>
              </a:rPr>
              <a:t> </a:t>
            </a:r>
            <a:r>
              <a:rPr lang="de-DE" sz="1200" dirty="0" err="1">
                <a:solidFill>
                  <a:srgbClr val="33333A"/>
                </a:solidFill>
                <a:latin typeface="Calibri"/>
              </a:rPr>
              <a:t>us</a:t>
            </a:r>
            <a:r>
              <a:rPr lang="de-DE" sz="1200" dirty="0">
                <a:solidFill>
                  <a:srgbClr val="33333A"/>
                </a:solidFill>
                <a:latin typeface="Calibri"/>
              </a:rPr>
              <a:t> </a:t>
            </a:r>
            <a:r>
              <a:rPr lang="de-DE" sz="1200" dirty="0" err="1">
                <a:solidFill>
                  <a:srgbClr val="33333A"/>
                </a:solidFill>
                <a:latin typeface="Calibri"/>
              </a:rPr>
              <a:t>something</a:t>
            </a:r>
            <a:endParaRPr lang="de-DE" sz="1200" dirty="0">
              <a:solidFill>
                <a:srgbClr val="33333A"/>
              </a:solidFill>
              <a:latin typeface="Calibri"/>
            </a:endParaRPr>
          </a:p>
          <a:p>
            <a:pPr>
              <a:lnSpc>
                <a:spcPct val="124000"/>
              </a:lnSpc>
            </a:pPr>
            <a:r>
              <a:rPr lang="de-DE" sz="1200" dirty="0">
                <a:solidFill>
                  <a:srgbClr val="33333A"/>
                </a:solidFill>
                <a:latin typeface="Calibri"/>
              </a:rPr>
              <a:t>to check </a:t>
            </a:r>
            <a:r>
              <a:rPr lang="de-DE" sz="1200" dirty="0" err="1">
                <a:solidFill>
                  <a:srgbClr val="33333A"/>
                </a:solidFill>
                <a:latin typeface="Calibri"/>
              </a:rPr>
              <a:t>against</a:t>
            </a:r>
            <a:r>
              <a:rPr lang="de-DE" sz="1200" dirty="0">
                <a:solidFill>
                  <a:srgbClr val="33333A"/>
                </a:solidFill>
                <a:latin typeface="Calibri"/>
              </a:rPr>
              <a:t>: a uniform </a:t>
            </a:r>
            <a:r>
              <a:rPr lang="de-DE" sz="1200" dirty="0" err="1">
                <a:solidFill>
                  <a:srgbClr val="33333A"/>
                </a:solidFill>
                <a:latin typeface="Calibri"/>
              </a:rPr>
              <a:t>axis</a:t>
            </a:r>
            <a:r>
              <a:rPr lang="de-DE" sz="1200" dirty="0">
                <a:solidFill>
                  <a:srgbClr val="33333A"/>
                </a:solidFill>
                <a:latin typeface="Calibri"/>
              </a:rPr>
              <a:t> </a:t>
            </a:r>
            <a:r>
              <a:rPr lang="de-DE" sz="1200" dirty="0" err="1">
                <a:solidFill>
                  <a:srgbClr val="33333A"/>
                </a:solidFill>
                <a:latin typeface="Calibri"/>
              </a:rPr>
              <a:t>has</a:t>
            </a:r>
            <a:r>
              <a:rPr lang="de-DE" sz="1200" dirty="0">
                <a:solidFill>
                  <a:srgbClr val="33333A"/>
                </a:solidFill>
                <a:latin typeface="Calibri"/>
              </a:rPr>
              <a:t> a </a:t>
            </a:r>
            <a:r>
              <a:rPr lang="de-DE" sz="1200" dirty="0" err="1">
                <a:solidFill>
                  <a:srgbClr val="33333A"/>
                </a:solidFill>
                <a:latin typeface="Calibri"/>
              </a:rPr>
              <a:t>known</a:t>
            </a:r>
            <a:r>
              <a:rPr lang="de-DE" sz="1200" dirty="0">
                <a:solidFill>
                  <a:srgbClr val="33333A"/>
                </a:solidFill>
                <a:latin typeface="Calibri"/>
              </a:rPr>
              <a:t> </a:t>
            </a:r>
            <a:r>
              <a:rPr lang="de-DE" sz="1200" dirty="0" err="1">
                <a:solidFill>
                  <a:srgbClr val="33333A"/>
                </a:solidFill>
                <a:latin typeface="Calibri"/>
              </a:rPr>
              <a:t>correct</a:t>
            </a:r>
            <a:r>
              <a:rPr lang="de-DE" sz="1200" dirty="0">
                <a:solidFill>
                  <a:srgbClr val="33333A"/>
                </a:solidFill>
                <a:latin typeface="Calibri"/>
              </a:rPr>
              <a:t> </a:t>
            </a:r>
            <a:r>
              <a:rPr lang="de-DE" sz="1200" dirty="0" err="1">
                <a:solidFill>
                  <a:srgbClr val="33333A"/>
                </a:solidFill>
                <a:latin typeface="Calibri"/>
              </a:rPr>
              <a:t>density</a:t>
            </a:r>
            <a:r>
              <a:rPr lang="de-DE" sz="1200" dirty="0">
                <a:solidFill>
                  <a:srgbClr val="33333A"/>
                </a:solidFill>
                <a:latin typeface="Calibri"/>
              </a:rPr>
              <a:t>, so the </a:t>
            </a:r>
            <a:r>
              <a:rPr lang="de-DE" sz="1200" dirty="0" err="1">
                <a:solidFill>
                  <a:srgbClr val="33333A"/>
                </a:solidFill>
                <a:latin typeface="Calibri"/>
              </a:rPr>
              <a:t>drawing</a:t>
            </a:r>
            <a:r>
              <a:rPr lang="de-DE" sz="1200" dirty="0">
                <a:solidFill>
                  <a:srgbClr val="33333A"/>
                </a:solidFill>
                <a:latin typeface="Calibri"/>
              </a:rPr>
              <a:t> </a:t>
            </a:r>
            <a:r>
              <a:rPr lang="de-DE" sz="1200" dirty="0" err="1">
                <a:solidFill>
                  <a:srgbClr val="33333A"/>
                </a:solidFill>
                <a:latin typeface="Calibri"/>
              </a:rPr>
              <a:t>could</a:t>
            </a:r>
            <a:r>
              <a:rPr lang="de-DE" sz="1200" dirty="0">
                <a:solidFill>
                  <a:srgbClr val="33333A"/>
                </a:solidFill>
                <a:latin typeface="Calibri"/>
              </a:rPr>
              <a:t> </a:t>
            </a:r>
            <a:r>
              <a:rPr lang="de-DE" sz="1200" dirty="0" err="1">
                <a:solidFill>
                  <a:srgbClr val="33333A"/>
                </a:solidFill>
                <a:latin typeface="Calibri"/>
              </a:rPr>
              <a:t>be</a:t>
            </a:r>
            <a:r>
              <a:rPr lang="de-DE" sz="1200" dirty="0">
                <a:solidFill>
                  <a:srgbClr val="33333A"/>
                </a:solidFill>
                <a:latin typeface="Calibri"/>
              </a:rPr>
              <a:t> </a:t>
            </a:r>
            <a:r>
              <a:rPr lang="de-DE" sz="1200" dirty="0" err="1">
                <a:solidFill>
                  <a:srgbClr val="33333A"/>
                </a:solidFill>
                <a:latin typeface="Calibri"/>
              </a:rPr>
              <a:t>verified</a:t>
            </a:r>
            <a:r>
              <a:rPr lang="de-DE" sz="1200" dirty="0">
                <a:solidFill>
                  <a:srgbClr val="33333A"/>
                </a:solidFill>
                <a:latin typeface="Calibri"/>
              </a:rPr>
              <a:t> </a:t>
            </a:r>
            <a:r>
              <a:rPr lang="de-DE" sz="1200" dirty="0" err="1">
                <a:solidFill>
                  <a:srgbClr val="33333A"/>
                </a:solidFill>
                <a:latin typeface="Calibri"/>
              </a:rPr>
              <a:t>instead</a:t>
            </a:r>
            <a:endParaRPr lang="de-DE" sz="1200" dirty="0">
              <a:solidFill>
                <a:srgbClr val="33333A"/>
              </a:solidFill>
              <a:latin typeface="Calibri"/>
            </a:endParaRPr>
          </a:p>
          <a:p>
            <a:pPr>
              <a:lnSpc>
                <a:spcPct val="124000"/>
              </a:lnSpc>
            </a:pPr>
            <a:r>
              <a:rPr lang="de-DE" sz="1200" dirty="0">
                <a:solidFill>
                  <a:srgbClr val="33333A"/>
                </a:solidFill>
                <a:latin typeface="Calibri"/>
              </a:rPr>
              <a:t>of </a:t>
            </a:r>
            <a:r>
              <a:rPr lang="de-DE" sz="1200" dirty="0" err="1">
                <a:solidFill>
                  <a:srgbClr val="33333A"/>
                </a:solidFill>
                <a:latin typeface="Calibri"/>
              </a:rPr>
              <a:t>trusted</a:t>
            </a:r>
            <a:r>
              <a:rPr lang="de-DE" sz="1200" dirty="0">
                <a:solidFill>
                  <a:srgbClr val="33333A"/>
                </a:solidFill>
                <a:latin typeface="Calibri"/>
              </a:rPr>
              <a:t>.</a:t>
            </a:r>
          </a:p>
          <a:p>
            <a:pPr>
              <a:lnSpc>
                <a:spcPct val="124000"/>
              </a:lnSpc>
            </a:pPr>
            <a:br>
              <a:rPr lang="de-DE" sz="1200" dirty="0">
                <a:solidFill>
                  <a:srgbClr val="33333A"/>
                </a:solidFill>
                <a:latin typeface="Calibri"/>
              </a:rPr>
            </a:br>
            <a:endParaRPr sz="1200" dirty="0">
              <a:solidFill>
                <a:srgbClr val="33333A"/>
              </a:solidFill>
              <a:latin typeface="Calibri"/>
            </a:endParaRPr>
          </a:p>
        </p:txBody>
      </p:sp>
      <p:sp>
        <p:nvSpPr>
          <p:cNvPr id="16" name="Rectangle 15"/>
          <p:cNvSpPr/>
          <p:nvPr/>
        </p:nvSpPr>
        <p:spPr>
          <a:xfrm>
            <a:off x="7692847" y="4169664"/>
            <a:ext cx="3840480" cy="182880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7692847" y="4169664"/>
            <a:ext cx="3840480"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003743" y="4407408"/>
            <a:ext cx="320040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AND WHAT IT COSTS</a:t>
            </a:r>
          </a:p>
        </p:txBody>
      </p:sp>
      <p:sp>
        <p:nvSpPr>
          <p:cNvPr id="19" name="TextBox 18"/>
          <p:cNvSpPr txBox="1"/>
          <p:nvPr/>
        </p:nvSpPr>
        <p:spPr>
          <a:xfrm>
            <a:off x="8003743" y="4700016"/>
            <a:ext cx="3218688" cy="1097280"/>
          </a:xfrm>
          <a:prstGeom prst="rect">
            <a:avLst/>
          </a:prstGeom>
          <a:noFill/>
        </p:spPr>
        <p:txBody>
          <a:bodyPr wrap="square" lIns="0" tIns="0" rIns="0" bIns="0">
            <a:spAutoFit/>
          </a:bodyPr>
          <a:lstStyle/>
          <a:p>
            <a:pPr algn="l">
              <a:lnSpc>
                <a:spcPct val="124000"/>
              </a:lnSpc>
              <a:spcBef>
                <a:spcPts val="0"/>
              </a:spcBef>
              <a:spcAft>
                <a:spcPts val="0"/>
              </a:spcAft>
            </a:pPr>
            <a:r>
              <a:rPr sz="1200" b="0" dirty="0">
                <a:solidFill>
                  <a:srgbClr val="33333A"/>
                </a:solidFill>
                <a:latin typeface="Calibri"/>
              </a:rPr>
              <a:t>The axis is relative. „Activated“ here is not the same „activated“ as in another dataset or another wave, because each has its own median. Inside one report it is stable: the rank is computed once over all comments, not per filter.</a:t>
            </a:r>
          </a:p>
        </p:txBody>
      </p:sp>
      <p:sp>
        <p:nvSpPr>
          <p:cNvPr id="20" name="TextBox 19"/>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21" name="TextBox 20"/>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12</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Russell — affect as a circle</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The model the whole project is organised around</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Affect is not a set of independent scales. It is a position on a circle.</a:t>
            </a:r>
          </a:p>
        </p:txBody>
      </p:sp>
      <p:sp>
        <p:nvSpPr>
          <p:cNvPr id="9" name="TextBox 8"/>
          <p:cNvSpPr txBox="1"/>
          <p:nvPr/>
        </p:nvSpPr>
        <p:spPr>
          <a:xfrm>
            <a:off x="658368" y="2432304"/>
            <a:ext cx="511743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WHAT RUSSELL SHOWED, 1980</a:t>
            </a:r>
          </a:p>
        </p:txBody>
      </p:sp>
      <p:sp>
        <p:nvSpPr>
          <p:cNvPr id="10" name="TextBox 9"/>
          <p:cNvSpPr txBox="1"/>
          <p:nvPr/>
        </p:nvSpPr>
        <p:spPr>
          <a:xfrm>
            <a:off x="658368" y="2724912"/>
            <a:ext cx="5117439" cy="1600200"/>
          </a:xfrm>
          <a:prstGeom prst="rect">
            <a:avLst/>
          </a:prstGeom>
          <a:noFill/>
        </p:spPr>
        <p:txBody>
          <a:bodyPr wrap="square" lIns="0" tIns="0" rIns="0" bIns="0">
            <a:spAutoFit/>
          </a:bodyPr>
          <a:lstStyle/>
          <a:p>
            <a:pPr algn="l">
              <a:lnSpc>
                <a:spcPct val="124000"/>
              </a:lnSpc>
              <a:spcBef>
                <a:spcPts val="0"/>
              </a:spcBef>
              <a:spcAft>
                <a:spcPts val="900"/>
              </a:spcAft>
            </a:pPr>
            <a:r>
              <a:rPr sz="1250" b="0" dirty="0">
                <a:solidFill>
                  <a:srgbClr val="33333A"/>
                </a:solidFill>
                <a:latin typeface="Calibri"/>
              </a:rPr>
              <a:t>Participants sorted and scaled 28 affect words. The structure that came back was not a set of clusters — it was a ring.</a:t>
            </a:r>
          </a:p>
          <a:p>
            <a:pPr algn="l">
              <a:lnSpc>
                <a:spcPct val="124000"/>
              </a:lnSpc>
              <a:spcBef>
                <a:spcPts val="0"/>
              </a:spcBef>
              <a:spcAft>
                <a:spcPts val="0"/>
              </a:spcAft>
            </a:pPr>
            <a:r>
              <a:rPr sz="1250" b="0" dirty="0">
                <a:solidFill>
                  <a:srgbClr val="6E6B66"/>
                </a:solidFill>
                <a:latin typeface="Calibri"/>
              </a:rPr>
              <a:t>Two dimensions account for it: pleasure against displeasure, and degree of arousal. Every named state sits somewhere on that ring, and opposites sit across from one another.</a:t>
            </a:r>
          </a:p>
        </p:txBody>
      </p:sp>
      <p:sp>
        <p:nvSpPr>
          <p:cNvPr id="11" name="TextBox 10"/>
          <p:cNvSpPr txBox="1"/>
          <p:nvPr/>
        </p:nvSpPr>
        <p:spPr>
          <a:xfrm>
            <a:off x="658368" y="4535424"/>
            <a:ext cx="511743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WHAT IT REPLACED</a:t>
            </a:r>
          </a:p>
        </p:txBody>
      </p:sp>
      <p:sp>
        <p:nvSpPr>
          <p:cNvPr id="12" name="TextBox 11"/>
          <p:cNvSpPr txBox="1"/>
          <p:nvPr/>
        </p:nvSpPr>
        <p:spPr>
          <a:xfrm>
            <a:off x="658368" y="4828031"/>
            <a:ext cx="5117439" cy="1417320"/>
          </a:xfrm>
          <a:prstGeom prst="rect">
            <a:avLst/>
          </a:prstGeom>
          <a:noFill/>
        </p:spPr>
        <p:txBody>
          <a:bodyPr wrap="square" lIns="0" tIns="0" rIns="0" bIns="0">
            <a:spAutoFit/>
          </a:bodyPr>
          <a:lstStyle/>
          <a:p>
            <a:pPr algn="l">
              <a:lnSpc>
                <a:spcPct val="124000"/>
              </a:lnSpc>
              <a:spcBef>
                <a:spcPts val="0"/>
              </a:spcBef>
              <a:spcAft>
                <a:spcPts val="900"/>
              </a:spcAft>
            </a:pPr>
            <a:r>
              <a:rPr sz="1250" b="0" dirty="0">
                <a:solidFill>
                  <a:srgbClr val="6E6B66"/>
                </a:solidFill>
                <a:latin typeface="Calibri"/>
              </a:rPr>
              <a:t>The older factor models treated anxiety, depression and hostility as separate monopolar scales, each scored on its own.</a:t>
            </a:r>
          </a:p>
          <a:p>
            <a:pPr algn="l">
              <a:lnSpc>
                <a:spcPct val="124000"/>
              </a:lnSpc>
              <a:spcBef>
                <a:spcPts val="0"/>
              </a:spcBef>
              <a:spcAft>
                <a:spcPts val="0"/>
              </a:spcAft>
            </a:pPr>
            <a:r>
              <a:rPr sz="1250" b="0" dirty="0">
                <a:solidFill>
                  <a:srgbClr val="33333A"/>
                </a:solidFill>
                <a:latin typeface="Calibri"/>
              </a:rPr>
              <a:t>Russell's objection: they are not independent. Scored separately they count pleasantness several times over and miss activation altogether.</a:t>
            </a:r>
          </a:p>
        </p:txBody>
      </p:sp>
      <p:sp>
        <p:nvSpPr>
          <p:cNvPr id="13" name="Rectangle 12"/>
          <p:cNvSpPr/>
          <p:nvPr/>
        </p:nvSpPr>
        <p:spPr>
          <a:xfrm>
            <a:off x="6415887" y="2359152"/>
            <a:ext cx="5117439" cy="192024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6415887" y="2359152"/>
            <a:ext cx="5117439"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726783" y="2596896"/>
            <a:ext cx="4495647"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WHY THAT MATTERS FOR ELFI</a:t>
            </a:r>
          </a:p>
        </p:txBody>
      </p:sp>
      <p:sp>
        <p:nvSpPr>
          <p:cNvPr id="16" name="TextBox 15"/>
          <p:cNvSpPr txBox="1"/>
          <p:nvPr/>
        </p:nvSpPr>
        <p:spPr>
          <a:xfrm>
            <a:off x="6726783" y="2889504"/>
            <a:ext cx="4495647" cy="1371600"/>
          </a:xfrm>
          <a:prstGeom prst="rect">
            <a:avLst/>
          </a:prstGeom>
          <a:noFill/>
        </p:spPr>
        <p:txBody>
          <a:bodyPr wrap="square" lIns="0" tIns="0" rIns="0" bIns="0">
            <a:spAutoFit/>
          </a:bodyPr>
          <a:lstStyle/>
          <a:p>
            <a:pPr algn="l">
              <a:lnSpc>
                <a:spcPct val="124000"/>
              </a:lnSpc>
              <a:spcBef>
                <a:spcPts val="0"/>
              </a:spcBef>
              <a:spcAft>
                <a:spcPts val="800"/>
              </a:spcAft>
            </a:pPr>
            <a:r>
              <a:rPr sz="1200" b="0">
                <a:solidFill>
                  <a:srgbClr val="33333A"/>
                </a:solidFill>
                <a:latin typeface="Calibri"/>
              </a:rPr>
              <a:t>Two axes are enough to place any comment — no category list is needed, and none has to be agreed on in advance.</a:t>
            </a:r>
          </a:p>
          <a:p>
            <a:pPr algn="l">
              <a:lnSpc>
                <a:spcPct val="124000"/>
              </a:lnSpc>
              <a:spcBef>
                <a:spcPts val="0"/>
              </a:spcBef>
              <a:spcAft>
                <a:spcPts val="0"/>
              </a:spcAft>
            </a:pPr>
            <a:r>
              <a:rPr sz="1200" b="0">
                <a:solidFill>
                  <a:srgbClr val="6E6B66"/>
                </a:solidFill>
                <a:latin typeface="Calibri"/>
              </a:rPr>
              <a:t>The four corners are combinations, not categories. And distance on the ring means something: tense sits nearer to angry than to tired, even though all three are unpleasant.</a:t>
            </a:r>
          </a:p>
        </p:txBody>
      </p:sp>
      <p:sp>
        <p:nvSpPr>
          <p:cNvPr id="17" name="Rectangle 16"/>
          <p:cNvSpPr/>
          <p:nvPr/>
        </p:nvSpPr>
        <p:spPr>
          <a:xfrm>
            <a:off x="6415887" y="4422167"/>
            <a:ext cx="5117439" cy="179222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ectangle 17"/>
          <p:cNvSpPr/>
          <p:nvPr/>
        </p:nvSpPr>
        <p:spPr>
          <a:xfrm>
            <a:off x="6415887" y="4422167"/>
            <a:ext cx="5117439"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726783" y="4643869"/>
            <a:ext cx="4495647" cy="237744"/>
          </a:xfrm>
          <a:prstGeom prst="rect">
            <a:avLst/>
          </a:prstGeom>
          <a:noFill/>
        </p:spPr>
        <p:txBody>
          <a:bodyPr wrap="square" lIns="0" tIns="0" rIns="0" bIns="0">
            <a:spAutoFit/>
          </a:bodyPr>
          <a:lstStyle/>
          <a:p>
            <a:pPr algn="l">
              <a:lnSpc>
                <a:spcPct val="124000"/>
              </a:lnSpc>
              <a:spcBef>
                <a:spcPts val="0"/>
              </a:spcBef>
              <a:spcAft>
                <a:spcPts val="0"/>
              </a:spcAft>
            </a:pPr>
            <a:r>
              <a:rPr sz="950" b="1" dirty="0">
                <a:solidFill>
                  <a:srgbClr val="E8785A"/>
                </a:solidFill>
                <a:latin typeface="Calibri"/>
              </a:rPr>
              <a:t>TWO LIMITS WORTH NAMING</a:t>
            </a:r>
          </a:p>
        </p:txBody>
      </p:sp>
      <p:sp>
        <p:nvSpPr>
          <p:cNvPr id="20" name="TextBox 19"/>
          <p:cNvSpPr txBox="1"/>
          <p:nvPr/>
        </p:nvSpPr>
        <p:spPr>
          <a:xfrm>
            <a:off x="6726783" y="4936477"/>
            <a:ext cx="4495647" cy="1243584"/>
          </a:xfrm>
          <a:prstGeom prst="rect">
            <a:avLst/>
          </a:prstGeom>
          <a:noFill/>
        </p:spPr>
        <p:txBody>
          <a:bodyPr wrap="square" lIns="0" tIns="0" rIns="0" bIns="0">
            <a:spAutoFit/>
          </a:bodyPr>
          <a:lstStyle/>
          <a:p>
            <a:pPr algn="l">
              <a:lnSpc>
                <a:spcPct val="124000"/>
              </a:lnSpc>
              <a:spcBef>
                <a:spcPts val="0"/>
              </a:spcBef>
              <a:spcAft>
                <a:spcPts val="800"/>
              </a:spcAft>
            </a:pPr>
            <a:r>
              <a:rPr sz="1200" b="0" dirty="0">
                <a:solidFill>
                  <a:srgbClr val="6E6B66"/>
                </a:solidFill>
                <a:latin typeface="Calibri"/>
              </a:rPr>
              <a:t>The circle describes how people judge affect words. It is not a claim about what happens in the brain.</a:t>
            </a:r>
          </a:p>
          <a:p>
            <a:pPr algn="l">
              <a:lnSpc>
                <a:spcPct val="124000"/>
              </a:lnSpc>
              <a:spcBef>
                <a:spcPts val="0"/>
              </a:spcBef>
              <a:spcAft>
                <a:spcPts val="0"/>
              </a:spcAft>
            </a:pPr>
            <a:r>
              <a:rPr sz="1200" b="0" dirty="0">
                <a:solidFill>
                  <a:srgbClr val="6E6B66"/>
                </a:solidFill>
                <a:latin typeface="Calibri"/>
              </a:rPr>
              <a:t>And two dimensions are a choice. Other models add a third, usually dominance. ELFI stays with two, because the survey offers no criterion against which a third could be checked.</a:t>
            </a:r>
          </a:p>
        </p:txBody>
      </p:sp>
      <p:sp>
        <p:nvSpPr>
          <p:cNvPr id="21" name="TextBox 20"/>
          <p:cNvSpPr txBox="1"/>
          <p:nvPr/>
        </p:nvSpPr>
        <p:spPr>
          <a:xfrm>
            <a:off x="658368" y="6291072"/>
            <a:ext cx="10874959" cy="367793"/>
          </a:xfrm>
          <a:prstGeom prst="rect">
            <a:avLst/>
          </a:prstGeom>
          <a:noFill/>
        </p:spPr>
        <p:txBody>
          <a:bodyPr wrap="square" lIns="0" tIns="0" rIns="0" bIns="0">
            <a:spAutoFit/>
          </a:bodyPr>
          <a:lstStyle/>
          <a:p>
            <a:pPr algn="l">
              <a:lnSpc>
                <a:spcPct val="124000"/>
              </a:lnSpc>
              <a:spcBef>
                <a:spcPts val="0"/>
              </a:spcBef>
              <a:spcAft>
                <a:spcPts val="0"/>
              </a:spcAft>
            </a:pPr>
            <a:r>
              <a:rPr sz="1000" b="0" dirty="0">
                <a:solidFill>
                  <a:srgbClr val="9A968E"/>
                </a:solidFill>
                <a:latin typeface="Calibri"/>
              </a:rPr>
              <a:t>Russell, J. A. (1980). A circumplex model of affect. Journal of Personality and Social Psychology, 39(6), 1161–1178.</a:t>
            </a:r>
            <a:endParaRPr lang="de-DE" sz="1000" b="0" dirty="0">
              <a:solidFill>
                <a:srgbClr val="9A968E"/>
              </a:solidFill>
              <a:latin typeface="Calibri"/>
            </a:endParaRPr>
          </a:p>
          <a:p>
            <a:pPr algn="l">
              <a:lnSpc>
                <a:spcPct val="124000"/>
              </a:lnSpc>
              <a:spcBef>
                <a:spcPts val="0"/>
              </a:spcBef>
              <a:spcAft>
                <a:spcPts val="0"/>
              </a:spcAft>
            </a:pPr>
            <a:r>
              <a:rPr sz="1000" b="0" dirty="0">
                <a:solidFill>
                  <a:srgbClr val="9A968E"/>
                </a:solidFill>
                <a:latin typeface="Calibri"/>
              </a:rPr>
              <a:t>Core-affect framing: Barrett &amp; Russell (1999), Current Directions in Psychological Science, 8(1), 10–14.</a:t>
            </a:r>
          </a:p>
        </p:txBody>
      </p:sp>
      <p:sp>
        <p:nvSpPr>
          <p:cNvPr id="22" name="TextBox 21"/>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12</a:t>
            </a:r>
          </a:p>
        </p:txBody>
      </p:sp>
    </p:spTree>
    <p:extLst>
      <p:ext uri="{BB962C8B-B14F-4D97-AF65-F5344CB8AC3E}">
        <p14:creationId xmlns:p14="http://schemas.microsoft.com/office/powerpoint/2010/main" val="1527934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13</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04 — the circumplex</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Two axes, deliberately scaled differently</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668719" cy="597984"/>
          </a:xfrm>
          <a:prstGeom prst="rect">
            <a:avLst/>
          </a:prstGeom>
          <a:noFill/>
        </p:spPr>
        <p:txBody>
          <a:bodyPr wrap="square" lIns="0" tIns="0" rIns="0" bIns="0">
            <a:spAutoFit/>
          </a:bodyPr>
          <a:lstStyle/>
          <a:p>
            <a:pPr algn="l">
              <a:lnSpc>
                <a:spcPct val="122000"/>
              </a:lnSpc>
              <a:spcBef>
                <a:spcPts val="0"/>
              </a:spcBef>
              <a:spcAft>
                <a:spcPts val="0"/>
              </a:spcAft>
            </a:pPr>
            <a:r>
              <a:rPr sz="1650" b="0" dirty="0">
                <a:solidFill>
                  <a:srgbClr val="33333A"/>
                </a:solidFill>
                <a:latin typeface="Calibri Light"/>
              </a:rPr>
              <a:t>Valence keeps its own scale. Arousal is converted to ranks. </a:t>
            </a:r>
            <a:endParaRPr lang="de-DE" sz="1650" b="0" dirty="0">
              <a:solidFill>
                <a:srgbClr val="33333A"/>
              </a:solidFill>
              <a:latin typeface="Calibri Light"/>
            </a:endParaRPr>
          </a:p>
          <a:p>
            <a:pPr algn="l">
              <a:lnSpc>
                <a:spcPct val="122000"/>
              </a:lnSpc>
              <a:spcBef>
                <a:spcPts val="0"/>
              </a:spcBef>
              <a:spcAft>
                <a:spcPts val="0"/>
              </a:spcAft>
            </a:pPr>
            <a:r>
              <a:rPr sz="1650" b="0" dirty="0">
                <a:solidFill>
                  <a:srgbClr val="33333A"/>
                </a:solidFill>
                <a:latin typeface="Calibri Light"/>
              </a:rPr>
              <a:t>That asymmetry is a decision, not an oversight.</a:t>
            </a:r>
          </a:p>
        </p:txBody>
      </p:sp>
      <p:sp>
        <p:nvSpPr>
          <p:cNvPr id="9" name="TextBox 8"/>
          <p:cNvSpPr txBox="1"/>
          <p:nvPr/>
        </p:nvSpPr>
        <p:spPr>
          <a:xfrm>
            <a:off x="658368" y="2752344"/>
            <a:ext cx="6668719" cy="2102114"/>
          </a:xfrm>
          <a:prstGeom prst="rect">
            <a:avLst/>
          </a:prstGeom>
          <a:noFill/>
        </p:spPr>
        <p:txBody>
          <a:bodyPr wrap="square" lIns="0" tIns="0" rIns="0" bIns="0">
            <a:spAutoFit/>
          </a:bodyPr>
          <a:lstStyle/>
          <a:p>
            <a:pPr algn="l">
              <a:lnSpc>
                <a:spcPct val="124000"/>
              </a:lnSpc>
              <a:spcBef>
                <a:spcPts val="0"/>
              </a:spcBef>
              <a:spcAft>
                <a:spcPts val="800"/>
              </a:spcAft>
            </a:pPr>
            <a:r>
              <a:rPr sz="950" b="1" dirty="0">
                <a:solidFill>
                  <a:srgbClr val="E8785A"/>
                </a:solidFill>
                <a:latin typeface="Calibri"/>
              </a:rPr>
              <a:t>VALENCE KEEPS ITS SCALE</a:t>
            </a:r>
          </a:p>
          <a:p>
            <a:pPr algn="l">
              <a:lnSpc>
                <a:spcPct val="124000"/>
              </a:lnSpc>
              <a:spcBef>
                <a:spcPts val="0"/>
              </a:spcBef>
              <a:spcAft>
                <a:spcPts val="1400"/>
              </a:spcAft>
            </a:pPr>
            <a:r>
              <a:rPr sz="1250" b="0" dirty="0">
                <a:solidFill>
                  <a:srgbClr val="6E6B66"/>
                </a:solidFill>
                <a:latin typeface="Calibri"/>
              </a:rPr>
              <a:t>It already runs from −1 to +1 and its zero means something: a comment scored 0 is neutral.</a:t>
            </a:r>
            <a:endParaRPr lang="de-DE" sz="1250" b="0" dirty="0">
              <a:solidFill>
                <a:srgbClr val="6E6B66"/>
              </a:solidFill>
              <a:latin typeface="Calibri"/>
            </a:endParaRPr>
          </a:p>
          <a:p>
            <a:pPr algn="l">
              <a:lnSpc>
                <a:spcPct val="124000"/>
              </a:lnSpc>
              <a:spcBef>
                <a:spcPts val="0"/>
              </a:spcBef>
              <a:spcAft>
                <a:spcPts val="1400"/>
              </a:spcAft>
            </a:pPr>
            <a:r>
              <a:rPr sz="1250" b="0" dirty="0">
                <a:solidFill>
                  <a:srgbClr val="6E6B66"/>
                </a:solidFill>
                <a:latin typeface="Calibri"/>
              </a:rPr>
              <a:t>That is worth keeping.</a:t>
            </a:r>
          </a:p>
          <a:p>
            <a:pPr algn="l">
              <a:lnSpc>
                <a:spcPct val="124000"/>
              </a:lnSpc>
              <a:spcBef>
                <a:spcPts val="0"/>
              </a:spcBef>
              <a:spcAft>
                <a:spcPts val="800"/>
              </a:spcAft>
            </a:pPr>
            <a:r>
              <a:rPr sz="950" b="1" dirty="0">
                <a:solidFill>
                  <a:srgbClr val="3E9E96"/>
                </a:solidFill>
                <a:latin typeface="Calibri"/>
              </a:rPr>
              <a:t>AROUSAL IS RANK-NORMALISED</a:t>
            </a:r>
          </a:p>
          <a:p>
            <a:pPr algn="l">
              <a:lnSpc>
                <a:spcPct val="124000"/>
              </a:lnSpc>
              <a:spcBef>
                <a:spcPts val="0"/>
              </a:spcBef>
              <a:spcAft>
                <a:spcPts val="0"/>
              </a:spcAft>
            </a:pPr>
            <a:r>
              <a:rPr sz="1250" b="0" dirty="0">
                <a:solidFill>
                  <a:srgbClr val="6E6B66"/>
                </a:solidFill>
                <a:latin typeface="Calibri"/>
              </a:rPr>
              <a:t>The dictionary average sits somewhere in an arbitrary range with no natural midpoint.</a:t>
            </a:r>
            <a:endParaRPr lang="de-DE" sz="1250" b="0" dirty="0">
              <a:solidFill>
                <a:srgbClr val="6E6B66"/>
              </a:solidFill>
              <a:latin typeface="Calibri"/>
            </a:endParaRPr>
          </a:p>
          <a:p>
            <a:pPr algn="l">
              <a:lnSpc>
                <a:spcPct val="124000"/>
              </a:lnSpc>
              <a:spcBef>
                <a:spcPts val="0"/>
              </a:spcBef>
              <a:spcAft>
                <a:spcPts val="0"/>
              </a:spcAft>
            </a:pPr>
            <a:r>
              <a:rPr sz="1250" b="0" dirty="0">
                <a:solidFill>
                  <a:srgbClr val="6E6B66"/>
                </a:solidFill>
                <a:latin typeface="Calibri"/>
              </a:rPr>
              <a:t>There is no value at which a comment objectively stops being calm. So each comment</a:t>
            </a:r>
            <a:endParaRPr lang="de-DE" sz="1250" b="0" dirty="0">
              <a:solidFill>
                <a:srgbClr val="6E6B66"/>
              </a:solidFill>
              <a:latin typeface="Calibri"/>
            </a:endParaRPr>
          </a:p>
          <a:p>
            <a:pPr algn="l">
              <a:lnSpc>
                <a:spcPct val="124000"/>
              </a:lnSpc>
              <a:spcBef>
                <a:spcPts val="0"/>
              </a:spcBef>
              <a:spcAft>
                <a:spcPts val="0"/>
              </a:spcAft>
            </a:pPr>
            <a:r>
              <a:rPr sz="1250" b="0" dirty="0">
                <a:solidFill>
                  <a:srgbClr val="6E6B66"/>
                </a:solidFill>
                <a:latin typeface="Calibri"/>
              </a:rPr>
              <a:t>is placed by its percentile, and the zero line becomes the corpus median.</a:t>
            </a:r>
          </a:p>
        </p:txBody>
      </p:sp>
      <p:sp>
        <p:nvSpPr>
          <p:cNvPr id="10" name="Rectangle 9"/>
          <p:cNvSpPr/>
          <p:nvPr/>
        </p:nvSpPr>
        <p:spPr>
          <a:xfrm>
            <a:off x="6741871" y="1773936"/>
            <a:ext cx="2395728" cy="1133856"/>
          </a:xfrm>
          <a:prstGeom prst="rect">
            <a:avLst/>
          </a:prstGeom>
          <a:solidFill>
            <a:srgbClr val="FCD4C8"/>
          </a:solidFill>
          <a:ln w="12700">
            <a:solidFill>
              <a:srgbClr val="F4E4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924751" y="2011680"/>
            <a:ext cx="2029968" cy="768096"/>
          </a:xfrm>
          <a:prstGeom prst="rect">
            <a:avLst/>
          </a:prstGeom>
          <a:noFill/>
        </p:spPr>
        <p:txBody>
          <a:bodyPr wrap="square" lIns="0" tIns="0" rIns="0" bIns="0">
            <a:spAutoFit/>
          </a:bodyPr>
          <a:lstStyle/>
          <a:p>
            <a:pPr algn="l">
              <a:lnSpc>
                <a:spcPct val="114000"/>
              </a:lnSpc>
              <a:spcBef>
                <a:spcPts val="0"/>
              </a:spcBef>
              <a:spcAft>
                <a:spcPts val="400"/>
              </a:spcAft>
            </a:pPr>
            <a:r>
              <a:rPr sz="1100" b="1">
                <a:solidFill>
                  <a:srgbClr val="33333A"/>
                </a:solidFill>
                <a:latin typeface="Calibri"/>
              </a:rPr>
              <a:t>unpleasant · activated</a:t>
            </a:r>
          </a:p>
          <a:p>
            <a:pPr algn="l">
              <a:lnSpc>
                <a:spcPct val="124000"/>
              </a:lnSpc>
              <a:spcBef>
                <a:spcPts val="0"/>
              </a:spcBef>
              <a:spcAft>
                <a:spcPts val="500"/>
              </a:spcAft>
            </a:pPr>
            <a:r>
              <a:rPr sz="1050" b="0">
                <a:solidFill>
                  <a:srgbClr val="6E6B66"/>
                </a:solidFill>
                <a:latin typeface="Calibri"/>
              </a:rPr>
              <a:t>frustrated, tense</a:t>
            </a:r>
          </a:p>
        </p:txBody>
      </p:sp>
      <p:sp>
        <p:nvSpPr>
          <p:cNvPr id="12" name="Rectangle 11"/>
          <p:cNvSpPr/>
          <p:nvPr/>
        </p:nvSpPr>
        <p:spPr>
          <a:xfrm>
            <a:off x="9137599" y="1773936"/>
            <a:ext cx="2395728" cy="1133856"/>
          </a:xfrm>
          <a:prstGeom prst="rect">
            <a:avLst/>
          </a:prstGeom>
          <a:solidFill>
            <a:srgbClr val="C2F0F0"/>
          </a:solidFill>
          <a:ln w="12700">
            <a:solidFill>
              <a:srgbClr val="F4E4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320479" y="2011680"/>
            <a:ext cx="2029968" cy="768096"/>
          </a:xfrm>
          <a:prstGeom prst="rect">
            <a:avLst/>
          </a:prstGeom>
          <a:noFill/>
        </p:spPr>
        <p:txBody>
          <a:bodyPr wrap="square" lIns="0" tIns="0" rIns="0" bIns="0">
            <a:spAutoFit/>
          </a:bodyPr>
          <a:lstStyle/>
          <a:p>
            <a:pPr algn="l">
              <a:lnSpc>
                <a:spcPct val="114000"/>
              </a:lnSpc>
              <a:spcBef>
                <a:spcPts val="0"/>
              </a:spcBef>
              <a:spcAft>
                <a:spcPts val="400"/>
              </a:spcAft>
            </a:pPr>
            <a:r>
              <a:rPr sz="1100" b="1">
                <a:solidFill>
                  <a:srgbClr val="33333A"/>
                </a:solidFill>
                <a:latin typeface="Calibri"/>
              </a:rPr>
              <a:t>pleasant · activated</a:t>
            </a:r>
          </a:p>
          <a:p>
            <a:pPr algn="l">
              <a:lnSpc>
                <a:spcPct val="124000"/>
              </a:lnSpc>
              <a:spcBef>
                <a:spcPts val="0"/>
              </a:spcBef>
              <a:spcAft>
                <a:spcPts val="500"/>
              </a:spcAft>
            </a:pPr>
            <a:r>
              <a:rPr sz="1050" b="0">
                <a:solidFill>
                  <a:srgbClr val="6E6B66"/>
                </a:solidFill>
                <a:latin typeface="Calibri"/>
              </a:rPr>
              <a:t>excited, energised</a:t>
            </a:r>
          </a:p>
        </p:txBody>
      </p:sp>
      <p:sp>
        <p:nvSpPr>
          <p:cNvPr id="14" name="Rectangle 13"/>
          <p:cNvSpPr/>
          <p:nvPr/>
        </p:nvSpPr>
        <p:spPr>
          <a:xfrm>
            <a:off x="6741871" y="2907791"/>
            <a:ext cx="2395728" cy="1133856"/>
          </a:xfrm>
          <a:prstGeom prst="rect">
            <a:avLst/>
          </a:prstGeom>
          <a:solidFill>
            <a:srgbClr val="F6E0D5"/>
          </a:solidFill>
          <a:ln w="12700">
            <a:solidFill>
              <a:srgbClr val="F4E4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924751" y="3145535"/>
            <a:ext cx="2029968" cy="768096"/>
          </a:xfrm>
          <a:prstGeom prst="rect">
            <a:avLst/>
          </a:prstGeom>
          <a:noFill/>
        </p:spPr>
        <p:txBody>
          <a:bodyPr wrap="square" lIns="0" tIns="0" rIns="0" bIns="0">
            <a:spAutoFit/>
          </a:bodyPr>
          <a:lstStyle/>
          <a:p>
            <a:pPr algn="l">
              <a:lnSpc>
                <a:spcPct val="114000"/>
              </a:lnSpc>
              <a:spcBef>
                <a:spcPts val="0"/>
              </a:spcBef>
              <a:spcAft>
                <a:spcPts val="400"/>
              </a:spcAft>
            </a:pPr>
            <a:r>
              <a:rPr sz="1100" b="1">
                <a:solidFill>
                  <a:srgbClr val="33333A"/>
                </a:solidFill>
                <a:latin typeface="Calibri"/>
              </a:rPr>
              <a:t>unpleasant · deactivated</a:t>
            </a:r>
          </a:p>
          <a:p>
            <a:pPr algn="l">
              <a:lnSpc>
                <a:spcPct val="124000"/>
              </a:lnSpc>
              <a:spcBef>
                <a:spcPts val="0"/>
              </a:spcBef>
              <a:spcAft>
                <a:spcPts val="500"/>
              </a:spcAft>
            </a:pPr>
            <a:r>
              <a:rPr sz="1050" b="0">
                <a:solidFill>
                  <a:srgbClr val="6E6B66"/>
                </a:solidFill>
                <a:latin typeface="Calibri"/>
              </a:rPr>
              <a:t>exhausted, resigned</a:t>
            </a:r>
          </a:p>
        </p:txBody>
      </p:sp>
      <p:sp>
        <p:nvSpPr>
          <p:cNvPr id="16" name="Rectangle 15"/>
          <p:cNvSpPr/>
          <p:nvPr/>
        </p:nvSpPr>
        <p:spPr>
          <a:xfrm>
            <a:off x="9137599" y="2907791"/>
            <a:ext cx="2395728" cy="1133856"/>
          </a:xfrm>
          <a:prstGeom prst="rect">
            <a:avLst/>
          </a:prstGeom>
          <a:solidFill>
            <a:srgbClr val="D6F2F0"/>
          </a:solidFill>
          <a:ln w="12700">
            <a:solidFill>
              <a:srgbClr val="F4E4C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320479" y="3145535"/>
            <a:ext cx="2029968" cy="768096"/>
          </a:xfrm>
          <a:prstGeom prst="rect">
            <a:avLst/>
          </a:prstGeom>
          <a:noFill/>
        </p:spPr>
        <p:txBody>
          <a:bodyPr wrap="square" lIns="0" tIns="0" rIns="0" bIns="0">
            <a:spAutoFit/>
          </a:bodyPr>
          <a:lstStyle/>
          <a:p>
            <a:pPr algn="l">
              <a:lnSpc>
                <a:spcPct val="114000"/>
              </a:lnSpc>
              <a:spcBef>
                <a:spcPts val="0"/>
              </a:spcBef>
              <a:spcAft>
                <a:spcPts val="400"/>
              </a:spcAft>
            </a:pPr>
            <a:r>
              <a:rPr sz="1100" b="1">
                <a:solidFill>
                  <a:srgbClr val="33333A"/>
                </a:solidFill>
                <a:latin typeface="Calibri"/>
              </a:rPr>
              <a:t>pleasant · deactivated</a:t>
            </a:r>
          </a:p>
          <a:p>
            <a:pPr algn="l">
              <a:lnSpc>
                <a:spcPct val="124000"/>
              </a:lnSpc>
              <a:spcBef>
                <a:spcPts val="0"/>
              </a:spcBef>
              <a:spcAft>
                <a:spcPts val="500"/>
              </a:spcAft>
            </a:pPr>
            <a:r>
              <a:rPr sz="1050" b="0">
                <a:solidFill>
                  <a:srgbClr val="6E6B66"/>
                </a:solidFill>
                <a:latin typeface="Calibri"/>
              </a:rPr>
              <a:t>content, calm</a:t>
            </a:r>
          </a:p>
        </p:txBody>
      </p:sp>
      <p:sp>
        <p:nvSpPr>
          <p:cNvPr id="18" name="Rectangle 17"/>
          <p:cNvSpPr/>
          <p:nvPr/>
        </p:nvSpPr>
        <p:spPr>
          <a:xfrm>
            <a:off x="6741871" y="4261104"/>
            <a:ext cx="4791456" cy="129844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6741871" y="4261104"/>
            <a:ext cx="4791456"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7052767" y="4498848"/>
            <a:ext cx="40233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WHY NOT RANK BOTH?</a:t>
            </a:r>
          </a:p>
        </p:txBody>
      </p:sp>
      <p:sp>
        <p:nvSpPr>
          <p:cNvPr id="21" name="TextBox 20"/>
          <p:cNvSpPr txBox="1"/>
          <p:nvPr/>
        </p:nvSpPr>
        <p:spPr>
          <a:xfrm>
            <a:off x="7052767" y="4791456"/>
            <a:ext cx="4169664" cy="82296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Ranking makes a distribution even by construction. Do it to both axes and every corner is pushed towards 25 % — the chart then describes the transformation instead of the comments.</a:t>
            </a:r>
          </a:p>
        </p:txBody>
      </p:sp>
      <p:sp>
        <p:nvSpPr>
          <p:cNvPr id="22" name="TextBox 21"/>
          <p:cNvSpPr txBox="1"/>
          <p:nvPr/>
        </p:nvSpPr>
        <p:spPr>
          <a:xfrm>
            <a:off x="658368" y="5943600"/>
            <a:ext cx="6668719" cy="45720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Read accordingly: left-right separates positive from negative. Up-down separates more from less activated, relative to the rest of the corpus.</a:t>
            </a:r>
          </a:p>
        </p:txBody>
      </p:sp>
      <p:sp>
        <p:nvSpPr>
          <p:cNvPr id="23" name="TextBox 22"/>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14</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Barrett — emotions as constructions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Why ELFI does not predict emotion labels</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dirty="0">
                <a:solidFill>
                  <a:srgbClr val="33333A"/>
                </a:solidFill>
                <a:latin typeface="Calibri Light"/>
              </a:rPr>
              <a:t>Emotions are not triggered and then </a:t>
            </a:r>
            <a:r>
              <a:rPr sz="1650" b="0" dirty="0" err="1">
                <a:solidFill>
                  <a:srgbClr val="33333A"/>
                </a:solidFill>
                <a:latin typeface="Calibri Light"/>
              </a:rPr>
              <a:t>recognised</a:t>
            </a:r>
            <a:r>
              <a:rPr sz="1650" b="0" dirty="0">
                <a:solidFill>
                  <a:srgbClr val="33333A"/>
                </a:solidFill>
                <a:latin typeface="Calibri Light"/>
              </a:rPr>
              <a:t>. On this account they are constructed — which changes what is worth measuring.</a:t>
            </a:r>
          </a:p>
        </p:txBody>
      </p:sp>
      <p:sp>
        <p:nvSpPr>
          <p:cNvPr id="9" name="TextBox 8"/>
          <p:cNvSpPr txBox="1"/>
          <p:nvPr/>
        </p:nvSpPr>
        <p:spPr>
          <a:xfrm>
            <a:off x="658368" y="2505456"/>
            <a:ext cx="511743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THE CLASSICAL VIEW  ·  EKMAN, 1992</a:t>
            </a:r>
          </a:p>
        </p:txBody>
      </p:sp>
      <p:sp>
        <p:nvSpPr>
          <p:cNvPr id="10" name="TextBox 9"/>
          <p:cNvSpPr txBox="1"/>
          <p:nvPr/>
        </p:nvSpPr>
        <p:spPr>
          <a:xfrm>
            <a:off x="658368" y="2798064"/>
            <a:ext cx="5117439" cy="1463040"/>
          </a:xfrm>
          <a:prstGeom prst="rect">
            <a:avLst/>
          </a:prstGeom>
          <a:noFill/>
        </p:spPr>
        <p:txBody>
          <a:bodyPr wrap="square" lIns="0" tIns="0" rIns="0" bIns="0">
            <a:spAutoFit/>
          </a:bodyPr>
          <a:lstStyle/>
          <a:p>
            <a:pPr algn="l">
              <a:lnSpc>
                <a:spcPct val="124000"/>
              </a:lnSpc>
              <a:spcBef>
                <a:spcPts val="0"/>
              </a:spcBef>
              <a:spcAft>
                <a:spcPts val="800"/>
              </a:spcAft>
            </a:pPr>
            <a:r>
              <a:rPr sz="1250" b="0" dirty="0">
                <a:solidFill>
                  <a:srgbClr val="6E6B66"/>
                </a:solidFill>
                <a:latin typeface="Calibri"/>
              </a:rPr>
              <a:t>A small set of universal, discrete emotions. Each is supposed to have its own fingerprint: a characteristic facial expression, a characteristic physiology, a dedicated circuit.</a:t>
            </a:r>
          </a:p>
          <a:p>
            <a:pPr algn="l">
              <a:lnSpc>
                <a:spcPct val="124000"/>
              </a:lnSpc>
              <a:spcBef>
                <a:spcPts val="0"/>
              </a:spcBef>
              <a:spcAft>
                <a:spcPts val="0"/>
              </a:spcAft>
            </a:pPr>
            <a:r>
              <a:rPr sz="1250" b="0" dirty="0">
                <a:solidFill>
                  <a:srgbClr val="33333A"/>
                </a:solidFill>
                <a:latin typeface="Calibri"/>
              </a:rPr>
              <a:t>On this view an emotion is triggered, and reading emotion is detection.</a:t>
            </a:r>
          </a:p>
        </p:txBody>
      </p:sp>
      <p:sp>
        <p:nvSpPr>
          <p:cNvPr id="11" name="TextBox 10"/>
          <p:cNvSpPr txBox="1"/>
          <p:nvPr/>
        </p:nvSpPr>
        <p:spPr>
          <a:xfrm>
            <a:off x="658368" y="4189558"/>
            <a:ext cx="511743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THE CONSTRUCTED VIEW  ·  BARRETT, 2017</a:t>
            </a:r>
          </a:p>
        </p:txBody>
      </p:sp>
      <p:sp>
        <p:nvSpPr>
          <p:cNvPr id="12" name="TextBox 11"/>
          <p:cNvSpPr txBox="1"/>
          <p:nvPr/>
        </p:nvSpPr>
        <p:spPr>
          <a:xfrm>
            <a:off x="658368" y="4482166"/>
            <a:ext cx="5117439" cy="1554480"/>
          </a:xfrm>
          <a:prstGeom prst="rect">
            <a:avLst/>
          </a:prstGeom>
          <a:noFill/>
        </p:spPr>
        <p:txBody>
          <a:bodyPr wrap="square" lIns="0" tIns="0" rIns="0" bIns="0">
            <a:spAutoFit/>
          </a:bodyPr>
          <a:lstStyle/>
          <a:p>
            <a:pPr algn="l">
              <a:lnSpc>
                <a:spcPct val="124000"/>
              </a:lnSpc>
              <a:spcBef>
                <a:spcPts val="0"/>
              </a:spcBef>
              <a:spcAft>
                <a:spcPts val="800"/>
              </a:spcAft>
            </a:pPr>
            <a:r>
              <a:rPr sz="1250" b="0" dirty="0">
                <a:solidFill>
                  <a:srgbClr val="33333A"/>
                </a:solidFill>
                <a:latin typeface="Calibri"/>
              </a:rPr>
              <a:t>The brain starts from core affect — pleasantness and activation — together with bodily signals, and applies a learned concept to them. That act of </a:t>
            </a:r>
            <a:r>
              <a:rPr sz="1250" b="0" dirty="0" err="1">
                <a:solidFill>
                  <a:srgbClr val="33333A"/>
                </a:solidFill>
                <a:latin typeface="Calibri"/>
              </a:rPr>
              <a:t>categorising</a:t>
            </a:r>
            <a:r>
              <a:rPr sz="1250" b="0" dirty="0">
                <a:solidFill>
                  <a:srgbClr val="33333A"/>
                </a:solidFill>
                <a:latin typeface="Calibri"/>
              </a:rPr>
              <a:t> is the emotion.</a:t>
            </a:r>
          </a:p>
          <a:p>
            <a:pPr algn="l">
              <a:lnSpc>
                <a:spcPct val="124000"/>
              </a:lnSpc>
              <a:spcBef>
                <a:spcPts val="0"/>
              </a:spcBef>
              <a:spcAft>
                <a:spcPts val="0"/>
              </a:spcAft>
            </a:pPr>
            <a:r>
              <a:rPr sz="1250" b="0" dirty="0">
                <a:solidFill>
                  <a:srgbClr val="6E6B66"/>
                </a:solidFill>
                <a:latin typeface="Calibri"/>
              </a:rPr>
              <a:t>The concepts are learned, and they depend on language and culture. Reviews of the evidence find variability across instances rather than one signature per category.</a:t>
            </a:r>
          </a:p>
        </p:txBody>
      </p:sp>
      <p:sp>
        <p:nvSpPr>
          <p:cNvPr id="13" name="Rectangle 12"/>
          <p:cNvSpPr/>
          <p:nvPr/>
        </p:nvSpPr>
        <p:spPr>
          <a:xfrm>
            <a:off x="6415887" y="2143548"/>
            <a:ext cx="5117439" cy="212140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6415887" y="2143548"/>
            <a:ext cx="5117439"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726783" y="2381292"/>
            <a:ext cx="4495647"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WHAT FOLLOWS FOR TEXT ANALYSIS</a:t>
            </a:r>
          </a:p>
        </p:txBody>
      </p:sp>
      <p:sp>
        <p:nvSpPr>
          <p:cNvPr id="16" name="TextBox 15"/>
          <p:cNvSpPr txBox="1"/>
          <p:nvPr/>
        </p:nvSpPr>
        <p:spPr>
          <a:xfrm>
            <a:off x="6726783" y="2673900"/>
            <a:ext cx="4495647" cy="1107996"/>
          </a:xfrm>
          <a:prstGeom prst="rect">
            <a:avLst/>
          </a:prstGeom>
          <a:noFill/>
        </p:spPr>
        <p:txBody>
          <a:bodyPr wrap="square" lIns="0" tIns="0" rIns="0" bIns="0">
            <a:spAutoFit/>
          </a:bodyPr>
          <a:lstStyle/>
          <a:p>
            <a:r>
              <a:rPr lang="de-DE" sz="1200" dirty="0">
                <a:solidFill>
                  <a:srgbClr val="6E6B66"/>
                </a:solidFill>
                <a:latin typeface="Calibri"/>
              </a:rPr>
              <a:t>Ask a </a:t>
            </a:r>
            <a:r>
              <a:rPr lang="de-DE" sz="1200" dirty="0" err="1">
                <a:solidFill>
                  <a:srgbClr val="6E6B66"/>
                </a:solidFill>
                <a:latin typeface="Calibri"/>
              </a:rPr>
              <a:t>model</a:t>
            </a:r>
            <a:r>
              <a:rPr lang="de-DE" sz="1200" dirty="0">
                <a:solidFill>
                  <a:srgbClr val="6E6B66"/>
                </a:solidFill>
                <a:latin typeface="Calibri"/>
              </a:rPr>
              <a:t> for 28 </a:t>
            </a:r>
            <a:r>
              <a:rPr lang="de-DE" sz="1200" dirty="0" err="1">
                <a:solidFill>
                  <a:srgbClr val="6E6B66"/>
                </a:solidFill>
                <a:latin typeface="Calibri"/>
              </a:rPr>
              <a:t>emotions</a:t>
            </a:r>
            <a:r>
              <a:rPr lang="de-DE" sz="1200" dirty="0">
                <a:solidFill>
                  <a:srgbClr val="6E6B66"/>
                </a:solidFill>
                <a:latin typeface="Calibri"/>
              </a:rPr>
              <a:t> and </a:t>
            </a:r>
            <a:r>
              <a:rPr lang="de-DE" sz="1200" dirty="0" err="1">
                <a:solidFill>
                  <a:srgbClr val="6E6B66"/>
                </a:solidFill>
                <a:latin typeface="Calibri"/>
              </a:rPr>
              <a:t>you</a:t>
            </a:r>
            <a:r>
              <a:rPr lang="de-DE" sz="1200" dirty="0">
                <a:solidFill>
                  <a:srgbClr val="6E6B66"/>
                </a:solidFill>
                <a:latin typeface="Calibri"/>
              </a:rPr>
              <a:t> </a:t>
            </a:r>
            <a:r>
              <a:rPr lang="de-DE" sz="1200" dirty="0" err="1">
                <a:solidFill>
                  <a:srgbClr val="6E6B66"/>
                </a:solidFill>
                <a:latin typeface="Calibri"/>
              </a:rPr>
              <a:t>get</a:t>
            </a:r>
            <a:r>
              <a:rPr lang="de-DE" sz="1200" dirty="0">
                <a:solidFill>
                  <a:srgbClr val="6E6B66"/>
                </a:solidFill>
                <a:latin typeface="Calibri"/>
              </a:rPr>
              <a:t> 28 </a:t>
            </a:r>
            <a:r>
              <a:rPr lang="de-DE" sz="1200" dirty="0" err="1">
                <a:solidFill>
                  <a:srgbClr val="6E6B66"/>
                </a:solidFill>
                <a:latin typeface="Calibri"/>
              </a:rPr>
              <a:t>numbers</a:t>
            </a:r>
            <a:r>
              <a:rPr lang="de-DE" sz="1200" dirty="0">
                <a:solidFill>
                  <a:srgbClr val="6E6B66"/>
                </a:solidFill>
                <a:latin typeface="Calibri"/>
              </a:rPr>
              <a:t>. But </a:t>
            </a:r>
            <a:r>
              <a:rPr lang="de-DE" sz="1200" dirty="0" err="1">
                <a:solidFill>
                  <a:srgbClr val="6E6B66"/>
                </a:solidFill>
                <a:latin typeface="Calibri"/>
              </a:rPr>
              <a:t>those</a:t>
            </a:r>
            <a:r>
              <a:rPr lang="de-DE" sz="1200" dirty="0">
                <a:solidFill>
                  <a:srgbClr val="6E6B66"/>
                </a:solidFill>
                <a:latin typeface="Calibri"/>
              </a:rPr>
              <a:t> 28 </a:t>
            </a:r>
            <a:r>
              <a:rPr lang="de-DE" sz="1200" dirty="0" err="1">
                <a:solidFill>
                  <a:srgbClr val="6E6B66"/>
                </a:solidFill>
                <a:latin typeface="Calibri"/>
              </a:rPr>
              <a:t>categories</a:t>
            </a:r>
            <a:r>
              <a:rPr lang="de-DE" sz="1200" dirty="0">
                <a:solidFill>
                  <a:srgbClr val="6E6B66"/>
                </a:solidFill>
                <a:latin typeface="Calibri"/>
              </a:rPr>
              <a:t> </a:t>
            </a:r>
            <a:r>
              <a:rPr lang="de-DE" sz="1200" dirty="0" err="1">
                <a:solidFill>
                  <a:srgbClr val="6E6B66"/>
                </a:solidFill>
                <a:latin typeface="Calibri"/>
              </a:rPr>
              <a:t>came</a:t>
            </a:r>
            <a:r>
              <a:rPr lang="de-DE" sz="1200" dirty="0">
                <a:solidFill>
                  <a:srgbClr val="6E6B66"/>
                </a:solidFill>
                <a:latin typeface="Calibri"/>
              </a:rPr>
              <a:t> </a:t>
            </a:r>
            <a:r>
              <a:rPr lang="de-DE" sz="1200" dirty="0" err="1">
                <a:solidFill>
                  <a:srgbClr val="6E6B66"/>
                </a:solidFill>
                <a:latin typeface="Calibri"/>
              </a:rPr>
              <a:t>from</a:t>
            </a:r>
            <a:r>
              <a:rPr lang="de-DE" sz="1200" dirty="0">
                <a:solidFill>
                  <a:srgbClr val="6E6B66"/>
                </a:solidFill>
                <a:latin typeface="Calibri"/>
              </a:rPr>
              <a:t> </a:t>
            </a:r>
            <a:r>
              <a:rPr lang="de-DE" sz="1200" dirty="0" err="1">
                <a:solidFill>
                  <a:srgbClr val="6E6B66"/>
                </a:solidFill>
                <a:latin typeface="Calibri"/>
              </a:rPr>
              <a:t>us</a:t>
            </a:r>
            <a:r>
              <a:rPr lang="de-DE" sz="1200" dirty="0">
                <a:solidFill>
                  <a:srgbClr val="6E6B66"/>
                </a:solidFill>
                <a:latin typeface="Calibri"/>
              </a:rPr>
              <a:t>, not </a:t>
            </a:r>
            <a:r>
              <a:rPr lang="de-DE" sz="1200" dirty="0" err="1">
                <a:solidFill>
                  <a:srgbClr val="6E6B66"/>
                </a:solidFill>
                <a:latin typeface="Calibri"/>
              </a:rPr>
              <a:t>from</a:t>
            </a:r>
            <a:r>
              <a:rPr lang="de-DE" sz="1200" dirty="0">
                <a:solidFill>
                  <a:srgbClr val="6E6B66"/>
                </a:solidFill>
                <a:latin typeface="Calibri"/>
              </a:rPr>
              <a:t> the </a:t>
            </a:r>
            <a:r>
              <a:rPr lang="de-DE" sz="1200" dirty="0" err="1">
                <a:solidFill>
                  <a:srgbClr val="6E6B66"/>
                </a:solidFill>
                <a:latin typeface="Calibri"/>
              </a:rPr>
              <a:t>person</a:t>
            </a:r>
            <a:r>
              <a:rPr lang="de-DE" sz="1200" dirty="0">
                <a:solidFill>
                  <a:srgbClr val="6E6B66"/>
                </a:solidFill>
                <a:latin typeface="Calibri"/>
              </a:rPr>
              <a:t> who </a:t>
            </a:r>
            <a:r>
              <a:rPr lang="de-DE" sz="1200" dirty="0" err="1">
                <a:solidFill>
                  <a:srgbClr val="6E6B66"/>
                </a:solidFill>
                <a:latin typeface="Calibri"/>
              </a:rPr>
              <a:t>wrote</a:t>
            </a:r>
            <a:r>
              <a:rPr lang="de-DE" sz="1200" dirty="0">
                <a:solidFill>
                  <a:srgbClr val="6E6B66"/>
                </a:solidFill>
                <a:latin typeface="Calibri"/>
              </a:rPr>
              <a:t> the </a:t>
            </a:r>
            <a:r>
              <a:rPr lang="de-DE" sz="1200" dirty="0" err="1">
                <a:solidFill>
                  <a:srgbClr val="6E6B66"/>
                </a:solidFill>
                <a:latin typeface="Calibri"/>
              </a:rPr>
              <a:t>comment</a:t>
            </a:r>
            <a:r>
              <a:rPr lang="de-DE" sz="1200" dirty="0">
                <a:solidFill>
                  <a:srgbClr val="6E6B66"/>
                </a:solidFill>
                <a:latin typeface="Calibri"/>
              </a:rPr>
              <a:t>. So the </a:t>
            </a:r>
            <a:r>
              <a:rPr lang="de-DE" sz="1200" dirty="0" err="1">
                <a:solidFill>
                  <a:srgbClr val="6E6B66"/>
                </a:solidFill>
                <a:latin typeface="Calibri"/>
              </a:rPr>
              <a:t>output</a:t>
            </a:r>
            <a:r>
              <a:rPr lang="de-DE" sz="1200" dirty="0">
                <a:solidFill>
                  <a:srgbClr val="6E6B66"/>
                </a:solidFill>
                <a:latin typeface="Calibri"/>
              </a:rPr>
              <a:t> </a:t>
            </a:r>
            <a:r>
              <a:rPr lang="de-DE" sz="1200" dirty="0" err="1">
                <a:solidFill>
                  <a:srgbClr val="6E6B66"/>
                </a:solidFill>
                <a:latin typeface="Calibri"/>
              </a:rPr>
              <a:t>describes</a:t>
            </a:r>
            <a:r>
              <a:rPr lang="de-DE" sz="1200" dirty="0">
                <a:solidFill>
                  <a:srgbClr val="6E6B66"/>
                </a:solidFill>
                <a:latin typeface="Calibri"/>
              </a:rPr>
              <a:t> </a:t>
            </a:r>
            <a:r>
              <a:rPr lang="de-DE" sz="1200" dirty="0" err="1">
                <a:solidFill>
                  <a:srgbClr val="6E6B66"/>
                </a:solidFill>
                <a:latin typeface="Calibri"/>
              </a:rPr>
              <a:t>our</a:t>
            </a:r>
            <a:r>
              <a:rPr lang="de-DE" sz="1200" dirty="0">
                <a:solidFill>
                  <a:srgbClr val="6E6B66"/>
                </a:solidFill>
                <a:latin typeface="Calibri"/>
              </a:rPr>
              <a:t> </a:t>
            </a:r>
            <a:r>
              <a:rPr lang="de-DE" sz="1200" dirty="0" err="1">
                <a:solidFill>
                  <a:srgbClr val="6E6B66"/>
                </a:solidFill>
                <a:latin typeface="Calibri"/>
              </a:rPr>
              <a:t>list</a:t>
            </a:r>
            <a:r>
              <a:rPr lang="de-DE" sz="1200" dirty="0">
                <a:solidFill>
                  <a:srgbClr val="6E6B66"/>
                </a:solidFill>
                <a:latin typeface="Calibri"/>
              </a:rPr>
              <a:t>, not </a:t>
            </a:r>
            <a:r>
              <a:rPr lang="de-DE" sz="1200" dirty="0" err="1">
                <a:solidFill>
                  <a:srgbClr val="6E6B66"/>
                </a:solidFill>
                <a:latin typeface="Calibri"/>
              </a:rPr>
              <a:t>their</a:t>
            </a:r>
            <a:r>
              <a:rPr lang="de-DE" sz="1200" dirty="0">
                <a:solidFill>
                  <a:srgbClr val="6E6B66"/>
                </a:solidFill>
                <a:latin typeface="Calibri"/>
              </a:rPr>
              <a:t> </a:t>
            </a:r>
            <a:r>
              <a:rPr lang="de-DE" sz="1200" dirty="0" err="1">
                <a:solidFill>
                  <a:srgbClr val="6E6B66"/>
                </a:solidFill>
                <a:latin typeface="Calibri"/>
              </a:rPr>
              <a:t>state</a:t>
            </a:r>
            <a:r>
              <a:rPr lang="de-DE" sz="1200" dirty="0">
                <a:solidFill>
                  <a:srgbClr val="6E6B66"/>
                </a:solidFill>
                <a:latin typeface="Calibri"/>
              </a:rPr>
              <a:t>.</a:t>
            </a:r>
          </a:p>
          <a:p>
            <a:endParaRPr lang="de-DE" sz="1200" dirty="0">
              <a:solidFill>
                <a:srgbClr val="6E6B66"/>
              </a:solidFill>
              <a:latin typeface="Calibri"/>
            </a:endParaRPr>
          </a:p>
          <a:p>
            <a:r>
              <a:rPr lang="de-DE" sz="1200" dirty="0">
                <a:solidFill>
                  <a:srgbClr val="6E6B66"/>
                </a:solidFill>
                <a:latin typeface="Calibri"/>
              </a:rPr>
              <a:t>Valence and </a:t>
            </a:r>
            <a:r>
              <a:rPr lang="de-DE" sz="1200" dirty="0" err="1">
                <a:solidFill>
                  <a:srgbClr val="6E6B66"/>
                </a:solidFill>
                <a:latin typeface="Calibri"/>
              </a:rPr>
              <a:t>arousal</a:t>
            </a:r>
            <a:r>
              <a:rPr lang="de-DE" sz="1200" dirty="0">
                <a:solidFill>
                  <a:srgbClr val="6E6B66"/>
                </a:solidFill>
                <a:latin typeface="Calibri"/>
              </a:rPr>
              <a:t> </a:t>
            </a:r>
            <a:r>
              <a:rPr lang="de-DE" sz="1200" dirty="0" err="1">
                <a:solidFill>
                  <a:srgbClr val="6E6B66"/>
                </a:solidFill>
                <a:latin typeface="Calibri"/>
              </a:rPr>
              <a:t>are</a:t>
            </a:r>
            <a:r>
              <a:rPr lang="de-DE" sz="1200" dirty="0">
                <a:solidFill>
                  <a:srgbClr val="6E6B66"/>
                </a:solidFill>
                <a:latin typeface="Calibri"/>
              </a:rPr>
              <a:t> the </a:t>
            </a:r>
            <a:r>
              <a:rPr lang="de-DE" sz="1200" dirty="0" err="1">
                <a:solidFill>
                  <a:srgbClr val="6E6B66"/>
                </a:solidFill>
                <a:latin typeface="Calibri"/>
              </a:rPr>
              <a:t>layer</a:t>
            </a:r>
            <a:r>
              <a:rPr lang="de-DE" sz="1200" dirty="0">
                <a:solidFill>
                  <a:srgbClr val="6E6B66"/>
                </a:solidFill>
                <a:latin typeface="Calibri"/>
              </a:rPr>
              <a:t> </a:t>
            </a:r>
            <a:r>
              <a:rPr lang="de-DE" sz="1200" dirty="0" err="1">
                <a:solidFill>
                  <a:srgbClr val="6E6B66"/>
                </a:solidFill>
                <a:latin typeface="Calibri"/>
              </a:rPr>
              <a:t>underneath</a:t>
            </a:r>
            <a:r>
              <a:rPr lang="de-DE" sz="1200" dirty="0">
                <a:solidFill>
                  <a:srgbClr val="6E6B66"/>
                </a:solidFill>
                <a:latin typeface="Calibri"/>
              </a:rPr>
              <a:t> — the </a:t>
            </a:r>
            <a:r>
              <a:rPr lang="de-DE" sz="1200" dirty="0" err="1">
                <a:solidFill>
                  <a:srgbClr val="6E6B66"/>
                </a:solidFill>
                <a:latin typeface="Calibri"/>
              </a:rPr>
              <a:t>raw</a:t>
            </a:r>
            <a:r>
              <a:rPr lang="de-DE" sz="1200" dirty="0">
                <a:solidFill>
                  <a:srgbClr val="6E6B66"/>
                </a:solidFill>
                <a:latin typeface="Calibri"/>
              </a:rPr>
              <a:t> material the </a:t>
            </a:r>
            <a:r>
              <a:rPr lang="de-DE" sz="1200" dirty="0" err="1">
                <a:solidFill>
                  <a:srgbClr val="6E6B66"/>
                </a:solidFill>
                <a:latin typeface="Calibri"/>
              </a:rPr>
              <a:t>categories</a:t>
            </a:r>
            <a:r>
              <a:rPr lang="de-DE" sz="1200" dirty="0">
                <a:solidFill>
                  <a:srgbClr val="6E6B66"/>
                </a:solidFill>
                <a:latin typeface="Calibri"/>
              </a:rPr>
              <a:t> </a:t>
            </a:r>
            <a:r>
              <a:rPr lang="de-DE" sz="1200" dirty="0" err="1">
                <a:solidFill>
                  <a:srgbClr val="6E6B66"/>
                </a:solidFill>
                <a:latin typeface="Calibri"/>
              </a:rPr>
              <a:t>get</a:t>
            </a:r>
            <a:r>
              <a:rPr lang="de-DE" sz="1200" dirty="0">
                <a:solidFill>
                  <a:srgbClr val="6E6B66"/>
                </a:solidFill>
                <a:latin typeface="Calibri"/>
              </a:rPr>
              <a:t> </a:t>
            </a:r>
            <a:r>
              <a:rPr lang="de-DE" sz="1200" dirty="0" err="1">
                <a:solidFill>
                  <a:srgbClr val="6E6B66"/>
                </a:solidFill>
                <a:latin typeface="Calibri"/>
              </a:rPr>
              <a:t>built</a:t>
            </a:r>
            <a:r>
              <a:rPr lang="de-DE" sz="1200" dirty="0">
                <a:solidFill>
                  <a:srgbClr val="6E6B66"/>
                </a:solidFill>
                <a:latin typeface="Calibri"/>
              </a:rPr>
              <a:t> </a:t>
            </a:r>
            <a:r>
              <a:rPr lang="de-DE" sz="1200" dirty="0" err="1">
                <a:solidFill>
                  <a:srgbClr val="6E6B66"/>
                </a:solidFill>
                <a:latin typeface="Calibri"/>
              </a:rPr>
              <a:t>from</a:t>
            </a:r>
            <a:r>
              <a:rPr lang="de-DE" sz="1200" dirty="0">
                <a:solidFill>
                  <a:srgbClr val="6E6B66"/>
                </a:solidFill>
                <a:latin typeface="Calibri"/>
              </a:rPr>
              <a:t>. </a:t>
            </a:r>
            <a:r>
              <a:rPr lang="de-DE" sz="1200" dirty="0" err="1">
                <a:solidFill>
                  <a:srgbClr val="6E6B66"/>
                </a:solidFill>
                <a:latin typeface="Calibri"/>
              </a:rPr>
              <a:t>That</a:t>
            </a:r>
            <a:r>
              <a:rPr lang="de-DE" sz="1200" dirty="0">
                <a:solidFill>
                  <a:srgbClr val="6E6B66"/>
                </a:solidFill>
                <a:latin typeface="Calibri"/>
              </a:rPr>
              <a:t> </a:t>
            </a:r>
            <a:r>
              <a:rPr lang="de-DE" sz="1200" dirty="0" err="1">
                <a:solidFill>
                  <a:srgbClr val="6E6B66"/>
                </a:solidFill>
                <a:latin typeface="Calibri"/>
              </a:rPr>
              <a:t>is</a:t>
            </a:r>
            <a:r>
              <a:rPr lang="de-DE" sz="1200" dirty="0">
                <a:solidFill>
                  <a:srgbClr val="6E6B66"/>
                </a:solidFill>
                <a:latin typeface="Calibri"/>
              </a:rPr>
              <a:t> the </a:t>
            </a:r>
            <a:r>
              <a:rPr lang="de-DE" sz="1200" dirty="0" err="1">
                <a:solidFill>
                  <a:srgbClr val="6E6B66"/>
                </a:solidFill>
                <a:latin typeface="Calibri"/>
              </a:rPr>
              <a:t>safer</a:t>
            </a:r>
            <a:r>
              <a:rPr lang="de-DE" sz="1200" dirty="0">
                <a:solidFill>
                  <a:srgbClr val="6E6B66"/>
                </a:solidFill>
                <a:latin typeface="Calibri"/>
              </a:rPr>
              <a:t> </a:t>
            </a:r>
            <a:r>
              <a:rPr lang="de-DE" sz="1200" dirty="0" err="1">
                <a:solidFill>
                  <a:srgbClr val="6E6B66"/>
                </a:solidFill>
                <a:latin typeface="Calibri"/>
              </a:rPr>
              <a:t>thing</a:t>
            </a:r>
            <a:r>
              <a:rPr lang="de-DE" sz="1200" dirty="0">
                <a:solidFill>
                  <a:srgbClr val="6E6B66"/>
                </a:solidFill>
                <a:latin typeface="Calibri"/>
              </a:rPr>
              <a:t> to </a:t>
            </a:r>
            <a:r>
              <a:rPr lang="de-DE" sz="1200" dirty="0" err="1">
                <a:solidFill>
                  <a:srgbClr val="6E6B66"/>
                </a:solidFill>
                <a:latin typeface="Calibri"/>
              </a:rPr>
              <a:t>measure</a:t>
            </a:r>
            <a:r>
              <a:rPr lang="de-DE" sz="1200" dirty="0">
                <a:solidFill>
                  <a:srgbClr val="6E6B66"/>
                </a:solidFill>
                <a:latin typeface="Calibri"/>
              </a:rPr>
              <a:t>.</a:t>
            </a:r>
          </a:p>
        </p:txBody>
      </p:sp>
      <p:sp>
        <p:nvSpPr>
          <p:cNvPr id="17" name="Rectangle 16"/>
          <p:cNvSpPr/>
          <p:nvPr/>
        </p:nvSpPr>
        <p:spPr>
          <a:xfrm>
            <a:off x="6415887" y="4359604"/>
            <a:ext cx="5117439" cy="1821739"/>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ectangle 17"/>
          <p:cNvSpPr/>
          <p:nvPr/>
        </p:nvSpPr>
        <p:spPr>
          <a:xfrm>
            <a:off x="6415887" y="4359605"/>
            <a:ext cx="5117439"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726783" y="4597349"/>
            <a:ext cx="4495647"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WHERE IT IS CONTESTED</a:t>
            </a:r>
          </a:p>
        </p:txBody>
      </p:sp>
      <p:sp>
        <p:nvSpPr>
          <p:cNvPr id="20" name="TextBox 19"/>
          <p:cNvSpPr txBox="1"/>
          <p:nvPr/>
        </p:nvSpPr>
        <p:spPr>
          <a:xfrm>
            <a:off x="6726783" y="4889957"/>
            <a:ext cx="4495647" cy="1230850"/>
          </a:xfrm>
          <a:prstGeom prst="rect">
            <a:avLst/>
          </a:prstGeom>
          <a:noFill/>
        </p:spPr>
        <p:txBody>
          <a:bodyPr wrap="square" lIns="0" tIns="0" rIns="0" bIns="0">
            <a:spAutoFit/>
          </a:bodyPr>
          <a:lstStyle/>
          <a:p>
            <a:pPr>
              <a:lnSpc>
                <a:spcPct val="124000"/>
              </a:lnSpc>
              <a:spcAft>
                <a:spcPts val="800"/>
              </a:spcAft>
            </a:pPr>
            <a:r>
              <a:rPr lang="de-DE" sz="1200" dirty="0">
                <a:solidFill>
                  <a:srgbClr val="6E6B66"/>
                </a:solidFill>
                <a:latin typeface="Calibri"/>
              </a:rPr>
              <a:t>Two </a:t>
            </a:r>
            <a:r>
              <a:rPr lang="de-DE" sz="1200" dirty="0" err="1">
                <a:solidFill>
                  <a:srgbClr val="6E6B66"/>
                </a:solidFill>
                <a:latin typeface="Calibri"/>
              </a:rPr>
              <a:t>research</a:t>
            </a:r>
            <a:r>
              <a:rPr lang="de-DE" sz="1200" dirty="0">
                <a:solidFill>
                  <a:srgbClr val="6E6B66"/>
                </a:solidFill>
                <a:latin typeface="Calibri"/>
              </a:rPr>
              <a:t> </a:t>
            </a:r>
            <a:r>
              <a:rPr lang="de-DE" sz="1200" dirty="0" err="1">
                <a:solidFill>
                  <a:srgbClr val="6E6B66"/>
                </a:solidFill>
                <a:latin typeface="Calibri"/>
              </a:rPr>
              <a:t>programmes</a:t>
            </a:r>
            <a:r>
              <a:rPr lang="de-DE" sz="1200" dirty="0">
                <a:solidFill>
                  <a:srgbClr val="6E6B66"/>
                </a:solidFill>
                <a:latin typeface="Calibri"/>
              </a:rPr>
              <a:t>, </a:t>
            </a:r>
            <a:r>
              <a:rPr lang="de-DE" sz="1200" dirty="0" err="1">
                <a:solidFill>
                  <a:srgbClr val="6E6B66"/>
                </a:solidFill>
                <a:latin typeface="Calibri"/>
              </a:rPr>
              <a:t>both</a:t>
            </a:r>
            <a:r>
              <a:rPr lang="de-DE" sz="1200" dirty="0">
                <a:solidFill>
                  <a:srgbClr val="6E6B66"/>
                </a:solidFill>
                <a:latin typeface="Calibri"/>
              </a:rPr>
              <a:t> </a:t>
            </a:r>
            <a:r>
              <a:rPr lang="de-DE" sz="1200" dirty="0" err="1">
                <a:solidFill>
                  <a:srgbClr val="6E6B66"/>
                </a:solidFill>
                <a:latin typeface="Calibri"/>
              </a:rPr>
              <a:t>argued</a:t>
            </a:r>
            <a:r>
              <a:rPr lang="de-DE" sz="1200" dirty="0">
                <a:solidFill>
                  <a:srgbClr val="6E6B66"/>
                </a:solidFill>
                <a:latin typeface="Calibri"/>
              </a:rPr>
              <a:t> </a:t>
            </a:r>
            <a:r>
              <a:rPr lang="de-DE" sz="1200" dirty="0" err="1">
                <a:solidFill>
                  <a:srgbClr val="6E6B66"/>
                </a:solidFill>
                <a:latin typeface="Calibri"/>
              </a:rPr>
              <a:t>from</a:t>
            </a:r>
            <a:r>
              <a:rPr lang="de-DE" sz="1200" dirty="0">
                <a:solidFill>
                  <a:srgbClr val="6E6B66"/>
                </a:solidFill>
                <a:latin typeface="Calibri"/>
              </a:rPr>
              <a:t> </a:t>
            </a:r>
            <a:r>
              <a:rPr lang="de-DE" sz="1200" dirty="0" err="1">
                <a:solidFill>
                  <a:srgbClr val="6E6B66"/>
                </a:solidFill>
                <a:latin typeface="Calibri"/>
              </a:rPr>
              <a:t>evidence</a:t>
            </a:r>
            <a:r>
              <a:rPr lang="de-DE" sz="1200" dirty="0">
                <a:solidFill>
                  <a:srgbClr val="6E6B66"/>
                </a:solidFill>
                <a:latin typeface="Calibri"/>
              </a:rPr>
              <a:t>, and the </a:t>
            </a:r>
            <a:r>
              <a:rPr lang="de-DE" sz="1200" dirty="0" err="1">
                <a:solidFill>
                  <a:srgbClr val="6E6B66"/>
                </a:solidFill>
                <a:latin typeface="Calibri"/>
              </a:rPr>
              <a:t>question</a:t>
            </a:r>
            <a:r>
              <a:rPr lang="de-DE" sz="1200" dirty="0">
                <a:solidFill>
                  <a:srgbClr val="6E6B66"/>
                </a:solidFill>
                <a:latin typeface="Calibri"/>
              </a:rPr>
              <a:t> </a:t>
            </a:r>
            <a:r>
              <a:rPr lang="de-DE" sz="1200" dirty="0" err="1">
                <a:solidFill>
                  <a:srgbClr val="6E6B66"/>
                </a:solidFill>
                <a:latin typeface="Calibri"/>
              </a:rPr>
              <a:t>is</a:t>
            </a:r>
            <a:r>
              <a:rPr lang="de-DE" sz="1200" dirty="0">
                <a:solidFill>
                  <a:srgbClr val="6E6B66"/>
                </a:solidFill>
                <a:latin typeface="Calibri"/>
              </a:rPr>
              <a:t> still open. Basic-emotion </a:t>
            </a:r>
            <a:r>
              <a:rPr lang="de-DE" sz="1200" dirty="0" err="1">
                <a:solidFill>
                  <a:srgbClr val="6E6B66"/>
                </a:solidFill>
                <a:latin typeface="Calibri"/>
              </a:rPr>
              <a:t>theory</a:t>
            </a:r>
            <a:r>
              <a:rPr lang="de-DE" sz="1200" dirty="0">
                <a:solidFill>
                  <a:srgbClr val="6E6B66"/>
                </a:solidFill>
                <a:latin typeface="Calibri"/>
              </a:rPr>
              <a:t> </a:t>
            </a:r>
            <a:r>
              <a:rPr lang="de-DE" sz="1200" dirty="0" err="1">
                <a:solidFill>
                  <a:srgbClr val="6E6B66"/>
                </a:solidFill>
                <a:latin typeface="Calibri"/>
              </a:rPr>
              <a:t>is</a:t>
            </a:r>
            <a:r>
              <a:rPr lang="de-DE" sz="1200" dirty="0">
                <a:solidFill>
                  <a:srgbClr val="6E6B66"/>
                </a:solidFill>
                <a:latin typeface="Calibri"/>
              </a:rPr>
              <a:t> </a:t>
            </a:r>
            <a:r>
              <a:rPr lang="de-DE" sz="1200" dirty="0" err="1">
                <a:solidFill>
                  <a:srgbClr val="6E6B66"/>
                </a:solidFill>
                <a:latin typeface="Calibri"/>
              </a:rPr>
              <a:t>actively</a:t>
            </a:r>
            <a:r>
              <a:rPr lang="de-DE" sz="1200" dirty="0">
                <a:solidFill>
                  <a:srgbClr val="6E6B66"/>
                </a:solidFill>
                <a:latin typeface="Calibri"/>
              </a:rPr>
              <a:t> </a:t>
            </a:r>
            <a:r>
              <a:rPr lang="de-DE" sz="1200" dirty="0" err="1">
                <a:solidFill>
                  <a:srgbClr val="6E6B66"/>
                </a:solidFill>
                <a:latin typeface="Calibri"/>
              </a:rPr>
              <a:t>defended</a:t>
            </a:r>
            <a:r>
              <a:rPr lang="de-DE" sz="1200" dirty="0">
                <a:solidFill>
                  <a:srgbClr val="6E6B66"/>
                </a:solidFill>
                <a:latin typeface="Calibri"/>
              </a:rPr>
              <a:t>.</a:t>
            </a:r>
          </a:p>
          <a:p>
            <a:pPr>
              <a:lnSpc>
                <a:spcPct val="124000"/>
              </a:lnSpc>
              <a:spcAft>
                <a:spcPts val="800"/>
              </a:spcAft>
            </a:pPr>
            <a:r>
              <a:rPr sz="1200" b="0" dirty="0">
                <a:solidFill>
                  <a:srgbClr val="6E6B66"/>
                </a:solidFill>
                <a:latin typeface="Calibri"/>
              </a:rPr>
              <a:t>Barrett does not deny that people feel emotions or name them. The claim is narrower: the categories are not natural kinds with fixed signatures.</a:t>
            </a:r>
          </a:p>
        </p:txBody>
      </p:sp>
      <p:sp>
        <p:nvSpPr>
          <p:cNvPr id="21" name="TextBox 20"/>
          <p:cNvSpPr txBox="1"/>
          <p:nvPr/>
        </p:nvSpPr>
        <p:spPr>
          <a:xfrm>
            <a:off x="658368" y="6291072"/>
            <a:ext cx="10874959" cy="367793"/>
          </a:xfrm>
          <a:prstGeom prst="rect">
            <a:avLst/>
          </a:prstGeom>
          <a:noFill/>
        </p:spPr>
        <p:txBody>
          <a:bodyPr wrap="square" lIns="0" tIns="0" rIns="0" bIns="0">
            <a:spAutoFit/>
          </a:bodyPr>
          <a:lstStyle/>
          <a:p>
            <a:pPr algn="l">
              <a:lnSpc>
                <a:spcPct val="124000"/>
              </a:lnSpc>
              <a:spcBef>
                <a:spcPts val="0"/>
              </a:spcBef>
              <a:spcAft>
                <a:spcPts val="0"/>
              </a:spcAft>
            </a:pPr>
            <a:r>
              <a:rPr sz="1000" b="0" dirty="0">
                <a:solidFill>
                  <a:srgbClr val="9A968E"/>
                </a:solidFill>
                <a:latin typeface="Calibri"/>
              </a:rPr>
              <a:t>Barrett, L. F. (2017). The theory of constructed emotion: An active inference account of interoception and categorization. Social Cognitive and Affective Neuroscience, 12(1), 1–23, doi:10.1093/scan/nsw154. </a:t>
            </a:r>
            <a:endParaRPr lang="de-DE" sz="1000" b="0" dirty="0">
              <a:solidFill>
                <a:srgbClr val="9A968E"/>
              </a:solidFill>
              <a:latin typeface="Calibri"/>
            </a:endParaRPr>
          </a:p>
          <a:p>
            <a:pPr algn="l">
              <a:lnSpc>
                <a:spcPct val="124000"/>
              </a:lnSpc>
              <a:spcBef>
                <a:spcPts val="0"/>
              </a:spcBef>
              <a:spcAft>
                <a:spcPts val="0"/>
              </a:spcAft>
            </a:pPr>
            <a:r>
              <a:rPr sz="1000" b="0" dirty="0" err="1">
                <a:solidFill>
                  <a:srgbClr val="9A968E"/>
                </a:solidFill>
                <a:latin typeface="Calibri"/>
              </a:rPr>
              <a:t>Counterposition</a:t>
            </a:r>
            <a:r>
              <a:rPr sz="1000" b="0" dirty="0">
                <a:solidFill>
                  <a:srgbClr val="9A968E"/>
                </a:solidFill>
                <a:latin typeface="Calibri"/>
              </a:rPr>
              <a:t>: Ekman, P. (1992), Cognition and Emotion, 6(3–4), 169–200.</a:t>
            </a:r>
          </a:p>
        </p:txBody>
      </p:sp>
      <p:sp>
        <p:nvSpPr>
          <p:cNvPr id="22" name="TextBox 21"/>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14</a:t>
            </a:r>
          </a:p>
        </p:txBody>
      </p:sp>
      <p:sp>
        <p:nvSpPr>
          <p:cNvPr id="24" name="Textfeld 23">
            <a:extLst>
              <a:ext uri="{FF2B5EF4-FFF2-40B4-BE49-F238E27FC236}">
                <a16:creationId xmlns:a16="http://schemas.microsoft.com/office/drawing/2014/main" id="{225FAA37-8DC6-881D-E229-9777DFD40173}"/>
              </a:ext>
            </a:extLst>
          </p:cNvPr>
          <p:cNvSpPr txBox="1"/>
          <p:nvPr/>
        </p:nvSpPr>
        <p:spPr>
          <a:xfrm>
            <a:off x="6839407" y="808458"/>
            <a:ext cx="6096000" cy="369332"/>
          </a:xfrm>
          <a:prstGeom prst="rect">
            <a:avLst/>
          </a:prstGeom>
          <a:noFill/>
        </p:spPr>
        <p:txBody>
          <a:bodyPr wrap="square">
            <a:spAutoFit/>
          </a:bodyPr>
          <a:lstStyle/>
          <a:p>
            <a:r>
              <a:rPr lang="de-DE" dirty="0">
                <a:solidFill>
                  <a:schemeClr val="bg1"/>
                </a:solidFill>
              </a:rPr>
              <a:t>https://</a:t>
            </a:r>
            <a:r>
              <a:rPr lang="de-DE" dirty="0" err="1">
                <a:solidFill>
                  <a:schemeClr val="bg1"/>
                </a:solidFill>
              </a:rPr>
              <a:t>youtu.be</a:t>
            </a:r>
            <a:r>
              <a:rPr lang="de-DE" dirty="0">
                <a:solidFill>
                  <a:schemeClr val="bg1"/>
                </a:solidFill>
              </a:rPr>
              <a:t>/0rbyC5m557I?si=leLDfYFVq8njzLJ9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15</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05 — how the themes are found</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No theme list is given to the model</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BERTopic in four moves. Nothing about the organisation is fed in.</a:t>
            </a:r>
          </a:p>
        </p:txBody>
      </p:sp>
      <p:sp>
        <p:nvSpPr>
          <p:cNvPr id="9" name="Rectangle 8"/>
          <p:cNvSpPr/>
          <p:nvPr/>
        </p:nvSpPr>
        <p:spPr>
          <a:xfrm>
            <a:off x="710031" y="2706624"/>
            <a:ext cx="2487168" cy="179222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710031" y="2706624"/>
            <a:ext cx="2487168"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29487" y="2962656"/>
            <a:ext cx="2048256" cy="1463040"/>
          </a:xfrm>
          <a:prstGeom prst="rect">
            <a:avLst/>
          </a:prstGeom>
          <a:noFill/>
        </p:spPr>
        <p:txBody>
          <a:bodyPr wrap="square" lIns="0" tIns="0" rIns="0" bIns="0">
            <a:spAutoFit/>
          </a:bodyPr>
          <a:lstStyle/>
          <a:p>
            <a:pPr algn="l">
              <a:lnSpc>
                <a:spcPct val="124000"/>
              </a:lnSpc>
              <a:spcBef>
                <a:spcPts val="0"/>
              </a:spcBef>
              <a:spcAft>
                <a:spcPts val="800"/>
              </a:spcAft>
            </a:pPr>
            <a:r>
              <a:rPr sz="1500" b="1">
                <a:solidFill>
                  <a:srgbClr val="33333A"/>
                </a:solidFill>
                <a:latin typeface="Calibri Light"/>
              </a:rPr>
              <a:t>Embed</a:t>
            </a:r>
          </a:p>
          <a:p>
            <a:pPr algn="l">
              <a:lnSpc>
                <a:spcPct val="124000"/>
              </a:lnSpc>
              <a:spcBef>
                <a:spcPts val="0"/>
              </a:spcBef>
              <a:spcAft>
                <a:spcPts val="0"/>
              </a:spcAft>
            </a:pPr>
            <a:r>
              <a:rPr sz="1150" b="0">
                <a:solidFill>
                  <a:srgbClr val="6E6B66"/>
                </a:solidFill>
                <a:latin typeface="Calibri"/>
              </a:rPr>
              <a:t>Every comment becomes a vector of 384 numbers. Comments with similar meaning land near each other.</a:t>
            </a:r>
          </a:p>
        </p:txBody>
      </p:sp>
      <p:sp>
        <p:nvSpPr>
          <p:cNvPr id="12" name="TextBox 11"/>
          <p:cNvSpPr txBox="1"/>
          <p:nvPr/>
        </p:nvSpPr>
        <p:spPr>
          <a:xfrm>
            <a:off x="3215487" y="3456432"/>
            <a:ext cx="274320" cy="365760"/>
          </a:xfrm>
          <a:prstGeom prst="rect">
            <a:avLst/>
          </a:prstGeom>
          <a:noFill/>
        </p:spPr>
        <p:txBody>
          <a:bodyPr wrap="square" lIns="0" tIns="0" rIns="0" bIns="0">
            <a:spAutoFit/>
          </a:bodyPr>
          <a:lstStyle/>
          <a:p>
            <a:pPr algn="ctr">
              <a:lnSpc>
                <a:spcPct val="124000"/>
              </a:lnSpc>
              <a:spcBef>
                <a:spcPts val="0"/>
              </a:spcBef>
              <a:spcAft>
                <a:spcPts val="500"/>
              </a:spcAft>
            </a:pPr>
            <a:r>
              <a:rPr sz="1600" b="0">
                <a:solidFill>
                  <a:srgbClr val="9A968E"/>
                </a:solidFill>
                <a:latin typeface="Calibri"/>
              </a:rPr>
              <a:t>›</a:t>
            </a:r>
          </a:p>
        </p:txBody>
      </p:sp>
      <p:sp>
        <p:nvSpPr>
          <p:cNvPr id="13" name="Rectangle 12"/>
          <p:cNvSpPr/>
          <p:nvPr/>
        </p:nvSpPr>
        <p:spPr>
          <a:xfrm>
            <a:off x="3471519" y="2706624"/>
            <a:ext cx="2487168" cy="179222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3471519" y="2706624"/>
            <a:ext cx="2487168"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3690975" y="2962656"/>
            <a:ext cx="2048256" cy="1463040"/>
          </a:xfrm>
          <a:prstGeom prst="rect">
            <a:avLst/>
          </a:prstGeom>
          <a:noFill/>
        </p:spPr>
        <p:txBody>
          <a:bodyPr wrap="square" lIns="0" tIns="0" rIns="0" bIns="0">
            <a:spAutoFit/>
          </a:bodyPr>
          <a:lstStyle/>
          <a:p>
            <a:pPr algn="l">
              <a:lnSpc>
                <a:spcPct val="124000"/>
              </a:lnSpc>
              <a:spcBef>
                <a:spcPts val="0"/>
              </a:spcBef>
              <a:spcAft>
                <a:spcPts val="800"/>
              </a:spcAft>
            </a:pPr>
            <a:r>
              <a:rPr sz="1500" b="1">
                <a:solidFill>
                  <a:srgbClr val="33333A"/>
                </a:solidFill>
                <a:latin typeface="Calibri Light"/>
              </a:rPr>
              <a:t>Reduce</a:t>
            </a:r>
          </a:p>
          <a:p>
            <a:pPr algn="l">
              <a:lnSpc>
                <a:spcPct val="124000"/>
              </a:lnSpc>
              <a:spcBef>
                <a:spcPts val="0"/>
              </a:spcBef>
              <a:spcAft>
                <a:spcPts val="0"/>
              </a:spcAft>
            </a:pPr>
            <a:r>
              <a:rPr sz="1150" b="0">
                <a:solidFill>
                  <a:srgbClr val="6E6B66"/>
                </a:solidFill>
                <a:latin typeface="Calibri"/>
              </a:rPr>
              <a:t>UMAP compresses those vectors to a handful of dimensions, so distances stay meaningful enough to cluster.</a:t>
            </a:r>
          </a:p>
        </p:txBody>
      </p:sp>
      <p:sp>
        <p:nvSpPr>
          <p:cNvPr id="16" name="TextBox 15"/>
          <p:cNvSpPr txBox="1"/>
          <p:nvPr/>
        </p:nvSpPr>
        <p:spPr>
          <a:xfrm>
            <a:off x="5976975" y="3456432"/>
            <a:ext cx="274320" cy="365760"/>
          </a:xfrm>
          <a:prstGeom prst="rect">
            <a:avLst/>
          </a:prstGeom>
          <a:noFill/>
        </p:spPr>
        <p:txBody>
          <a:bodyPr wrap="square" lIns="0" tIns="0" rIns="0" bIns="0">
            <a:spAutoFit/>
          </a:bodyPr>
          <a:lstStyle/>
          <a:p>
            <a:pPr algn="ctr">
              <a:lnSpc>
                <a:spcPct val="124000"/>
              </a:lnSpc>
              <a:spcBef>
                <a:spcPts val="0"/>
              </a:spcBef>
              <a:spcAft>
                <a:spcPts val="500"/>
              </a:spcAft>
            </a:pPr>
            <a:r>
              <a:rPr sz="1600" b="0">
                <a:solidFill>
                  <a:srgbClr val="9A968E"/>
                </a:solidFill>
                <a:latin typeface="Calibri"/>
              </a:rPr>
              <a:t>›</a:t>
            </a:r>
          </a:p>
        </p:txBody>
      </p:sp>
      <p:sp>
        <p:nvSpPr>
          <p:cNvPr id="17" name="Rectangle 16"/>
          <p:cNvSpPr/>
          <p:nvPr/>
        </p:nvSpPr>
        <p:spPr>
          <a:xfrm>
            <a:off x="6233007" y="2706624"/>
            <a:ext cx="2487168" cy="179222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Rectangle 17"/>
          <p:cNvSpPr/>
          <p:nvPr/>
        </p:nvSpPr>
        <p:spPr>
          <a:xfrm>
            <a:off x="6233007" y="2706624"/>
            <a:ext cx="2487168"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6452463" y="2962656"/>
            <a:ext cx="2048256" cy="1463040"/>
          </a:xfrm>
          <a:prstGeom prst="rect">
            <a:avLst/>
          </a:prstGeom>
          <a:noFill/>
        </p:spPr>
        <p:txBody>
          <a:bodyPr wrap="square" lIns="0" tIns="0" rIns="0" bIns="0">
            <a:spAutoFit/>
          </a:bodyPr>
          <a:lstStyle/>
          <a:p>
            <a:pPr algn="l">
              <a:lnSpc>
                <a:spcPct val="124000"/>
              </a:lnSpc>
              <a:spcBef>
                <a:spcPts val="0"/>
              </a:spcBef>
              <a:spcAft>
                <a:spcPts val="800"/>
              </a:spcAft>
            </a:pPr>
            <a:r>
              <a:rPr sz="1500" b="1">
                <a:solidFill>
                  <a:srgbClr val="33333A"/>
                </a:solidFill>
                <a:latin typeface="Calibri Light"/>
              </a:rPr>
              <a:t>Cluster</a:t>
            </a:r>
          </a:p>
          <a:p>
            <a:pPr algn="l">
              <a:lnSpc>
                <a:spcPct val="124000"/>
              </a:lnSpc>
              <a:spcBef>
                <a:spcPts val="0"/>
              </a:spcBef>
              <a:spcAft>
                <a:spcPts val="0"/>
              </a:spcAft>
            </a:pPr>
            <a:r>
              <a:rPr sz="1150" b="0">
                <a:solidFill>
                  <a:srgbClr val="6E6B66"/>
                </a:solidFill>
                <a:latin typeface="Calibri"/>
              </a:rPr>
              <a:t>HDBSCAN groups the dense regions. It is allowed to leave a comment out — that is what the outlier group is.</a:t>
            </a:r>
          </a:p>
        </p:txBody>
      </p:sp>
      <p:sp>
        <p:nvSpPr>
          <p:cNvPr id="20" name="TextBox 19"/>
          <p:cNvSpPr txBox="1"/>
          <p:nvPr/>
        </p:nvSpPr>
        <p:spPr>
          <a:xfrm>
            <a:off x="8738463" y="3456432"/>
            <a:ext cx="274320" cy="365760"/>
          </a:xfrm>
          <a:prstGeom prst="rect">
            <a:avLst/>
          </a:prstGeom>
          <a:noFill/>
        </p:spPr>
        <p:txBody>
          <a:bodyPr wrap="square" lIns="0" tIns="0" rIns="0" bIns="0">
            <a:spAutoFit/>
          </a:bodyPr>
          <a:lstStyle/>
          <a:p>
            <a:pPr algn="ctr">
              <a:lnSpc>
                <a:spcPct val="124000"/>
              </a:lnSpc>
              <a:spcBef>
                <a:spcPts val="0"/>
              </a:spcBef>
              <a:spcAft>
                <a:spcPts val="500"/>
              </a:spcAft>
            </a:pPr>
            <a:r>
              <a:rPr sz="1600" b="0">
                <a:solidFill>
                  <a:srgbClr val="9A968E"/>
                </a:solidFill>
                <a:latin typeface="Calibri"/>
              </a:rPr>
              <a:t>›</a:t>
            </a:r>
          </a:p>
        </p:txBody>
      </p:sp>
      <p:sp>
        <p:nvSpPr>
          <p:cNvPr id="21" name="Rectangle 20"/>
          <p:cNvSpPr/>
          <p:nvPr/>
        </p:nvSpPr>
        <p:spPr>
          <a:xfrm>
            <a:off x="8994495" y="2706624"/>
            <a:ext cx="2487168" cy="179222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Rectangle 21"/>
          <p:cNvSpPr/>
          <p:nvPr/>
        </p:nvSpPr>
        <p:spPr>
          <a:xfrm>
            <a:off x="8994495" y="2706624"/>
            <a:ext cx="2487168"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9213951" y="2962656"/>
            <a:ext cx="2048256" cy="1463040"/>
          </a:xfrm>
          <a:prstGeom prst="rect">
            <a:avLst/>
          </a:prstGeom>
          <a:noFill/>
        </p:spPr>
        <p:txBody>
          <a:bodyPr wrap="square" lIns="0" tIns="0" rIns="0" bIns="0">
            <a:spAutoFit/>
          </a:bodyPr>
          <a:lstStyle/>
          <a:p>
            <a:pPr algn="l">
              <a:lnSpc>
                <a:spcPct val="124000"/>
              </a:lnSpc>
              <a:spcBef>
                <a:spcPts val="0"/>
              </a:spcBef>
              <a:spcAft>
                <a:spcPts val="800"/>
              </a:spcAft>
            </a:pPr>
            <a:r>
              <a:rPr sz="1500" b="1">
                <a:solidFill>
                  <a:srgbClr val="33333A"/>
                </a:solidFill>
                <a:latin typeface="Calibri Light"/>
              </a:rPr>
              <a:t>Describe</a:t>
            </a:r>
          </a:p>
          <a:p>
            <a:pPr algn="l">
              <a:lnSpc>
                <a:spcPct val="124000"/>
              </a:lnSpc>
              <a:spcBef>
                <a:spcPts val="0"/>
              </a:spcBef>
              <a:spcAft>
                <a:spcPts val="0"/>
              </a:spcAft>
            </a:pPr>
            <a:r>
              <a:rPr sz="1150" b="0">
                <a:solidFill>
                  <a:srgbClr val="6E6B66"/>
                </a:solidFill>
                <a:latin typeface="Calibri"/>
              </a:rPr>
              <a:t>For each group, the words that are characteristic of it rather than frequent everywhere.</a:t>
            </a:r>
          </a:p>
        </p:txBody>
      </p:sp>
      <p:sp>
        <p:nvSpPr>
          <p:cNvPr id="24" name="Rectangle 23"/>
          <p:cNvSpPr/>
          <p:nvPr/>
        </p:nvSpPr>
        <p:spPr>
          <a:xfrm>
            <a:off x="658368" y="4754880"/>
            <a:ext cx="10874959" cy="146304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658368" y="4754880"/>
            <a:ext cx="10874959"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1005840" y="4992624"/>
            <a:ext cx="457200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THE MODEL IS FITTED FRESH EVERY TIME</a:t>
            </a:r>
          </a:p>
        </p:txBody>
      </p:sp>
      <p:sp>
        <p:nvSpPr>
          <p:cNvPr id="27" name="TextBox 26"/>
          <p:cNvSpPr txBox="1"/>
          <p:nvPr/>
        </p:nvSpPr>
        <p:spPr>
          <a:xfrm>
            <a:off x="1005840" y="5285231"/>
            <a:ext cx="10180015" cy="640080"/>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33333A"/>
                </a:solidFill>
                <a:latin typeface="Calibri"/>
              </a:rPr>
              <a:t>A stored model assigns new comments to themes it learned earlier. As the language of a corpus moves, more and more comments stop fitting — an earlier version of this project had 38 % of them landing in the outlier group. Re-fitting keeps the themes describing the data actually in hand. The number of themes is therefore found, never set.</a:t>
            </a:r>
          </a:p>
        </p:txBody>
      </p:sp>
      <p:sp>
        <p:nvSpPr>
          <p:cNvPr id="28" name="TextBox 27"/>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16</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05 — does language predict engagement?</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Three nested models, one yardstick</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85159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The target comes from the survey. The predictors come only from the comments.</a:t>
            </a:r>
          </a:p>
        </p:txBody>
      </p:sp>
      <p:sp>
        <p:nvSpPr>
          <p:cNvPr id="9" name="TextBox 8"/>
          <p:cNvSpPr txBox="1"/>
          <p:nvPr/>
        </p:nvSpPr>
        <p:spPr>
          <a:xfrm>
            <a:off x="658368" y="2692908"/>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Always guess the average</a:t>
            </a:r>
          </a:p>
        </p:txBody>
      </p:sp>
      <p:sp>
        <p:nvSpPr>
          <p:cNvPr id="10" name="Rectangle 9"/>
          <p:cNvSpPr/>
          <p:nvPr/>
        </p:nvSpPr>
        <p:spPr>
          <a:xfrm>
            <a:off x="3721608" y="2702052"/>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3721608" y="2702052"/>
            <a:ext cx="27432" cy="237744"/>
          </a:xfrm>
          <a:prstGeom prst="rect">
            <a:avLst/>
          </a:prstGeom>
          <a:solidFill>
            <a:srgbClr val="6E6B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604711" y="2692908"/>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0.00  (0.00)</a:t>
            </a:r>
          </a:p>
        </p:txBody>
      </p:sp>
      <p:sp>
        <p:nvSpPr>
          <p:cNvPr id="13" name="TextBox 12"/>
          <p:cNvSpPr txBox="1"/>
          <p:nvPr/>
        </p:nvSpPr>
        <p:spPr>
          <a:xfrm>
            <a:off x="3721608" y="2962656"/>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the floor</a:t>
            </a:r>
          </a:p>
        </p:txBody>
      </p:sp>
      <p:sp>
        <p:nvSpPr>
          <p:cNvPr id="14" name="TextBox 13"/>
          <p:cNvSpPr txBox="1"/>
          <p:nvPr/>
        </p:nvSpPr>
        <p:spPr>
          <a:xfrm>
            <a:off x="658368" y="3296412"/>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1 · valence only</a:t>
            </a:r>
          </a:p>
        </p:txBody>
      </p:sp>
      <p:sp>
        <p:nvSpPr>
          <p:cNvPr id="15" name="Rectangle 14"/>
          <p:cNvSpPr/>
          <p:nvPr/>
        </p:nvSpPr>
        <p:spPr>
          <a:xfrm>
            <a:off x="3721608" y="3305556"/>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3721608" y="3305556"/>
            <a:ext cx="1710499"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604711" y="3296412"/>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0.15  (0.19)</a:t>
            </a:r>
          </a:p>
        </p:txBody>
      </p:sp>
      <p:sp>
        <p:nvSpPr>
          <p:cNvPr id="18" name="TextBox 17"/>
          <p:cNvSpPr txBox="1"/>
          <p:nvPr/>
        </p:nvSpPr>
        <p:spPr>
          <a:xfrm>
            <a:off x="658368" y="3899915"/>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2 · + arousal + comment length</a:t>
            </a:r>
          </a:p>
        </p:txBody>
      </p:sp>
      <p:sp>
        <p:nvSpPr>
          <p:cNvPr id="19" name="Rectangle 18"/>
          <p:cNvSpPr/>
          <p:nvPr/>
        </p:nvSpPr>
        <p:spPr>
          <a:xfrm>
            <a:off x="3721608" y="3909059"/>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3721608" y="3909059"/>
            <a:ext cx="1710499"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6604711" y="3899915"/>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0.15  (0.19)</a:t>
            </a:r>
          </a:p>
        </p:txBody>
      </p:sp>
      <p:sp>
        <p:nvSpPr>
          <p:cNvPr id="22" name="TextBox 21"/>
          <p:cNvSpPr txBox="1"/>
          <p:nvPr/>
        </p:nvSpPr>
        <p:spPr>
          <a:xfrm>
            <a:off x="3721608" y="4169663"/>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no gain on either dataset</a:t>
            </a:r>
          </a:p>
        </p:txBody>
      </p:sp>
      <p:sp>
        <p:nvSpPr>
          <p:cNvPr id="23" name="TextBox 22"/>
          <p:cNvSpPr txBox="1"/>
          <p:nvPr/>
        </p:nvSpPr>
        <p:spPr>
          <a:xfrm>
            <a:off x="658368" y="4503420"/>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3 · + every word used (TF-IDF)</a:t>
            </a:r>
          </a:p>
        </p:txBody>
      </p:sp>
      <p:sp>
        <p:nvSpPr>
          <p:cNvPr id="24" name="Rectangle 23"/>
          <p:cNvSpPr/>
          <p:nvPr/>
        </p:nvSpPr>
        <p:spPr>
          <a:xfrm>
            <a:off x="3721608" y="4512564"/>
            <a:ext cx="273679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24"/>
          <p:cNvSpPr/>
          <p:nvPr/>
        </p:nvSpPr>
        <p:spPr>
          <a:xfrm>
            <a:off x="3721608" y="4512564"/>
            <a:ext cx="2052599" cy="237744"/>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6604711" y="4503420"/>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0.18  (0.18)</a:t>
            </a:r>
          </a:p>
        </p:txBody>
      </p:sp>
      <p:sp>
        <p:nvSpPr>
          <p:cNvPr id="27" name="TextBox 26"/>
          <p:cNvSpPr txBox="1"/>
          <p:nvPr/>
        </p:nvSpPr>
        <p:spPr>
          <a:xfrm>
            <a:off x="3721608" y="4773168"/>
            <a:ext cx="351403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real data: a gain. synthetic: none — slide 17</a:t>
            </a:r>
          </a:p>
        </p:txBody>
      </p:sp>
      <p:sp>
        <p:nvSpPr>
          <p:cNvPr id="28" name="TextBox 27"/>
          <p:cNvSpPr txBox="1"/>
          <p:nvPr/>
        </p:nvSpPr>
        <p:spPr>
          <a:xfrm>
            <a:off x="658368" y="5102352"/>
            <a:ext cx="6851599" cy="54864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R² from five-fold cross-validation: the share of the variation in the engagement score the model recovers.</a:t>
            </a:r>
          </a:p>
        </p:txBody>
      </p:sp>
      <p:sp>
        <p:nvSpPr>
          <p:cNvPr id="29" name="Rectangle 28"/>
          <p:cNvSpPr/>
          <p:nvPr/>
        </p:nvSpPr>
        <p:spPr>
          <a:xfrm>
            <a:off x="7784287" y="2378083"/>
            <a:ext cx="3749039" cy="157276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7784287" y="2378083"/>
            <a:ext cx="3749039"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8095183" y="2615827"/>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THE YARDSTICK: 0.010  (0.025)</a:t>
            </a:r>
          </a:p>
        </p:txBody>
      </p:sp>
      <p:sp>
        <p:nvSpPr>
          <p:cNvPr id="32" name="TextBox 31"/>
          <p:cNvSpPr txBox="1"/>
          <p:nvPr/>
        </p:nvSpPr>
        <p:spPr>
          <a:xfrm>
            <a:off x="8095183" y="2908435"/>
            <a:ext cx="3127247" cy="100584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The data is split five ways and the model trained and tested five times. The spread between those runs is how much a result wobbles by chance. Any gain smaller than it is not a finding.</a:t>
            </a:r>
          </a:p>
        </p:txBody>
      </p:sp>
      <p:sp>
        <p:nvSpPr>
          <p:cNvPr id="33" name="Rectangle 32"/>
          <p:cNvSpPr/>
          <p:nvPr/>
        </p:nvSpPr>
        <p:spPr>
          <a:xfrm>
            <a:off x="7784287" y="4067636"/>
            <a:ext cx="3749039" cy="2001493"/>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Rectangle 33"/>
          <p:cNvSpPr/>
          <p:nvPr/>
        </p:nvSpPr>
        <p:spPr>
          <a:xfrm>
            <a:off x="7784287" y="4067637"/>
            <a:ext cx="3749039"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8095183" y="4305381"/>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WHAT THIS SAYS</a:t>
            </a:r>
          </a:p>
        </p:txBody>
      </p:sp>
      <p:sp>
        <p:nvSpPr>
          <p:cNvPr id="36" name="TextBox 35"/>
          <p:cNvSpPr txBox="1"/>
          <p:nvPr/>
        </p:nvSpPr>
        <p:spPr>
          <a:xfrm>
            <a:off x="8095183" y="4597989"/>
            <a:ext cx="3127247" cy="13716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How positively someone writes carries information about their engagement — roughly a seventh of the variation in it. Language complements the survey; it does not replace it. What the individual words add on top is the question the next slide takes apart.</a:t>
            </a:r>
          </a:p>
        </p:txBody>
      </p:sp>
      <p:sp>
        <p:nvSpPr>
          <p:cNvPr id="37" name="TextBox 36"/>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 On the real data model 3 does separate — see the note.</a:t>
            </a:r>
          </a:p>
        </p:txBody>
      </p:sp>
      <p:sp>
        <p:nvSpPr>
          <p:cNvPr id="38" name="TextBox 37"/>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17</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05 — the confound test</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Does the text know the mood, or just the department?</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If vocabulary predicts engagement, there are two possible reasons. Only one of them is about mood.</a:t>
            </a:r>
          </a:p>
        </p:txBody>
      </p:sp>
      <p:sp>
        <p:nvSpPr>
          <p:cNvPr id="9" name="TextBox 8"/>
          <p:cNvSpPr txBox="1"/>
          <p:nvPr/>
        </p:nvSpPr>
        <p:spPr>
          <a:xfrm>
            <a:off x="658368" y="2752344"/>
            <a:ext cx="5163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READING ONE — THE INTERESTING ONE</a:t>
            </a:r>
          </a:p>
        </p:txBody>
      </p:sp>
      <p:sp>
        <p:nvSpPr>
          <p:cNvPr id="10" name="TextBox 9"/>
          <p:cNvSpPr txBox="1"/>
          <p:nvPr/>
        </p:nvSpPr>
        <p:spPr>
          <a:xfrm>
            <a:off x="658368" y="3054096"/>
            <a:ext cx="5163159" cy="1280160"/>
          </a:xfrm>
          <a:prstGeom prst="rect">
            <a:avLst/>
          </a:prstGeom>
          <a:noFill/>
        </p:spPr>
        <p:txBody>
          <a:bodyPr wrap="square" lIns="0" tIns="0" rIns="0" bIns="0">
            <a:spAutoFit/>
          </a:bodyPr>
          <a:lstStyle/>
          <a:p>
            <a:pPr algn="l">
              <a:lnSpc>
                <a:spcPct val="126000"/>
              </a:lnSpc>
              <a:spcBef>
                <a:spcPts val="0"/>
              </a:spcBef>
              <a:spcAft>
                <a:spcPts val="0"/>
              </a:spcAft>
            </a:pPr>
            <a:r>
              <a:rPr sz="1300" b="0">
                <a:solidFill>
                  <a:srgbClr val="33333A"/>
                </a:solidFill>
                <a:latin typeface="Calibri"/>
              </a:rPr>
              <a:t>The words carry something about how people feel that the valence score alone does not capture.</a:t>
            </a:r>
          </a:p>
        </p:txBody>
      </p:sp>
      <p:sp>
        <p:nvSpPr>
          <p:cNvPr id="11" name="TextBox 10"/>
          <p:cNvSpPr txBox="1"/>
          <p:nvPr/>
        </p:nvSpPr>
        <p:spPr>
          <a:xfrm>
            <a:off x="658368" y="3895344"/>
            <a:ext cx="5163159"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READING TWO — THE BORING ONE</a:t>
            </a:r>
          </a:p>
        </p:txBody>
      </p:sp>
      <p:sp>
        <p:nvSpPr>
          <p:cNvPr id="12" name="TextBox 11"/>
          <p:cNvSpPr txBox="1"/>
          <p:nvPr/>
        </p:nvSpPr>
        <p:spPr>
          <a:xfrm>
            <a:off x="658368" y="4197096"/>
            <a:ext cx="5163159" cy="1463040"/>
          </a:xfrm>
          <a:prstGeom prst="rect">
            <a:avLst/>
          </a:prstGeom>
          <a:noFill/>
        </p:spPr>
        <p:txBody>
          <a:bodyPr wrap="square" lIns="0" tIns="0" rIns="0" bIns="0">
            <a:spAutoFit/>
          </a:bodyPr>
          <a:lstStyle/>
          <a:p>
            <a:pPr algn="l">
              <a:lnSpc>
                <a:spcPct val="126000"/>
              </a:lnSpc>
              <a:spcBef>
                <a:spcPts val="0"/>
              </a:spcBef>
              <a:spcAft>
                <a:spcPts val="0"/>
              </a:spcAft>
            </a:pPr>
            <a:r>
              <a:rPr sz="1300" b="0">
                <a:solidFill>
                  <a:srgbClr val="6E6B66"/>
                </a:solidFill>
                <a:latin typeface="Calibri"/>
              </a:rPr>
              <a:t>Departments use different vocabulary, and departments differ in engagement. The model would then be learning the org chart while looking like it reads emotion.</a:t>
            </a:r>
          </a:p>
        </p:txBody>
      </p:sp>
      <p:sp>
        <p:nvSpPr>
          <p:cNvPr id="13" name="Rectangle 12"/>
          <p:cNvSpPr/>
          <p:nvPr/>
        </p:nvSpPr>
        <p:spPr>
          <a:xfrm>
            <a:off x="6370167" y="2651760"/>
            <a:ext cx="5163159" cy="3616452"/>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6370167" y="2651760"/>
            <a:ext cx="5163159"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6681063" y="2889504"/>
            <a:ext cx="4541367"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THE TEST, AND WHY IT IS SIMPLE</a:t>
            </a:r>
          </a:p>
        </p:txBody>
      </p:sp>
      <p:sp>
        <p:nvSpPr>
          <p:cNvPr id="16" name="TextBox 15"/>
          <p:cNvSpPr txBox="1"/>
          <p:nvPr/>
        </p:nvSpPr>
        <p:spPr>
          <a:xfrm>
            <a:off x="6681063" y="3182112"/>
            <a:ext cx="4541367" cy="2706624"/>
          </a:xfrm>
          <a:prstGeom prst="rect">
            <a:avLst/>
          </a:prstGeom>
          <a:noFill/>
        </p:spPr>
        <p:txBody>
          <a:bodyPr wrap="square" lIns="0" tIns="0" rIns="0" bIns="0">
            <a:spAutoFit/>
          </a:bodyPr>
          <a:lstStyle/>
          <a:p>
            <a:pPr algn="l">
              <a:lnSpc>
                <a:spcPct val="124000"/>
              </a:lnSpc>
              <a:spcBef>
                <a:spcPts val="0"/>
              </a:spcBef>
              <a:spcAft>
                <a:spcPts val="1000"/>
              </a:spcAft>
            </a:pPr>
            <a:r>
              <a:rPr sz="1250" b="0" dirty="0">
                <a:solidFill>
                  <a:srgbClr val="33333A"/>
                </a:solidFill>
                <a:latin typeface="Calibri"/>
              </a:rPr>
              <a:t>Replace the text features with the department, nothing else, and see how much of the same gain comes back.</a:t>
            </a:r>
          </a:p>
          <a:p>
            <a:pPr algn="l">
              <a:lnSpc>
                <a:spcPct val="124000"/>
              </a:lnSpc>
              <a:spcBef>
                <a:spcPts val="0"/>
              </a:spcBef>
              <a:spcAft>
                <a:spcPts val="1000"/>
              </a:spcAft>
            </a:pPr>
            <a:r>
              <a:rPr sz="1200" b="0" dirty="0">
                <a:solidFill>
                  <a:srgbClr val="6E6B66"/>
                </a:solidFill>
                <a:latin typeface="Calibri"/>
              </a:rPr>
              <a:t>A large share means the words were mostly identifying the department. A small share means the vocabulary carries something the org chart does not.</a:t>
            </a:r>
          </a:p>
          <a:p>
            <a:pPr algn="l">
              <a:lnSpc>
                <a:spcPct val="124000"/>
              </a:lnSpc>
              <a:spcBef>
                <a:spcPts val="0"/>
              </a:spcBef>
              <a:spcAft>
                <a:spcPts val="1000"/>
              </a:spcAft>
            </a:pPr>
            <a:r>
              <a:rPr sz="1200" b="0" dirty="0">
                <a:solidFill>
                  <a:srgbClr val="33333A"/>
                </a:solidFill>
                <a:latin typeface="Calibri"/>
              </a:rPr>
              <a:t>On the real data roughly three quarters comes back. The defensible reading is therefore not that words predict engagement — it is that words largely identify the department, and departments differ.</a:t>
            </a:r>
          </a:p>
          <a:p>
            <a:pPr algn="l">
              <a:lnSpc>
                <a:spcPct val="124000"/>
              </a:lnSpc>
              <a:spcBef>
                <a:spcPts val="0"/>
              </a:spcBef>
              <a:spcAft>
                <a:spcPts val="0"/>
              </a:spcAft>
            </a:pPr>
            <a:r>
              <a:rPr sz="1200" b="0" dirty="0">
                <a:solidFill>
                  <a:srgbClr val="6E6B66"/>
                </a:solidFill>
                <a:latin typeface="Calibri"/>
              </a:rPr>
              <a:t>On the synthetic corpus neither source carries signal, so the test has nothing to separate. That makes it uninformative here rather than reassuring.</a:t>
            </a:r>
          </a:p>
        </p:txBody>
      </p:sp>
      <p:sp>
        <p:nvSpPr>
          <p:cNvPr id="17" name="TextBox 16"/>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18</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06 — the model behind the dashboard</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 star schema, a bridge table, and one hard rule</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85159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One row per questionnaire in the middle. Everything that repeats lives in its own small table.</a:t>
            </a:r>
          </a:p>
        </p:txBody>
      </p:sp>
      <p:sp>
        <p:nvSpPr>
          <p:cNvPr id="9" name="Rectangle 8"/>
          <p:cNvSpPr/>
          <p:nvPr/>
        </p:nvSpPr>
        <p:spPr>
          <a:xfrm>
            <a:off x="658368" y="2715768"/>
            <a:ext cx="68580" cy="402336"/>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896112" y="2670048"/>
            <a:ext cx="6394399" cy="50292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fact table</a:t>
            </a:r>
          </a:p>
          <a:p>
            <a:pPr algn="l">
              <a:lnSpc>
                <a:spcPct val="124000"/>
              </a:lnSpc>
              <a:spcBef>
                <a:spcPts val="0"/>
              </a:spcBef>
              <a:spcAft>
                <a:spcPts val="0"/>
              </a:spcAft>
            </a:pPr>
            <a:r>
              <a:rPr sz="1150" b="0">
                <a:solidFill>
                  <a:srgbClr val="6E6B66"/>
                </a:solidFill>
                <a:latin typeface="Calibri"/>
              </a:rPr>
              <a:t>one row per questionnaire, with the derived measures attached</a:t>
            </a:r>
          </a:p>
        </p:txBody>
      </p:sp>
      <p:sp>
        <p:nvSpPr>
          <p:cNvPr id="11" name="Rectangle 10"/>
          <p:cNvSpPr/>
          <p:nvPr/>
        </p:nvSpPr>
        <p:spPr>
          <a:xfrm>
            <a:off x="658368" y="3282696"/>
            <a:ext cx="68580" cy="402336"/>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96112" y="3236976"/>
            <a:ext cx="6394399" cy="50292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dim · business unit</a:t>
            </a:r>
          </a:p>
          <a:p>
            <a:pPr algn="l">
              <a:lnSpc>
                <a:spcPct val="124000"/>
              </a:lnSpc>
              <a:spcBef>
                <a:spcPts val="0"/>
              </a:spcBef>
              <a:spcAft>
                <a:spcPts val="0"/>
              </a:spcAft>
            </a:pPr>
            <a:r>
              <a:rPr sz="1150" b="0">
                <a:solidFill>
                  <a:srgbClr val="6E6B66"/>
                </a:solidFill>
                <a:latin typeface="Calibri"/>
              </a:rPr>
              <a:t>the division, plus the finer levels the division is derived from</a:t>
            </a:r>
          </a:p>
        </p:txBody>
      </p:sp>
      <p:sp>
        <p:nvSpPr>
          <p:cNvPr id="13" name="Rectangle 12"/>
          <p:cNvSpPr/>
          <p:nvPr/>
        </p:nvSpPr>
        <p:spPr>
          <a:xfrm>
            <a:off x="658368" y="3849624"/>
            <a:ext cx="68580" cy="402336"/>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96112" y="3803904"/>
            <a:ext cx="6394399" cy="50292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dim · iteration</a:t>
            </a:r>
          </a:p>
          <a:p>
            <a:pPr algn="l">
              <a:lnSpc>
                <a:spcPct val="124000"/>
              </a:lnSpc>
              <a:spcBef>
                <a:spcPts val="0"/>
              </a:spcBef>
              <a:spcAft>
                <a:spcPts val="0"/>
              </a:spcAft>
            </a:pPr>
            <a:r>
              <a:rPr sz="1150" b="0">
                <a:solidFill>
                  <a:srgbClr val="6E6B66"/>
                </a:solidFill>
                <a:latin typeface="Calibri"/>
              </a:rPr>
              <a:t>which wave and run the response came from</a:t>
            </a:r>
          </a:p>
        </p:txBody>
      </p:sp>
      <p:sp>
        <p:nvSpPr>
          <p:cNvPr id="15" name="Rectangle 14"/>
          <p:cNvSpPr/>
          <p:nvPr/>
        </p:nvSpPr>
        <p:spPr>
          <a:xfrm>
            <a:off x="658368" y="4416551"/>
            <a:ext cx="68580" cy="402336"/>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96112" y="4370831"/>
            <a:ext cx="6394399" cy="50292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dim · corner</a:t>
            </a:r>
          </a:p>
          <a:p>
            <a:pPr algn="l">
              <a:lnSpc>
                <a:spcPct val="124000"/>
              </a:lnSpc>
              <a:spcBef>
                <a:spcPts val="0"/>
              </a:spcBef>
              <a:spcAft>
                <a:spcPts val="0"/>
              </a:spcAft>
            </a:pPr>
            <a:r>
              <a:rPr sz="1150" b="0">
                <a:solidFill>
                  <a:srgbClr val="6E6B66"/>
                </a:solidFill>
                <a:latin typeface="Calibri"/>
              </a:rPr>
              <a:t>the four circumplex quadrants as a proper dimension</a:t>
            </a:r>
          </a:p>
        </p:txBody>
      </p:sp>
      <p:sp>
        <p:nvSpPr>
          <p:cNvPr id="17" name="Rectangle 16"/>
          <p:cNvSpPr/>
          <p:nvPr/>
        </p:nvSpPr>
        <p:spPr>
          <a:xfrm>
            <a:off x="658368" y="4983480"/>
            <a:ext cx="68580" cy="402336"/>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896112" y="4937760"/>
            <a:ext cx="6394399" cy="502920"/>
          </a:xfrm>
          <a:prstGeom prst="rect">
            <a:avLst/>
          </a:prstGeom>
          <a:noFill/>
        </p:spPr>
        <p:txBody>
          <a:bodyPr wrap="square" lIns="0" tIns="0" rIns="0" bIns="0">
            <a:spAutoFit/>
          </a:bodyPr>
          <a:lstStyle/>
          <a:p>
            <a:pPr algn="l">
              <a:lnSpc>
                <a:spcPct val="124000"/>
              </a:lnSpc>
              <a:spcBef>
                <a:spcPts val="0"/>
              </a:spcBef>
              <a:spcAft>
                <a:spcPts val="200"/>
              </a:spcAft>
            </a:pPr>
            <a:r>
              <a:rPr sz="1250" b="1">
                <a:solidFill>
                  <a:srgbClr val="33333A"/>
                </a:solidFill>
                <a:latin typeface="Calibri"/>
              </a:rPr>
              <a:t>dim · theme</a:t>
            </a:r>
          </a:p>
          <a:p>
            <a:pPr algn="l">
              <a:lnSpc>
                <a:spcPct val="124000"/>
              </a:lnSpc>
              <a:spcBef>
                <a:spcPts val="0"/>
              </a:spcBef>
              <a:spcAft>
                <a:spcPts val="0"/>
              </a:spcAft>
            </a:pPr>
            <a:r>
              <a:rPr sz="1150" b="0">
                <a:solidFill>
                  <a:srgbClr val="6E6B66"/>
                </a:solidFill>
                <a:latin typeface="Calibri"/>
              </a:rPr>
              <a:t>theme, theme group, and the outlier group</a:t>
            </a:r>
          </a:p>
        </p:txBody>
      </p:sp>
      <p:sp>
        <p:nvSpPr>
          <p:cNvPr id="19" name="TextBox 18"/>
          <p:cNvSpPr txBox="1"/>
          <p:nvPr/>
        </p:nvSpPr>
        <p:spPr>
          <a:xfrm>
            <a:off x="658368" y="5504688"/>
            <a:ext cx="6851599" cy="548640"/>
          </a:xfrm>
          <a:prstGeom prst="rect">
            <a:avLst/>
          </a:prstGeom>
          <a:noFill/>
        </p:spPr>
        <p:txBody>
          <a:bodyPr wrap="square" lIns="0" tIns="0" rIns="0" bIns="0">
            <a:spAutoFit/>
          </a:bodyPr>
          <a:lstStyle/>
          <a:p>
            <a:pPr algn="l">
              <a:lnSpc>
                <a:spcPct val="125000"/>
              </a:lnSpc>
              <a:spcBef>
                <a:spcPts val="0"/>
              </a:spcBef>
              <a:spcAft>
                <a:spcPts val="500"/>
              </a:spcAft>
            </a:pPr>
            <a:r>
              <a:rPr sz="1150" b="0">
                <a:solidFill>
                  <a:srgbClr val="9A968E"/>
                </a:solidFill>
                <a:latin typeface="Calibri"/>
              </a:rPr>
              <a:t>Plus a bridge table for company themes: one comment can name several, so that relationship cannot be a column.</a:t>
            </a:r>
          </a:p>
        </p:txBody>
      </p:sp>
      <p:sp>
        <p:nvSpPr>
          <p:cNvPr id="20" name="Rectangle 19"/>
          <p:cNvSpPr/>
          <p:nvPr/>
        </p:nvSpPr>
        <p:spPr>
          <a:xfrm>
            <a:off x="7784287" y="2596896"/>
            <a:ext cx="3749039" cy="3675888"/>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Rectangle 20"/>
          <p:cNvSpPr/>
          <p:nvPr/>
        </p:nvSpPr>
        <p:spPr>
          <a:xfrm>
            <a:off x="7784287" y="2596896"/>
            <a:ext cx="3749039"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8095183" y="2834639"/>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THE RULE THAT MATTERS MOST</a:t>
            </a:r>
          </a:p>
        </p:txBody>
      </p:sp>
      <p:sp>
        <p:nvSpPr>
          <p:cNvPr id="23" name="TextBox 22"/>
          <p:cNvSpPr txBox="1"/>
          <p:nvPr/>
        </p:nvSpPr>
        <p:spPr>
          <a:xfrm>
            <a:off x="8095183" y="3127248"/>
            <a:ext cx="3127247" cy="2743200"/>
          </a:xfrm>
          <a:prstGeom prst="rect">
            <a:avLst/>
          </a:prstGeom>
          <a:noFill/>
        </p:spPr>
        <p:txBody>
          <a:bodyPr wrap="square" lIns="0" tIns="0" rIns="0" bIns="0">
            <a:spAutoFit/>
          </a:bodyPr>
          <a:lstStyle/>
          <a:p>
            <a:pPr algn="l">
              <a:lnSpc>
                <a:spcPct val="120000"/>
              </a:lnSpc>
              <a:spcBef>
                <a:spcPts val="0"/>
              </a:spcBef>
              <a:spcAft>
                <a:spcPts val="1000"/>
              </a:spcAft>
            </a:pPr>
            <a:r>
              <a:rPr sz="1400" b="1">
                <a:solidFill>
                  <a:srgbClr val="33333A"/>
                </a:solidFill>
                <a:latin typeface="Calibri Light"/>
              </a:rPr>
              <a:t>Below five respondents, every metric returns blank.</a:t>
            </a:r>
          </a:p>
          <a:p>
            <a:pPr algn="l">
              <a:lnSpc>
                <a:spcPct val="124000"/>
              </a:lnSpc>
              <a:spcBef>
                <a:spcPts val="0"/>
              </a:spcBef>
              <a:spcAft>
                <a:spcPts val="1000"/>
              </a:spcAft>
            </a:pPr>
            <a:r>
              <a:rPr sz="1200" b="0">
                <a:solidFill>
                  <a:srgbClr val="6E6B66"/>
                </a:solidFill>
                <a:latin typeface="Calibri"/>
              </a:rPr>
              <a:t>Not a display setting — it is written into the measures themselves, so no filter combination can get around it.</a:t>
            </a:r>
          </a:p>
          <a:p>
            <a:pPr algn="l">
              <a:lnSpc>
                <a:spcPct val="124000"/>
              </a:lnSpc>
              <a:spcBef>
                <a:spcPts val="0"/>
              </a:spcBef>
              <a:spcAft>
                <a:spcPts val="1000"/>
              </a:spcAft>
            </a:pPr>
            <a:r>
              <a:rPr sz="1200" b="0">
                <a:solidFill>
                  <a:srgbClr val="33333A"/>
                </a:solidFill>
                <a:latin typeface="Calibri"/>
              </a:rPr>
              <a:t>A twelve-person team with two comments would otherwise mean a statement about the mood of two identifiable people. A report like this must not be able to do that.</a:t>
            </a:r>
          </a:p>
          <a:p>
            <a:pPr algn="l">
              <a:lnSpc>
                <a:spcPct val="124000"/>
              </a:lnSpc>
              <a:spcBef>
                <a:spcPts val="0"/>
              </a:spcBef>
              <a:spcAft>
                <a:spcPts val="0"/>
              </a:spcAft>
            </a:pPr>
            <a:r>
              <a:rPr sz="1200" b="0">
                <a:solidFill>
                  <a:srgbClr val="6E6B66"/>
                </a:solidFill>
                <a:latin typeface="Calibri"/>
              </a:rPr>
              <a:t>The comment text itself is never exported into the report.</a:t>
            </a:r>
          </a:p>
        </p:txBody>
      </p:sp>
      <p:sp>
        <p:nvSpPr>
          <p:cNvPr id="24" name="TextBox 23"/>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19</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Step 07 — can the axes be found in the data?</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An add-on with a negative result</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685159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Both axes were set by this project. So: are they in the data at all, or only in the assumption?</a:t>
            </a:r>
          </a:p>
        </p:txBody>
      </p:sp>
      <p:sp>
        <p:nvSpPr>
          <p:cNvPr id="9" name="TextBox 8"/>
          <p:cNvSpPr txBox="1"/>
          <p:nvPr/>
        </p:nvSpPr>
        <p:spPr>
          <a:xfrm>
            <a:off x="658368" y="2724912"/>
            <a:ext cx="6851599" cy="2651760"/>
          </a:xfrm>
          <a:prstGeom prst="rect">
            <a:avLst/>
          </a:prstGeom>
          <a:noFill/>
        </p:spPr>
        <p:txBody>
          <a:bodyPr wrap="square" lIns="0" tIns="0" rIns="0" bIns="0">
            <a:spAutoFit/>
          </a:bodyPr>
          <a:lstStyle/>
          <a:p>
            <a:pPr algn="l">
              <a:lnSpc>
                <a:spcPct val="124000"/>
              </a:lnSpc>
              <a:spcBef>
                <a:spcPts val="0"/>
              </a:spcBef>
              <a:spcAft>
                <a:spcPts val="800"/>
              </a:spcAft>
            </a:pPr>
            <a:r>
              <a:rPr sz="950" b="1" dirty="0">
                <a:solidFill>
                  <a:srgbClr val="E8785A"/>
                </a:solidFill>
                <a:latin typeface="Calibri"/>
              </a:rPr>
              <a:t>THE PROCEDURE</a:t>
            </a:r>
          </a:p>
          <a:p>
            <a:pPr algn="l">
              <a:lnSpc>
                <a:spcPct val="124000"/>
              </a:lnSpc>
              <a:spcBef>
                <a:spcPts val="0"/>
              </a:spcBef>
              <a:spcAft>
                <a:spcPts val="1400"/>
              </a:spcAft>
            </a:pPr>
            <a:r>
              <a:rPr sz="1250" b="0" dirty="0">
                <a:solidFill>
                  <a:srgbClr val="6E6B66"/>
                </a:solidFill>
                <a:latin typeface="Calibri"/>
              </a:rPr>
              <a:t>Take the 28 emotion probabilities the emotion classifier produces per comment. Run a principal component analysis, rotate the first two components, and only then look at what came out. The axes are named from their loadings against reference scales written down beforehand — never by correlating them with the project's own measures, which would be circular.</a:t>
            </a:r>
          </a:p>
          <a:p>
            <a:pPr algn="l">
              <a:lnSpc>
                <a:spcPct val="124000"/>
              </a:lnSpc>
              <a:spcBef>
                <a:spcPts val="0"/>
              </a:spcBef>
              <a:spcAft>
                <a:spcPts val="800"/>
              </a:spcAft>
            </a:pPr>
            <a:r>
              <a:rPr sz="950" b="1" dirty="0">
                <a:solidFill>
                  <a:srgbClr val="3E9E96"/>
                </a:solidFill>
                <a:latin typeface="Calibri"/>
              </a:rPr>
              <a:t>THE RESULT</a:t>
            </a:r>
          </a:p>
          <a:p>
            <a:pPr algn="l">
              <a:lnSpc>
                <a:spcPct val="124000"/>
              </a:lnSpc>
              <a:spcBef>
                <a:spcPts val="0"/>
              </a:spcBef>
              <a:spcAft>
                <a:spcPts val="0"/>
              </a:spcAft>
            </a:pPr>
            <a:r>
              <a:rPr sz="1250" b="0" dirty="0">
                <a:solidFill>
                  <a:srgbClr val="33333A"/>
                </a:solidFill>
                <a:latin typeface="Calibri"/>
              </a:rPr>
              <a:t>Valence comes back clearly, without ever being told what valence is. Arousal does not come back at all — and sweeping every possible rotation shows it is absent from the plane rather than misplaced within it. Both rotated axes turn out to be made of pleasantness.</a:t>
            </a:r>
          </a:p>
        </p:txBody>
      </p:sp>
      <p:sp>
        <p:nvSpPr>
          <p:cNvPr id="10" name="Rectangle 9"/>
          <p:cNvSpPr/>
          <p:nvPr/>
        </p:nvSpPr>
        <p:spPr>
          <a:xfrm>
            <a:off x="7784287" y="2507382"/>
            <a:ext cx="3749039" cy="182687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7784287" y="2507382"/>
            <a:ext cx="3749039"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095183" y="2745126"/>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3E9E96"/>
                </a:solidFill>
                <a:latin typeface="Calibri"/>
              </a:rPr>
              <a:t>WHAT IT ADDS</a:t>
            </a:r>
          </a:p>
        </p:txBody>
      </p:sp>
      <p:sp>
        <p:nvSpPr>
          <p:cNvPr id="13" name="TextBox 12"/>
          <p:cNvSpPr txBox="1"/>
          <p:nvPr/>
        </p:nvSpPr>
        <p:spPr>
          <a:xfrm>
            <a:off x="8095183" y="3182112"/>
            <a:ext cx="3127247" cy="1243584"/>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It confirms Step 03's decision by a route that shares no method with it. Emotion-based arousal was not rejected because the mapping was bad — no mapping could have worked. The information is not in there.</a:t>
            </a:r>
          </a:p>
        </p:txBody>
      </p:sp>
      <p:sp>
        <p:nvSpPr>
          <p:cNvPr id="14" name="Rectangle 13"/>
          <p:cNvSpPr/>
          <p:nvPr/>
        </p:nvSpPr>
        <p:spPr>
          <a:xfrm>
            <a:off x="7784287" y="4438529"/>
            <a:ext cx="3749039" cy="1353312"/>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7784287" y="4438529"/>
            <a:ext cx="3749039"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095183" y="4676273"/>
            <a:ext cx="310896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E8785A"/>
                </a:solidFill>
                <a:latin typeface="Calibri"/>
              </a:rPr>
              <a:t>WHY IT STAYS AN ADD-ON</a:t>
            </a:r>
          </a:p>
        </p:txBody>
      </p:sp>
      <p:sp>
        <p:nvSpPr>
          <p:cNvPr id="17" name="TextBox 16"/>
          <p:cNvSpPr txBox="1"/>
          <p:nvPr/>
        </p:nvSpPr>
        <p:spPr>
          <a:xfrm>
            <a:off x="8095183" y="4968881"/>
            <a:ext cx="3127247" cy="82296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The plane it works in holds too little of the variation to carry a dimension the dashboard should rely on. Nothing downstream uses it.</a:t>
            </a:r>
          </a:p>
        </p:txBody>
      </p:sp>
      <p:sp>
        <p:nvSpPr>
          <p:cNvPr id="18" name="TextBox 17"/>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One caveat, stated in the notebook: the synthetic comments were generated from a valence level, so the valence result there is partly circular.</a:t>
            </a:r>
          </a:p>
        </p:txBody>
      </p:sp>
      <p:sp>
        <p:nvSpPr>
          <p:cNvPr id="19" name="TextBox 18"/>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20</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The four models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What each one does, and why it is there</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Rectangle 7"/>
          <p:cNvSpPr/>
          <p:nvPr/>
        </p:nvSpPr>
        <p:spPr>
          <a:xfrm>
            <a:off x="658368" y="1792224"/>
            <a:ext cx="68580" cy="804672"/>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50976" y="1737360"/>
            <a:ext cx="4114800" cy="822960"/>
          </a:xfrm>
          <a:prstGeom prst="rect">
            <a:avLst/>
          </a:prstGeom>
          <a:noFill/>
        </p:spPr>
        <p:txBody>
          <a:bodyPr wrap="square" lIns="0" tIns="0" rIns="0" bIns="0">
            <a:spAutoFit/>
          </a:bodyPr>
          <a:lstStyle/>
          <a:p>
            <a:pPr algn="l">
              <a:lnSpc>
                <a:spcPct val="124000"/>
              </a:lnSpc>
              <a:spcBef>
                <a:spcPts val="0"/>
              </a:spcBef>
              <a:spcAft>
                <a:spcPts val="300"/>
              </a:spcAft>
            </a:pPr>
            <a:r>
              <a:rPr sz="1400" b="1">
                <a:solidFill>
                  <a:srgbClr val="33333A"/>
                </a:solidFill>
                <a:latin typeface="Calibri Light"/>
              </a:rPr>
              <a:t>Gemma 2 · 9B</a:t>
            </a:r>
          </a:p>
          <a:p>
            <a:pPr algn="l">
              <a:lnSpc>
                <a:spcPct val="124000"/>
              </a:lnSpc>
              <a:spcBef>
                <a:spcPts val="0"/>
              </a:spcBef>
              <a:spcAft>
                <a:spcPts val="0"/>
              </a:spcAft>
            </a:pPr>
            <a:r>
              <a:rPr sz="1100" b="1">
                <a:solidFill>
                  <a:srgbClr val="3E9E96"/>
                </a:solidFill>
                <a:latin typeface="Calibri"/>
              </a:rPr>
              <a:t>via Ollama, local</a:t>
            </a:r>
          </a:p>
        </p:txBody>
      </p:sp>
      <p:sp>
        <p:nvSpPr>
          <p:cNvPr id="10" name="TextBox 9"/>
          <p:cNvSpPr txBox="1"/>
          <p:nvPr/>
        </p:nvSpPr>
        <p:spPr>
          <a:xfrm>
            <a:off x="5321807" y="1737360"/>
            <a:ext cx="621151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Scores valence for every comment, and names the themes. Chosen for valence because it beat the specialised model on all six criteria; rejected for arousal because it measured valence twice.</a:t>
            </a:r>
          </a:p>
        </p:txBody>
      </p:sp>
      <p:sp>
        <p:nvSpPr>
          <p:cNvPr id="11" name="Rectangle 10"/>
          <p:cNvSpPr/>
          <p:nvPr/>
        </p:nvSpPr>
        <p:spPr>
          <a:xfrm>
            <a:off x="658368" y="2852927"/>
            <a:ext cx="68580" cy="804672"/>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950976" y="2798063"/>
            <a:ext cx="4114800" cy="822960"/>
          </a:xfrm>
          <a:prstGeom prst="rect">
            <a:avLst/>
          </a:prstGeom>
          <a:noFill/>
        </p:spPr>
        <p:txBody>
          <a:bodyPr wrap="square" lIns="0" tIns="0" rIns="0" bIns="0">
            <a:spAutoFit/>
          </a:bodyPr>
          <a:lstStyle/>
          <a:p>
            <a:pPr algn="l">
              <a:lnSpc>
                <a:spcPct val="124000"/>
              </a:lnSpc>
              <a:spcBef>
                <a:spcPts val="0"/>
              </a:spcBef>
              <a:spcAft>
                <a:spcPts val="300"/>
              </a:spcAft>
            </a:pPr>
            <a:r>
              <a:rPr sz="1400" b="1">
                <a:solidFill>
                  <a:srgbClr val="33333A"/>
                </a:solidFill>
                <a:latin typeface="Calibri Light"/>
              </a:rPr>
              <a:t>german-sentiment-bert</a:t>
            </a:r>
          </a:p>
          <a:p>
            <a:pPr algn="l">
              <a:lnSpc>
                <a:spcPct val="124000"/>
              </a:lnSpc>
              <a:spcBef>
                <a:spcPts val="0"/>
              </a:spcBef>
              <a:spcAft>
                <a:spcPts val="0"/>
              </a:spcAft>
            </a:pPr>
            <a:r>
              <a:rPr sz="1100" b="1">
                <a:solidFill>
                  <a:srgbClr val="E8785A"/>
                </a:solidFill>
                <a:latin typeface="Calibri"/>
              </a:rPr>
              <a:t>oliverguhr</a:t>
            </a:r>
          </a:p>
        </p:txBody>
      </p:sp>
      <p:sp>
        <p:nvSpPr>
          <p:cNvPr id="13" name="TextBox 12"/>
          <p:cNvSpPr txBox="1"/>
          <p:nvPr/>
        </p:nvSpPr>
        <p:spPr>
          <a:xfrm>
            <a:off x="5321807" y="2798063"/>
            <a:ext cx="621151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The baseline for valence. Trained on German reviews and comments, returns positive / negative / neutral. Loses on resolution: two thirds of its scores sit at the extremes.</a:t>
            </a:r>
          </a:p>
        </p:txBody>
      </p:sp>
      <p:sp>
        <p:nvSpPr>
          <p:cNvPr id="14" name="Rectangle 13"/>
          <p:cNvSpPr/>
          <p:nvPr/>
        </p:nvSpPr>
        <p:spPr>
          <a:xfrm>
            <a:off x="658368" y="3913631"/>
            <a:ext cx="68580" cy="804672"/>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50976" y="3858768"/>
            <a:ext cx="4114800" cy="822960"/>
          </a:xfrm>
          <a:prstGeom prst="rect">
            <a:avLst/>
          </a:prstGeom>
          <a:noFill/>
        </p:spPr>
        <p:txBody>
          <a:bodyPr wrap="square" lIns="0" tIns="0" rIns="0" bIns="0">
            <a:spAutoFit/>
          </a:bodyPr>
          <a:lstStyle/>
          <a:p>
            <a:pPr algn="l">
              <a:lnSpc>
                <a:spcPct val="124000"/>
              </a:lnSpc>
              <a:spcBef>
                <a:spcPts val="0"/>
              </a:spcBef>
              <a:spcAft>
                <a:spcPts val="300"/>
              </a:spcAft>
            </a:pPr>
            <a:r>
              <a:rPr sz="1400" b="1">
                <a:solidFill>
                  <a:srgbClr val="33333A"/>
                </a:solidFill>
                <a:latin typeface="Calibri Light"/>
              </a:rPr>
              <a:t>German-Emotions</a:t>
            </a:r>
          </a:p>
          <a:p>
            <a:pPr algn="l">
              <a:lnSpc>
                <a:spcPct val="124000"/>
              </a:lnSpc>
              <a:spcBef>
                <a:spcPts val="0"/>
              </a:spcBef>
              <a:spcAft>
                <a:spcPts val="0"/>
              </a:spcAft>
            </a:pPr>
            <a:r>
              <a:rPr sz="1100" b="1">
                <a:solidFill>
                  <a:srgbClr val="7F70EC"/>
                </a:solidFill>
                <a:latin typeface="Calibri"/>
              </a:rPr>
              <a:t>ChrisLalk</a:t>
            </a:r>
          </a:p>
        </p:txBody>
      </p:sp>
      <p:sp>
        <p:nvSpPr>
          <p:cNvPr id="16" name="TextBox 15"/>
          <p:cNvSpPr txBox="1"/>
          <p:nvPr/>
        </p:nvSpPr>
        <p:spPr>
          <a:xfrm>
            <a:off x="5321807" y="3858768"/>
            <a:ext cx="621151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Gives 28 emotion probabilities per comment. Used for the first arousal attempt and, in the add-on, as the input whose structure gets analysed.</a:t>
            </a:r>
          </a:p>
        </p:txBody>
      </p:sp>
      <p:sp>
        <p:nvSpPr>
          <p:cNvPr id="17" name="Rectangle 16"/>
          <p:cNvSpPr/>
          <p:nvPr/>
        </p:nvSpPr>
        <p:spPr>
          <a:xfrm>
            <a:off x="658368" y="4974335"/>
            <a:ext cx="68580" cy="804672"/>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950976" y="4919471"/>
            <a:ext cx="4114800" cy="822960"/>
          </a:xfrm>
          <a:prstGeom prst="rect">
            <a:avLst/>
          </a:prstGeom>
          <a:noFill/>
        </p:spPr>
        <p:txBody>
          <a:bodyPr wrap="square" lIns="0" tIns="0" rIns="0" bIns="0">
            <a:spAutoFit/>
          </a:bodyPr>
          <a:lstStyle/>
          <a:p>
            <a:pPr algn="l">
              <a:lnSpc>
                <a:spcPct val="124000"/>
              </a:lnSpc>
              <a:spcBef>
                <a:spcPts val="0"/>
              </a:spcBef>
              <a:spcAft>
                <a:spcPts val="300"/>
              </a:spcAft>
            </a:pPr>
            <a:r>
              <a:rPr sz="1400" b="1" dirty="0">
                <a:solidFill>
                  <a:srgbClr val="33333A"/>
                </a:solidFill>
                <a:latin typeface="Calibri Light"/>
              </a:rPr>
              <a:t>paraphrase-multilingual-MiniLM-L12-v2</a:t>
            </a:r>
          </a:p>
          <a:p>
            <a:pPr algn="l">
              <a:lnSpc>
                <a:spcPct val="124000"/>
              </a:lnSpc>
              <a:spcBef>
                <a:spcPts val="0"/>
              </a:spcBef>
              <a:spcAft>
                <a:spcPts val="0"/>
              </a:spcAft>
            </a:pPr>
            <a:r>
              <a:rPr sz="1100" b="1" dirty="0">
                <a:solidFill>
                  <a:srgbClr val="7F70EC"/>
                </a:solidFill>
                <a:latin typeface="Calibri"/>
              </a:rPr>
              <a:t>sentence-transformers</a:t>
            </a:r>
          </a:p>
        </p:txBody>
      </p:sp>
      <p:sp>
        <p:nvSpPr>
          <p:cNvPr id="19" name="TextBox 18"/>
          <p:cNvSpPr txBox="1"/>
          <p:nvPr/>
        </p:nvSpPr>
        <p:spPr>
          <a:xfrm>
            <a:off x="5321807" y="4919471"/>
            <a:ext cx="621151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Turns each comment into 384 numbers so BERTopic can group by meaning. Multilingual, which matters because some comments are in English.</a:t>
            </a:r>
          </a:p>
        </p:txBody>
      </p:sp>
      <p:sp>
        <p:nvSpPr>
          <p:cNvPr id="20" name="TextBox 19"/>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All four run locally. No comment is ever sent to a service on the internet — that constraint was given, not chosen.</a:t>
            </a:r>
          </a:p>
        </p:txBody>
      </p:sp>
      <p:sp>
        <p:nvSpPr>
          <p:cNvPr id="21" name="TextBox 20"/>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21</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The two word lists</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Where the arousal numbers come from</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703447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Both are published psychological norms: people rated single words, out of context, on activation and pleasantness.</a:t>
            </a:r>
          </a:p>
        </p:txBody>
      </p:sp>
      <p:sp>
        <p:nvSpPr>
          <p:cNvPr id="9" name="Rectangle 8"/>
          <p:cNvSpPr/>
          <p:nvPr/>
        </p:nvSpPr>
        <p:spPr>
          <a:xfrm>
            <a:off x="658368" y="2724912"/>
            <a:ext cx="7034479" cy="1627632"/>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58368" y="2724912"/>
            <a:ext cx="7034479" cy="685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69264" y="2962656"/>
            <a:ext cx="6394399" cy="1207008"/>
          </a:xfrm>
          <a:prstGeom prst="rect">
            <a:avLst/>
          </a:prstGeom>
          <a:noFill/>
        </p:spPr>
        <p:txBody>
          <a:bodyPr wrap="square" lIns="0" tIns="0" rIns="0" bIns="0">
            <a:spAutoFit/>
          </a:bodyPr>
          <a:lstStyle/>
          <a:p>
            <a:pPr algn="l">
              <a:lnSpc>
                <a:spcPct val="124000"/>
              </a:lnSpc>
              <a:spcBef>
                <a:spcPts val="0"/>
              </a:spcBef>
              <a:spcAft>
                <a:spcPts val="200"/>
              </a:spcAft>
            </a:pPr>
            <a:r>
              <a:rPr sz="1450" b="1" dirty="0">
                <a:solidFill>
                  <a:srgbClr val="33333A"/>
                </a:solidFill>
                <a:latin typeface="Calibri Light"/>
              </a:rPr>
              <a:t>IMS Stuttgart norms</a:t>
            </a:r>
          </a:p>
          <a:p>
            <a:pPr algn="l">
              <a:lnSpc>
                <a:spcPct val="124000"/>
              </a:lnSpc>
              <a:spcBef>
                <a:spcPts val="0"/>
              </a:spcBef>
              <a:spcAft>
                <a:spcPts val="800"/>
              </a:spcAft>
            </a:pPr>
            <a:r>
              <a:rPr sz="1050" b="1" dirty="0" err="1">
                <a:solidFill>
                  <a:srgbClr val="3E9E96"/>
                </a:solidFill>
                <a:latin typeface="Calibri"/>
              </a:rPr>
              <a:t>Köper</a:t>
            </a:r>
            <a:r>
              <a:rPr sz="1050" b="1" dirty="0">
                <a:solidFill>
                  <a:srgbClr val="3E9E96"/>
                </a:solidFill>
                <a:latin typeface="Calibri"/>
              </a:rPr>
              <a:t> &amp; Schulte </a:t>
            </a:r>
            <a:r>
              <a:rPr sz="1050" b="1" dirty="0" err="1">
                <a:solidFill>
                  <a:srgbClr val="3E9E96"/>
                </a:solidFill>
                <a:latin typeface="Calibri"/>
              </a:rPr>
              <a:t>im</a:t>
            </a:r>
            <a:r>
              <a:rPr sz="1050" b="1" dirty="0">
                <a:solidFill>
                  <a:srgbClr val="3E9E96"/>
                </a:solidFill>
                <a:latin typeface="Calibri"/>
              </a:rPr>
              <a:t> Walde, 2018</a:t>
            </a:r>
          </a:p>
          <a:p>
            <a:pPr algn="l">
              <a:lnSpc>
                <a:spcPct val="124000"/>
              </a:lnSpc>
              <a:spcBef>
                <a:spcPts val="0"/>
              </a:spcBef>
              <a:spcAft>
                <a:spcPts val="0"/>
              </a:spcAft>
            </a:pPr>
            <a:r>
              <a:rPr sz="1200" b="0" dirty="0">
                <a:solidFill>
                  <a:srgbClr val="6E6B66"/>
                </a:solidFill>
                <a:latin typeface="Calibri"/>
              </a:rPr>
              <a:t>About 2.3 million German word forms. Built by propagating human ratings across a large vocabulary with a learned model. This is the list the measure is computed from — it is big enough to actually hit the words people use.</a:t>
            </a:r>
          </a:p>
        </p:txBody>
      </p:sp>
      <p:sp>
        <p:nvSpPr>
          <p:cNvPr id="12" name="Rectangle 11"/>
          <p:cNvSpPr/>
          <p:nvPr/>
        </p:nvSpPr>
        <p:spPr>
          <a:xfrm>
            <a:off x="658368" y="4425696"/>
            <a:ext cx="7034479" cy="1517904"/>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658368" y="4425696"/>
            <a:ext cx="7034479" cy="685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69264" y="4663440"/>
            <a:ext cx="6394399" cy="1207008"/>
          </a:xfrm>
          <a:prstGeom prst="rect">
            <a:avLst/>
          </a:prstGeom>
          <a:noFill/>
        </p:spPr>
        <p:txBody>
          <a:bodyPr wrap="square" lIns="0" tIns="0" rIns="0" bIns="0">
            <a:spAutoFit/>
          </a:bodyPr>
          <a:lstStyle/>
          <a:p>
            <a:pPr algn="l">
              <a:lnSpc>
                <a:spcPct val="124000"/>
              </a:lnSpc>
              <a:spcBef>
                <a:spcPts val="0"/>
              </a:spcBef>
              <a:spcAft>
                <a:spcPts val="200"/>
              </a:spcAft>
            </a:pPr>
            <a:r>
              <a:rPr sz="1450" b="1">
                <a:solidFill>
                  <a:srgbClr val="33333A"/>
                </a:solidFill>
                <a:latin typeface="Calibri Light"/>
              </a:rPr>
              <a:t>BAWL-R</a:t>
            </a:r>
          </a:p>
          <a:p>
            <a:pPr algn="l">
              <a:lnSpc>
                <a:spcPct val="124000"/>
              </a:lnSpc>
              <a:spcBef>
                <a:spcPts val="0"/>
              </a:spcBef>
              <a:spcAft>
                <a:spcPts val="800"/>
              </a:spcAft>
            </a:pPr>
            <a:r>
              <a:rPr sz="1050" b="1">
                <a:solidFill>
                  <a:srgbClr val="E8785A"/>
                </a:solidFill>
                <a:latin typeface="Calibri"/>
              </a:rPr>
              <a:t>Võ et al., 2009</a:t>
            </a:r>
          </a:p>
          <a:p>
            <a:pPr algn="l">
              <a:lnSpc>
                <a:spcPct val="124000"/>
              </a:lnSpc>
              <a:spcBef>
                <a:spcPts val="0"/>
              </a:spcBef>
              <a:spcAft>
                <a:spcPts val="0"/>
              </a:spcAft>
            </a:pPr>
            <a:r>
              <a:rPr sz="1200" b="0">
                <a:solidFill>
                  <a:srgbClr val="6E6B66"/>
                </a:solidFill>
                <a:latin typeface="Calibri"/>
              </a:rPr>
              <a:t>About 2,900 words, every one rated by hand. Far too small to build a measure from. Its job is different: it is the referee, an independent reference the measure can be checked against.</a:t>
            </a:r>
          </a:p>
        </p:txBody>
      </p:sp>
      <p:sp>
        <p:nvSpPr>
          <p:cNvPr id="15" name="Rectangle 14"/>
          <p:cNvSpPr/>
          <p:nvPr/>
        </p:nvSpPr>
        <p:spPr>
          <a:xfrm>
            <a:off x="7967167" y="2724912"/>
            <a:ext cx="3566160" cy="3383280"/>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7967167" y="2724912"/>
            <a:ext cx="3566160"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8278063" y="2962656"/>
            <a:ext cx="292608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WHY TWO, AND NOT ONE</a:t>
            </a:r>
          </a:p>
        </p:txBody>
      </p:sp>
      <p:sp>
        <p:nvSpPr>
          <p:cNvPr id="18" name="TextBox 17"/>
          <p:cNvSpPr txBox="1"/>
          <p:nvPr/>
        </p:nvSpPr>
        <p:spPr>
          <a:xfrm>
            <a:off x="8278063" y="3255264"/>
            <a:ext cx="2944368" cy="2798064"/>
          </a:xfrm>
          <a:prstGeom prst="rect">
            <a:avLst/>
          </a:prstGeom>
          <a:noFill/>
        </p:spPr>
        <p:txBody>
          <a:bodyPr wrap="square" lIns="0" tIns="0" rIns="0" bIns="0">
            <a:spAutoFit/>
          </a:bodyPr>
          <a:lstStyle/>
          <a:p>
            <a:pPr algn="l">
              <a:lnSpc>
                <a:spcPct val="124000"/>
              </a:lnSpc>
              <a:spcBef>
                <a:spcPts val="0"/>
              </a:spcBef>
              <a:spcAft>
                <a:spcPts val="1000"/>
              </a:spcAft>
            </a:pPr>
            <a:r>
              <a:rPr sz="1250" b="0">
                <a:solidFill>
                  <a:srgbClr val="33333A"/>
                </a:solidFill>
                <a:latin typeface="Calibri"/>
              </a:rPr>
              <a:t>A measure may not be judged against its own source. Checking an IMS-based score against IMS would prove nothing.</a:t>
            </a:r>
          </a:p>
          <a:p>
            <a:pPr algn="l">
              <a:lnSpc>
                <a:spcPct val="124000"/>
              </a:lnSpc>
              <a:spcBef>
                <a:spcPts val="0"/>
              </a:spcBef>
              <a:spcAft>
                <a:spcPts val="1000"/>
              </a:spcAft>
            </a:pPr>
            <a:r>
              <a:rPr sz="1200" b="0">
                <a:solidFill>
                  <a:srgbClr val="6E6B66"/>
                </a:solidFill>
                <a:latin typeface="Calibri"/>
              </a:rPr>
              <a:t>BAWL-R is a different list, built by different people. That makes it a legitimate referee for every candidate — including the ones built from IMS.</a:t>
            </a:r>
          </a:p>
          <a:p>
            <a:pPr algn="l">
              <a:lnSpc>
                <a:spcPct val="124000"/>
              </a:lnSpc>
              <a:spcBef>
                <a:spcPts val="0"/>
              </a:spcBef>
              <a:spcAft>
                <a:spcPts val="0"/>
              </a:spcAft>
            </a:pPr>
            <a:r>
              <a:rPr sz="1200" b="0">
                <a:solidFill>
                  <a:srgbClr val="6E6B66"/>
                </a:solidFill>
                <a:latin typeface="Calibri"/>
              </a:rPr>
              <a:t>Its cost: it can only judge about three quarters of the comments. That is the smallest sample in the project, and it limits how sharply the candidates can be separated.</a:t>
            </a:r>
          </a:p>
        </p:txBody>
      </p:sp>
      <p:sp>
        <p:nvSpPr>
          <p:cNvPr id="19" name="TextBox 18"/>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Neither list is redistributed with the repository — both are published research data with their own terms. Sources are in REFERENCES.md.</a:t>
            </a:r>
          </a:p>
        </p:txBody>
      </p:sp>
      <p:sp>
        <p:nvSpPr>
          <p:cNvPr id="20" name="TextBox 19"/>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22</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Stopwords — the biggest single gain</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Not a model decision. A pre-processing one.</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703447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Removing filler words improved the arousal measure more than any choice of model did.</a:t>
            </a:r>
          </a:p>
        </p:txBody>
      </p:sp>
      <p:sp>
        <p:nvSpPr>
          <p:cNvPr id="9" name="TextBox 8"/>
          <p:cNvSpPr txBox="1"/>
          <p:nvPr/>
        </p:nvSpPr>
        <p:spPr>
          <a:xfrm>
            <a:off x="658368" y="2839212"/>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mean over all words</a:t>
            </a:r>
          </a:p>
        </p:txBody>
      </p:sp>
      <p:sp>
        <p:nvSpPr>
          <p:cNvPr id="10" name="Rectangle 9"/>
          <p:cNvSpPr/>
          <p:nvPr/>
        </p:nvSpPr>
        <p:spPr>
          <a:xfrm>
            <a:off x="3721608" y="2848356"/>
            <a:ext cx="291967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3721608" y="2848356"/>
            <a:ext cx="2311412" cy="237744"/>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787591" y="2839212"/>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6E6B66"/>
                </a:solidFill>
                <a:latin typeface="Calibri"/>
              </a:rPr>
              <a:t>0.19  (0.17)</a:t>
            </a:r>
          </a:p>
        </p:txBody>
      </p:sp>
      <p:sp>
        <p:nvSpPr>
          <p:cNvPr id="13" name="TextBox 12"/>
          <p:cNvSpPr txBox="1"/>
          <p:nvPr/>
        </p:nvSpPr>
        <p:spPr>
          <a:xfrm>
            <a:off x="658368" y="3515868"/>
            <a:ext cx="306324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mean, stopwords removed</a:t>
            </a:r>
          </a:p>
        </p:txBody>
      </p:sp>
      <p:sp>
        <p:nvSpPr>
          <p:cNvPr id="14" name="Rectangle 13"/>
          <p:cNvSpPr/>
          <p:nvPr/>
        </p:nvSpPr>
        <p:spPr>
          <a:xfrm>
            <a:off x="3721608" y="3525012"/>
            <a:ext cx="2919679" cy="237744"/>
          </a:xfrm>
          <a:prstGeom prst="rect">
            <a:avLst/>
          </a:prstGeom>
          <a:solidFill>
            <a:srgbClr val="E9DDC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3721608" y="3525012"/>
            <a:ext cx="2676372" cy="237744"/>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787591" y="3515868"/>
            <a:ext cx="1554480" cy="292608"/>
          </a:xfrm>
          <a:prstGeom prst="rect">
            <a:avLst/>
          </a:prstGeom>
          <a:noFill/>
        </p:spPr>
        <p:txBody>
          <a:bodyPr wrap="square" lIns="0" tIns="0" rIns="0" bIns="0">
            <a:spAutoFit/>
          </a:bodyPr>
          <a:lstStyle/>
          <a:p>
            <a:pPr algn="l">
              <a:lnSpc>
                <a:spcPct val="124000"/>
              </a:lnSpc>
              <a:spcBef>
                <a:spcPts val="0"/>
              </a:spcBef>
              <a:spcAft>
                <a:spcPts val="0"/>
              </a:spcAft>
            </a:pPr>
            <a:r>
              <a:rPr sz="1250" b="1">
                <a:solidFill>
                  <a:srgbClr val="33333A"/>
                </a:solidFill>
                <a:latin typeface="Calibri"/>
              </a:rPr>
              <a:t>0.22  (0.22)</a:t>
            </a:r>
          </a:p>
        </p:txBody>
      </p:sp>
      <p:sp>
        <p:nvSpPr>
          <p:cNvPr id="17" name="TextBox 16"/>
          <p:cNvSpPr txBox="1"/>
          <p:nvPr/>
        </p:nvSpPr>
        <p:spPr>
          <a:xfrm>
            <a:off x="3721608" y="3785615"/>
            <a:ext cx="3696919" cy="237744"/>
          </a:xfrm>
          <a:prstGeom prst="rect">
            <a:avLst/>
          </a:prstGeom>
          <a:noFill/>
        </p:spPr>
        <p:txBody>
          <a:bodyPr wrap="square" lIns="0" tIns="0" rIns="0" bIns="0">
            <a:spAutoFit/>
          </a:bodyPr>
          <a:lstStyle/>
          <a:p>
            <a:pPr algn="l">
              <a:lnSpc>
                <a:spcPct val="124000"/>
              </a:lnSpc>
              <a:spcBef>
                <a:spcPts val="0"/>
              </a:spcBef>
              <a:spcAft>
                <a:spcPts val="0"/>
              </a:spcAft>
            </a:pPr>
            <a:r>
              <a:rPr sz="1050" b="0">
                <a:solidFill>
                  <a:srgbClr val="9A968E"/>
                </a:solidFill>
                <a:latin typeface="Calibri"/>
              </a:rPr>
              <a:t>the whole difference is a list of 1,849 words</a:t>
            </a:r>
          </a:p>
        </p:txBody>
      </p:sp>
      <p:sp>
        <p:nvSpPr>
          <p:cNvPr id="18" name="TextBox 17"/>
          <p:cNvSpPr txBox="1"/>
          <p:nvPr/>
        </p:nvSpPr>
        <p:spPr>
          <a:xfrm>
            <a:off x="658368" y="4352544"/>
            <a:ext cx="7034479" cy="1463040"/>
          </a:xfrm>
          <a:prstGeom prst="rect">
            <a:avLst/>
          </a:prstGeom>
          <a:noFill/>
        </p:spPr>
        <p:txBody>
          <a:bodyPr wrap="square" lIns="0" tIns="0" rIns="0" bIns="0">
            <a:spAutoFit/>
          </a:bodyPr>
          <a:lstStyle/>
          <a:p>
            <a:pPr algn="l">
              <a:lnSpc>
                <a:spcPct val="120000"/>
              </a:lnSpc>
              <a:spcBef>
                <a:spcPts val="0"/>
              </a:spcBef>
              <a:spcAft>
                <a:spcPts val="900"/>
              </a:spcAft>
            </a:pPr>
            <a:r>
              <a:rPr sz="1400" b="0">
                <a:solidFill>
                  <a:srgbClr val="33333A"/>
                </a:solidFill>
                <a:latin typeface="Calibri Light"/>
              </a:rPr>
              <a:t>Why it works: filler words are emotionally neutral, and they are the most frequent words in any comment.</a:t>
            </a:r>
          </a:p>
          <a:p>
            <a:pPr algn="l">
              <a:lnSpc>
                <a:spcPct val="124000"/>
              </a:lnSpc>
              <a:spcBef>
                <a:spcPts val="0"/>
              </a:spcBef>
              <a:spcAft>
                <a:spcPts val="0"/>
              </a:spcAft>
            </a:pPr>
            <a:r>
              <a:rPr sz="1250" b="0">
                <a:solidFill>
                  <a:srgbClr val="6E6B66"/>
                </a:solidFill>
                <a:latin typeface="Calibri"/>
              </a:rPr>
              <a:t>„und“, „der“, „aber“ carry no activation, but they appear so often that they dominate the average and pull every comment towards the middle. Taking them out lets the words that do carry activation actually count.</a:t>
            </a:r>
          </a:p>
        </p:txBody>
      </p:sp>
      <p:sp>
        <p:nvSpPr>
          <p:cNvPr id="19" name="Rectangle 18"/>
          <p:cNvSpPr/>
          <p:nvPr/>
        </p:nvSpPr>
        <p:spPr>
          <a:xfrm>
            <a:off x="7967167" y="2724912"/>
            <a:ext cx="3566160" cy="2999232"/>
          </a:xfrm>
          <a:prstGeom prst="rect">
            <a:avLst/>
          </a:prstGeom>
          <a:solidFill>
            <a:srgbClr val="FFFFFF"/>
          </a:solidFill>
          <a:ln w="12700">
            <a:solidFill>
              <a:srgbClr val="D9CBB4"/>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19"/>
          <p:cNvSpPr/>
          <p:nvPr/>
        </p:nvSpPr>
        <p:spPr>
          <a:xfrm>
            <a:off x="7967167" y="2724912"/>
            <a:ext cx="3566160" cy="685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p:cNvSpPr txBox="1"/>
          <p:nvPr/>
        </p:nvSpPr>
        <p:spPr>
          <a:xfrm>
            <a:off x="8278063" y="2962656"/>
            <a:ext cx="2926080" cy="237744"/>
          </a:xfrm>
          <a:prstGeom prst="rect">
            <a:avLst/>
          </a:prstGeom>
          <a:noFill/>
        </p:spPr>
        <p:txBody>
          <a:bodyPr wrap="square" lIns="0" tIns="0" rIns="0" bIns="0">
            <a:spAutoFit/>
          </a:bodyPr>
          <a:lstStyle/>
          <a:p>
            <a:pPr algn="l">
              <a:lnSpc>
                <a:spcPct val="124000"/>
              </a:lnSpc>
              <a:spcBef>
                <a:spcPts val="0"/>
              </a:spcBef>
              <a:spcAft>
                <a:spcPts val="0"/>
              </a:spcAft>
            </a:pPr>
            <a:r>
              <a:rPr sz="950" b="1">
                <a:solidFill>
                  <a:srgbClr val="7F70EC"/>
                </a:solidFill>
                <a:latin typeface="Calibri"/>
              </a:rPr>
              <a:t>THE LESSON I TOOK FROM IT</a:t>
            </a:r>
          </a:p>
        </p:txBody>
      </p:sp>
      <p:sp>
        <p:nvSpPr>
          <p:cNvPr id="22" name="TextBox 21"/>
          <p:cNvSpPr txBox="1"/>
          <p:nvPr/>
        </p:nvSpPr>
        <p:spPr>
          <a:xfrm>
            <a:off x="8278063" y="3255264"/>
            <a:ext cx="2944368" cy="2340864"/>
          </a:xfrm>
          <a:prstGeom prst="rect">
            <a:avLst/>
          </a:prstGeom>
          <a:noFill/>
        </p:spPr>
        <p:txBody>
          <a:bodyPr wrap="square" lIns="0" tIns="0" rIns="0" bIns="0">
            <a:spAutoFit/>
          </a:bodyPr>
          <a:lstStyle/>
          <a:p>
            <a:pPr algn="l">
              <a:lnSpc>
                <a:spcPct val="120000"/>
              </a:lnSpc>
              <a:spcBef>
                <a:spcPts val="0"/>
              </a:spcBef>
              <a:spcAft>
                <a:spcPts val="1000"/>
              </a:spcAft>
            </a:pPr>
            <a:r>
              <a:rPr sz="1400" b="1">
                <a:solidFill>
                  <a:srgbClr val="33333A"/>
                </a:solidFill>
                <a:latin typeface="Calibri Light"/>
              </a:rPr>
              <a:t>You do not compare models. You compare whole procedures.</a:t>
            </a:r>
          </a:p>
          <a:p>
            <a:pPr algn="l">
              <a:lnSpc>
                <a:spcPct val="124000"/>
              </a:lnSpc>
              <a:spcBef>
                <a:spcPts val="0"/>
              </a:spcBef>
              <a:spcAft>
                <a:spcPts val="1000"/>
              </a:spcAft>
            </a:pPr>
            <a:r>
              <a:rPr sz="1200" b="0">
                <a:solidFill>
                  <a:srgbClr val="6E6B66"/>
                </a:solidFill>
                <a:latin typeface="Calibri"/>
              </a:rPr>
              <a:t>Everything interesting in this project happened at the boundaries: which words go in, what the measure is compared against, whether two axes are independent.</a:t>
            </a:r>
          </a:p>
          <a:p>
            <a:pPr algn="l">
              <a:lnSpc>
                <a:spcPct val="124000"/>
              </a:lnSpc>
              <a:spcBef>
                <a:spcPts val="0"/>
              </a:spcBef>
              <a:spcAft>
                <a:spcPts val="0"/>
              </a:spcAft>
            </a:pPr>
            <a:r>
              <a:rPr sz="1200" b="0">
                <a:solidFill>
                  <a:srgbClr val="33333A"/>
                </a:solidFill>
                <a:latin typeface="Calibri"/>
              </a:rPr>
              <a:t>The model choice mattered on one axis out of two. The unglamorous steps mattered everywhere.</a:t>
            </a:r>
          </a:p>
        </p:txBody>
      </p:sp>
      <p:sp>
        <p:nvSpPr>
          <p:cNvPr id="23" name="TextBox 22"/>
          <p:cNvSpPr txBox="1"/>
          <p:nvPr/>
        </p:nvSpPr>
        <p:spPr>
          <a:xfrm>
            <a:off x="658368" y="6291072"/>
            <a:ext cx="10874959" cy="274320"/>
          </a:xfrm>
          <a:prstGeom prst="rect">
            <a:avLst/>
          </a:prstGeom>
          <a:noFill/>
        </p:spPr>
        <p:txBody>
          <a:bodyPr wrap="square" lIns="0" tIns="0" rIns="0" bIns="0">
            <a:spAutoFit/>
          </a:bodyPr>
          <a:lstStyle/>
          <a:p>
            <a:pPr algn="l">
              <a:lnSpc>
                <a:spcPct val="124000"/>
              </a:lnSpc>
              <a:spcBef>
                <a:spcPts val="0"/>
              </a:spcBef>
              <a:spcAft>
                <a:spcPts val="0"/>
              </a:spcAft>
            </a:pPr>
            <a:r>
              <a:rPr sz="1000" b="0">
                <a:solidFill>
                  <a:srgbClr val="9A968E"/>
                </a:solidFill>
                <a:latin typeface="Calibri"/>
              </a:rPr>
              <a:t>Two figures per row: the real survey first, the synthetic dataset in brackets. Quality criteria only — no content figures from the real run.</a:t>
            </a:r>
          </a:p>
        </p:txBody>
      </p:sp>
      <p:sp>
        <p:nvSpPr>
          <p:cNvPr id="24" name="TextBox 23"/>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23</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How the quality of all this was judged</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A number on its own is never good or bad</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TextBox 7"/>
          <p:cNvSpPr txBox="1"/>
          <p:nvPr/>
        </p:nvSpPr>
        <p:spPr>
          <a:xfrm>
            <a:off x="658368" y="1719072"/>
            <a:ext cx="10874959" cy="868680"/>
          </a:xfrm>
          <a:prstGeom prst="rect">
            <a:avLst/>
          </a:prstGeom>
          <a:noFill/>
        </p:spPr>
        <p:txBody>
          <a:bodyPr wrap="square" lIns="0" tIns="0" rIns="0" bIns="0">
            <a:spAutoFit/>
          </a:bodyPr>
          <a:lstStyle/>
          <a:p>
            <a:pPr algn="l">
              <a:lnSpc>
                <a:spcPct val="122000"/>
              </a:lnSpc>
              <a:spcBef>
                <a:spcPts val="0"/>
              </a:spcBef>
              <a:spcAft>
                <a:spcPts val="0"/>
              </a:spcAft>
            </a:pPr>
            <a:r>
              <a:rPr sz="1650" b="0">
                <a:solidFill>
                  <a:srgbClr val="33333A"/>
                </a:solidFill>
                <a:latin typeface="Calibri Light"/>
              </a:rPr>
              <a:t>Every check compares against something. Which something decides what counts as a good value.</a:t>
            </a:r>
          </a:p>
        </p:txBody>
      </p:sp>
      <p:sp>
        <p:nvSpPr>
          <p:cNvPr id="9" name="Rectangle 8"/>
          <p:cNvSpPr/>
          <p:nvPr/>
        </p:nvSpPr>
        <p:spPr>
          <a:xfrm>
            <a:off x="658368" y="2761488"/>
            <a:ext cx="68580" cy="804672"/>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950976" y="2706624"/>
            <a:ext cx="3566160" cy="822960"/>
          </a:xfrm>
          <a:prstGeom prst="rect">
            <a:avLst/>
          </a:prstGeom>
          <a:noFill/>
        </p:spPr>
        <p:txBody>
          <a:bodyPr wrap="square" lIns="0" tIns="0" rIns="0" bIns="0">
            <a:spAutoFit/>
          </a:bodyPr>
          <a:lstStyle/>
          <a:p>
            <a:pPr algn="l">
              <a:lnSpc>
                <a:spcPct val="124000"/>
              </a:lnSpc>
              <a:spcBef>
                <a:spcPts val="0"/>
              </a:spcBef>
              <a:spcAft>
                <a:spcPts val="400"/>
              </a:spcAft>
            </a:pPr>
            <a:r>
              <a:rPr sz="1350" b="1">
                <a:solidFill>
                  <a:srgbClr val="33333A"/>
                </a:solidFill>
                <a:latin typeface="Calibri Light"/>
              </a:rPr>
              <a:t>Against a human reference</a:t>
            </a:r>
          </a:p>
          <a:p>
            <a:pPr algn="l">
              <a:lnSpc>
                <a:spcPct val="120000"/>
              </a:lnSpc>
              <a:spcBef>
                <a:spcPts val="0"/>
              </a:spcBef>
              <a:spcAft>
                <a:spcPts val="0"/>
              </a:spcAft>
            </a:pPr>
            <a:r>
              <a:rPr sz="1100" b="0">
                <a:solidFill>
                  <a:srgbClr val="6E6B66"/>
                </a:solidFill>
                <a:latin typeface="Calibri"/>
              </a:rPr>
              <a:t>The survey answers for valence, the hand-rated word list for arousal.</a:t>
            </a:r>
          </a:p>
        </p:txBody>
      </p:sp>
      <p:sp>
        <p:nvSpPr>
          <p:cNvPr id="11" name="TextBox 10"/>
          <p:cNvSpPr txBox="1"/>
          <p:nvPr/>
        </p:nvSpPr>
        <p:spPr>
          <a:xfrm>
            <a:off x="4727448" y="2706624"/>
            <a:ext cx="680587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Higher is better. For text against tick marks, 0.2 is weak and 0.4 is good — and a perfect 1.0 would be suspicious, because the comment would add nothing the survey does not already say.</a:t>
            </a:r>
          </a:p>
        </p:txBody>
      </p:sp>
      <p:sp>
        <p:nvSpPr>
          <p:cNvPr id="12" name="Rectangle 11"/>
          <p:cNvSpPr/>
          <p:nvPr/>
        </p:nvSpPr>
        <p:spPr>
          <a:xfrm>
            <a:off x="658368" y="3803903"/>
            <a:ext cx="68580" cy="804672"/>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50976" y="3749039"/>
            <a:ext cx="3566160" cy="822960"/>
          </a:xfrm>
          <a:prstGeom prst="rect">
            <a:avLst/>
          </a:prstGeom>
          <a:noFill/>
        </p:spPr>
        <p:txBody>
          <a:bodyPr wrap="square" lIns="0" tIns="0" rIns="0" bIns="0">
            <a:spAutoFit/>
          </a:bodyPr>
          <a:lstStyle/>
          <a:p>
            <a:pPr algn="l">
              <a:lnSpc>
                <a:spcPct val="124000"/>
              </a:lnSpc>
              <a:spcBef>
                <a:spcPts val="0"/>
              </a:spcBef>
              <a:spcAft>
                <a:spcPts val="400"/>
              </a:spcAft>
            </a:pPr>
            <a:r>
              <a:rPr sz="1350" b="1">
                <a:solidFill>
                  <a:srgbClr val="33333A"/>
                </a:solidFill>
                <a:latin typeface="Calibri Light"/>
              </a:rPr>
              <a:t>Against what must not appear</a:t>
            </a:r>
          </a:p>
          <a:p>
            <a:pPr algn="l">
              <a:lnSpc>
                <a:spcPct val="120000"/>
              </a:lnSpc>
              <a:spcBef>
                <a:spcPts val="0"/>
              </a:spcBef>
              <a:spcAft>
                <a:spcPts val="0"/>
              </a:spcAft>
            </a:pPr>
            <a:r>
              <a:rPr sz="1100" b="0">
                <a:solidFill>
                  <a:srgbClr val="6E6B66"/>
                </a:solidFill>
                <a:latin typeface="Calibri"/>
              </a:rPr>
              <a:t>The arousal measure checked against valence.</a:t>
            </a:r>
          </a:p>
        </p:txBody>
      </p:sp>
      <p:sp>
        <p:nvSpPr>
          <p:cNvPr id="14" name="TextBox 13"/>
          <p:cNvSpPr txBox="1"/>
          <p:nvPr/>
        </p:nvSpPr>
        <p:spPr>
          <a:xfrm>
            <a:off x="4727448" y="3749039"/>
            <a:ext cx="680587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33333A"/>
                </a:solidFill>
                <a:latin typeface="Calibri"/>
              </a:rPr>
              <a:t>Here near zero is the win — the only place in the project where that is true. A second axis that tracks the first has measured the first one twice.</a:t>
            </a:r>
          </a:p>
        </p:txBody>
      </p:sp>
      <p:sp>
        <p:nvSpPr>
          <p:cNvPr id="15" name="Rectangle 14"/>
          <p:cNvSpPr/>
          <p:nvPr/>
        </p:nvSpPr>
        <p:spPr>
          <a:xfrm>
            <a:off x="658368" y="4846320"/>
            <a:ext cx="68580" cy="804672"/>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950976" y="4791456"/>
            <a:ext cx="3566160" cy="822960"/>
          </a:xfrm>
          <a:prstGeom prst="rect">
            <a:avLst/>
          </a:prstGeom>
          <a:noFill/>
        </p:spPr>
        <p:txBody>
          <a:bodyPr wrap="square" lIns="0" tIns="0" rIns="0" bIns="0">
            <a:spAutoFit/>
          </a:bodyPr>
          <a:lstStyle/>
          <a:p>
            <a:pPr algn="l">
              <a:lnSpc>
                <a:spcPct val="124000"/>
              </a:lnSpc>
              <a:spcBef>
                <a:spcPts val="0"/>
              </a:spcBef>
              <a:spcAft>
                <a:spcPts val="400"/>
              </a:spcAft>
            </a:pPr>
            <a:r>
              <a:rPr sz="1350" b="1">
                <a:solidFill>
                  <a:srgbClr val="33333A"/>
                </a:solidFill>
                <a:latin typeface="Calibri Light"/>
              </a:rPr>
              <a:t>Against chance</a:t>
            </a:r>
          </a:p>
          <a:p>
            <a:pPr algn="l">
              <a:lnSpc>
                <a:spcPct val="120000"/>
              </a:lnSpc>
              <a:spcBef>
                <a:spcPts val="0"/>
              </a:spcBef>
              <a:spcAft>
                <a:spcPts val="0"/>
              </a:spcAft>
            </a:pPr>
            <a:r>
              <a:rPr sz="1100" b="0">
                <a:solidFill>
                  <a:srgbClr val="6E6B66"/>
                </a:solidFill>
                <a:latin typeface="Calibri"/>
              </a:rPr>
              <a:t>The fold-to-fold spread in cross-validation, and a model that always guesses the average.</a:t>
            </a:r>
          </a:p>
        </p:txBody>
      </p:sp>
      <p:sp>
        <p:nvSpPr>
          <p:cNvPr id="17" name="TextBox 16"/>
          <p:cNvSpPr txBox="1"/>
          <p:nvPr/>
        </p:nvSpPr>
        <p:spPr>
          <a:xfrm>
            <a:off x="4727448" y="4791456"/>
            <a:ext cx="6805879" cy="91440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6E6B66"/>
                </a:solidFill>
                <a:latin typeface="Calibri"/>
              </a:rPr>
              <a:t>An improvement smaller than the spread is not an improvement. Without this yardstick, two gains that differ tenfold in reliability look identical.</a:t>
            </a:r>
          </a:p>
        </p:txBody>
      </p:sp>
      <p:sp>
        <p:nvSpPr>
          <p:cNvPr id="18" name="TextBox 17"/>
          <p:cNvSpPr txBox="1"/>
          <p:nvPr/>
        </p:nvSpPr>
        <p:spPr>
          <a:xfrm>
            <a:off x="658368" y="5961888"/>
            <a:ext cx="10874959" cy="457200"/>
          </a:xfrm>
          <a:prstGeom prst="rect">
            <a:avLst/>
          </a:prstGeom>
          <a:noFill/>
        </p:spPr>
        <p:txBody>
          <a:bodyPr wrap="square" lIns="0" tIns="0" rIns="0" bIns="0">
            <a:spAutoFit/>
          </a:bodyPr>
          <a:lstStyle/>
          <a:p>
            <a:pPr algn="l">
              <a:lnSpc>
                <a:spcPct val="125000"/>
              </a:lnSpc>
              <a:spcBef>
                <a:spcPts val="0"/>
              </a:spcBef>
              <a:spcAft>
                <a:spcPts val="500"/>
              </a:spcAft>
            </a:pPr>
            <a:r>
              <a:rPr sz="1100" b="0">
                <a:solidFill>
                  <a:srgbClr val="9A968E"/>
                </a:solidFill>
                <a:latin typeface="Calibri"/>
              </a:rPr>
              <a:t>Alongside those: coverage — how many comments got a value at all. A strong agreement measured on few comments is worth little.</a:t>
            </a:r>
          </a:p>
        </p:txBody>
      </p:sp>
      <p:sp>
        <p:nvSpPr>
          <p:cNvPr id="19" name="TextBox 18"/>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E4C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335024"/>
          </a:xfrm>
          <a:prstGeom prst="rect">
            <a:avLst/>
          </a:prstGeom>
          <a:solidFill>
            <a:srgbClr val="4E4D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658368" y="182880"/>
            <a:ext cx="8863279" cy="219456"/>
          </a:xfrm>
          <a:prstGeom prst="rect">
            <a:avLst/>
          </a:prstGeom>
          <a:noFill/>
        </p:spPr>
        <p:txBody>
          <a:bodyPr wrap="square" lIns="0" tIns="0" rIns="0" bIns="0">
            <a:spAutoFit/>
          </a:bodyPr>
          <a:lstStyle/>
          <a:p>
            <a:pPr algn="l">
              <a:lnSpc>
                <a:spcPct val="124000"/>
              </a:lnSpc>
              <a:spcBef>
                <a:spcPts val="0"/>
              </a:spcBef>
              <a:spcAft>
                <a:spcPts val="0"/>
              </a:spcAft>
            </a:pPr>
            <a:r>
              <a:rPr sz="1000" b="1">
                <a:solidFill>
                  <a:srgbClr val="A8A49F"/>
                </a:solidFill>
                <a:latin typeface="Calibri"/>
              </a:rPr>
              <a:t>24</a:t>
            </a:r>
          </a:p>
        </p:txBody>
      </p:sp>
      <p:sp>
        <p:nvSpPr>
          <p:cNvPr id="5" name="TextBox 4"/>
          <p:cNvSpPr txBox="1"/>
          <p:nvPr/>
        </p:nvSpPr>
        <p:spPr>
          <a:xfrm>
            <a:off x="658368" y="420624"/>
            <a:ext cx="8863279" cy="457200"/>
          </a:xfrm>
          <a:prstGeom prst="rect">
            <a:avLst/>
          </a:prstGeom>
          <a:noFill/>
        </p:spPr>
        <p:txBody>
          <a:bodyPr wrap="square" lIns="0" tIns="0" rIns="0" bIns="0">
            <a:spAutoFit/>
          </a:bodyPr>
          <a:lstStyle/>
          <a:p>
            <a:pPr algn="l">
              <a:lnSpc>
                <a:spcPct val="124000"/>
              </a:lnSpc>
              <a:spcBef>
                <a:spcPts val="0"/>
              </a:spcBef>
              <a:spcAft>
                <a:spcPts val="0"/>
              </a:spcAft>
            </a:pPr>
            <a:r>
              <a:rPr sz="2900" b="0">
                <a:solidFill>
                  <a:srgbClr val="FFFFFF"/>
                </a:solidFill>
                <a:latin typeface="Calibri Light"/>
              </a:rPr>
              <a:t>What it cannot do</a:t>
            </a:r>
          </a:p>
        </p:txBody>
      </p:sp>
      <p:sp>
        <p:nvSpPr>
          <p:cNvPr id="6" name="TextBox 5"/>
          <p:cNvSpPr txBox="1"/>
          <p:nvPr/>
        </p:nvSpPr>
        <p:spPr>
          <a:xfrm>
            <a:off x="658368" y="950976"/>
            <a:ext cx="8863279" cy="256032"/>
          </a:xfrm>
          <a:prstGeom prst="rect">
            <a:avLst/>
          </a:prstGeom>
          <a:noFill/>
        </p:spPr>
        <p:txBody>
          <a:bodyPr wrap="square" lIns="0" tIns="0" rIns="0" bIns="0">
            <a:spAutoFit/>
          </a:bodyPr>
          <a:lstStyle/>
          <a:p>
            <a:pPr algn="l">
              <a:lnSpc>
                <a:spcPct val="124000"/>
              </a:lnSpc>
              <a:spcBef>
                <a:spcPts val="0"/>
              </a:spcBef>
              <a:spcAft>
                <a:spcPts val="0"/>
              </a:spcAft>
            </a:pPr>
            <a:r>
              <a:rPr sz="1250" b="0">
                <a:solidFill>
                  <a:srgbClr val="CDC9C4"/>
                </a:solidFill>
                <a:latin typeface="Calibri"/>
              </a:rPr>
              <a:t>The limits, stated before anyone asks</a:t>
            </a:r>
          </a:p>
        </p:txBody>
      </p:sp>
      <p:sp>
        <p:nvSpPr>
          <p:cNvPr id="7" name="TextBox 6"/>
          <p:cNvSpPr txBox="1"/>
          <p:nvPr/>
        </p:nvSpPr>
        <p:spPr>
          <a:xfrm>
            <a:off x="10253167" y="219456"/>
            <a:ext cx="1280160" cy="274320"/>
          </a:xfrm>
          <a:prstGeom prst="rect">
            <a:avLst/>
          </a:prstGeom>
          <a:noFill/>
        </p:spPr>
        <p:txBody>
          <a:bodyPr wrap="square" lIns="0" tIns="0" rIns="0" bIns="0">
            <a:spAutoFit/>
          </a:bodyPr>
          <a:lstStyle/>
          <a:p>
            <a:pPr algn="r">
              <a:lnSpc>
                <a:spcPct val="124000"/>
              </a:lnSpc>
              <a:spcBef>
                <a:spcPts val="0"/>
              </a:spcBef>
              <a:spcAft>
                <a:spcPts val="500"/>
              </a:spcAft>
            </a:pPr>
            <a:r>
              <a:rPr sz="1300" b="1">
                <a:solidFill>
                  <a:srgbClr val="FFFFFF"/>
                </a:solidFill>
                <a:latin typeface="Calibri Light"/>
              </a:rPr>
              <a:t>ELFI</a:t>
            </a:r>
          </a:p>
        </p:txBody>
      </p:sp>
      <p:sp>
        <p:nvSpPr>
          <p:cNvPr id="8" name="Rectangle 7"/>
          <p:cNvSpPr/>
          <p:nvPr/>
        </p:nvSpPr>
        <p:spPr>
          <a:xfrm>
            <a:off x="658368" y="1737360"/>
            <a:ext cx="68580" cy="6400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50976" y="1700784"/>
            <a:ext cx="10509199" cy="777240"/>
          </a:xfrm>
          <a:prstGeom prst="rect">
            <a:avLst/>
          </a:prstGeom>
          <a:noFill/>
        </p:spPr>
        <p:txBody>
          <a:bodyPr wrap="square" lIns="0" tIns="0" rIns="0" bIns="0">
            <a:spAutoFit/>
          </a:bodyPr>
          <a:lstStyle/>
          <a:p>
            <a:pPr algn="l">
              <a:lnSpc>
                <a:spcPct val="124000"/>
              </a:lnSpc>
              <a:spcBef>
                <a:spcPts val="0"/>
              </a:spcBef>
              <a:spcAft>
                <a:spcPts val="400"/>
              </a:spcAft>
            </a:pPr>
            <a:r>
              <a:rPr sz="1400" b="1">
                <a:solidFill>
                  <a:srgbClr val="33333A"/>
                </a:solidFill>
                <a:latin typeface="Calibri Light"/>
              </a:rPr>
              <a:t>It shows patterns, not causes.</a:t>
            </a:r>
          </a:p>
          <a:p>
            <a:pPr algn="l">
              <a:lnSpc>
                <a:spcPct val="122000"/>
              </a:lnSpc>
              <a:spcBef>
                <a:spcPts val="0"/>
              </a:spcBef>
              <a:spcAft>
                <a:spcPts val="0"/>
              </a:spcAft>
            </a:pPr>
            <a:r>
              <a:rPr sz="1150" b="0">
                <a:solidFill>
                  <a:srgbClr val="6E6B66"/>
                </a:solidFill>
                <a:latin typeface="Calibri"/>
              </a:rPr>
              <a:t>The report can make visible where something stands out. Why it stands out, and what to do about it, stays a human job.</a:t>
            </a:r>
          </a:p>
        </p:txBody>
      </p:sp>
      <p:sp>
        <p:nvSpPr>
          <p:cNvPr id="10" name="Rectangle 9"/>
          <p:cNvSpPr/>
          <p:nvPr/>
        </p:nvSpPr>
        <p:spPr>
          <a:xfrm>
            <a:off x="658368" y="2596896"/>
            <a:ext cx="68580" cy="640080"/>
          </a:xfrm>
          <a:prstGeom prst="rect">
            <a:avLst/>
          </a:prstGeom>
          <a:solidFill>
            <a:srgbClr val="E8785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50976" y="2560320"/>
            <a:ext cx="10509199" cy="777240"/>
          </a:xfrm>
          <a:prstGeom prst="rect">
            <a:avLst/>
          </a:prstGeom>
          <a:noFill/>
        </p:spPr>
        <p:txBody>
          <a:bodyPr wrap="square" lIns="0" tIns="0" rIns="0" bIns="0">
            <a:spAutoFit/>
          </a:bodyPr>
          <a:lstStyle/>
          <a:p>
            <a:pPr algn="l">
              <a:lnSpc>
                <a:spcPct val="124000"/>
              </a:lnSpc>
              <a:spcBef>
                <a:spcPts val="0"/>
              </a:spcBef>
              <a:spcAft>
                <a:spcPts val="400"/>
              </a:spcAft>
            </a:pPr>
            <a:r>
              <a:rPr sz="1400" b="1">
                <a:solidFill>
                  <a:srgbClr val="33333A"/>
                </a:solidFill>
                <a:latin typeface="Calibri Light"/>
              </a:rPr>
              <a:t>The vertical axis is the weaker one.</a:t>
            </a:r>
          </a:p>
          <a:p>
            <a:pPr algn="l">
              <a:lnSpc>
                <a:spcPct val="122000"/>
              </a:lnSpc>
              <a:spcBef>
                <a:spcPts val="0"/>
              </a:spcBef>
              <a:spcAft>
                <a:spcPts val="0"/>
              </a:spcAft>
            </a:pPr>
            <a:r>
              <a:rPr sz="1150" b="0">
                <a:solidFill>
                  <a:srgbClr val="6E6B66"/>
                </a:solidFill>
                <a:latin typeface="Calibri"/>
              </a:rPr>
              <a:t>Valence is validated against six survey criteria. Arousal agrees only modestly with an external reference, and the survey offers no proper criterion for it. It is reported as an indication.</a:t>
            </a:r>
          </a:p>
        </p:txBody>
      </p:sp>
      <p:sp>
        <p:nvSpPr>
          <p:cNvPr id="12" name="Rectangle 11"/>
          <p:cNvSpPr/>
          <p:nvPr/>
        </p:nvSpPr>
        <p:spPr>
          <a:xfrm>
            <a:off x="658368" y="3456432"/>
            <a:ext cx="68580" cy="6400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950976" y="3419856"/>
            <a:ext cx="10509199" cy="777240"/>
          </a:xfrm>
          <a:prstGeom prst="rect">
            <a:avLst/>
          </a:prstGeom>
          <a:noFill/>
        </p:spPr>
        <p:txBody>
          <a:bodyPr wrap="square" lIns="0" tIns="0" rIns="0" bIns="0">
            <a:spAutoFit/>
          </a:bodyPr>
          <a:lstStyle/>
          <a:p>
            <a:pPr algn="l">
              <a:lnSpc>
                <a:spcPct val="124000"/>
              </a:lnSpc>
              <a:spcBef>
                <a:spcPts val="0"/>
              </a:spcBef>
              <a:spcAft>
                <a:spcPts val="400"/>
              </a:spcAft>
            </a:pPr>
            <a:r>
              <a:rPr sz="1400" b="1">
                <a:solidFill>
                  <a:srgbClr val="33333A"/>
                </a:solidFill>
                <a:latin typeface="Calibri Light"/>
              </a:rPr>
              <a:t>Findings apply only to people who wrote something.</a:t>
            </a:r>
          </a:p>
          <a:p>
            <a:pPr algn="l">
              <a:lnSpc>
                <a:spcPct val="122000"/>
              </a:lnSpc>
              <a:spcBef>
                <a:spcPts val="0"/>
              </a:spcBef>
              <a:spcAft>
                <a:spcPts val="0"/>
              </a:spcAft>
            </a:pPr>
            <a:r>
              <a:rPr sz="1150" b="0">
                <a:solidFill>
                  <a:srgbClr val="6E6B66"/>
                </a:solidFill>
                <a:latin typeface="Calibri"/>
              </a:rPr>
              <a:t>Those who comment are a self-selected group, and they rate the survey more critically than those who do not. That is a real finding and a real limit at the same time.</a:t>
            </a:r>
          </a:p>
        </p:txBody>
      </p:sp>
      <p:sp>
        <p:nvSpPr>
          <p:cNvPr id="14" name="Rectangle 13"/>
          <p:cNvSpPr/>
          <p:nvPr/>
        </p:nvSpPr>
        <p:spPr>
          <a:xfrm>
            <a:off x="658368" y="4315968"/>
            <a:ext cx="68580" cy="640080"/>
          </a:xfrm>
          <a:prstGeom prst="rect">
            <a:avLst/>
          </a:prstGeom>
          <a:solidFill>
            <a:srgbClr val="3E9E9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50976" y="4279392"/>
            <a:ext cx="10509199" cy="777240"/>
          </a:xfrm>
          <a:prstGeom prst="rect">
            <a:avLst/>
          </a:prstGeom>
          <a:noFill/>
        </p:spPr>
        <p:txBody>
          <a:bodyPr wrap="square" lIns="0" tIns="0" rIns="0" bIns="0">
            <a:spAutoFit/>
          </a:bodyPr>
          <a:lstStyle/>
          <a:p>
            <a:pPr algn="l">
              <a:lnSpc>
                <a:spcPct val="124000"/>
              </a:lnSpc>
              <a:spcBef>
                <a:spcPts val="0"/>
              </a:spcBef>
              <a:spcAft>
                <a:spcPts val="400"/>
              </a:spcAft>
            </a:pPr>
            <a:r>
              <a:rPr sz="1400" b="1">
                <a:solidFill>
                  <a:srgbClr val="33333A"/>
                </a:solidFill>
                <a:latin typeface="Calibri Light"/>
              </a:rPr>
              <a:t>Irony and negation still slip through.</a:t>
            </a:r>
          </a:p>
          <a:p>
            <a:pPr algn="l">
              <a:lnSpc>
                <a:spcPct val="122000"/>
              </a:lnSpc>
              <a:spcBef>
                <a:spcPts val="0"/>
              </a:spcBef>
              <a:spcAft>
                <a:spcPts val="0"/>
              </a:spcAft>
            </a:pPr>
            <a:r>
              <a:rPr sz="1150" b="0">
                <a:solidFill>
                  <a:srgbClr val="6E6B66"/>
                </a:solidFill>
                <a:latin typeface="Calibri"/>
              </a:rPr>
              <a:t>The word-list axis has no grammar at all. The language model handles it better but was rejected for other reasons.</a:t>
            </a:r>
          </a:p>
        </p:txBody>
      </p:sp>
      <p:sp>
        <p:nvSpPr>
          <p:cNvPr id="16" name="Rectangle 15"/>
          <p:cNvSpPr/>
          <p:nvPr/>
        </p:nvSpPr>
        <p:spPr>
          <a:xfrm>
            <a:off x="658368" y="5175503"/>
            <a:ext cx="68580" cy="640080"/>
          </a:xfrm>
          <a:prstGeom prst="rect">
            <a:avLst/>
          </a:prstGeom>
          <a:solidFill>
            <a:srgbClr val="7F7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50976" y="5138927"/>
            <a:ext cx="10509199" cy="777240"/>
          </a:xfrm>
          <a:prstGeom prst="rect">
            <a:avLst/>
          </a:prstGeom>
          <a:noFill/>
        </p:spPr>
        <p:txBody>
          <a:bodyPr wrap="square" lIns="0" tIns="0" rIns="0" bIns="0">
            <a:spAutoFit/>
          </a:bodyPr>
          <a:lstStyle/>
          <a:p>
            <a:pPr algn="l">
              <a:lnSpc>
                <a:spcPct val="124000"/>
              </a:lnSpc>
              <a:spcBef>
                <a:spcPts val="0"/>
              </a:spcBef>
              <a:spcAft>
                <a:spcPts val="400"/>
              </a:spcAft>
            </a:pPr>
            <a:r>
              <a:rPr sz="1400" b="1">
                <a:solidFill>
                  <a:srgbClr val="33333A"/>
                </a:solidFill>
                <a:latin typeface="Calibri Light"/>
              </a:rPr>
              <a:t>Themes belong to the corpus they were fitted on.</a:t>
            </a:r>
          </a:p>
          <a:p>
            <a:pPr algn="l">
              <a:lnSpc>
                <a:spcPct val="122000"/>
              </a:lnSpc>
              <a:spcBef>
                <a:spcPts val="0"/>
              </a:spcBef>
              <a:spcAft>
                <a:spcPts val="0"/>
              </a:spcAft>
            </a:pPr>
            <a:r>
              <a:rPr sz="1150" b="0">
                <a:solidFill>
                  <a:srgbClr val="6E6B66"/>
                </a:solidFill>
                <a:latin typeface="Calibri"/>
              </a:rPr>
              <a:t>They are a finding, not a fixed taxonomy. Another organisation, or another wave, produces a different set — which is why the model is re-fitted rather than reused.</a:t>
            </a:r>
          </a:p>
        </p:txBody>
      </p:sp>
      <p:sp>
        <p:nvSpPr>
          <p:cNvPr id="18" name="TextBox 17"/>
          <p:cNvSpPr txBox="1"/>
          <p:nvPr/>
        </p:nvSpPr>
        <p:spPr>
          <a:xfrm>
            <a:off x="10893247" y="6400800"/>
            <a:ext cx="640080" cy="274320"/>
          </a:xfrm>
          <a:prstGeom prst="rect">
            <a:avLst/>
          </a:prstGeom>
          <a:noFill/>
        </p:spPr>
        <p:txBody>
          <a:bodyPr wrap="square" lIns="0" tIns="0" rIns="0" bIns="0">
            <a:spAutoFit/>
          </a:bodyPr>
          <a:lstStyle/>
          <a:p>
            <a:pPr algn="r">
              <a:lnSpc>
                <a:spcPct val="124000"/>
              </a:lnSpc>
              <a:spcBef>
                <a:spcPts val="0"/>
              </a:spcBef>
              <a:spcAft>
                <a:spcPts val="500"/>
              </a:spcAft>
            </a:pPr>
            <a:r>
              <a:rPr sz="1000" b="0">
                <a:solidFill>
                  <a:srgbClr val="9A968E"/>
                </a:solidFill>
                <a:latin typeface="Calibr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7858</Words>
  <Application>Microsoft Macintosh PowerPoint</Application>
  <PresentationFormat>Breitbild</PresentationFormat>
  <Paragraphs>709</Paragraphs>
  <Slides>24</Slides>
  <Notes>24</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24</vt:i4>
      </vt:variant>
    </vt:vector>
  </HeadingPairs>
  <TitlesOfParts>
    <vt:vector size="30" baseType="lpstr">
      <vt:lpstr>Aptos</vt:lpstr>
      <vt:lpstr>Arial</vt:lpstr>
      <vt:lpstr>Calibri</vt:lpstr>
      <vt:lpstr>Calibri Light</vt:lpstr>
      <vt:lpstr>Wingdings</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iris.detemple@gmail.com</cp:lastModifiedBy>
  <cp:revision>12</cp:revision>
  <dcterms:created xsi:type="dcterms:W3CDTF">2013-01-27T09:14:16Z</dcterms:created>
  <dcterms:modified xsi:type="dcterms:W3CDTF">2026-08-19T16:23:01Z</dcterms:modified>
  <cp:category/>
</cp:coreProperties>
</file>