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9" r:id="rId2"/>
    <p:sldId id="256" r:id="rId3"/>
    <p:sldId id="257" r:id="rId4"/>
    <p:sldId id="258" r:id="rId5"/>
    <p:sldId id="259" r:id="rId6"/>
    <p:sldId id="280" r:id="rId7"/>
    <p:sldId id="262" r:id="rId8"/>
    <p:sldId id="263" r:id="rId9"/>
    <p:sldId id="260" r:id="rId10"/>
    <p:sldId id="264" r:id="rId11"/>
    <p:sldId id="27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Aptos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Aptos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Aptos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Aptos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Aptos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Aptos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Aptos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Aptos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Aptos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7272"/>
    <a:srgbClr val="E3E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8"/>
    <p:restoredTop sz="57477"/>
  </p:normalViewPr>
  <p:slideViewPr>
    <p:cSldViewPr snapToGrid="0" snapToObjects="1">
      <p:cViewPr varScale="1">
        <p:scale>
          <a:sx n="106" d="100"/>
          <a:sy n="106" d="100"/>
        </p:scale>
        <p:origin x="134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5" d="100"/>
        <a:sy n="14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03BCA8-77A5-4E1A-8CF7-E6BBCECE08B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C0730F-68EF-4246-A6AC-AD08D20DCF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01   </a:t>
          </a:r>
          <a:r>
            <a:rPr lang="en-US"/>
            <a:t>How do employees feel?</a:t>
          </a:r>
        </a:p>
      </dgm:t>
    </dgm:pt>
    <dgm:pt modelId="{5D767A80-296F-464C-B156-6654D15B44EA}" type="parTrans" cxnId="{7BEC87C0-F3AE-4BD5-AFAC-3FDAE7C15BB6}">
      <dgm:prSet/>
      <dgm:spPr/>
      <dgm:t>
        <a:bodyPr/>
        <a:lstStyle/>
        <a:p>
          <a:endParaRPr lang="en-US"/>
        </a:p>
      </dgm:t>
    </dgm:pt>
    <dgm:pt modelId="{BA5CF8A3-3D18-42BA-99F9-30CCA7E3AE56}" type="sibTrans" cxnId="{7BEC87C0-F3AE-4BD5-AFAC-3FDAE7C15BB6}">
      <dgm:prSet/>
      <dgm:spPr/>
      <dgm:t>
        <a:bodyPr/>
        <a:lstStyle/>
        <a:p>
          <a:endParaRPr lang="en-US"/>
        </a:p>
      </dgm:t>
    </dgm:pt>
    <dgm:pt modelId="{EB79FA56-1E1C-478B-BC84-1D94FBD7F7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02   </a:t>
          </a:r>
          <a:r>
            <a:rPr lang="en-US"/>
            <a:t>What are employees talking about?</a:t>
          </a:r>
        </a:p>
      </dgm:t>
    </dgm:pt>
    <dgm:pt modelId="{A883649E-209C-4EE1-A0B4-6C381118B82F}" type="parTrans" cxnId="{D772EE0E-440D-442A-835C-98A045C1D1AA}">
      <dgm:prSet/>
      <dgm:spPr/>
      <dgm:t>
        <a:bodyPr/>
        <a:lstStyle/>
        <a:p>
          <a:endParaRPr lang="en-US"/>
        </a:p>
      </dgm:t>
    </dgm:pt>
    <dgm:pt modelId="{9EDB9EBE-A856-4E87-A813-022335CA2DCD}" type="sibTrans" cxnId="{D772EE0E-440D-442A-835C-98A045C1D1AA}">
      <dgm:prSet/>
      <dgm:spPr/>
      <dgm:t>
        <a:bodyPr/>
        <a:lstStyle/>
        <a:p>
          <a:endParaRPr lang="en-US"/>
        </a:p>
      </dgm:t>
    </dgm:pt>
    <dgm:pt modelId="{12A01843-E170-4142-AB05-44557D7BA4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03   </a:t>
          </a:r>
          <a:r>
            <a:rPr lang="en-US" dirty="0"/>
            <a:t>How do their emotions relate to engagement?</a:t>
          </a:r>
        </a:p>
      </dgm:t>
    </dgm:pt>
    <dgm:pt modelId="{3521360C-00AC-4450-AD01-A29CDFC116A2}" type="parTrans" cxnId="{AE08E9E2-1CDD-4CF6-8D14-3C5453F23EA3}">
      <dgm:prSet/>
      <dgm:spPr/>
      <dgm:t>
        <a:bodyPr/>
        <a:lstStyle/>
        <a:p>
          <a:endParaRPr lang="en-US"/>
        </a:p>
      </dgm:t>
    </dgm:pt>
    <dgm:pt modelId="{17456811-C00D-4408-8337-22A45EFE8F20}" type="sibTrans" cxnId="{AE08E9E2-1CDD-4CF6-8D14-3C5453F23EA3}">
      <dgm:prSet/>
      <dgm:spPr/>
      <dgm:t>
        <a:bodyPr/>
        <a:lstStyle/>
        <a:p>
          <a:endParaRPr lang="en-US"/>
        </a:p>
      </dgm:t>
    </dgm:pt>
    <dgm:pt modelId="{31F0696D-76CF-4716-84FA-3F99FFE46E00}" type="pres">
      <dgm:prSet presAssocID="{E803BCA8-77A5-4E1A-8CF7-E6BBCECE08B3}" presName="root" presStyleCnt="0">
        <dgm:presLayoutVars>
          <dgm:dir/>
          <dgm:resizeHandles val="exact"/>
        </dgm:presLayoutVars>
      </dgm:prSet>
      <dgm:spPr/>
    </dgm:pt>
    <dgm:pt modelId="{87C10D9C-26E0-4A8A-BE45-7091ABCD9FD1}" type="pres">
      <dgm:prSet presAssocID="{28C0730F-68EF-4246-A6AC-AD08D20DCFFB}" presName="compNode" presStyleCnt="0"/>
      <dgm:spPr/>
    </dgm:pt>
    <dgm:pt modelId="{8D0A89CF-D886-48FA-A40D-63A05048F036}" type="pres">
      <dgm:prSet presAssocID="{28C0730F-68EF-4246-A6AC-AD08D20DCFF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D8BBAB54-C9A4-42A6-BBCE-A4EEAFEE42A4}" type="pres">
      <dgm:prSet presAssocID="{28C0730F-68EF-4246-A6AC-AD08D20DCFFB}" presName="spaceRect" presStyleCnt="0"/>
      <dgm:spPr/>
    </dgm:pt>
    <dgm:pt modelId="{2186D706-3914-4DDE-9EBA-BC1BEDA60B2D}" type="pres">
      <dgm:prSet presAssocID="{28C0730F-68EF-4246-A6AC-AD08D20DCFFB}" presName="textRect" presStyleLbl="revTx" presStyleIdx="0" presStyleCnt="3">
        <dgm:presLayoutVars>
          <dgm:chMax val="1"/>
          <dgm:chPref val="1"/>
        </dgm:presLayoutVars>
      </dgm:prSet>
      <dgm:spPr/>
    </dgm:pt>
    <dgm:pt modelId="{2B572D8A-8293-4112-BB2C-3E76EC92FF9E}" type="pres">
      <dgm:prSet presAssocID="{BA5CF8A3-3D18-42BA-99F9-30CCA7E3AE56}" presName="sibTrans" presStyleCnt="0"/>
      <dgm:spPr/>
    </dgm:pt>
    <dgm:pt modelId="{5CAFBD0C-CDCF-4153-B482-F0EB3AF1D61A}" type="pres">
      <dgm:prSet presAssocID="{EB79FA56-1E1C-478B-BC84-1D94FBD7F7B6}" presName="compNode" presStyleCnt="0"/>
      <dgm:spPr/>
    </dgm:pt>
    <dgm:pt modelId="{14C6E02D-885C-4F11-BE40-BD602FEE12B8}" type="pres">
      <dgm:prSet presAssocID="{EB79FA56-1E1C-478B-BC84-1D94FBD7F7B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B4B62B4-1BD2-46B8-9639-6779925F8FF1}" type="pres">
      <dgm:prSet presAssocID="{EB79FA56-1E1C-478B-BC84-1D94FBD7F7B6}" presName="spaceRect" presStyleCnt="0"/>
      <dgm:spPr/>
    </dgm:pt>
    <dgm:pt modelId="{BFA222EC-2B8F-4D34-8D22-FDBE59AE59C3}" type="pres">
      <dgm:prSet presAssocID="{EB79FA56-1E1C-478B-BC84-1D94FBD7F7B6}" presName="textRect" presStyleLbl="revTx" presStyleIdx="1" presStyleCnt="3">
        <dgm:presLayoutVars>
          <dgm:chMax val="1"/>
          <dgm:chPref val="1"/>
        </dgm:presLayoutVars>
      </dgm:prSet>
      <dgm:spPr/>
    </dgm:pt>
    <dgm:pt modelId="{ECA35AB2-7799-4D59-8A50-DD2CA77B5C97}" type="pres">
      <dgm:prSet presAssocID="{9EDB9EBE-A856-4E87-A813-022335CA2DCD}" presName="sibTrans" presStyleCnt="0"/>
      <dgm:spPr/>
    </dgm:pt>
    <dgm:pt modelId="{A6ADD030-423D-4EFA-939F-75D012E84D09}" type="pres">
      <dgm:prSet presAssocID="{12A01843-E170-4142-AB05-44557D7BA40D}" presName="compNode" presStyleCnt="0"/>
      <dgm:spPr/>
    </dgm:pt>
    <dgm:pt modelId="{F203DC3F-E9A1-4726-96D9-A9B4FDF0031A}" type="pres">
      <dgm:prSet presAssocID="{12A01843-E170-4142-AB05-44557D7BA40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rz"/>
        </a:ext>
      </dgm:extLst>
    </dgm:pt>
    <dgm:pt modelId="{541DF7A4-057D-4389-87AE-3E25BC5F38F8}" type="pres">
      <dgm:prSet presAssocID="{12A01843-E170-4142-AB05-44557D7BA40D}" presName="spaceRect" presStyleCnt="0"/>
      <dgm:spPr/>
    </dgm:pt>
    <dgm:pt modelId="{394058D9-6A98-4B6D-8CD1-2F8243A18D92}" type="pres">
      <dgm:prSet presAssocID="{12A01843-E170-4142-AB05-44557D7BA40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0A75802-E105-459E-9688-7A8BE444B52F}" type="presOf" srcId="{28C0730F-68EF-4246-A6AC-AD08D20DCFFB}" destId="{2186D706-3914-4DDE-9EBA-BC1BEDA60B2D}" srcOrd="0" destOrd="0" presId="urn:microsoft.com/office/officeart/2018/2/layout/IconLabelList"/>
    <dgm:cxn modelId="{D772EE0E-440D-442A-835C-98A045C1D1AA}" srcId="{E803BCA8-77A5-4E1A-8CF7-E6BBCECE08B3}" destId="{EB79FA56-1E1C-478B-BC84-1D94FBD7F7B6}" srcOrd="1" destOrd="0" parTransId="{A883649E-209C-4EE1-A0B4-6C381118B82F}" sibTransId="{9EDB9EBE-A856-4E87-A813-022335CA2DCD}"/>
    <dgm:cxn modelId="{2F942A82-0BB3-440A-A205-3B5CD3E933C1}" type="presOf" srcId="{E803BCA8-77A5-4E1A-8CF7-E6BBCECE08B3}" destId="{31F0696D-76CF-4716-84FA-3F99FFE46E00}" srcOrd="0" destOrd="0" presId="urn:microsoft.com/office/officeart/2018/2/layout/IconLabelList"/>
    <dgm:cxn modelId="{7BEC87C0-F3AE-4BD5-AFAC-3FDAE7C15BB6}" srcId="{E803BCA8-77A5-4E1A-8CF7-E6BBCECE08B3}" destId="{28C0730F-68EF-4246-A6AC-AD08D20DCFFB}" srcOrd="0" destOrd="0" parTransId="{5D767A80-296F-464C-B156-6654D15B44EA}" sibTransId="{BA5CF8A3-3D18-42BA-99F9-30CCA7E3AE56}"/>
    <dgm:cxn modelId="{AEBAA7C9-FE22-4FC8-8A58-EAEC6270869A}" type="presOf" srcId="{12A01843-E170-4142-AB05-44557D7BA40D}" destId="{394058D9-6A98-4B6D-8CD1-2F8243A18D92}" srcOrd="0" destOrd="0" presId="urn:microsoft.com/office/officeart/2018/2/layout/IconLabelList"/>
    <dgm:cxn modelId="{AE08E9E2-1CDD-4CF6-8D14-3C5453F23EA3}" srcId="{E803BCA8-77A5-4E1A-8CF7-E6BBCECE08B3}" destId="{12A01843-E170-4142-AB05-44557D7BA40D}" srcOrd="2" destOrd="0" parTransId="{3521360C-00AC-4450-AD01-A29CDFC116A2}" sibTransId="{17456811-C00D-4408-8337-22A45EFE8F20}"/>
    <dgm:cxn modelId="{001589E5-FBF1-4537-9F5E-8DA1CA080172}" type="presOf" srcId="{EB79FA56-1E1C-478B-BC84-1D94FBD7F7B6}" destId="{BFA222EC-2B8F-4D34-8D22-FDBE59AE59C3}" srcOrd="0" destOrd="0" presId="urn:microsoft.com/office/officeart/2018/2/layout/IconLabelList"/>
    <dgm:cxn modelId="{034F169F-619D-4C1A-A1D4-6F269F46F058}" type="presParOf" srcId="{31F0696D-76CF-4716-84FA-3F99FFE46E00}" destId="{87C10D9C-26E0-4A8A-BE45-7091ABCD9FD1}" srcOrd="0" destOrd="0" presId="urn:microsoft.com/office/officeart/2018/2/layout/IconLabelList"/>
    <dgm:cxn modelId="{F0D7EB06-D3B1-40F7-BC28-9F5AE0A9C709}" type="presParOf" srcId="{87C10D9C-26E0-4A8A-BE45-7091ABCD9FD1}" destId="{8D0A89CF-D886-48FA-A40D-63A05048F036}" srcOrd="0" destOrd="0" presId="urn:microsoft.com/office/officeart/2018/2/layout/IconLabelList"/>
    <dgm:cxn modelId="{4380253F-06FD-4811-8B01-A4F294A8E6B0}" type="presParOf" srcId="{87C10D9C-26E0-4A8A-BE45-7091ABCD9FD1}" destId="{D8BBAB54-C9A4-42A6-BBCE-A4EEAFEE42A4}" srcOrd="1" destOrd="0" presId="urn:microsoft.com/office/officeart/2018/2/layout/IconLabelList"/>
    <dgm:cxn modelId="{BB196B8E-9EAB-47B4-8D3C-EA63BA2064C2}" type="presParOf" srcId="{87C10D9C-26E0-4A8A-BE45-7091ABCD9FD1}" destId="{2186D706-3914-4DDE-9EBA-BC1BEDA60B2D}" srcOrd="2" destOrd="0" presId="urn:microsoft.com/office/officeart/2018/2/layout/IconLabelList"/>
    <dgm:cxn modelId="{3E26B160-E6AF-4AD3-AB14-F518E4242A18}" type="presParOf" srcId="{31F0696D-76CF-4716-84FA-3F99FFE46E00}" destId="{2B572D8A-8293-4112-BB2C-3E76EC92FF9E}" srcOrd="1" destOrd="0" presId="urn:microsoft.com/office/officeart/2018/2/layout/IconLabelList"/>
    <dgm:cxn modelId="{4B95E1FE-A4D2-461C-B90D-BFBF7C17445E}" type="presParOf" srcId="{31F0696D-76CF-4716-84FA-3F99FFE46E00}" destId="{5CAFBD0C-CDCF-4153-B482-F0EB3AF1D61A}" srcOrd="2" destOrd="0" presId="urn:microsoft.com/office/officeart/2018/2/layout/IconLabelList"/>
    <dgm:cxn modelId="{2EBD6D8C-C219-4F75-A764-3B9A01E38E85}" type="presParOf" srcId="{5CAFBD0C-CDCF-4153-B482-F0EB3AF1D61A}" destId="{14C6E02D-885C-4F11-BE40-BD602FEE12B8}" srcOrd="0" destOrd="0" presId="urn:microsoft.com/office/officeart/2018/2/layout/IconLabelList"/>
    <dgm:cxn modelId="{6FF73BFF-36BB-4CB8-A2DC-DA31E15C9988}" type="presParOf" srcId="{5CAFBD0C-CDCF-4153-B482-F0EB3AF1D61A}" destId="{2B4B62B4-1BD2-46B8-9639-6779925F8FF1}" srcOrd="1" destOrd="0" presId="urn:microsoft.com/office/officeart/2018/2/layout/IconLabelList"/>
    <dgm:cxn modelId="{6DEBE2C7-1E20-442B-BD62-6C6CF7966129}" type="presParOf" srcId="{5CAFBD0C-CDCF-4153-B482-F0EB3AF1D61A}" destId="{BFA222EC-2B8F-4D34-8D22-FDBE59AE59C3}" srcOrd="2" destOrd="0" presId="urn:microsoft.com/office/officeart/2018/2/layout/IconLabelList"/>
    <dgm:cxn modelId="{7EF0961C-2F5D-4387-B8CF-A63EF575B612}" type="presParOf" srcId="{31F0696D-76CF-4716-84FA-3F99FFE46E00}" destId="{ECA35AB2-7799-4D59-8A50-DD2CA77B5C97}" srcOrd="3" destOrd="0" presId="urn:microsoft.com/office/officeart/2018/2/layout/IconLabelList"/>
    <dgm:cxn modelId="{EA174618-FB1D-4D97-BF49-45D6369B5EBD}" type="presParOf" srcId="{31F0696D-76CF-4716-84FA-3F99FFE46E00}" destId="{A6ADD030-423D-4EFA-939F-75D012E84D09}" srcOrd="4" destOrd="0" presId="urn:microsoft.com/office/officeart/2018/2/layout/IconLabelList"/>
    <dgm:cxn modelId="{122AFB34-6ACB-43FF-838C-7FD09B760156}" type="presParOf" srcId="{A6ADD030-423D-4EFA-939F-75D012E84D09}" destId="{F203DC3F-E9A1-4726-96D9-A9B4FDF0031A}" srcOrd="0" destOrd="0" presId="urn:microsoft.com/office/officeart/2018/2/layout/IconLabelList"/>
    <dgm:cxn modelId="{FCCFF85F-A63A-4ED3-9E54-BAFD07A72D65}" type="presParOf" srcId="{A6ADD030-423D-4EFA-939F-75D012E84D09}" destId="{541DF7A4-057D-4389-87AE-3E25BC5F38F8}" srcOrd="1" destOrd="0" presId="urn:microsoft.com/office/officeart/2018/2/layout/IconLabelList"/>
    <dgm:cxn modelId="{1D12994B-E092-4EAE-BA34-99E02126A596}" type="presParOf" srcId="{A6ADD030-423D-4EFA-939F-75D012E84D09}" destId="{394058D9-6A98-4B6D-8CD1-2F8243A18D9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0A89CF-D886-48FA-A40D-63A05048F036}">
      <dsp:nvSpPr>
        <dsp:cNvPr id="0" name=""/>
        <dsp:cNvSpPr/>
      </dsp:nvSpPr>
      <dsp:spPr>
        <a:xfrm>
          <a:off x="3416664" y="271016"/>
          <a:ext cx="620156" cy="6201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6D706-3914-4DDE-9EBA-BC1BEDA60B2D}">
      <dsp:nvSpPr>
        <dsp:cNvPr id="0" name=""/>
        <dsp:cNvSpPr/>
      </dsp:nvSpPr>
      <dsp:spPr>
        <a:xfrm>
          <a:off x="3037679" y="1097973"/>
          <a:ext cx="1378124" cy="55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01   </a:t>
          </a:r>
          <a:r>
            <a:rPr lang="en-US" sz="1100" kern="1200"/>
            <a:t>How do employees feel?</a:t>
          </a:r>
        </a:p>
      </dsp:txBody>
      <dsp:txXfrm>
        <a:off x="3037679" y="1097973"/>
        <a:ext cx="1378124" cy="551250"/>
      </dsp:txXfrm>
    </dsp:sp>
    <dsp:sp modelId="{14C6E02D-885C-4F11-BE40-BD602FEE12B8}">
      <dsp:nvSpPr>
        <dsp:cNvPr id="0" name=""/>
        <dsp:cNvSpPr/>
      </dsp:nvSpPr>
      <dsp:spPr>
        <a:xfrm>
          <a:off x="5035960" y="271016"/>
          <a:ext cx="620156" cy="6201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222EC-2B8F-4D34-8D22-FDBE59AE59C3}">
      <dsp:nvSpPr>
        <dsp:cNvPr id="0" name=""/>
        <dsp:cNvSpPr/>
      </dsp:nvSpPr>
      <dsp:spPr>
        <a:xfrm>
          <a:off x="4656976" y="1097973"/>
          <a:ext cx="1378124" cy="55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02   </a:t>
          </a:r>
          <a:r>
            <a:rPr lang="en-US" sz="1100" kern="1200"/>
            <a:t>What are employees talking about?</a:t>
          </a:r>
        </a:p>
      </dsp:txBody>
      <dsp:txXfrm>
        <a:off x="4656976" y="1097973"/>
        <a:ext cx="1378124" cy="551250"/>
      </dsp:txXfrm>
    </dsp:sp>
    <dsp:sp modelId="{F203DC3F-E9A1-4726-96D9-A9B4FDF0031A}">
      <dsp:nvSpPr>
        <dsp:cNvPr id="0" name=""/>
        <dsp:cNvSpPr/>
      </dsp:nvSpPr>
      <dsp:spPr>
        <a:xfrm>
          <a:off x="6655257" y="271016"/>
          <a:ext cx="620156" cy="6201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4058D9-6A98-4B6D-8CD1-2F8243A18D92}">
      <dsp:nvSpPr>
        <dsp:cNvPr id="0" name=""/>
        <dsp:cNvSpPr/>
      </dsp:nvSpPr>
      <dsp:spPr>
        <a:xfrm>
          <a:off x="6276273" y="1097973"/>
          <a:ext cx="1378124" cy="55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03   </a:t>
          </a:r>
          <a:r>
            <a:rPr lang="en-US" sz="1100" kern="1200" dirty="0"/>
            <a:t>How do their emotions relate to engagement?</a:t>
          </a:r>
        </a:p>
      </dsp:txBody>
      <dsp:txXfrm>
        <a:off x="6276273" y="1097973"/>
        <a:ext cx="1378124" cy="551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50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ptos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ptos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ptos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ptos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ptos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ptos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ptos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ptos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ptos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26E8-30B5-94C5-BC83-7C65FAC6E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BF3D0-30EF-AD57-7286-F0A324A12D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46ABA-8196-9EE3-5C56-B85FFE713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FF2E7-1873-6D52-B609-5B4B97473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28004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My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project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called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ELFI — Emotional &amp; Latent Feedback Interpretation.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endParaRPr lang="de-DE" sz="1200" b="0" i="0" kern="1200" dirty="0">
              <a:solidFill>
                <a:schemeClr val="tx1"/>
              </a:solidFill>
              <a:effectLst/>
              <a:latin typeface="Aptos"/>
              <a:ea typeface="+mn-ea"/>
              <a:cs typeface="+mn-cs"/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ELFI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designed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to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answer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three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questions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:</a:t>
            </a:r>
          </a:p>
          <a:p>
            <a:pPr fontAlgn="t"/>
            <a:endParaRPr lang="de-DE" sz="1200" b="0" i="0" kern="1200" dirty="0">
              <a:solidFill>
                <a:schemeClr val="tx1"/>
              </a:solidFill>
              <a:effectLst/>
              <a:latin typeface="Aptos"/>
              <a:ea typeface="+mn-ea"/>
              <a:cs typeface="+mn-cs"/>
            </a:endParaRPr>
          </a:p>
          <a:p>
            <a:pPr fontAlgn="t"/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How do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employees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feel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?</a:t>
            </a:r>
          </a:p>
          <a:p>
            <a:pPr fontAlgn="t"/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What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employees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talking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about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?</a:t>
            </a:r>
          </a:p>
          <a:p>
            <a:pPr fontAlgn="t"/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And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how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do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those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emotions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relate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to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engagement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?</a:t>
            </a:r>
          </a:p>
          <a:p>
            <a:pPr fontAlgn="t"/>
            <a:endParaRPr lang="de-DE" sz="1200" b="0" i="0" kern="1200" dirty="0">
              <a:solidFill>
                <a:schemeClr val="tx1"/>
              </a:solidFill>
              <a:effectLst/>
              <a:latin typeface="Aptos"/>
              <a:ea typeface="+mn-ea"/>
              <a:cs typeface="+mn-cs"/>
            </a:endParaRPr>
          </a:p>
          <a:p>
            <a:pPr fontAlgn="t"/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main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idea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to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transform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open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survey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comments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into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structured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analytical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layer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can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be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used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in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dashboard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things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wrong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the </a:t>
            </a:r>
            <a:r>
              <a:rPr lang="de-DE" dirty="0" err="1"/>
              <a:t>status</a:t>
            </a:r>
            <a:r>
              <a:rPr lang="de-DE" dirty="0"/>
              <a:t> quo.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First, </a:t>
            </a:r>
            <a:r>
              <a:rPr lang="de-DE" dirty="0" err="1"/>
              <a:t>free</a:t>
            </a:r>
            <a:r>
              <a:rPr lang="de-DE" dirty="0"/>
              <a:t>-text </a:t>
            </a:r>
            <a:r>
              <a:rPr lang="de-DE" dirty="0" err="1"/>
              <a:t>comments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read</a:t>
            </a:r>
            <a:r>
              <a:rPr lang="de-DE" dirty="0"/>
              <a:t>, but not </a:t>
            </a:r>
            <a:r>
              <a:rPr lang="de-DE" dirty="0" err="1"/>
              <a:t>analysed</a:t>
            </a:r>
            <a:r>
              <a:rPr lang="de-DE" dirty="0"/>
              <a:t> </a:t>
            </a:r>
            <a:r>
              <a:rPr lang="de-DE" dirty="0" err="1"/>
              <a:t>systematically</a:t>
            </a:r>
            <a:r>
              <a:rPr lang="de-DE" dirty="0"/>
              <a:t>. A </a:t>
            </a:r>
            <a:r>
              <a:rPr lang="de-DE" dirty="0" err="1"/>
              <a:t>lot</a:t>
            </a:r>
            <a:r>
              <a:rPr lang="de-DE" dirty="0"/>
              <a:t> of </a:t>
            </a:r>
            <a:r>
              <a:rPr lang="de-DE" dirty="0" err="1"/>
              <a:t>valuable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remains</a:t>
            </a:r>
            <a:r>
              <a:rPr lang="de-DE" dirty="0"/>
              <a:t> </a:t>
            </a:r>
            <a:r>
              <a:rPr lang="de-DE" dirty="0" err="1"/>
              <a:t>hidden</a:t>
            </a:r>
            <a:r>
              <a:rPr lang="de-DE" dirty="0"/>
              <a:t> in the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corpus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Second,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unit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sees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own </a:t>
            </a:r>
            <a:r>
              <a:rPr lang="de-DE" dirty="0" err="1"/>
              <a:t>comments</a:t>
            </a:r>
            <a:r>
              <a:rPr lang="de-DE" dirty="0"/>
              <a:t> and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generalise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small </a:t>
            </a:r>
            <a:r>
              <a:rPr lang="de-DE" dirty="0" err="1"/>
              <a:t>local</a:t>
            </a:r>
            <a:r>
              <a:rPr lang="de-DE" dirty="0"/>
              <a:t> sample. It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difficult</a:t>
            </a:r>
            <a:r>
              <a:rPr lang="de-DE" dirty="0"/>
              <a:t> to </a:t>
            </a:r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whether</a:t>
            </a:r>
            <a:r>
              <a:rPr lang="de-DE" dirty="0"/>
              <a:t> a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organisation-</a:t>
            </a:r>
            <a:r>
              <a:rPr lang="de-DE" dirty="0" err="1"/>
              <a:t>wide</a:t>
            </a:r>
            <a:r>
              <a:rPr lang="de-DE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Third,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scores</a:t>
            </a:r>
            <a:r>
              <a:rPr lang="de-DE" dirty="0"/>
              <a:t> </a:t>
            </a:r>
            <a:r>
              <a:rPr lang="de-DE" dirty="0" err="1"/>
              <a:t>tell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changed</a:t>
            </a:r>
            <a:r>
              <a:rPr lang="de-DE" dirty="0"/>
              <a:t>, but not </a:t>
            </a:r>
            <a:r>
              <a:rPr lang="de-DE" dirty="0" err="1"/>
              <a:t>why</a:t>
            </a:r>
            <a:r>
              <a:rPr lang="de-DE" dirty="0"/>
              <a:t> it </a:t>
            </a:r>
            <a:r>
              <a:rPr lang="de-DE" dirty="0" err="1"/>
              <a:t>changed</a:t>
            </a:r>
            <a:r>
              <a:rPr lang="de-DE" dirty="0"/>
              <a:t>. The </a:t>
            </a:r>
            <a:r>
              <a:rPr lang="de-DE" dirty="0" err="1"/>
              <a:t>explanation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sits</a:t>
            </a:r>
            <a:r>
              <a:rPr lang="de-DE" dirty="0"/>
              <a:t> in the </a:t>
            </a:r>
            <a:r>
              <a:rPr lang="de-DE" dirty="0" err="1"/>
              <a:t>comments</a:t>
            </a:r>
            <a:r>
              <a:rPr lang="de-DE" dirty="0"/>
              <a:t>, but the </a:t>
            </a:r>
            <a:r>
              <a:rPr lang="de-DE" dirty="0" err="1"/>
              <a:t>comments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rarely</a:t>
            </a:r>
            <a:r>
              <a:rPr lang="de-DE" dirty="0"/>
              <a:t> </a:t>
            </a:r>
            <a:r>
              <a:rPr lang="de-DE" dirty="0" err="1"/>
              <a:t>linked</a:t>
            </a:r>
            <a:r>
              <a:rPr lang="de-DE" dirty="0"/>
              <a:t> back to the </a:t>
            </a:r>
            <a:r>
              <a:rPr lang="de-DE" dirty="0" err="1"/>
              <a:t>scores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r>
              <a:rPr lang="de-DE" dirty="0"/>
              <a:t>ELFI </a:t>
            </a:r>
            <a:r>
              <a:rPr lang="de-DE" dirty="0" err="1"/>
              <a:t>addresses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by </a:t>
            </a:r>
            <a:r>
              <a:rPr lang="de-DE" dirty="0" err="1"/>
              <a:t>turning</a:t>
            </a:r>
            <a:r>
              <a:rPr lang="de-DE" dirty="0"/>
              <a:t> </a:t>
            </a:r>
            <a:r>
              <a:rPr lang="de-DE" dirty="0" err="1"/>
              <a:t>comments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structured</a:t>
            </a:r>
            <a:r>
              <a:rPr lang="de-DE" dirty="0"/>
              <a:t>, </a:t>
            </a:r>
            <a:r>
              <a:rPr lang="de-DE" dirty="0" err="1"/>
              <a:t>comparable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analysed</a:t>
            </a:r>
            <a:r>
              <a:rPr lang="de-DE" dirty="0"/>
              <a:t> by </a:t>
            </a:r>
            <a:r>
              <a:rPr lang="de-DE" dirty="0" err="1"/>
              <a:t>unit</a:t>
            </a:r>
            <a:r>
              <a:rPr lang="de-DE" dirty="0"/>
              <a:t>, </a:t>
            </a:r>
            <a:r>
              <a:rPr lang="de-DE" dirty="0" err="1"/>
              <a:t>topic</a:t>
            </a:r>
            <a:r>
              <a:rPr lang="de-DE" dirty="0"/>
              <a:t> and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Most </a:t>
            </a:r>
            <a:r>
              <a:rPr lang="de-DE" dirty="0" err="1"/>
              <a:t>sentiment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classify</a:t>
            </a:r>
            <a:r>
              <a:rPr lang="de-DE" dirty="0"/>
              <a:t> </a:t>
            </a:r>
            <a:r>
              <a:rPr lang="de-DE" dirty="0" err="1"/>
              <a:t>comments</a:t>
            </a:r>
            <a:r>
              <a:rPr lang="de-DE" dirty="0"/>
              <a:t> as positive, neutral </a:t>
            </a:r>
            <a:r>
              <a:rPr lang="de-DE" dirty="0" err="1"/>
              <a:t>or</a:t>
            </a:r>
            <a:r>
              <a:rPr lang="de-DE" dirty="0"/>
              <a:t> negative.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For </a:t>
            </a:r>
            <a:r>
              <a:rPr lang="de-DE" dirty="0" err="1"/>
              <a:t>employee</a:t>
            </a:r>
            <a:r>
              <a:rPr lang="de-DE" dirty="0"/>
              <a:t> </a:t>
            </a:r>
            <a:r>
              <a:rPr lang="de-DE" dirty="0" err="1"/>
              <a:t>feedback</a:t>
            </a:r>
            <a:r>
              <a:rPr lang="de-DE" dirty="0"/>
              <a:t>,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coarse</a:t>
            </a:r>
            <a:r>
              <a:rPr lang="de-DE" dirty="0"/>
              <a:t>. A negative </a:t>
            </a:r>
            <a:r>
              <a:rPr lang="de-DE" dirty="0" err="1"/>
              <a:t>comment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express </a:t>
            </a:r>
            <a:r>
              <a:rPr lang="de-DE" dirty="0" err="1"/>
              <a:t>anger</a:t>
            </a:r>
            <a:r>
              <a:rPr lang="de-DE" dirty="0"/>
              <a:t>, </a:t>
            </a:r>
            <a:r>
              <a:rPr lang="de-DE" dirty="0" err="1"/>
              <a:t>uncertainty</a:t>
            </a:r>
            <a:r>
              <a:rPr lang="de-DE" dirty="0"/>
              <a:t>, </a:t>
            </a:r>
            <a:r>
              <a:rPr lang="de-DE" dirty="0" err="1"/>
              <a:t>frustration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exhaustion</a:t>
            </a:r>
            <a:r>
              <a:rPr lang="de-DE" dirty="0"/>
              <a:t>, and </a:t>
            </a:r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states</a:t>
            </a:r>
            <a:r>
              <a:rPr lang="de-DE" dirty="0"/>
              <a:t> </a:t>
            </a:r>
            <a:r>
              <a:rPr lang="de-DE" dirty="0" err="1"/>
              <a:t>require</a:t>
            </a:r>
            <a:r>
              <a:rPr lang="de-DE" dirty="0"/>
              <a:t> different organisational </a:t>
            </a:r>
            <a:r>
              <a:rPr lang="de-DE" dirty="0" err="1"/>
              <a:t>responses</a:t>
            </a:r>
            <a:r>
              <a:rPr lang="de-DE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why</a:t>
            </a:r>
            <a:r>
              <a:rPr lang="de-DE" dirty="0"/>
              <a:t> I </a:t>
            </a:r>
            <a:r>
              <a:rPr lang="de-DE" dirty="0" err="1"/>
              <a:t>use</a:t>
            </a:r>
            <a:r>
              <a:rPr lang="de-DE" dirty="0"/>
              <a:t> Lisa Feldman </a:t>
            </a:r>
            <a:r>
              <a:rPr lang="de-DE" dirty="0" err="1"/>
              <a:t>Barrett’s</a:t>
            </a:r>
            <a:r>
              <a:rPr lang="de-DE" dirty="0"/>
              <a:t> Theory of </a:t>
            </a:r>
            <a:r>
              <a:rPr lang="de-DE" dirty="0" err="1"/>
              <a:t>Constructed</a:t>
            </a:r>
            <a:r>
              <a:rPr lang="de-DE" dirty="0"/>
              <a:t> Emotion as the </a:t>
            </a:r>
            <a:r>
              <a:rPr lang="de-DE" dirty="0" err="1"/>
              <a:t>conceptual</a:t>
            </a:r>
            <a:r>
              <a:rPr lang="de-DE" dirty="0"/>
              <a:t> </a:t>
            </a:r>
            <a:r>
              <a:rPr lang="de-DE" dirty="0" err="1"/>
              <a:t>foundation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Instead</a:t>
            </a:r>
            <a:r>
              <a:rPr lang="de-DE" dirty="0"/>
              <a:t> of </a:t>
            </a:r>
            <a:r>
              <a:rPr lang="de-DE" dirty="0" err="1"/>
              <a:t>fixed</a:t>
            </a:r>
            <a:r>
              <a:rPr lang="de-DE" dirty="0"/>
              <a:t> </a:t>
            </a:r>
            <a:r>
              <a:rPr lang="de-DE" dirty="0" err="1"/>
              <a:t>emotion</a:t>
            </a:r>
            <a:r>
              <a:rPr lang="de-DE" dirty="0"/>
              <a:t> </a:t>
            </a:r>
            <a:r>
              <a:rPr lang="de-DE" dirty="0" err="1"/>
              <a:t>categories</a:t>
            </a:r>
            <a:r>
              <a:rPr lang="de-DE" dirty="0"/>
              <a:t>, I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dimensions</a:t>
            </a:r>
            <a:r>
              <a:rPr lang="de-DE" dirty="0"/>
              <a:t>:</a:t>
            </a:r>
          </a:p>
          <a:p>
            <a:r>
              <a:rPr lang="de-DE" b="1" dirty="0"/>
              <a:t>	Valence:</a:t>
            </a:r>
            <a:r>
              <a:rPr lang="de-DE" dirty="0"/>
              <a:t> </a:t>
            </a:r>
            <a:r>
              <a:rPr lang="de-DE" dirty="0" err="1"/>
              <a:t>describes</a:t>
            </a:r>
            <a:r>
              <a:rPr lang="de-DE" dirty="0"/>
              <a:t> the </a:t>
            </a:r>
            <a:r>
              <a:rPr lang="de-DE" dirty="0" err="1"/>
              <a:t>hedonic</a:t>
            </a:r>
            <a:r>
              <a:rPr lang="de-DE" dirty="0"/>
              <a:t> </a:t>
            </a:r>
            <a:r>
              <a:rPr lang="de-DE" dirty="0" err="1"/>
              <a:t>experience</a:t>
            </a:r>
            <a:r>
              <a:rPr lang="de-DE" dirty="0"/>
              <a:t>. It </a:t>
            </a:r>
            <a:r>
              <a:rPr lang="de-DE" dirty="0" err="1"/>
              <a:t>ranges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unpleasant</a:t>
            </a:r>
            <a:r>
              <a:rPr lang="de-DE" dirty="0"/>
              <a:t> (</a:t>
            </a:r>
            <a:r>
              <a:rPr lang="de-DE" dirty="0" err="1"/>
              <a:t>displeasure</a:t>
            </a:r>
            <a:r>
              <a:rPr lang="de-DE" dirty="0"/>
              <a:t>) to </a:t>
            </a:r>
            <a:r>
              <a:rPr lang="de-DE" dirty="0" err="1"/>
              <a:t>pleasant</a:t>
            </a:r>
            <a:r>
              <a:rPr lang="de-DE" dirty="0"/>
              <a:t> (</a:t>
            </a:r>
            <a:r>
              <a:rPr lang="de-DE" dirty="0" err="1"/>
              <a:t>pleasure</a:t>
            </a:r>
            <a:r>
              <a:rPr lang="de-DE" dirty="0"/>
              <a:t>). It </a:t>
            </a:r>
            <a:r>
              <a:rPr lang="de-DE" dirty="0" err="1"/>
              <a:t>is</a:t>
            </a:r>
            <a:r>
              <a:rPr lang="de-DE" dirty="0"/>
              <a:t> the fundamental </a:t>
            </a:r>
            <a:r>
              <a:rPr lang="de-DE" dirty="0" err="1"/>
              <a:t>classification</a:t>
            </a:r>
            <a:r>
              <a:rPr lang="de-DE" dirty="0"/>
              <a:t> of 	</a:t>
            </a:r>
            <a:r>
              <a:rPr lang="de-DE" dirty="0" err="1"/>
              <a:t>whether</a:t>
            </a:r>
            <a:r>
              <a:rPr lang="de-DE" dirty="0"/>
              <a:t> a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feels</a:t>
            </a:r>
            <a:r>
              <a:rPr lang="de-DE" dirty="0"/>
              <a:t>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bad</a:t>
            </a:r>
            <a:r>
              <a:rPr lang="de-DE" dirty="0"/>
              <a:t> in the </a:t>
            </a:r>
            <a:r>
              <a:rPr lang="de-DE" dirty="0" err="1"/>
              <a:t>moment</a:t>
            </a:r>
            <a:r>
              <a:rPr lang="de-DE" dirty="0"/>
              <a:t>.</a:t>
            </a:r>
          </a:p>
          <a:p>
            <a:r>
              <a:rPr lang="de-DE" b="1" dirty="0"/>
              <a:t>	Arousal:</a:t>
            </a:r>
            <a:r>
              <a:rPr lang="de-DE" dirty="0"/>
              <a:t> The </a:t>
            </a:r>
            <a:r>
              <a:rPr lang="de-DE" dirty="0" err="1"/>
              <a:t>vertical</a:t>
            </a:r>
            <a:r>
              <a:rPr lang="de-DE" dirty="0"/>
              <a:t> </a:t>
            </a:r>
            <a:r>
              <a:rPr lang="de-DE" dirty="0" err="1"/>
              <a:t>axis</a:t>
            </a:r>
            <a:r>
              <a:rPr lang="de-DE" dirty="0"/>
              <a:t> </a:t>
            </a:r>
            <a:r>
              <a:rPr lang="de-DE" dirty="0" err="1"/>
              <a:t>describes</a:t>
            </a:r>
            <a:r>
              <a:rPr lang="de-DE" dirty="0"/>
              <a:t> the </a:t>
            </a:r>
            <a:r>
              <a:rPr lang="de-DE" dirty="0" err="1"/>
              <a:t>neural</a:t>
            </a:r>
            <a:r>
              <a:rPr lang="de-DE" dirty="0"/>
              <a:t> and </a:t>
            </a:r>
            <a:r>
              <a:rPr lang="de-DE" dirty="0" err="1"/>
              <a:t>physiological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. It </a:t>
            </a:r>
            <a:r>
              <a:rPr lang="de-DE" dirty="0" err="1"/>
              <a:t>ranges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low </a:t>
            </a:r>
            <a:r>
              <a:rPr lang="de-DE" dirty="0" err="1"/>
              <a:t>activation</a:t>
            </a:r>
            <a:r>
              <a:rPr lang="de-DE" dirty="0"/>
              <a:t> (</a:t>
            </a:r>
            <a:r>
              <a:rPr lang="de-DE" dirty="0" err="1"/>
              <a:t>calm</a:t>
            </a:r>
            <a:r>
              <a:rPr lang="de-DE" dirty="0"/>
              <a:t>, </a:t>
            </a:r>
            <a:r>
              <a:rPr lang="de-DE" dirty="0" err="1"/>
              <a:t>sleepy</a:t>
            </a:r>
            <a:r>
              <a:rPr lang="de-DE" dirty="0"/>
              <a:t>, still) to high </a:t>
            </a:r>
            <a:r>
              <a:rPr lang="de-DE" dirty="0" err="1"/>
              <a:t>activation</a:t>
            </a:r>
            <a:r>
              <a:rPr lang="de-DE" dirty="0"/>
              <a:t> (</a:t>
            </a:r>
            <a:r>
              <a:rPr lang="de-DE" dirty="0" err="1"/>
              <a:t>excited</a:t>
            </a:r>
            <a:r>
              <a:rPr lang="de-DE" dirty="0"/>
              <a:t>, </a:t>
            </a:r>
            <a:r>
              <a:rPr lang="de-DE" dirty="0" err="1"/>
              <a:t>tense</a:t>
            </a:r>
            <a:r>
              <a:rPr lang="de-DE" dirty="0"/>
              <a:t>, </a:t>
            </a:r>
            <a:r>
              <a:rPr lang="de-DE" dirty="0" err="1"/>
              <a:t>fidgety</a:t>
            </a:r>
            <a:r>
              <a:rPr lang="de-DE" dirty="0"/>
              <a:t>).</a:t>
            </a:r>
            <a:br>
              <a:rPr lang="de-DE" dirty="0"/>
            </a:br>
            <a:endParaRPr lang="de-DE" dirty="0"/>
          </a:p>
          <a:p>
            <a:r>
              <a:rPr lang="de-DE" sz="1200" b="0" u="none" strike="noStrike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Das ist der sogenannte 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Kernaffekt</a:t>
            </a:r>
            <a:r>
              <a:rPr lang="de-DE" dirty="0"/>
              <a:t> (Core </a:t>
            </a:r>
            <a:r>
              <a:rPr lang="de-DE" dirty="0" err="1"/>
              <a:t>Affect</a:t>
            </a:r>
            <a:r>
              <a:rPr lang="de-DE" dirty="0"/>
              <a:t>) aus dem </a:t>
            </a:r>
            <a:r>
              <a:rPr lang="de-DE" sz="1200" b="1" u="none" strike="noStrike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Circumplex</a:t>
            </a:r>
            <a:r>
              <a:rPr lang="de-DE" sz="1200" b="1" u="none" strike="noStrike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-Modell</a:t>
            </a:r>
            <a:r>
              <a:rPr lang="de-DE" dirty="0"/>
              <a:t> des Psychologen James Russell.</a:t>
            </a:r>
          </a:p>
          <a:p>
            <a:endParaRPr lang="de-DE" dirty="0"/>
          </a:p>
          <a:p>
            <a:r>
              <a:rPr lang="de-DE" dirty="0"/>
              <a:t>This </a:t>
            </a:r>
            <a:r>
              <a:rPr lang="de-DE" dirty="0" err="1"/>
              <a:t>later</a:t>
            </a:r>
            <a:r>
              <a:rPr lang="de-DE" dirty="0"/>
              <a:t> </a:t>
            </a:r>
            <a:r>
              <a:rPr lang="de-DE" dirty="0" err="1"/>
              <a:t>becomes</a:t>
            </a:r>
            <a:r>
              <a:rPr lang="de-DE" dirty="0"/>
              <a:t> the Core </a:t>
            </a:r>
            <a:r>
              <a:rPr lang="de-DE" dirty="0" err="1"/>
              <a:t>Affect</a:t>
            </a:r>
            <a:r>
              <a:rPr lang="de-DE" dirty="0"/>
              <a:t> </a:t>
            </a:r>
            <a:r>
              <a:rPr lang="de-DE" dirty="0" err="1"/>
              <a:t>Map</a:t>
            </a:r>
            <a:r>
              <a:rPr lang="de-DE" dirty="0"/>
              <a:t> in the </a:t>
            </a:r>
            <a:r>
              <a:rPr lang="de-DE" dirty="0" err="1"/>
              <a:t>dashboard</a:t>
            </a:r>
            <a:r>
              <a:rPr lang="de-DE" dirty="0"/>
              <a:t>.</a:t>
            </a:r>
          </a:p>
          <a:p>
            <a:pPr fontAlgn="t"/>
            <a:endParaRPr lang="de-DE" sz="1200" b="0" i="0" kern="1200" dirty="0">
              <a:solidFill>
                <a:schemeClr val="tx1"/>
              </a:solidFill>
              <a:effectLst/>
              <a:latin typeface="Aptos"/>
              <a:ea typeface="+mn-ea"/>
              <a:cs typeface="+mn-cs"/>
            </a:endParaRPr>
          </a:p>
          <a:p>
            <a:pPr fontAlgn="t"/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--</a:t>
            </a:r>
          </a:p>
          <a:p>
            <a:pPr fontAlgn="t"/>
            <a:endParaRPr lang="de-DE" sz="1200" b="0" i="0" kern="1200" dirty="0">
              <a:solidFill>
                <a:schemeClr val="tx1"/>
              </a:solidFill>
              <a:effectLst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Explanation – </a:t>
            </a:r>
            <a:r>
              <a:rPr lang="de-DE" b="1" dirty="0" err="1"/>
              <a:t>when</a:t>
            </a:r>
            <a:r>
              <a:rPr lang="de-DE" b="1" dirty="0"/>
              <a:t> s.o. </a:t>
            </a:r>
            <a:r>
              <a:rPr lang="de-DE" b="1" dirty="0" err="1"/>
              <a:t>asks</a:t>
            </a:r>
            <a:endParaRPr lang="de-DE" b="1" dirty="0"/>
          </a:p>
          <a:p>
            <a:r>
              <a:rPr lang="de-DE" b="1" dirty="0"/>
              <a:t>Valence:</a:t>
            </a:r>
            <a:r>
              <a:rPr lang="de-DE" dirty="0"/>
              <a:t> The horizontal </a:t>
            </a:r>
            <a:r>
              <a:rPr lang="de-DE" dirty="0" err="1"/>
              <a:t>axis</a:t>
            </a:r>
            <a:r>
              <a:rPr lang="de-DE" dirty="0"/>
              <a:t> </a:t>
            </a:r>
            <a:r>
              <a:rPr lang="de-DE" dirty="0" err="1"/>
              <a:t>describes</a:t>
            </a:r>
            <a:r>
              <a:rPr lang="de-DE" dirty="0"/>
              <a:t> the </a:t>
            </a:r>
            <a:r>
              <a:rPr lang="de-DE" dirty="0" err="1"/>
              <a:t>hedonic</a:t>
            </a:r>
            <a:r>
              <a:rPr lang="de-DE" dirty="0"/>
              <a:t> </a:t>
            </a:r>
            <a:r>
              <a:rPr lang="de-DE" dirty="0" err="1"/>
              <a:t>experience</a:t>
            </a:r>
            <a:r>
              <a:rPr lang="de-DE" dirty="0"/>
              <a:t>. It </a:t>
            </a:r>
            <a:r>
              <a:rPr lang="de-DE" dirty="0" err="1"/>
              <a:t>ranges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unpleasant</a:t>
            </a:r>
            <a:r>
              <a:rPr lang="de-DE" dirty="0"/>
              <a:t> (</a:t>
            </a:r>
            <a:r>
              <a:rPr lang="de-DE" dirty="0" err="1"/>
              <a:t>displeasure</a:t>
            </a:r>
            <a:r>
              <a:rPr lang="de-DE" dirty="0"/>
              <a:t>) to </a:t>
            </a:r>
            <a:r>
              <a:rPr lang="de-DE" dirty="0" err="1"/>
              <a:t>pleasant</a:t>
            </a:r>
            <a:r>
              <a:rPr lang="de-DE" dirty="0"/>
              <a:t> (</a:t>
            </a:r>
            <a:r>
              <a:rPr lang="de-DE" dirty="0" err="1"/>
              <a:t>pleasure</a:t>
            </a:r>
            <a:r>
              <a:rPr lang="de-DE" dirty="0"/>
              <a:t>). It </a:t>
            </a:r>
            <a:r>
              <a:rPr lang="de-DE" dirty="0" err="1"/>
              <a:t>is</a:t>
            </a:r>
            <a:r>
              <a:rPr lang="de-DE" dirty="0"/>
              <a:t> the fundamental </a:t>
            </a:r>
            <a:r>
              <a:rPr lang="de-DE" dirty="0" err="1"/>
              <a:t>classification</a:t>
            </a:r>
            <a:r>
              <a:rPr lang="de-DE" dirty="0"/>
              <a:t> of </a:t>
            </a:r>
            <a:r>
              <a:rPr lang="de-DE" dirty="0" err="1"/>
              <a:t>whether</a:t>
            </a:r>
            <a:r>
              <a:rPr lang="de-DE" dirty="0"/>
              <a:t> a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feels</a:t>
            </a:r>
            <a:r>
              <a:rPr lang="de-DE" dirty="0"/>
              <a:t>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bad</a:t>
            </a:r>
            <a:r>
              <a:rPr lang="de-DE" dirty="0"/>
              <a:t> in the </a:t>
            </a:r>
            <a:r>
              <a:rPr lang="de-DE" dirty="0" err="1"/>
              <a:t>moment</a:t>
            </a:r>
            <a:r>
              <a:rPr lang="de-DE" dirty="0"/>
              <a:t>.</a:t>
            </a:r>
          </a:p>
          <a:p>
            <a:r>
              <a:rPr lang="de-DE" b="1" dirty="0"/>
              <a:t>Arousal:</a:t>
            </a:r>
            <a:r>
              <a:rPr lang="de-DE" dirty="0"/>
              <a:t> The </a:t>
            </a:r>
            <a:r>
              <a:rPr lang="de-DE" dirty="0" err="1"/>
              <a:t>vertical</a:t>
            </a:r>
            <a:r>
              <a:rPr lang="de-DE" dirty="0"/>
              <a:t> </a:t>
            </a:r>
            <a:r>
              <a:rPr lang="de-DE" dirty="0" err="1"/>
              <a:t>axis</a:t>
            </a:r>
            <a:r>
              <a:rPr lang="de-DE" dirty="0"/>
              <a:t> </a:t>
            </a:r>
            <a:r>
              <a:rPr lang="de-DE" dirty="0" err="1"/>
              <a:t>describes</a:t>
            </a:r>
            <a:r>
              <a:rPr lang="de-DE" dirty="0"/>
              <a:t> the </a:t>
            </a:r>
            <a:r>
              <a:rPr lang="de-DE" dirty="0" err="1"/>
              <a:t>neural</a:t>
            </a:r>
            <a:r>
              <a:rPr lang="de-DE" dirty="0"/>
              <a:t> and </a:t>
            </a:r>
            <a:r>
              <a:rPr lang="de-DE" dirty="0" err="1"/>
              <a:t>physiological</a:t>
            </a:r>
            <a:r>
              <a:rPr lang="de-DE" dirty="0"/>
              <a:t> </a:t>
            </a:r>
            <a:r>
              <a:rPr lang="de-DE" dirty="0" err="1"/>
              <a:t>energy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. It </a:t>
            </a:r>
            <a:r>
              <a:rPr lang="de-DE" dirty="0" err="1"/>
              <a:t>ranges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low </a:t>
            </a:r>
            <a:r>
              <a:rPr lang="de-DE" dirty="0" err="1"/>
              <a:t>activation</a:t>
            </a:r>
            <a:r>
              <a:rPr lang="de-DE" dirty="0"/>
              <a:t> (</a:t>
            </a:r>
            <a:r>
              <a:rPr lang="de-DE" dirty="0" err="1"/>
              <a:t>calm</a:t>
            </a:r>
            <a:r>
              <a:rPr lang="de-DE" dirty="0"/>
              <a:t>, </a:t>
            </a:r>
            <a:r>
              <a:rPr lang="de-DE" dirty="0" err="1"/>
              <a:t>sleepy</a:t>
            </a:r>
            <a:r>
              <a:rPr lang="de-DE" dirty="0"/>
              <a:t>, still) to high </a:t>
            </a:r>
            <a:r>
              <a:rPr lang="de-DE" dirty="0" err="1"/>
              <a:t>activation</a:t>
            </a:r>
            <a:r>
              <a:rPr lang="de-DE" dirty="0"/>
              <a:t> (</a:t>
            </a:r>
            <a:r>
              <a:rPr lang="de-DE" dirty="0" err="1"/>
              <a:t>excited</a:t>
            </a:r>
            <a:r>
              <a:rPr lang="de-DE" dirty="0"/>
              <a:t>, </a:t>
            </a:r>
            <a:r>
              <a:rPr lang="de-DE" dirty="0" err="1"/>
              <a:t>tense</a:t>
            </a:r>
            <a:r>
              <a:rPr lang="de-DE" dirty="0"/>
              <a:t>, </a:t>
            </a:r>
            <a:r>
              <a:rPr lang="de-DE" dirty="0" err="1"/>
              <a:t>fidgety</a:t>
            </a:r>
            <a:r>
              <a:rPr lang="de-DE" dirty="0"/>
              <a:t>).</a:t>
            </a:r>
          </a:p>
          <a:p>
            <a:r>
              <a:rPr lang="de-DE" dirty="0" err="1"/>
              <a:t>Together</a:t>
            </a:r>
            <a:r>
              <a:rPr lang="de-DE" dirty="0"/>
              <a:t>,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axes</a:t>
            </a:r>
            <a:r>
              <a:rPr lang="de-DE" dirty="0"/>
              <a:t> form the </a:t>
            </a:r>
            <a:r>
              <a:rPr lang="de-DE" dirty="0" err="1"/>
              <a:t>Circumplex</a:t>
            </a:r>
            <a:r>
              <a:rPr lang="de-DE" dirty="0"/>
              <a:t> Model of </a:t>
            </a:r>
            <a:r>
              <a:rPr lang="de-DE" dirty="0" err="1"/>
              <a:t>Affect</a:t>
            </a:r>
            <a:r>
              <a:rPr lang="de-DE" dirty="0"/>
              <a:t>:</a:t>
            </a:r>
          </a:p>
          <a:p>
            <a:endParaRPr lang="de-DE" i="1" dirty="0">
              <a:effectLst/>
            </a:endParaRPr>
          </a:p>
          <a:p>
            <a:r>
              <a:rPr lang="de-DE" i="1" dirty="0" err="1">
                <a:effectLst/>
              </a:rPr>
              <a:t>Example</a:t>
            </a:r>
            <a:r>
              <a:rPr lang="de-DE" i="1" dirty="0">
                <a:effectLst/>
              </a:rPr>
              <a:t> State</a:t>
            </a:r>
          </a:p>
          <a:p>
            <a:r>
              <a:rPr lang="de-DE" dirty="0">
                <a:effectLst/>
              </a:rPr>
              <a:t>Top </a:t>
            </a:r>
            <a:r>
              <a:rPr lang="de-DE" dirty="0" err="1">
                <a:effectLst/>
              </a:rPr>
              <a:t>right</a:t>
            </a:r>
            <a:r>
              <a:rPr lang="de-DE" dirty="0"/>
              <a:t> </a:t>
            </a:r>
            <a:r>
              <a:rPr lang="de-DE" dirty="0">
                <a:effectLst/>
              </a:rPr>
              <a:t>Positive (Pleasant)</a:t>
            </a:r>
            <a:r>
              <a:rPr lang="de-DE" dirty="0"/>
              <a:t> </a:t>
            </a:r>
            <a:r>
              <a:rPr lang="de-DE" dirty="0">
                <a:effectLst/>
              </a:rPr>
              <a:t>High (</a:t>
            </a:r>
            <a:r>
              <a:rPr lang="de-DE" dirty="0" err="1">
                <a:effectLst/>
              </a:rPr>
              <a:t>Activated</a:t>
            </a:r>
            <a:r>
              <a:rPr lang="de-DE" dirty="0">
                <a:effectLst/>
              </a:rPr>
              <a:t>)</a:t>
            </a:r>
            <a:r>
              <a:rPr lang="de-DE" dirty="0"/>
              <a:t> </a:t>
            </a:r>
            <a:r>
              <a:rPr lang="de-DE" dirty="0" err="1">
                <a:effectLst/>
              </a:rPr>
              <a:t>Excited</a:t>
            </a:r>
            <a:r>
              <a:rPr lang="de-DE" dirty="0">
                <a:effectLst/>
              </a:rPr>
              <a:t> / </a:t>
            </a:r>
            <a:r>
              <a:rPr lang="de-DE" dirty="0" err="1">
                <a:effectLst/>
              </a:rPr>
              <a:t>Enthusiastic</a:t>
            </a:r>
            <a:r>
              <a:rPr lang="de-DE" dirty="0"/>
              <a:t> </a:t>
            </a:r>
          </a:p>
          <a:p>
            <a:r>
              <a:rPr lang="de-DE" dirty="0">
                <a:effectLst/>
              </a:rPr>
              <a:t>Bottom </a:t>
            </a:r>
            <a:r>
              <a:rPr lang="de-DE" dirty="0" err="1">
                <a:effectLst/>
              </a:rPr>
              <a:t>right</a:t>
            </a:r>
            <a:r>
              <a:rPr lang="de-DE" dirty="0"/>
              <a:t> </a:t>
            </a:r>
            <a:r>
              <a:rPr lang="de-DE" dirty="0">
                <a:effectLst/>
              </a:rPr>
              <a:t>Positive (Pleasant)</a:t>
            </a:r>
            <a:r>
              <a:rPr lang="de-DE" dirty="0"/>
              <a:t> </a:t>
            </a:r>
            <a:r>
              <a:rPr lang="de-DE" dirty="0">
                <a:effectLst/>
              </a:rPr>
              <a:t>Low (</a:t>
            </a:r>
            <a:r>
              <a:rPr lang="de-DE" dirty="0" err="1">
                <a:effectLst/>
              </a:rPr>
              <a:t>Deactivated</a:t>
            </a:r>
            <a:r>
              <a:rPr lang="de-DE" dirty="0">
                <a:effectLst/>
              </a:rPr>
              <a:t>)</a:t>
            </a:r>
            <a:r>
              <a:rPr lang="de-DE" dirty="0"/>
              <a:t> </a:t>
            </a:r>
            <a:r>
              <a:rPr lang="de-DE" dirty="0">
                <a:effectLst/>
              </a:rPr>
              <a:t>Calm / Relaxed</a:t>
            </a:r>
            <a:r>
              <a:rPr lang="de-DE" dirty="0"/>
              <a:t> </a:t>
            </a:r>
          </a:p>
          <a:p>
            <a:r>
              <a:rPr lang="de-DE" dirty="0">
                <a:effectLst/>
              </a:rPr>
              <a:t>Top </a:t>
            </a:r>
            <a:r>
              <a:rPr lang="de-DE" dirty="0" err="1">
                <a:effectLst/>
              </a:rPr>
              <a:t>left</a:t>
            </a:r>
            <a:r>
              <a:rPr lang="de-DE" dirty="0"/>
              <a:t> </a:t>
            </a:r>
            <a:r>
              <a:rPr lang="de-DE" dirty="0">
                <a:effectLst/>
              </a:rPr>
              <a:t>Negative (</a:t>
            </a:r>
            <a:r>
              <a:rPr lang="de-DE" dirty="0" err="1">
                <a:effectLst/>
              </a:rPr>
              <a:t>Unpleasant</a:t>
            </a:r>
            <a:r>
              <a:rPr lang="de-DE" dirty="0">
                <a:effectLst/>
              </a:rPr>
              <a:t>)</a:t>
            </a:r>
            <a:r>
              <a:rPr lang="de-DE" dirty="0"/>
              <a:t> </a:t>
            </a:r>
            <a:r>
              <a:rPr lang="de-DE" dirty="0">
                <a:effectLst/>
              </a:rPr>
              <a:t>High (</a:t>
            </a:r>
            <a:r>
              <a:rPr lang="de-DE" dirty="0" err="1">
                <a:effectLst/>
              </a:rPr>
              <a:t>Activated</a:t>
            </a:r>
            <a:r>
              <a:rPr lang="de-DE" dirty="0">
                <a:effectLst/>
              </a:rPr>
              <a:t>)</a:t>
            </a:r>
            <a:r>
              <a:rPr lang="de-DE" dirty="0"/>
              <a:t> </a:t>
            </a:r>
            <a:r>
              <a:rPr lang="de-DE" dirty="0" err="1">
                <a:effectLst/>
              </a:rPr>
              <a:t>Stressed</a:t>
            </a:r>
            <a:r>
              <a:rPr lang="de-DE" dirty="0">
                <a:effectLst/>
              </a:rPr>
              <a:t> / </a:t>
            </a:r>
            <a:r>
              <a:rPr lang="de-DE" dirty="0" err="1">
                <a:effectLst/>
              </a:rPr>
              <a:t>Anxious</a:t>
            </a:r>
            <a:r>
              <a:rPr lang="de-DE" dirty="0"/>
              <a:t> </a:t>
            </a:r>
          </a:p>
          <a:p>
            <a:r>
              <a:rPr lang="de-DE" dirty="0">
                <a:effectLst/>
              </a:rPr>
              <a:t>Bottom </a:t>
            </a:r>
            <a:r>
              <a:rPr lang="de-DE" dirty="0" err="1">
                <a:effectLst/>
              </a:rPr>
              <a:t>left</a:t>
            </a:r>
            <a:r>
              <a:rPr lang="de-DE" dirty="0"/>
              <a:t> </a:t>
            </a:r>
            <a:r>
              <a:rPr lang="de-DE" dirty="0">
                <a:effectLst/>
              </a:rPr>
              <a:t>Negative (</a:t>
            </a:r>
            <a:r>
              <a:rPr lang="de-DE" dirty="0" err="1">
                <a:effectLst/>
              </a:rPr>
              <a:t>Unpleasant</a:t>
            </a:r>
            <a:r>
              <a:rPr lang="de-DE" dirty="0">
                <a:effectLst/>
              </a:rPr>
              <a:t>)</a:t>
            </a:r>
            <a:r>
              <a:rPr lang="de-DE" dirty="0"/>
              <a:t> </a:t>
            </a:r>
            <a:r>
              <a:rPr lang="de-DE" dirty="0">
                <a:effectLst/>
              </a:rPr>
              <a:t>Low (</a:t>
            </a:r>
            <a:r>
              <a:rPr lang="de-DE" dirty="0" err="1">
                <a:effectLst/>
              </a:rPr>
              <a:t>Deactivated</a:t>
            </a:r>
            <a:r>
              <a:rPr lang="de-DE" dirty="0">
                <a:effectLst/>
              </a:rPr>
              <a:t>)</a:t>
            </a:r>
            <a:r>
              <a:rPr lang="de-DE" dirty="0"/>
              <a:t> </a:t>
            </a:r>
            <a:r>
              <a:rPr lang="de-DE" dirty="0" err="1">
                <a:effectLst/>
              </a:rPr>
              <a:t>Tired</a:t>
            </a:r>
            <a:r>
              <a:rPr lang="de-DE" dirty="0">
                <a:effectLst/>
              </a:rPr>
              <a:t> / </a:t>
            </a:r>
            <a:r>
              <a:rPr lang="de-DE" dirty="0" err="1">
                <a:effectLst/>
              </a:rPr>
              <a:t>Depressed</a:t>
            </a:r>
            <a:r>
              <a:rPr lang="de-DE" dirty="0"/>
              <a:t> </a:t>
            </a:r>
          </a:p>
          <a:p>
            <a:pPr fontAlgn="t"/>
            <a:endParaRPr lang="de-DE" sz="1200" b="0" i="0" kern="1200" dirty="0">
              <a:solidFill>
                <a:schemeClr val="tx1"/>
              </a:solidFill>
              <a:effectLst/>
              <a:latin typeface="Aptos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developed</a:t>
            </a:r>
            <a:r>
              <a:rPr lang="de-DE" dirty="0"/>
              <a:t> on real High5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real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contains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46,000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responses</a:t>
            </a:r>
            <a:r>
              <a:rPr lang="de-DE" dirty="0"/>
              <a:t> and 4,297 </a:t>
            </a:r>
            <a:r>
              <a:rPr lang="de-DE" dirty="0" err="1"/>
              <a:t>free</a:t>
            </a:r>
            <a:r>
              <a:rPr lang="de-DE" dirty="0"/>
              <a:t>-text </a:t>
            </a:r>
            <a:r>
              <a:rPr lang="de-DE" dirty="0" err="1"/>
              <a:t>comments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17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exports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Because</a:t>
            </a:r>
            <a:r>
              <a:rPr lang="de-DE" dirty="0"/>
              <a:t> the </a:t>
            </a:r>
            <a:r>
              <a:rPr lang="de-DE" dirty="0" err="1"/>
              <a:t>comments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confidential</a:t>
            </a:r>
            <a:r>
              <a:rPr lang="de-DE" dirty="0"/>
              <a:t>, I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original </a:t>
            </a:r>
            <a:r>
              <a:rPr lang="de-DE" dirty="0" err="1"/>
              <a:t>comment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. I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report</a:t>
            </a:r>
            <a:r>
              <a:rPr lang="de-DE" dirty="0"/>
              <a:t> </a:t>
            </a:r>
            <a:r>
              <a:rPr lang="de-DE" dirty="0" err="1"/>
              <a:t>aggregated</a:t>
            </a:r>
            <a:r>
              <a:rPr lang="de-DE" dirty="0"/>
              <a:t> </a:t>
            </a:r>
            <a:r>
              <a:rPr lang="de-DE" dirty="0" err="1"/>
              <a:t>statistics</a:t>
            </a:r>
            <a:r>
              <a:rPr lang="de-DE" dirty="0"/>
              <a:t> and </a:t>
            </a:r>
            <a:r>
              <a:rPr lang="de-DE" dirty="0" err="1"/>
              <a:t>structural</a:t>
            </a:r>
            <a:r>
              <a:rPr lang="de-DE" dirty="0"/>
              <a:t> </a:t>
            </a:r>
            <a:r>
              <a:rPr lang="de-DE" dirty="0" err="1"/>
              <a:t>characteristics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For </a:t>
            </a:r>
            <a:r>
              <a:rPr lang="de-DE" dirty="0" err="1"/>
              <a:t>presentation</a:t>
            </a:r>
            <a:r>
              <a:rPr lang="de-DE" dirty="0"/>
              <a:t>, </a:t>
            </a:r>
            <a:r>
              <a:rPr lang="de-DE" dirty="0" err="1"/>
              <a:t>reproducibility</a:t>
            </a:r>
            <a:r>
              <a:rPr lang="de-DE" dirty="0"/>
              <a:t> and </a:t>
            </a:r>
            <a:r>
              <a:rPr lang="de-DE" dirty="0" err="1"/>
              <a:t>dashboard</a:t>
            </a:r>
            <a:r>
              <a:rPr lang="de-DE" dirty="0"/>
              <a:t> </a:t>
            </a:r>
            <a:r>
              <a:rPr lang="de-DE" dirty="0" err="1"/>
              <a:t>demos</a:t>
            </a:r>
            <a:r>
              <a:rPr lang="de-DE" dirty="0"/>
              <a:t>, I </a:t>
            </a:r>
            <a:r>
              <a:rPr lang="de-DE" dirty="0" err="1"/>
              <a:t>therefore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a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schema</a:t>
            </a:r>
            <a:r>
              <a:rPr lang="de-DE" dirty="0"/>
              <a:t> and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important </a:t>
            </a:r>
            <a:r>
              <a:rPr lang="de-DE" dirty="0" err="1"/>
              <a:t>privacy</a:t>
            </a:r>
            <a:r>
              <a:rPr lang="de-DE" dirty="0"/>
              <a:t> </a:t>
            </a:r>
            <a:r>
              <a:rPr lang="de-DE" dirty="0" err="1"/>
              <a:t>rule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: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happens</a:t>
            </a:r>
            <a:r>
              <a:rPr lang="de-DE" dirty="0"/>
              <a:t> on </a:t>
            </a:r>
            <a:r>
              <a:rPr lang="de-DE" dirty="0" err="1"/>
              <a:t>confidential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, but </a:t>
            </a:r>
            <a:r>
              <a:rPr lang="de-DE" dirty="0" err="1"/>
              <a:t>anything</a:t>
            </a:r>
            <a:r>
              <a:rPr lang="de-DE" dirty="0"/>
              <a:t> </a:t>
            </a:r>
            <a:r>
              <a:rPr lang="de-DE" dirty="0" err="1"/>
              <a:t>shown</a:t>
            </a:r>
            <a:r>
              <a:rPr lang="de-DE" dirty="0"/>
              <a:t> </a:t>
            </a:r>
            <a:r>
              <a:rPr lang="de-DE" dirty="0" err="1"/>
              <a:t>externally</a:t>
            </a:r>
            <a:r>
              <a:rPr lang="de-DE" dirty="0"/>
              <a:t> </a:t>
            </a:r>
            <a:r>
              <a:rPr lang="de-DE" dirty="0" err="1"/>
              <a:t>uses</a:t>
            </a:r>
            <a:r>
              <a:rPr lang="de-DE" dirty="0"/>
              <a:t> the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slide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the </a:t>
            </a:r>
            <a:r>
              <a:rPr lang="de-DE" dirty="0" err="1"/>
              <a:t>full</a:t>
            </a:r>
            <a:r>
              <a:rPr lang="de-DE" dirty="0"/>
              <a:t> ELFI </a:t>
            </a:r>
            <a:r>
              <a:rPr lang="de-DE" dirty="0" err="1"/>
              <a:t>architecture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starts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comments</a:t>
            </a:r>
            <a:r>
              <a:rPr lang="de-DE" dirty="0"/>
              <a:t> and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scores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First, I perform EDA and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checks</a:t>
            </a:r>
            <a:r>
              <a:rPr lang="de-DE" dirty="0"/>
              <a:t>. Then I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scores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feature </a:t>
            </a:r>
            <a:r>
              <a:rPr lang="de-DE" dirty="0" err="1"/>
              <a:t>engineering</a:t>
            </a:r>
            <a:r>
              <a:rPr lang="de-DE" dirty="0"/>
              <a:t>, </a:t>
            </a:r>
            <a:r>
              <a:rPr lang="de-DE" dirty="0" err="1"/>
              <a:t>including</a:t>
            </a:r>
            <a:r>
              <a:rPr lang="de-DE" dirty="0"/>
              <a:t> </a:t>
            </a:r>
            <a:r>
              <a:rPr lang="de-DE" dirty="0" err="1"/>
              <a:t>recoding</a:t>
            </a:r>
            <a:r>
              <a:rPr lang="de-DE" dirty="0"/>
              <a:t>, reverse </a:t>
            </a:r>
            <a:r>
              <a:rPr lang="de-DE" dirty="0" err="1"/>
              <a:t>coding</a:t>
            </a:r>
            <a:r>
              <a:rPr lang="de-DE" dirty="0"/>
              <a:t> and score </a:t>
            </a:r>
            <a:r>
              <a:rPr lang="de-DE" dirty="0" err="1"/>
              <a:t>calculation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comment</a:t>
            </a:r>
            <a:r>
              <a:rPr lang="de-DE" dirty="0"/>
              <a:t> </a:t>
            </a:r>
            <a:r>
              <a:rPr lang="de-DE" dirty="0" err="1"/>
              <a:t>corpus</a:t>
            </a:r>
            <a:r>
              <a:rPr lang="de-DE" dirty="0"/>
              <a:t>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enters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NLP </a:t>
            </a:r>
            <a:r>
              <a:rPr lang="de-DE" dirty="0" err="1"/>
              <a:t>layers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sentiment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German Sentiment BERT. The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continuous</a:t>
            </a:r>
            <a:r>
              <a:rPr lang="de-DE" dirty="0"/>
              <a:t> </a:t>
            </a:r>
            <a:r>
              <a:rPr lang="de-DE" dirty="0" err="1"/>
              <a:t>valence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second </a:t>
            </a:r>
            <a:r>
              <a:rPr lang="de-DE" dirty="0" err="1"/>
              <a:t>layer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modelling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BERTopic</a:t>
            </a:r>
            <a:r>
              <a:rPr lang="de-DE" dirty="0"/>
              <a:t>. Here I </a:t>
            </a:r>
            <a:r>
              <a:rPr lang="de-DE" dirty="0" err="1"/>
              <a:t>identify</a:t>
            </a:r>
            <a:r>
              <a:rPr lang="de-DE" dirty="0"/>
              <a:t> latent </a:t>
            </a:r>
            <a:r>
              <a:rPr lang="de-DE" dirty="0" err="1"/>
              <a:t>topics</a:t>
            </a:r>
            <a:r>
              <a:rPr lang="de-DE" dirty="0"/>
              <a:t> and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trends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next</a:t>
            </a:r>
            <a:r>
              <a:rPr lang="de-DE" dirty="0"/>
              <a:t> planned step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emotion</a:t>
            </a:r>
            <a:r>
              <a:rPr lang="de-DE" dirty="0"/>
              <a:t> </a:t>
            </a:r>
            <a:r>
              <a:rPr lang="de-DE" dirty="0" err="1"/>
              <a:t>mapping</a:t>
            </a:r>
            <a:r>
              <a:rPr lang="de-DE" dirty="0"/>
              <a:t>, </a:t>
            </a:r>
            <a:r>
              <a:rPr lang="de-DE" dirty="0" err="1"/>
              <a:t>where</a:t>
            </a:r>
            <a:r>
              <a:rPr lang="de-DE" dirty="0"/>
              <a:t> I </a:t>
            </a:r>
            <a:r>
              <a:rPr lang="de-DE" dirty="0" err="1"/>
              <a:t>want</a:t>
            </a:r>
            <a:r>
              <a:rPr lang="de-DE" dirty="0"/>
              <a:t> to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arousal</a:t>
            </a:r>
            <a:r>
              <a:rPr lang="de-DE" dirty="0"/>
              <a:t> and </a:t>
            </a:r>
            <a:r>
              <a:rPr lang="de-DE" dirty="0" err="1"/>
              <a:t>map</a:t>
            </a:r>
            <a:r>
              <a:rPr lang="de-DE" dirty="0"/>
              <a:t> </a:t>
            </a:r>
            <a:r>
              <a:rPr lang="de-DE" dirty="0" err="1"/>
              <a:t>comments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the Core </a:t>
            </a:r>
            <a:r>
              <a:rPr lang="de-DE" dirty="0" err="1"/>
              <a:t>Affect</a:t>
            </a:r>
            <a:r>
              <a:rPr lang="de-DE" dirty="0"/>
              <a:t> </a:t>
            </a:r>
            <a:r>
              <a:rPr lang="de-DE" dirty="0" err="1"/>
              <a:t>framework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After </a:t>
            </a:r>
            <a:r>
              <a:rPr lang="de-DE" dirty="0" err="1"/>
              <a:t>that</a:t>
            </a:r>
            <a:r>
              <a:rPr lang="de-DE" dirty="0"/>
              <a:t>, the </a:t>
            </a:r>
            <a:r>
              <a:rPr lang="de-DE" dirty="0" err="1"/>
              <a:t>analytics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 will </a:t>
            </a:r>
            <a:r>
              <a:rPr lang="de-DE" dirty="0" err="1"/>
              <a:t>analyse</a:t>
            </a:r>
            <a:r>
              <a:rPr lang="de-DE" dirty="0"/>
              <a:t> </a:t>
            </a:r>
            <a:r>
              <a:rPr lang="de-DE" dirty="0" err="1"/>
              <a:t>relationships</a:t>
            </a:r>
            <a:r>
              <a:rPr lang="de-DE" dirty="0"/>
              <a:t> and </a:t>
            </a:r>
            <a:r>
              <a:rPr lang="de-DE" dirty="0" err="1"/>
              <a:t>predictive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, </a:t>
            </a:r>
            <a:r>
              <a:rPr lang="de-DE" dirty="0" err="1"/>
              <a:t>including</a:t>
            </a:r>
            <a:r>
              <a:rPr lang="de-DE" dirty="0"/>
              <a:t> </a:t>
            </a:r>
            <a:r>
              <a:rPr lang="de-DE" dirty="0" err="1"/>
              <a:t>train</a:t>
            </a:r>
            <a:r>
              <a:rPr lang="de-DE" dirty="0"/>
              <a:t>-test </a:t>
            </a:r>
            <a:r>
              <a:rPr lang="de-DE" dirty="0" err="1"/>
              <a:t>split</a:t>
            </a:r>
            <a:r>
              <a:rPr lang="de-DE" dirty="0"/>
              <a:t> and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comparison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Finally</a:t>
            </a:r>
            <a:r>
              <a:rPr lang="de-DE" dirty="0"/>
              <a:t>, all </a:t>
            </a:r>
            <a:r>
              <a:rPr lang="de-DE" dirty="0" err="1"/>
              <a:t>outputs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joined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dashboard-ready</a:t>
            </a:r>
            <a:r>
              <a:rPr lang="de-DE" dirty="0"/>
              <a:t> </a:t>
            </a:r>
            <a:r>
              <a:rPr lang="de-DE" dirty="0" err="1"/>
              <a:t>analytical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 for Power BI.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--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b="1" dirty="0"/>
              <a:t>Explanation – </a:t>
            </a:r>
            <a:r>
              <a:rPr lang="de-DE" b="1" dirty="0" err="1"/>
              <a:t>when</a:t>
            </a:r>
            <a:r>
              <a:rPr lang="de-DE" b="1" dirty="0"/>
              <a:t> s.o. </a:t>
            </a:r>
            <a:r>
              <a:rPr lang="de-DE" b="1" dirty="0" err="1"/>
              <a:t>asks</a:t>
            </a:r>
            <a:endParaRPr lang="de-DE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228600" indent="-228600">
              <a:buFont typeface="+mj-lt"/>
              <a:buAutoNum type="arabicPeriod"/>
            </a:pPr>
            <a:endParaRPr lang="de-DE" sz="1200" kern="1200" dirty="0">
              <a:solidFill>
                <a:schemeClr val="tx1"/>
              </a:solidFill>
              <a:effectLst/>
              <a:latin typeface="Aptos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process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starts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with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survey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comments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survey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scores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In the EDA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phase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I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analyse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data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quality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missing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values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reliability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 I also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create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survey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scores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such as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engagement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leadership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culture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scores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from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the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questionnaire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items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For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sentiment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analysis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I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use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German Sentiment BERT.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Instead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of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assigning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only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positive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negative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labels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, I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calculate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continuous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valence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score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between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minus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one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plus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one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For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topic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modelling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I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use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BERTopic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 The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pipeline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combines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sentence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embeddings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dimensionality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reduction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using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UMAP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density-based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clustering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with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HDBSCAN. I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evaluated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multiple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configurations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using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grid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searches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compared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them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using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topic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quality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metrics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next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planned step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the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emotion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layer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 Here I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want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to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move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from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sentiment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to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psychologically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meaningful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emotional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states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by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combining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valence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arousal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</a:br>
            <a:b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Idea: German Sentiment BERT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  <a:sym typeface="Wingdings" pitchFamily="2" charset="2"/>
              </a:rPr>
              <a:t>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Valence + Emotion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Classifier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  <a:sym typeface="Wingdings" pitchFamily="2" charset="2"/>
              </a:rPr>
              <a:t>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Emotion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Probabilities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  <a:sym typeface="Wingdings" pitchFamily="2" charset="2"/>
              </a:rPr>
              <a:t>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Valence + Arousal Mapping; possible Models: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maybe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ChrisLalk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/German-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Emotions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; Output: Valence, Arousal, Emotion per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comment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  <a:sym typeface="Wingdings" pitchFamily="2" charset="2"/>
              </a:rPr>
              <a:t>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How do the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Employees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feel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	</a:t>
            </a:r>
          </a:p>
          <a:p>
            <a:endParaRPr lang="de-DE" sz="1200" b="1" kern="1200" dirty="0">
              <a:solidFill>
                <a:schemeClr val="tx1"/>
              </a:solidFill>
              <a:effectLst/>
              <a:latin typeface="Aptos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 startAt="6"/>
            </a:pP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Afterwards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I will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analyse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how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emotions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topics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relate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to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engagement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leadership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culture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scores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  <a:sym typeface="Wingdings" pitchFamily="2" charset="2"/>
              </a:rPr>
              <a:t>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Can I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predict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 Engagement Score by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comments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</a:br>
            <a:b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Features: TF-IDF Features, Topic ID, Valence, Emotion Scores, Comment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Length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;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maybe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I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can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use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the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likert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scaled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items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from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the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survey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as additional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features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Baseline: TF-IDF + Linear Regression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  <a:sym typeface="Wingdings" pitchFamily="2" charset="2"/>
              </a:rPr>
              <a:t>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Random Forest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XGBoost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Evaluation: MAE, RMSE, R²</a:t>
            </a:r>
          </a:p>
          <a:p>
            <a:pPr marL="171450" indent="-171450">
              <a:buFont typeface="Wingdings" pitchFamily="2" charset="2"/>
              <a:buChar char="à"/>
            </a:pP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What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relationships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are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there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between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language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engagement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?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</a:br>
            <a:endParaRPr lang="de-DE" sz="1200" kern="1200" dirty="0">
              <a:solidFill>
                <a:schemeClr val="tx1"/>
              </a:solidFill>
              <a:effectLst/>
              <a:latin typeface="Aptos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 startAt="7"/>
            </a:pP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Finally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, all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information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integrated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into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 Power BI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dashboard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for organisational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analysis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decision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support.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Explanation – </a:t>
            </a:r>
            <a:r>
              <a:rPr lang="de-DE" b="1" dirty="0" err="1"/>
              <a:t>when</a:t>
            </a:r>
            <a:r>
              <a:rPr lang="de-DE" b="1" dirty="0"/>
              <a:t> s.o. </a:t>
            </a:r>
            <a:r>
              <a:rPr lang="de-DE" b="1" dirty="0" err="1"/>
              <a:t>asks</a:t>
            </a:r>
            <a:endParaRPr lang="de-DE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UMAP (Uniform Manifold Approximation and </a:t>
            </a:r>
            <a:r>
              <a:rPr lang="de-DE" b="1" dirty="0" err="1"/>
              <a:t>Projection</a:t>
            </a:r>
            <a:r>
              <a:rPr lang="de-DE" b="1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UMAP </a:t>
            </a:r>
            <a:r>
              <a:rPr lang="de-DE" b="1" dirty="0" err="1"/>
              <a:t>is</a:t>
            </a:r>
            <a:r>
              <a:rPr lang="de-DE" b="1" dirty="0"/>
              <a:t> a modern </a:t>
            </a:r>
            <a:r>
              <a:rPr lang="de-DE" b="1" dirty="0" err="1"/>
              <a:t>algorithm</a:t>
            </a:r>
            <a:r>
              <a:rPr lang="de-DE" b="1" dirty="0"/>
              <a:t> for </a:t>
            </a:r>
            <a:r>
              <a:rPr lang="de-DE" b="1" dirty="0" err="1"/>
              <a:t>dimensionality</a:t>
            </a:r>
            <a:r>
              <a:rPr lang="de-DE" b="1" dirty="0"/>
              <a:t> </a:t>
            </a:r>
            <a:r>
              <a:rPr lang="de-DE" b="1" dirty="0" err="1"/>
              <a:t>reduction</a:t>
            </a:r>
            <a:r>
              <a:rPr lang="de-DE" b="1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    Task: High-dimensional </a:t>
            </a:r>
            <a:r>
              <a:rPr lang="de-DE" b="1" dirty="0" err="1"/>
              <a:t>vectors</a:t>
            </a:r>
            <a:r>
              <a:rPr lang="de-DE" b="1" dirty="0"/>
              <a:t> (e.g., </a:t>
            </a:r>
            <a:r>
              <a:rPr lang="de-DE" b="1" dirty="0" err="1"/>
              <a:t>text</a:t>
            </a:r>
            <a:r>
              <a:rPr lang="de-DE" b="1" dirty="0"/>
              <a:t> </a:t>
            </a:r>
            <a:r>
              <a:rPr lang="de-DE" b="1" dirty="0" err="1"/>
              <a:t>embeddings</a:t>
            </a:r>
            <a:r>
              <a:rPr lang="de-DE" b="1" dirty="0"/>
              <a:t> </a:t>
            </a:r>
            <a:r>
              <a:rPr lang="de-DE" b="1" dirty="0" err="1"/>
              <a:t>from</a:t>
            </a:r>
            <a:r>
              <a:rPr lang="de-DE" b="1" dirty="0"/>
              <a:t> BERT, </a:t>
            </a:r>
            <a:r>
              <a:rPr lang="de-DE" b="1" dirty="0" err="1"/>
              <a:t>which</a:t>
            </a:r>
            <a:r>
              <a:rPr lang="de-DE" b="1" dirty="0"/>
              <a:t> </a:t>
            </a:r>
            <a:r>
              <a:rPr lang="de-DE" b="1" dirty="0" err="1"/>
              <a:t>often</a:t>
            </a:r>
            <a:r>
              <a:rPr lang="de-DE" b="1" dirty="0"/>
              <a:t> </a:t>
            </a:r>
            <a:r>
              <a:rPr lang="de-DE" b="1" dirty="0" err="1"/>
              <a:t>have</a:t>
            </a:r>
            <a:r>
              <a:rPr lang="de-DE" b="1" dirty="0"/>
              <a:t> </a:t>
            </a:r>
            <a:r>
              <a:rPr lang="de-DE" b="1" dirty="0" err="1"/>
              <a:t>hundreds</a:t>
            </a:r>
            <a:r>
              <a:rPr lang="de-DE" b="1" dirty="0"/>
              <a:t> of </a:t>
            </a:r>
            <a:r>
              <a:rPr lang="de-DE" b="1" dirty="0" err="1"/>
              <a:t>dimensions</a:t>
            </a:r>
            <a:r>
              <a:rPr lang="de-DE" b="1" dirty="0"/>
              <a:t>) </a:t>
            </a:r>
            <a:r>
              <a:rPr lang="de-DE" b="1" dirty="0" err="1"/>
              <a:t>are</a:t>
            </a:r>
            <a:r>
              <a:rPr lang="de-DE" b="1" dirty="0"/>
              <a:t> </a:t>
            </a:r>
            <a:r>
              <a:rPr lang="de-DE" b="1" dirty="0" err="1"/>
              <a:t>projected</a:t>
            </a:r>
            <a:r>
              <a:rPr lang="de-DE" b="1" dirty="0"/>
              <a:t> </a:t>
            </a:r>
            <a:r>
              <a:rPr lang="de-DE" b="1" dirty="0" err="1"/>
              <a:t>into</a:t>
            </a:r>
            <a:r>
              <a:rPr lang="de-DE" b="1" dirty="0"/>
              <a:t> a low-dimensional </a:t>
            </a:r>
            <a:r>
              <a:rPr lang="de-DE" b="1" dirty="0" err="1"/>
              <a:t>space</a:t>
            </a:r>
            <a:r>
              <a:rPr lang="de-DE" b="1" dirty="0"/>
              <a:t> (</a:t>
            </a:r>
            <a:r>
              <a:rPr lang="de-DE" b="1" dirty="0" err="1"/>
              <a:t>usually</a:t>
            </a:r>
            <a:r>
              <a:rPr lang="de-DE" b="1" dirty="0"/>
              <a:t> 2 </a:t>
            </a:r>
            <a:r>
              <a:rPr lang="de-DE" b="1" dirty="0" err="1"/>
              <a:t>or</a:t>
            </a:r>
            <a:r>
              <a:rPr lang="de-DE" b="1" dirty="0"/>
              <a:t> 3 </a:t>
            </a:r>
            <a:r>
              <a:rPr lang="de-DE" b="1" dirty="0" err="1"/>
              <a:t>dimensions</a:t>
            </a:r>
            <a:r>
              <a:rPr lang="de-DE" b="1" dirty="0"/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    Advantage: </a:t>
            </a:r>
            <a:r>
              <a:rPr lang="de-DE" b="1" dirty="0" err="1"/>
              <a:t>Unlike</a:t>
            </a:r>
            <a:r>
              <a:rPr lang="de-DE" b="1" dirty="0"/>
              <a:t> </a:t>
            </a:r>
            <a:r>
              <a:rPr lang="de-DE" b="1" dirty="0" err="1"/>
              <a:t>older</a:t>
            </a:r>
            <a:r>
              <a:rPr lang="de-DE" b="1" dirty="0"/>
              <a:t> </a:t>
            </a:r>
            <a:r>
              <a:rPr lang="de-DE" b="1" dirty="0" err="1"/>
              <a:t>methods</a:t>
            </a:r>
            <a:r>
              <a:rPr lang="de-DE" b="1" dirty="0"/>
              <a:t> like PCA, UMAP </a:t>
            </a:r>
            <a:r>
              <a:rPr lang="de-DE" b="1" dirty="0" err="1"/>
              <a:t>preserves</a:t>
            </a:r>
            <a:r>
              <a:rPr lang="de-DE" b="1" dirty="0"/>
              <a:t> the </a:t>
            </a:r>
            <a:r>
              <a:rPr lang="de-DE" b="1" dirty="0" err="1"/>
              <a:t>mathematical</a:t>
            </a:r>
            <a:r>
              <a:rPr lang="de-DE" b="1" dirty="0"/>
              <a:t> and </a:t>
            </a:r>
            <a:r>
              <a:rPr lang="de-DE" b="1" dirty="0" err="1"/>
              <a:t>semantic</a:t>
            </a:r>
            <a:r>
              <a:rPr lang="de-DE" b="1" dirty="0"/>
              <a:t> </a:t>
            </a:r>
            <a:r>
              <a:rPr lang="de-DE" b="1" dirty="0" err="1"/>
              <a:t>structure</a:t>
            </a:r>
            <a:r>
              <a:rPr lang="de-DE" b="1" dirty="0"/>
              <a:t> of </a:t>
            </a:r>
            <a:r>
              <a:rPr lang="de-DE" b="1" dirty="0" err="1"/>
              <a:t>data</a:t>
            </a:r>
            <a:r>
              <a:rPr lang="de-DE" b="1" dirty="0"/>
              <a:t> </a:t>
            </a:r>
            <a:r>
              <a:rPr lang="de-DE" b="1" dirty="0" err="1"/>
              <a:t>clusters</a:t>
            </a:r>
            <a:r>
              <a:rPr lang="de-DE" b="1" dirty="0"/>
              <a:t> </a:t>
            </a:r>
            <a:r>
              <a:rPr lang="de-DE" b="1" dirty="0" err="1"/>
              <a:t>extremely</a:t>
            </a:r>
            <a:r>
              <a:rPr lang="de-DE" b="1" dirty="0"/>
              <a:t> </a:t>
            </a:r>
            <a:r>
              <a:rPr lang="de-DE" b="1" dirty="0" err="1"/>
              <a:t>well</a:t>
            </a:r>
            <a:r>
              <a:rPr lang="de-DE" b="1" dirty="0"/>
              <a:t>. This </a:t>
            </a:r>
            <a:r>
              <a:rPr lang="de-DE" b="1" dirty="0" err="1"/>
              <a:t>means</a:t>
            </a:r>
            <a:r>
              <a:rPr lang="de-DE" b="1" dirty="0"/>
              <a:t> </a:t>
            </a:r>
            <a:r>
              <a:rPr lang="de-DE" b="1" dirty="0" err="1"/>
              <a:t>similar</a:t>
            </a:r>
            <a:r>
              <a:rPr lang="de-DE" b="1" dirty="0"/>
              <a:t> </a:t>
            </a:r>
            <a:r>
              <a:rPr lang="de-DE" b="1" dirty="0" err="1"/>
              <a:t>documents</a:t>
            </a:r>
            <a:r>
              <a:rPr lang="de-DE" b="1" dirty="0"/>
              <a:t> </a:t>
            </a:r>
            <a:r>
              <a:rPr lang="de-DE" b="1" dirty="0" err="1"/>
              <a:t>remain</a:t>
            </a:r>
            <a:r>
              <a:rPr lang="de-DE" b="1" dirty="0"/>
              <a:t> </a:t>
            </a:r>
            <a:r>
              <a:rPr lang="de-DE" b="1" dirty="0" err="1"/>
              <a:t>close</a:t>
            </a:r>
            <a:r>
              <a:rPr lang="de-DE" b="1" dirty="0"/>
              <a:t> to </a:t>
            </a:r>
            <a:r>
              <a:rPr lang="de-DE" b="1" dirty="0" err="1"/>
              <a:t>each</a:t>
            </a:r>
            <a:r>
              <a:rPr lang="de-DE" b="1" dirty="0"/>
              <a:t> </a:t>
            </a:r>
            <a:r>
              <a:rPr lang="de-DE" b="1" dirty="0" err="1"/>
              <a:t>other</a:t>
            </a:r>
            <a:r>
              <a:rPr lang="de-DE" b="1" dirty="0"/>
              <a:t> </a:t>
            </a:r>
            <a:r>
              <a:rPr lang="de-DE" b="1" dirty="0" err="1"/>
              <a:t>even</a:t>
            </a:r>
            <a:r>
              <a:rPr lang="de-DE" b="1" dirty="0"/>
              <a:t> in the </a:t>
            </a:r>
            <a:r>
              <a:rPr lang="de-DE" b="1" dirty="0" err="1"/>
              <a:t>reduced</a:t>
            </a:r>
            <a:r>
              <a:rPr lang="de-DE" b="1" dirty="0"/>
              <a:t> </a:t>
            </a:r>
            <a:r>
              <a:rPr lang="de-DE" b="1" dirty="0" err="1"/>
              <a:t>space</a:t>
            </a:r>
            <a:r>
              <a:rPr lang="de-DE" b="1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HDBSCAN (</a:t>
            </a:r>
            <a:r>
              <a:rPr lang="de-DE" b="1" dirty="0" err="1"/>
              <a:t>Hierarchical</a:t>
            </a:r>
            <a:r>
              <a:rPr lang="de-DE" b="1" dirty="0"/>
              <a:t> Density-Based </a:t>
            </a:r>
            <a:r>
              <a:rPr lang="de-DE" b="1" dirty="0" err="1"/>
              <a:t>Spatial</a:t>
            </a:r>
            <a:r>
              <a:rPr lang="de-DE" b="1" dirty="0"/>
              <a:t> Clustering of </a:t>
            </a:r>
            <a:r>
              <a:rPr lang="de-DE" b="1" dirty="0" err="1"/>
              <a:t>Applications</a:t>
            </a:r>
            <a:r>
              <a:rPr lang="de-DE" b="1" dirty="0"/>
              <a:t> </a:t>
            </a:r>
            <a:r>
              <a:rPr lang="de-DE" b="1" dirty="0" err="1"/>
              <a:t>with</a:t>
            </a:r>
            <a:r>
              <a:rPr lang="de-DE" b="1" dirty="0"/>
              <a:t> Noise)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HDBSCAN </a:t>
            </a:r>
            <a:r>
              <a:rPr lang="de-DE" b="1" dirty="0" err="1"/>
              <a:t>is</a:t>
            </a:r>
            <a:r>
              <a:rPr lang="de-DE" b="1" dirty="0"/>
              <a:t> a </a:t>
            </a:r>
            <a:r>
              <a:rPr lang="de-DE" b="1" dirty="0" err="1"/>
              <a:t>density-based</a:t>
            </a:r>
            <a:r>
              <a:rPr lang="de-DE" b="1" dirty="0"/>
              <a:t> </a:t>
            </a:r>
            <a:r>
              <a:rPr lang="de-DE" b="1" dirty="0" err="1"/>
              <a:t>clustering</a:t>
            </a:r>
            <a:r>
              <a:rPr lang="de-DE" b="1" dirty="0"/>
              <a:t> </a:t>
            </a:r>
            <a:r>
              <a:rPr lang="de-DE" b="1" dirty="0" err="1"/>
              <a:t>algorithm</a:t>
            </a:r>
            <a:r>
              <a:rPr lang="de-DE" b="1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    Task: It </a:t>
            </a:r>
            <a:r>
              <a:rPr lang="de-DE" b="1" dirty="0" err="1"/>
              <a:t>automatically</a:t>
            </a:r>
            <a:r>
              <a:rPr lang="de-DE" b="1" dirty="0"/>
              <a:t> </a:t>
            </a:r>
            <a:r>
              <a:rPr lang="de-DE" b="1" dirty="0" err="1"/>
              <a:t>finds</a:t>
            </a:r>
            <a:r>
              <a:rPr lang="de-DE" b="1" dirty="0"/>
              <a:t> </a:t>
            </a:r>
            <a:r>
              <a:rPr lang="de-DE" b="1" dirty="0" err="1"/>
              <a:t>groups</a:t>
            </a:r>
            <a:r>
              <a:rPr lang="de-DE" b="1" dirty="0"/>
              <a:t> (</a:t>
            </a:r>
            <a:r>
              <a:rPr lang="de-DE" b="1" dirty="0" err="1"/>
              <a:t>clusters</a:t>
            </a:r>
            <a:r>
              <a:rPr lang="de-DE" b="1" dirty="0"/>
              <a:t>) of </a:t>
            </a:r>
            <a:r>
              <a:rPr lang="de-DE" b="1" dirty="0" err="1"/>
              <a:t>documents</a:t>
            </a:r>
            <a:r>
              <a:rPr lang="de-DE" b="1" dirty="0"/>
              <a:t> in the </a:t>
            </a:r>
            <a:r>
              <a:rPr lang="de-DE" b="1" dirty="0" err="1"/>
              <a:t>space</a:t>
            </a:r>
            <a:r>
              <a:rPr lang="de-DE" b="1" dirty="0"/>
              <a:t> </a:t>
            </a:r>
            <a:r>
              <a:rPr lang="de-DE" b="1" dirty="0" err="1"/>
              <a:t>reduced</a:t>
            </a:r>
            <a:r>
              <a:rPr lang="de-DE" b="1" dirty="0"/>
              <a:t> by UMAP.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    Special Feature: </a:t>
            </a:r>
            <a:r>
              <a:rPr lang="de-DE" b="1" dirty="0" err="1"/>
              <a:t>You</a:t>
            </a:r>
            <a:r>
              <a:rPr lang="de-DE" b="1" dirty="0"/>
              <a:t> do not </a:t>
            </a:r>
            <a:r>
              <a:rPr lang="de-DE" b="1" dirty="0" err="1"/>
              <a:t>need</a:t>
            </a:r>
            <a:r>
              <a:rPr lang="de-DE" b="1" dirty="0"/>
              <a:t> to </a:t>
            </a:r>
            <a:r>
              <a:rPr lang="de-DE" b="1" dirty="0" err="1"/>
              <a:t>specify</a:t>
            </a:r>
            <a:r>
              <a:rPr lang="de-DE" b="1" dirty="0"/>
              <a:t> a </a:t>
            </a:r>
            <a:r>
              <a:rPr lang="de-DE" b="1" dirty="0" err="1"/>
              <a:t>fixed</a:t>
            </a:r>
            <a:r>
              <a:rPr lang="de-DE" b="1" dirty="0"/>
              <a:t> </a:t>
            </a:r>
            <a:r>
              <a:rPr lang="de-DE" b="1" dirty="0" err="1"/>
              <a:t>number</a:t>
            </a:r>
            <a:r>
              <a:rPr lang="de-DE" b="1" dirty="0"/>
              <a:t> of </a:t>
            </a:r>
            <a:r>
              <a:rPr lang="de-DE" b="1" dirty="0" err="1"/>
              <a:t>clusters</a:t>
            </a:r>
            <a:r>
              <a:rPr lang="de-DE" b="1" dirty="0"/>
              <a:t> (</a:t>
            </a:r>
            <a:r>
              <a:rPr lang="de-DE" b="1" dirty="0" err="1"/>
              <a:t>topics</a:t>
            </a:r>
            <a:r>
              <a:rPr lang="de-DE" b="1" dirty="0"/>
              <a:t>) </a:t>
            </a:r>
            <a:r>
              <a:rPr lang="de-DE" b="1" dirty="0" err="1"/>
              <a:t>beforehand</a:t>
            </a:r>
            <a:r>
              <a:rPr lang="de-DE" b="1" dirty="0"/>
              <a:t>. It </a:t>
            </a:r>
            <a:r>
              <a:rPr lang="de-DE" b="1" dirty="0" err="1"/>
              <a:t>detects</a:t>
            </a:r>
            <a:r>
              <a:rPr lang="de-DE" b="1" dirty="0"/>
              <a:t> </a:t>
            </a:r>
            <a:r>
              <a:rPr lang="de-DE" b="1" dirty="0" err="1"/>
              <a:t>clusters</a:t>
            </a:r>
            <a:r>
              <a:rPr lang="de-DE" b="1" dirty="0"/>
              <a:t> </a:t>
            </a:r>
            <a:r>
              <a:rPr lang="de-DE" b="1" dirty="0" err="1"/>
              <a:t>purely</a:t>
            </a:r>
            <a:r>
              <a:rPr lang="de-DE" b="1" dirty="0"/>
              <a:t> </a:t>
            </a:r>
            <a:r>
              <a:rPr lang="de-DE" b="1" dirty="0" err="1"/>
              <a:t>based</a:t>
            </a:r>
            <a:r>
              <a:rPr lang="de-DE" b="1" dirty="0"/>
              <a:t> on </a:t>
            </a:r>
            <a:r>
              <a:rPr lang="de-DE" b="1" dirty="0" err="1"/>
              <a:t>their</a:t>
            </a:r>
            <a:r>
              <a:rPr lang="de-DE" b="1" dirty="0"/>
              <a:t> </a:t>
            </a:r>
            <a:r>
              <a:rPr lang="de-DE" b="1" dirty="0" err="1"/>
              <a:t>data</a:t>
            </a:r>
            <a:r>
              <a:rPr lang="de-DE" b="1" dirty="0"/>
              <a:t> </a:t>
            </a:r>
            <a:r>
              <a:rPr lang="de-DE" b="1" dirty="0" err="1"/>
              <a:t>density</a:t>
            </a:r>
            <a:r>
              <a:rPr lang="de-DE" b="1" dirty="0"/>
              <a:t> and </a:t>
            </a:r>
            <a:r>
              <a:rPr lang="de-DE" b="1" dirty="0" err="1"/>
              <a:t>automatically</a:t>
            </a:r>
            <a:r>
              <a:rPr lang="de-DE" b="1" dirty="0"/>
              <a:t> </a:t>
            </a:r>
            <a:r>
              <a:rPr lang="de-DE" b="1" dirty="0" err="1"/>
              <a:t>filters</a:t>
            </a:r>
            <a:r>
              <a:rPr lang="de-DE" b="1" dirty="0"/>
              <a:t> out </a:t>
            </a:r>
            <a:r>
              <a:rPr lang="de-DE" b="1" dirty="0" err="1"/>
              <a:t>noise</a:t>
            </a:r>
            <a:r>
              <a:rPr lang="de-DE" b="1" dirty="0"/>
              <a:t> (</a:t>
            </a:r>
            <a:r>
              <a:rPr lang="de-DE" b="1" dirty="0" err="1"/>
              <a:t>documents</a:t>
            </a:r>
            <a:r>
              <a:rPr lang="de-DE" b="1" dirty="0"/>
              <a:t> </a:t>
            </a:r>
            <a:r>
              <a:rPr lang="de-DE" b="1" dirty="0" err="1"/>
              <a:t>that</a:t>
            </a:r>
            <a:r>
              <a:rPr lang="de-DE" b="1" dirty="0"/>
              <a:t> do not fit </a:t>
            </a:r>
            <a:r>
              <a:rPr lang="de-DE" b="1" dirty="0" err="1"/>
              <a:t>any</a:t>
            </a:r>
            <a:r>
              <a:rPr lang="de-DE" b="1" dirty="0"/>
              <a:t> </a:t>
            </a:r>
            <a:r>
              <a:rPr lang="de-DE" b="1" dirty="0" err="1"/>
              <a:t>topic</a:t>
            </a:r>
            <a:r>
              <a:rPr lang="de-DE" b="1" dirty="0"/>
              <a:t>) as "</a:t>
            </a:r>
            <a:r>
              <a:rPr lang="de-DE" b="1" dirty="0" err="1"/>
              <a:t>outliers</a:t>
            </a:r>
            <a:r>
              <a:rPr lang="de-DE" b="1" dirty="0"/>
              <a:t>".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How </a:t>
            </a:r>
            <a:r>
              <a:rPr lang="de-DE" b="1" dirty="0" err="1"/>
              <a:t>They</a:t>
            </a:r>
            <a:r>
              <a:rPr lang="de-DE" b="1" dirty="0"/>
              <a:t> Work </a:t>
            </a:r>
            <a:r>
              <a:rPr lang="de-DE" b="1" dirty="0" err="1"/>
              <a:t>Together</a:t>
            </a:r>
            <a:r>
              <a:rPr lang="de-DE" b="1" dirty="0"/>
              <a:t> in Topic Modeling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    Texts </a:t>
            </a:r>
            <a:r>
              <a:rPr lang="de-DE" b="1" dirty="0" err="1"/>
              <a:t>are</a:t>
            </a:r>
            <a:r>
              <a:rPr lang="de-DE" b="1" dirty="0"/>
              <a:t> </a:t>
            </a:r>
            <a:r>
              <a:rPr lang="de-DE" b="1" dirty="0" err="1"/>
              <a:t>converted</a:t>
            </a:r>
            <a:r>
              <a:rPr lang="de-DE" b="1" dirty="0"/>
              <a:t> </a:t>
            </a:r>
            <a:r>
              <a:rPr lang="de-DE" b="1" dirty="0" err="1"/>
              <a:t>into</a:t>
            </a:r>
            <a:r>
              <a:rPr lang="de-DE" b="1" dirty="0"/>
              <a:t> </a:t>
            </a:r>
            <a:r>
              <a:rPr lang="de-DE" b="1" dirty="0" err="1"/>
              <a:t>numerical</a:t>
            </a:r>
            <a:r>
              <a:rPr lang="de-DE" b="1" dirty="0"/>
              <a:t> </a:t>
            </a:r>
            <a:r>
              <a:rPr lang="de-DE" b="1" dirty="0" err="1"/>
              <a:t>vectors</a:t>
            </a:r>
            <a:r>
              <a:rPr lang="de-DE" b="1" dirty="0"/>
              <a:t> by a </a:t>
            </a:r>
            <a:r>
              <a:rPr lang="de-DE" b="1" dirty="0" err="1"/>
              <a:t>language</a:t>
            </a:r>
            <a:r>
              <a:rPr lang="de-DE" b="1" dirty="0"/>
              <a:t> </a:t>
            </a:r>
            <a:r>
              <a:rPr lang="de-DE" b="1" dirty="0" err="1"/>
              <a:t>model</a:t>
            </a:r>
            <a:r>
              <a:rPr lang="de-DE" b="1" dirty="0"/>
              <a:t> (e.g., BERT).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    UMAP </a:t>
            </a:r>
            <a:r>
              <a:rPr lang="de-DE" b="1" dirty="0" err="1"/>
              <a:t>reduces</a:t>
            </a:r>
            <a:r>
              <a:rPr lang="de-DE" b="1" dirty="0"/>
              <a:t> </a:t>
            </a:r>
            <a:r>
              <a:rPr lang="de-DE" b="1" dirty="0" err="1"/>
              <a:t>these</a:t>
            </a:r>
            <a:r>
              <a:rPr lang="de-DE" b="1" dirty="0"/>
              <a:t> </a:t>
            </a:r>
            <a:r>
              <a:rPr lang="de-DE" b="1" dirty="0" err="1"/>
              <a:t>vectors</a:t>
            </a:r>
            <a:r>
              <a:rPr lang="de-DE" b="1" dirty="0"/>
              <a:t> to </a:t>
            </a:r>
            <a:r>
              <a:rPr lang="de-DE" b="1" dirty="0" err="1"/>
              <a:t>make</a:t>
            </a:r>
            <a:r>
              <a:rPr lang="de-DE" b="1" dirty="0"/>
              <a:t> </a:t>
            </a:r>
            <a:r>
              <a:rPr lang="de-DE" b="1" dirty="0" err="1"/>
              <a:t>them</a:t>
            </a:r>
            <a:r>
              <a:rPr lang="de-DE" b="1" dirty="0"/>
              <a:t> </a:t>
            </a:r>
            <a:r>
              <a:rPr lang="de-DE" b="1" dirty="0" err="1"/>
              <a:t>easier</a:t>
            </a:r>
            <a:r>
              <a:rPr lang="de-DE" b="1" dirty="0"/>
              <a:t> to </a:t>
            </a:r>
            <a:r>
              <a:rPr lang="de-DE" b="1" dirty="0" err="1"/>
              <a:t>process</a:t>
            </a:r>
            <a:r>
              <a:rPr lang="de-DE" b="1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    HDBSCAN </a:t>
            </a:r>
            <a:r>
              <a:rPr lang="de-DE" b="1" dirty="0" err="1"/>
              <a:t>groups</a:t>
            </a:r>
            <a:r>
              <a:rPr lang="de-DE" b="1" dirty="0"/>
              <a:t> the </a:t>
            </a:r>
            <a:r>
              <a:rPr lang="de-DE" b="1" dirty="0" err="1"/>
              <a:t>reduced</a:t>
            </a:r>
            <a:r>
              <a:rPr lang="de-DE" b="1" dirty="0"/>
              <a:t> </a:t>
            </a:r>
            <a:r>
              <a:rPr lang="de-DE" b="1" dirty="0" err="1"/>
              <a:t>vectors</a:t>
            </a:r>
            <a:r>
              <a:rPr lang="de-DE" b="1" dirty="0"/>
              <a:t> </a:t>
            </a:r>
            <a:r>
              <a:rPr lang="de-DE" b="1" dirty="0" err="1"/>
              <a:t>into</a:t>
            </a:r>
            <a:r>
              <a:rPr lang="de-DE" b="1" dirty="0"/>
              <a:t> </a:t>
            </a:r>
            <a:r>
              <a:rPr lang="de-DE" b="1" dirty="0" err="1"/>
              <a:t>dense</a:t>
            </a:r>
            <a:r>
              <a:rPr lang="de-DE" b="1" dirty="0"/>
              <a:t> </a:t>
            </a:r>
            <a:r>
              <a:rPr lang="de-DE" b="1" dirty="0" err="1"/>
              <a:t>clusters</a:t>
            </a:r>
            <a:r>
              <a:rPr lang="de-DE" b="1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    </a:t>
            </a:r>
            <a:r>
              <a:rPr lang="de-DE" b="1" dirty="0" err="1"/>
              <a:t>Ultimately</a:t>
            </a:r>
            <a:r>
              <a:rPr lang="de-DE" b="1" dirty="0"/>
              <a:t>, </a:t>
            </a:r>
            <a:r>
              <a:rPr lang="de-DE" b="1" dirty="0" err="1"/>
              <a:t>each</a:t>
            </a:r>
            <a:r>
              <a:rPr lang="de-DE" b="1" dirty="0"/>
              <a:t> of </a:t>
            </a:r>
            <a:r>
              <a:rPr lang="de-DE" b="1" dirty="0" err="1"/>
              <a:t>these</a:t>
            </a:r>
            <a:r>
              <a:rPr lang="de-DE" b="1" dirty="0"/>
              <a:t> </a:t>
            </a:r>
            <a:r>
              <a:rPr lang="de-DE" b="1" dirty="0" err="1"/>
              <a:t>clusters</a:t>
            </a:r>
            <a:r>
              <a:rPr lang="de-DE" b="1" dirty="0"/>
              <a:t> </a:t>
            </a:r>
            <a:r>
              <a:rPr lang="de-DE" b="1" dirty="0" err="1"/>
              <a:t>represents</a:t>
            </a:r>
            <a:r>
              <a:rPr lang="de-DE" b="1" dirty="0"/>
              <a:t> a </a:t>
            </a:r>
            <a:r>
              <a:rPr lang="de-DE" b="1" dirty="0" err="1"/>
              <a:t>distinct</a:t>
            </a:r>
            <a:r>
              <a:rPr lang="de-DE" b="1" dirty="0"/>
              <a:t>, </a:t>
            </a:r>
            <a:r>
              <a:rPr lang="de-DE" b="1" dirty="0" err="1"/>
              <a:t>standalone</a:t>
            </a:r>
            <a:r>
              <a:rPr lang="de-DE" b="1" dirty="0"/>
              <a:t> </a:t>
            </a:r>
            <a:r>
              <a:rPr lang="de-DE" b="1" dirty="0" err="1"/>
              <a:t>topic</a:t>
            </a:r>
            <a:r>
              <a:rPr lang="de-DE" b="1" dirty="0"/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Aptos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60115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For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modelling</a:t>
            </a:r>
            <a:r>
              <a:rPr lang="de-DE" dirty="0"/>
              <a:t>,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</a:t>
            </a:r>
            <a:r>
              <a:rPr lang="de-DE" dirty="0" err="1"/>
              <a:t>label</a:t>
            </a:r>
            <a:r>
              <a:rPr lang="de-DE" dirty="0"/>
              <a:t>, so I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accuracy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F1.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Instead</a:t>
            </a:r>
            <a:r>
              <a:rPr lang="de-DE" dirty="0"/>
              <a:t>, I </a:t>
            </a:r>
            <a:r>
              <a:rPr lang="de-DE" dirty="0" err="1"/>
              <a:t>evaluate</a:t>
            </a:r>
            <a:r>
              <a:rPr lang="de-DE" dirty="0"/>
              <a:t> </a:t>
            </a:r>
            <a:r>
              <a:rPr lang="de-DE" dirty="0" err="1"/>
              <a:t>BERTopic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C_v</a:t>
            </a:r>
            <a:r>
              <a:rPr lang="de-DE" dirty="0"/>
              <a:t> </a:t>
            </a:r>
            <a:r>
              <a:rPr lang="de-DE" dirty="0" err="1"/>
              <a:t>coherence</a:t>
            </a:r>
            <a:r>
              <a:rPr lang="de-DE" dirty="0"/>
              <a:t>, </a:t>
            </a:r>
            <a:r>
              <a:rPr lang="de-DE" dirty="0" err="1"/>
              <a:t>outlier</a:t>
            </a:r>
            <a:r>
              <a:rPr lang="de-DE" dirty="0"/>
              <a:t> rate and </a:t>
            </a:r>
            <a:r>
              <a:rPr lang="de-DE" dirty="0" err="1"/>
              <a:t>manual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 review.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C_v</a:t>
            </a:r>
            <a:r>
              <a:rPr lang="de-DE" dirty="0"/>
              <a:t> </a:t>
            </a:r>
            <a:r>
              <a:rPr lang="de-DE" dirty="0" err="1"/>
              <a:t>coherence</a:t>
            </a:r>
            <a:r>
              <a:rPr lang="de-DE" dirty="0"/>
              <a:t> </a:t>
            </a:r>
            <a:r>
              <a:rPr lang="de-DE" dirty="0" err="1"/>
              <a:t>measures</a:t>
            </a:r>
            <a:r>
              <a:rPr lang="de-DE" dirty="0"/>
              <a:t> </a:t>
            </a:r>
            <a:r>
              <a:rPr lang="de-DE" dirty="0" err="1"/>
              <a:t>whether</a:t>
            </a:r>
            <a:r>
              <a:rPr lang="de-DE" dirty="0"/>
              <a:t> the </a:t>
            </a:r>
            <a:r>
              <a:rPr lang="de-DE" dirty="0" err="1"/>
              <a:t>words</a:t>
            </a:r>
            <a:r>
              <a:rPr lang="de-DE" dirty="0"/>
              <a:t> </a:t>
            </a:r>
            <a:r>
              <a:rPr lang="de-DE" dirty="0" err="1"/>
              <a:t>inside</a:t>
            </a:r>
            <a:r>
              <a:rPr lang="de-DE" dirty="0"/>
              <a:t> a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belong</a:t>
            </a:r>
            <a:r>
              <a:rPr lang="de-DE" dirty="0"/>
              <a:t> </a:t>
            </a:r>
            <a:r>
              <a:rPr lang="de-DE" dirty="0" err="1"/>
              <a:t>together</a:t>
            </a:r>
            <a:r>
              <a:rPr lang="de-DE" dirty="0"/>
              <a:t> </a:t>
            </a:r>
            <a:r>
              <a:rPr lang="de-DE" dirty="0" err="1"/>
              <a:t>semantically</a:t>
            </a:r>
            <a:r>
              <a:rPr lang="de-DE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C_v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coherence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mainly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useful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for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comparing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different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model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configurations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on the same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dataset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 Absolute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values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harder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to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interpret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because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they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depend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strongly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on 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corpus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language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preprocessing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topic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structure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  <a:endParaRPr lang="de-D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current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BERTopic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configuration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achieved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C_v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coherence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of 0.350. This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 moderate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result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indicates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topics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interpretable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, but still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leave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room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for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improvement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interesting</a:t>
            </a:r>
            <a:r>
              <a:rPr lang="de-DE" dirty="0"/>
              <a:t> </a:t>
            </a:r>
            <a:r>
              <a:rPr lang="de-DE" dirty="0" err="1"/>
              <a:t>finding</a:t>
            </a:r>
            <a:r>
              <a:rPr lang="de-DE" dirty="0"/>
              <a:t> was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hyperparameter</a:t>
            </a:r>
            <a:r>
              <a:rPr lang="de-DE" dirty="0"/>
              <a:t> </a:t>
            </a:r>
            <a:r>
              <a:rPr lang="de-DE" dirty="0" err="1"/>
              <a:t>tuning</a:t>
            </a:r>
            <a:r>
              <a:rPr lang="de-DE" dirty="0"/>
              <a:t> </a:t>
            </a:r>
            <a:r>
              <a:rPr lang="de-DE" dirty="0" err="1"/>
              <a:t>helped</a:t>
            </a:r>
            <a:r>
              <a:rPr lang="de-DE" dirty="0"/>
              <a:t>, but the </a:t>
            </a:r>
            <a:r>
              <a:rPr lang="de-DE" dirty="0" err="1"/>
              <a:t>largest</a:t>
            </a:r>
            <a:r>
              <a:rPr lang="de-DE" dirty="0"/>
              <a:t> </a:t>
            </a:r>
            <a:r>
              <a:rPr lang="de-DE" dirty="0" err="1"/>
              <a:t>improvement</a:t>
            </a:r>
            <a:r>
              <a:rPr lang="de-DE" dirty="0"/>
              <a:t> in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coherence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came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feature </a:t>
            </a:r>
            <a:r>
              <a:rPr lang="de-DE" dirty="0" err="1"/>
              <a:t>engineering</a:t>
            </a:r>
            <a:r>
              <a:rPr lang="de-DE" dirty="0"/>
              <a:t>. </a:t>
            </a:r>
            <a:r>
              <a:rPr lang="de-DE" dirty="0" err="1"/>
              <a:t>Extending</a:t>
            </a:r>
            <a:r>
              <a:rPr lang="de-DE" dirty="0"/>
              <a:t> the </a:t>
            </a:r>
            <a:r>
              <a:rPr lang="de-DE" dirty="0" err="1"/>
              <a:t>stopword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german</a:t>
            </a:r>
            <a:r>
              <a:rPr lang="de-DE" dirty="0"/>
              <a:t> </a:t>
            </a:r>
            <a:r>
              <a:rPr lang="de-DE" dirty="0" err="1"/>
              <a:t>stopword-vocabulary</a:t>
            </a:r>
            <a:r>
              <a:rPr lang="de-DE" dirty="0"/>
              <a:t> I </a:t>
            </a:r>
            <a:r>
              <a:rPr lang="de-DE" dirty="0" err="1"/>
              <a:t>found</a:t>
            </a:r>
            <a:r>
              <a:rPr lang="de-DE" dirty="0"/>
              <a:t> on </a:t>
            </a:r>
            <a:r>
              <a:rPr lang="de-DE" dirty="0" err="1"/>
              <a:t>github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1800 </a:t>
            </a:r>
            <a:r>
              <a:rPr lang="de-DE" dirty="0" err="1"/>
              <a:t>stopwords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Marco Götze, Steffen Geyer  </a:t>
            </a:r>
            <a:r>
              <a:rPr lang="de-DE" dirty="0" err="1"/>
              <a:t>had</a:t>
            </a:r>
            <a:r>
              <a:rPr lang="de-DE" dirty="0"/>
              <a:t> a </a:t>
            </a:r>
            <a:r>
              <a:rPr lang="de-DE" dirty="0" err="1"/>
              <a:t>stronger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single</a:t>
            </a:r>
            <a:r>
              <a:rPr lang="de-DE" dirty="0"/>
              <a:t> UMAP </a:t>
            </a:r>
            <a:r>
              <a:rPr lang="de-DE" dirty="0" err="1"/>
              <a:t>or</a:t>
            </a:r>
            <a:r>
              <a:rPr lang="de-DE" dirty="0"/>
              <a:t> HDBSCAN </a:t>
            </a:r>
            <a:r>
              <a:rPr lang="de-DE" dirty="0" err="1"/>
              <a:t>parameter</a:t>
            </a:r>
            <a:r>
              <a:rPr lang="de-DE" dirty="0"/>
              <a:t> change.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This was an important </a:t>
            </a:r>
            <a:r>
              <a:rPr lang="de-DE" dirty="0" err="1"/>
              <a:t>learning</a:t>
            </a:r>
            <a:r>
              <a:rPr lang="de-DE" dirty="0"/>
              <a:t> for the </a:t>
            </a:r>
            <a:r>
              <a:rPr lang="de-DE" dirty="0" err="1"/>
              <a:t>project</a:t>
            </a:r>
            <a:r>
              <a:rPr lang="de-DE" dirty="0"/>
              <a:t>: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quality</a:t>
            </a:r>
            <a:r>
              <a:rPr lang="de-DE" dirty="0"/>
              <a:t> was not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improved</a:t>
            </a:r>
            <a:r>
              <a:rPr lang="de-DE" dirty="0"/>
              <a:t> by </a:t>
            </a:r>
            <a:r>
              <a:rPr lang="de-DE" dirty="0" err="1"/>
              <a:t>tuning</a:t>
            </a:r>
            <a:r>
              <a:rPr lang="de-DE" dirty="0"/>
              <a:t> </a:t>
            </a:r>
            <a:r>
              <a:rPr lang="de-DE" dirty="0" err="1"/>
              <a:t>algorithms</a:t>
            </a:r>
            <a:r>
              <a:rPr lang="de-DE" dirty="0"/>
              <a:t>, but also by </a:t>
            </a:r>
            <a:r>
              <a:rPr lang="de-DE" dirty="0" err="1"/>
              <a:t>understanding</a:t>
            </a:r>
            <a:r>
              <a:rPr lang="de-DE" dirty="0"/>
              <a:t> the </a:t>
            </a:r>
            <a:r>
              <a:rPr lang="de-DE" dirty="0" err="1"/>
              <a:t>language</a:t>
            </a:r>
            <a:r>
              <a:rPr lang="de-DE" dirty="0"/>
              <a:t> and </a:t>
            </a:r>
            <a:r>
              <a:rPr lang="de-DE" dirty="0" err="1"/>
              <a:t>structure</a:t>
            </a:r>
            <a:r>
              <a:rPr lang="de-DE" dirty="0"/>
              <a:t> of the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r>
              <a:rPr lang="de-DE" dirty="0"/>
              <a:t>For the </a:t>
            </a:r>
            <a:r>
              <a:rPr lang="de-DE" dirty="0" err="1"/>
              <a:t>predictive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still planned, I will </a:t>
            </a:r>
            <a:r>
              <a:rPr lang="de-DE" dirty="0" err="1"/>
              <a:t>use</a:t>
            </a:r>
            <a:r>
              <a:rPr lang="de-DE" dirty="0"/>
              <a:t> the </a:t>
            </a:r>
            <a:r>
              <a:rPr lang="de-DE" dirty="0" err="1"/>
              <a:t>classical</a:t>
            </a:r>
            <a:r>
              <a:rPr lang="de-DE" dirty="0"/>
              <a:t> </a:t>
            </a:r>
            <a:r>
              <a:rPr lang="de-DE" dirty="0" err="1"/>
              <a:t>machine-learning</a:t>
            </a:r>
            <a:r>
              <a:rPr lang="de-DE" dirty="0"/>
              <a:t> </a:t>
            </a:r>
            <a:r>
              <a:rPr lang="de-DE" dirty="0" err="1"/>
              <a:t>workflow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the </a:t>
            </a:r>
            <a:r>
              <a:rPr lang="de-DE" dirty="0" err="1"/>
              <a:t>bootcamp</a:t>
            </a:r>
            <a:r>
              <a:rPr lang="de-DE" dirty="0"/>
              <a:t>: </a:t>
            </a:r>
            <a:r>
              <a:rPr lang="de-DE" dirty="0" err="1"/>
              <a:t>train</a:t>
            </a:r>
            <a:r>
              <a:rPr lang="de-DE" dirty="0"/>
              <a:t>-test </a:t>
            </a:r>
            <a:r>
              <a:rPr lang="de-DE" dirty="0" err="1"/>
              <a:t>split</a:t>
            </a:r>
            <a:r>
              <a:rPr lang="de-DE" dirty="0"/>
              <a:t>,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comparison</a:t>
            </a:r>
            <a:r>
              <a:rPr lang="de-DE" dirty="0"/>
              <a:t> and </a:t>
            </a:r>
            <a:r>
              <a:rPr lang="de-DE" dirty="0" err="1"/>
              <a:t>evaluation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MAE, RMSE and R².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dirty="0"/>
              <a:t>---</a:t>
            </a:r>
          </a:p>
          <a:p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would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describe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0.350 as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acceptable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for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midterm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result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especially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given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synthetic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dataset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 It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shows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model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identifies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meaningful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structures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, but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topic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consolidation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further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optimisation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still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part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of 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remaining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work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Explanation – </a:t>
            </a:r>
            <a:r>
              <a:rPr lang="de-DE" b="1" dirty="0" err="1"/>
              <a:t>when</a:t>
            </a:r>
            <a:r>
              <a:rPr lang="de-DE" b="1" dirty="0"/>
              <a:t> s.o. </a:t>
            </a:r>
            <a:r>
              <a:rPr lang="de-DE" b="1" dirty="0" err="1"/>
              <a:t>asks</a:t>
            </a:r>
            <a:endParaRPr lang="de-DE" b="1" dirty="0"/>
          </a:p>
          <a:p>
            <a:endParaRPr lang="de-DE" b="1" dirty="0"/>
          </a:p>
          <a:p>
            <a:r>
              <a:rPr lang="de-DE" b="1" dirty="0"/>
              <a:t>Topic </a:t>
            </a:r>
            <a:r>
              <a:rPr lang="de-DE" b="1" dirty="0" err="1"/>
              <a:t>Coherence</a:t>
            </a:r>
            <a:r>
              <a:rPr lang="de-DE" b="1" dirty="0"/>
              <a:t> </a:t>
            </a:r>
            <a:r>
              <a:rPr lang="de-DE" dirty="0" err="1"/>
              <a:t>measures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semantically</a:t>
            </a:r>
            <a:r>
              <a:rPr lang="de-DE" dirty="0"/>
              <a:t> </a:t>
            </a:r>
            <a:r>
              <a:rPr lang="de-DE" dirty="0" err="1"/>
              <a:t>meaningful</a:t>
            </a:r>
            <a:r>
              <a:rPr lang="de-DE" dirty="0"/>
              <a:t> and </a:t>
            </a:r>
            <a:r>
              <a:rPr lang="de-DE" dirty="0" err="1"/>
              <a:t>interpretable</a:t>
            </a:r>
            <a:r>
              <a:rPr lang="de-DE" dirty="0"/>
              <a:t> the </a:t>
            </a:r>
            <a:r>
              <a:rPr lang="de-DE" dirty="0" err="1"/>
              <a:t>words</a:t>
            </a:r>
            <a:r>
              <a:rPr lang="de-DE" dirty="0"/>
              <a:t> </a:t>
            </a:r>
            <a:r>
              <a:rPr lang="de-DE" dirty="0" err="1"/>
              <a:t>assigned</a:t>
            </a:r>
            <a:r>
              <a:rPr lang="de-DE" dirty="0"/>
              <a:t> to a </a:t>
            </a:r>
            <a:r>
              <a:rPr lang="de-DE" dirty="0" err="1"/>
              <a:t>topic</a:t>
            </a:r>
            <a:r>
              <a:rPr lang="de-DE" dirty="0"/>
              <a:t> by a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(</a:t>
            </a:r>
            <a:r>
              <a:rPr lang="de-DE" dirty="0" err="1"/>
              <a:t>BERTopic</a:t>
            </a:r>
            <a:r>
              <a:rPr lang="de-DE" dirty="0"/>
              <a:t>) </a:t>
            </a:r>
            <a:r>
              <a:rPr lang="de-DE" dirty="0" err="1"/>
              <a:t>are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calculation</a:t>
            </a:r>
            <a:r>
              <a:rPr lang="de-DE" dirty="0"/>
              <a:t> </a:t>
            </a:r>
            <a:r>
              <a:rPr lang="de-DE" dirty="0" err="1"/>
              <a:t>usually</a:t>
            </a:r>
            <a:r>
              <a:rPr lang="de-DE" dirty="0"/>
              <a:t> </a:t>
            </a:r>
            <a:r>
              <a:rPr lang="de-DE" dirty="0" err="1"/>
              <a:t>follows</a:t>
            </a:r>
            <a:r>
              <a:rPr lang="de-DE" dirty="0"/>
              <a:t> a </a:t>
            </a:r>
            <a:r>
              <a:rPr lang="de-DE" dirty="0" err="1"/>
              <a:t>standardized</a:t>
            </a:r>
            <a:r>
              <a:rPr lang="de-DE" dirty="0"/>
              <a:t> </a:t>
            </a:r>
            <a:r>
              <a:rPr lang="de-DE" dirty="0" err="1"/>
              <a:t>four</a:t>
            </a:r>
            <a:r>
              <a:rPr lang="de-DE" dirty="0"/>
              <a:t>-step </a:t>
            </a:r>
            <a:r>
              <a:rPr lang="de-DE" dirty="0" err="1"/>
              <a:t>model</a:t>
            </a:r>
            <a:r>
              <a:rPr lang="de-DE" dirty="0"/>
              <a:t> (</a:t>
            </a:r>
            <a:r>
              <a:rPr lang="de-DE" dirty="0" err="1"/>
              <a:t>according</a:t>
            </a:r>
            <a:r>
              <a:rPr lang="de-DE" dirty="0"/>
              <a:t> to Röder et al.), Library: </a:t>
            </a:r>
            <a:r>
              <a:rPr lang="de-DE" dirty="0" err="1"/>
              <a:t>Gensim</a:t>
            </a:r>
            <a:endParaRPr lang="de-DE" dirty="0"/>
          </a:p>
          <a:p>
            <a:endParaRPr lang="de-DE" dirty="0"/>
          </a:p>
          <a:p>
            <a:r>
              <a:rPr lang="de-DE" dirty="0"/>
              <a:t>    Segmentation (top N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subsets</a:t>
            </a:r>
            <a:r>
              <a:rPr lang="de-DE" dirty="0"/>
              <a:t>),</a:t>
            </a:r>
          </a:p>
          <a:p>
            <a:r>
              <a:rPr lang="de-DE" dirty="0"/>
              <a:t>    </a:t>
            </a:r>
            <a:r>
              <a:rPr lang="de-DE" dirty="0" err="1"/>
              <a:t>Probability</a:t>
            </a:r>
            <a:r>
              <a:rPr lang="de-DE" dirty="0"/>
              <a:t> </a:t>
            </a:r>
            <a:r>
              <a:rPr lang="de-DE" dirty="0" err="1"/>
              <a:t>Estimation</a:t>
            </a:r>
            <a:r>
              <a:rPr lang="de-DE" dirty="0"/>
              <a:t> (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co-occur</a:t>
            </a:r>
            <a:r>
              <a:rPr lang="de-DE" dirty="0"/>
              <a:t>),</a:t>
            </a:r>
          </a:p>
          <a:p>
            <a:r>
              <a:rPr lang="de-DE" dirty="0"/>
              <a:t>    </a:t>
            </a:r>
            <a:r>
              <a:rPr lang="de-DE" dirty="0" err="1"/>
              <a:t>Confirmation</a:t>
            </a:r>
            <a:r>
              <a:rPr lang="de-DE" dirty="0"/>
              <a:t> </a:t>
            </a:r>
            <a:r>
              <a:rPr lang="de-DE" dirty="0" err="1"/>
              <a:t>Measure</a:t>
            </a:r>
            <a:r>
              <a:rPr lang="de-DE" dirty="0"/>
              <a:t> (</a:t>
            </a:r>
            <a:r>
              <a:rPr lang="de-DE" dirty="0" err="1"/>
              <a:t>C_v</a:t>
            </a:r>
            <a:r>
              <a:rPr lang="de-DE" dirty="0"/>
              <a:t>: </a:t>
            </a:r>
            <a:r>
              <a:rPr lang="de-DE" dirty="0" err="1"/>
              <a:t>combines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co-occurrences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vector</a:t>
            </a:r>
            <a:r>
              <a:rPr lang="de-DE" dirty="0"/>
              <a:t> </a:t>
            </a:r>
            <a:r>
              <a:rPr lang="de-DE" dirty="0" err="1"/>
              <a:t>space</a:t>
            </a:r>
            <a:r>
              <a:rPr lang="de-DE" dirty="0"/>
              <a:t> </a:t>
            </a:r>
            <a:r>
              <a:rPr lang="de-DE" dirty="0" err="1"/>
              <a:t>similarities</a:t>
            </a:r>
            <a:r>
              <a:rPr lang="de-DE" dirty="0"/>
              <a:t> (</a:t>
            </a:r>
            <a:r>
              <a:rPr lang="de-DE" dirty="0" err="1"/>
              <a:t>cosine</a:t>
            </a:r>
            <a:r>
              <a:rPr lang="de-DE" dirty="0"/>
              <a:t> </a:t>
            </a:r>
            <a:r>
              <a:rPr lang="de-DE" dirty="0" err="1"/>
              <a:t>similarity</a:t>
            </a:r>
            <a:r>
              <a:rPr lang="de-DE" dirty="0"/>
              <a:t>) via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embeddings</a:t>
            </a:r>
            <a:r>
              <a:rPr lang="de-DE" dirty="0"/>
              <a:t> and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considered</a:t>
            </a:r>
            <a:r>
              <a:rPr lang="de-DE" dirty="0"/>
              <a:t> </a:t>
            </a:r>
            <a:r>
              <a:rPr lang="de-DE" dirty="0" err="1"/>
              <a:t>particularly</a:t>
            </a:r>
            <a:r>
              <a:rPr lang="de-DE" dirty="0"/>
              <a:t> </a:t>
            </a:r>
            <a:r>
              <a:rPr lang="de-DE" dirty="0" err="1"/>
              <a:t>close</a:t>
            </a:r>
            <a:r>
              <a:rPr lang="de-DE" dirty="0"/>
              <a:t> to human </a:t>
            </a:r>
            <a:r>
              <a:rPr lang="de-DE" dirty="0" err="1"/>
              <a:t>judgment</a:t>
            </a:r>
            <a:r>
              <a:rPr lang="de-DE" dirty="0"/>
              <a:t>),</a:t>
            </a:r>
          </a:p>
          <a:p>
            <a:r>
              <a:rPr lang="de-DE" dirty="0"/>
              <a:t>    Aggregation (the individual </a:t>
            </a:r>
            <a:r>
              <a:rPr lang="de-DE" dirty="0" err="1"/>
              <a:t>values</a:t>
            </a:r>
            <a:r>
              <a:rPr lang="de-DE" dirty="0"/>
              <a:t> of the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pairs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aggregated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an </a:t>
            </a:r>
            <a:r>
              <a:rPr lang="de-DE" dirty="0" err="1"/>
              <a:t>overall</a:t>
            </a:r>
            <a:r>
              <a:rPr lang="de-DE" dirty="0"/>
              <a:t> score for the </a:t>
            </a:r>
            <a:r>
              <a:rPr lang="de-DE" dirty="0" err="1"/>
              <a:t>topic</a:t>
            </a:r>
            <a:r>
              <a:rPr lang="de-DE" dirty="0"/>
              <a:t>, e.g., </a:t>
            </a:r>
            <a:r>
              <a:rPr lang="de-DE" dirty="0" err="1"/>
              <a:t>using</a:t>
            </a:r>
            <a:r>
              <a:rPr lang="de-DE" dirty="0"/>
              <a:t> the </a:t>
            </a:r>
            <a:r>
              <a:rPr lang="de-DE" dirty="0" err="1"/>
              <a:t>arithmetic</a:t>
            </a:r>
            <a:r>
              <a:rPr lang="de-DE" dirty="0"/>
              <a:t> </a:t>
            </a:r>
            <a:r>
              <a:rPr lang="de-DE" dirty="0" err="1"/>
              <a:t>mean</a:t>
            </a:r>
            <a:r>
              <a:rPr lang="de-DE" dirty="0"/>
              <a:t>).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the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product</a:t>
            </a:r>
            <a:r>
              <a:rPr lang="de-DE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dashboard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organised</a:t>
            </a:r>
            <a:r>
              <a:rPr lang="de-DE" dirty="0"/>
              <a:t> </a:t>
            </a:r>
            <a:r>
              <a:rPr lang="de-DE" dirty="0" err="1"/>
              <a:t>around</a:t>
            </a:r>
            <a:r>
              <a:rPr lang="de-DE" dirty="0"/>
              <a:t>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questions</a:t>
            </a:r>
            <a:r>
              <a:rPr lang="de-DE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overview</a:t>
            </a:r>
            <a:r>
              <a:rPr lang="de-DE" dirty="0"/>
              <a:t> </a:t>
            </a:r>
            <a:r>
              <a:rPr lang="de-DE" dirty="0" err="1"/>
              <a:t>page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the </a:t>
            </a:r>
            <a:r>
              <a:rPr lang="de-DE" dirty="0" err="1"/>
              <a:t>current</a:t>
            </a:r>
            <a:r>
              <a:rPr lang="de-DE" dirty="0"/>
              <a:t> emotional and </a:t>
            </a:r>
            <a:r>
              <a:rPr lang="de-DE" dirty="0" err="1"/>
              <a:t>thematic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Core </a:t>
            </a:r>
            <a:r>
              <a:rPr lang="de-DE" dirty="0" err="1"/>
              <a:t>Affect</a:t>
            </a:r>
            <a:r>
              <a:rPr lang="de-DE" dirty="0"/>
              <a:t> </a:t>
            </a:r>
            <a:r>
              <a:rPr lang="de-DE" dirty="0" err="1"/>
              <a:t>Map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the </a:t>
            </a:r>
            <a:r>
              <a:rPr lang="de-DE" dirty="0" err="1"/>
              <a:t>centrepiece</a:t>
            </a:r>
            <a:r>
              <a:rPr lang="de-DE" dirty="0"/>
              <a:t>. It </a:t>
            </a:r>
            <a:r>
              <a:rPr lang="de-DE" dirty="0" err="1"/>
              <a:t>positions</a:t>
            </a:r>
            <a:r>
              <a:rPr lang="de-DE" dirty="0"/>
              <a:t> </a:t>
            </a:r>
            <a:r>
              <a:rPr lang="de-DE" dirty="0" err="1"/>
              <a:t>comments</a:t>
            </a:r>
            <a:r>
              <a:rPr lang="de-DE" dirty="0"/>
              <a:t> and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clusters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valence</a:t>
            </a:r>
            <a:r>
              <a:rPr lang="de-DE" dirty="0"/>
              <a:t> and </a:t>
            </a:r>
            <a:r>
              <a:rPr lang="de-DE" dirty="0" err="1"/>
              <a:t>arousal</a:t>
            </a:r>
            <a:r>
              <a:rPr lang="de-DE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Topics &amp; Trends </a:t>
            </a:r>
            <a:r>
              <a:rPr lang="de-DE" dirty="0" err="1"/>
              <a:t>page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employees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talking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and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topics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iterations</a:t>
            </a:r>
            <a:r>
              <a:rPr lang="de-DE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Organisational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page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action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taken</a:t>
            </a:r>
            <a:r>
              <a:rPr lang="de-DE" dirty="0"/>
              <a:t> by </a:t>
            </a:r>
            <a:r>
              <a:rPr lang="de-DE" dirty="0" err="1"/>
              <a:t>comparing</a:t>
            </a:r>
            <a:r>
              <a:rPr lang="de-DE" dirty="0"/>
              <a:t> </a:t>
            </a:r>
            <a:r>
              <a:rPr lang="de-DE" dirty="0" err="1"/>
              <a:t>units</a:t>
            </a:r>
            <a:r>
              <a:rPr lang="de-DE" dirty="0"/>
              <a:t>, </a:t>
            </a:r>
            <a:r>
              <a:rPr lang="de-DE" dirty="0" err="1"/>
              <a:t>emotions</a:t>
            </a:r>
            <a:r>
              <a:rPr lang="de-DE" dirty="0"/>
              <a:t>, </a:t>
            </a:r>
            <a:r>
              <a:rPr lang="de-DE" dirty="0" err="1"/>
              <a:t>topics</a:t>
            </a:r>
            <a:r>
              <a:rPr lang="de-DE" dirty="0"/>
              <a:t> and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scores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goal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to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comments</a:t>
            </a:r>
            <a:r>
              <a:rPr lang="de-DE" dirty="0"/>
              <a:t> to </a:t>
            </a:r>
            <a:r>
              <a:rPr lang="de-DE" dirty="0" err="1"/>
              <a:t>emotions</a:t>
            </a:r>
            <a:r>
              <a:rPr lang="de-DE" dirty="0"/>
              <a:t>, </a:t>
            </a:r>
            <a:r>
              <a:rPr lang="de-DE" dirty="0" err="1"/>
              <a:t>topics</a:t>
            </a:r>
            <a:r>
              <a:rPr lang="de-DE" dirty="0"/>
              <a:t>, </a:t>
            </a:r>
            <a:r>
              <a:rPr lang="de-DE" dirty="0" err="1"/>
              <a:t>insights</a:t>
            </a:r>
            <a:r>
              <a:rPr lang="de-DE" dirty="0"/>
              <a:t> and </a:t>
            </a:r>
            <a:r>
              <a:rPr lang="de-DE" dirty="0" err="1"/>
              <a:t>finally</a:t>
            </a:r>
            <a:r>
              <a:rPr lang="de-DE" dirty="0"/>
              <a:t> </a:t>
            </a:r>
            <a:r>
              <a:rPr lang="de-DE" dirty="0" err="1"/>
              <a:t>actions</a:t>
            </a:r>
            <a:r>
              <a:rPr lang="de-DE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This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first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prototype of 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sentiment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layer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in Power BI.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German Sentiment BERT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generates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continuous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valence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score for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every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comment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dashboard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already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allows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to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compare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sentiment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distributions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across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business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units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and to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identify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areas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with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more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positive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more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critical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feedback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</a:b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One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interesting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observation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distribution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still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highly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polarised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with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many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comments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close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to the positive and negative extremes.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Improving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emotional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resolution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part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of 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future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work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</a:p>
          <a:p>
            <a:endParaRPr lang="de-DE" sz="1200" kern="1200" dirty="0">
              <a:solidFill>
                <a:schemeClr val="tx1"/>
              </a:solidFill>
              <a:effectLst/>
              <a:latin typeface="Aptos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At the </a:t>
            </a:r>
            <a:r>
              <a:rPr lang="de-DE" dirty="0" err="1"/>
              <a:t>moment</a:t>
            </a:r>
            <a:r>
              <a:rPr lang="de-DE" dirty="0"/>
              <a:t>, the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,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/>
              <a:t>scoring</a:t>
            </a:r>
            <a:r>
              <a:rPr lang="de-DE" dirty="0"/>
              <a:t>,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, zero-</a:t>
            </a:r>
            <a:r>
              <a:rPr lang="de-DE" dirty="0" err="1"/>
              <a:t>shot</a:t>
            </a:r>
            <a:r>
              <a:rPr lang="de-DE" dirty="0"/>
              <a:t> </a:t>
            </a:r>
            <a:r>
              <a:rPr lang="de-DE" dirty="0" err="1"/>
              <a:t>baseline</a:t>
            </a:r>
            <a:r>
              <a:rPr lang="de-DE" dirty="0"/>
              <a:t>, German Sentiment BERT, </a:t>
            </a:r>
            <a:r>
              <a:rPr lang="de-DE" dirty="0" err="1"/>
              <a:t>BERTopic</a:t>
            </a:r>
            <a:r>
              <a:rPr lang="de-DE" dirty="0"/>
              <a:t> and the </a:t>
            </a:r>
            <a:r>
              <a:rPr lang="de-DE" dirty="0" err="1"/>
              <a:t>dashboard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completed</a:t>
            </a:r>
            <a:r>
              <a:rPr lang="de-DE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open </a:t>
            </a:r>
            <a:r>
              <a:rPr lang="de-DE" dirty="0" err="1"/>
              <a:t>parts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the </a:t>
            </a:r>
            <a:r>
              <a:rPr lang="de-DE" dirty="0" err="1"/>
              <a:t>arousal</a:t>
            </a:r>
            <a:r>
              <a:rPr lang="de-DE" dirty="0"/>
              <a:t> </a:t>
            </a:r>
            <a:r>
              <a:rPr lang="de-DE" dirty="0" err="1"/>
              <a:t>dimension</a:t>
            </a:r>
            <a:r>
              <a:rPr lang="de-DE" dirty="0"/>
              <a:t>, </a:t>
            </a:r>
            <a:r>
              <a:rPr lang="de-DE" dirty="0" err="1"/>
              <a:t>predictive</a:t>
            </a:r>
            <a:r>
              <a:rPr lang="de-DE" dirty="0"/>
              <a:t> </a:t>
            </a:r>
            <a:r>
              <a:rPr lang="de-DE" dirty="0" err="1"/>
              <a:t>modelling</a:t>
            </a:r>
            <a:r>
              <a:rPr lang="de-DE" dirty="0"/>
              <a:t> and </a:t>
            </a:r>
            <a:r>
              <a:rPr lang="de-DE" dirty="0" err="1"/>
              <a:t>dashboard</a:t>
            </a:r>
            <a:r>
              <a:rPr lang="de-DE" dirty="0"/>
              <a:t> </a:t>
            </a:r>
            <a:r>
              <a:rPr lang="de-DE" dirty="0" err="1"/>
              <a:t>finalisation</a:t>
            </a:r>
            <a:r>
              <a:rPr lang="de-DE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risks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, </a:t>
            </a:r>
            <a:r>
              <a:rPr lang="de-DE" dirty="0" err="1"/>
              <a:t>first</a:t>
            </a:r>
            <a:r>
              <a:rPr lang="de-DE" dirty="0"/>
              <a:t>,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quality</a:t>
            </a:r>
            <a:r>
              <a:rPr lang="de-DE" dirty="0"/>
              <a:t>. The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useful</a:t>
            </a:r>
            <a:r>
              <a:rPr lang="de-DE" dirty="0"/>
              <a:t> for </a:t>
            </a:r>
            <a:r>
              <a:rPr lang="de-DE" dirty="0" err="1"/>
              <a:t>demos</a:t>
            </a:r>
            <a:r>
              <a:rPr lang="de-DE" dirty="0"/>
              <a:t>, but it </a:t>
            </a:r>
            <a:r>
              <a:rPr lang="de-DE" dirty="0" err="1"/>
              <a:t>cannot</a:t>
            </a:r>
            <a:r>
              <a:rPr lang="de-DE" dirty="0"/>
              <a:t> fully match the </a:t>
            </a:r>
            <a:r>
              <a:rPr lang="de-DE" dirty="0" err="1"/>
              <a:t>richness</a:t>
            </a:r>
            <a:r>
              <a:rPr lang="de-DE" dirty="0"/>
              <a:t> of real </a:t>
            </a:r>
            <a:r>
              <a:rPr lang="de-DE" dirty="0" err="1"/>
              <a:t>employee</a:t>
            </a:r>
            <a:r>
              <a:rPr lang="de-DE" dirty="0"/>
              <a:t> </a:t>
            </a:r>
            <a:r>
              <a:rPr lang="de-DE" dirty="0" err="1"/>
              <a:t>feedback</a:t>
            </a:r>
            <a:r>
              <a:rPr lang="de-DE" dirty="0"/>
              <a:t>. And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invest</a:t>
            </a:r>
            <a:r>
              <a:rPr lang="de-DE" dirty="0"/>
              <a:t> the time of a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capstone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on </a:t>
            </a:r>
            <a:r>
              <a:rPr lang="de-DE" dirty="0" err="1"/>
              <a:t>designing</a:t>
            </a:r>
            <a:r>
              <a:rPr lang="de-DE" dirty="0"/>
              <a:t> a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set</a:t>
            </a:r>
            <a:r>
              <a:rPr lang="de-DE" dirty="0"/>
              <a:t>…  I </a:t>
            </a:r>
            <a:r>
              <a:rPr lang="de-DE" dirty="0" err="1"/>
              <a:t>decided</a:t>
            </a:r>
            <a:r>
              <a:rPr lang="de-DE" dirty="0"/>
              <a:t> to </a:t>
            </a:r>
            <a:r>
              <a:rPr lang="de-DE" dirty="0" err="1"/>
              <a:t>leave</a:t>
            </a:r>
            <a:r>
              <a:rPr lang="de-DE" dirty="0"/>
              <a:t> as it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…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Second, </a:t>
            </a:r>
            <a:r>
              <a:rPr lang="de-DE" dirty="0" err="1"/>
              <a:t>arousal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still open. Valence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implemented</a:t>
            </a:r>
            <a:r>
              <a:rPr lang="de-DE" dirty="0"/>
              <a:t>, but I still </a:t>
            </a:r>
            <a:r>
              <a:rPr lang="de-DE" dirty="0" err="1"/>
              <a:t>need</a:t>
            </a:r>
            <a:r>
              <a:rPr lang="de-DE" dirty="0"/>
              <a:t> a </a:t>
            </a:r>
            <a:r>
              <a:rPr lang="de-DE" dirty="0" err="1"/>
              <a:t>validated</a:t>
            </a:r>
            <a:r>
              <a:rPr lang="de-DE" dirty="0"/>
              <a:t> </a:t>
            </a:r>
            <a:r>
              <a:rPr lang="de-DE" dirty="0" err="1"/>
              <a:t>approach</a:t>
            </a:r>
            <a:r>
              <a:rPr lang="de-DE" dirty="0"/>
              <a:t> for the second Core </a:t>
            </a:r>
            <a:r>
              <a:rPr lang="de-DE" dirty="0" err="1"/>
              <a:t>Affect</a:t>
            </a:r>
            <a:r>
              <a:rPr lang="de-DE" dirty="0"/>
              <a:t> </a:t>
            </a:r>
            <a:r>
              <a:rPr lang="de-DE" dirty="0" err="1"/>
              <a:t>axis</a:t>
            </a:r>
            <a:r>
              <a:rPr lang="de-DE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Valence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differentiate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; </a:t>
            </a:r>
            <a:r>
              <a:rPr lang="de-DE" dirty="0" err="1"/>
              <a:t>currently</a:t>
            </a:r>
            <a:r>
              <a:rPr lang="de-DE" dirty="0"/>
              <a:t>, on a </a:t>
            </a:r>
            <a:r>
              <a:rPr lang="de-DE" dirty="0" err="1"/>
              <a:t>scale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1 to 1, it </a:t>
            </a:r>
            <a:r>
              <a:rPr lang="de-DE" dirty="0" err="1"/>
              <a:t>is</a:t>
            </a:r>
            <a:r>
              <a:rPr lang="de-DE" dirty="0"/>
              <a:t> still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polarized</a:t>
            </a:r>
            <a:r>
              <a:rPr lang="de-DE" dirty="0"/>
              <a:t> – just like </a:t>
            </a:r>
            <a:r>
              <a:rPr lang="de-DE" dirty="0" err="1"/>
              <a:t>sentiment</a:t>
            </a:r>
            <a:r>
              <a:rPr lang="de-DE" dirty="0"/>
              <a:t>. I </a:t>
            </a:r>
            <a:r>
              <a:rPr lang="de-DE" dirty="0" err="1"/>
              <a:t>think</a:t>
            </a:r>
            <a:r>
              <a:rPr lang="de-DE" dirty="0"/>
              <a:t> </a:t>
            </a:r>
            <a:r>
              <a:rPr lang="de-DE" dirty="0" err="1"/>
              <a:t>it‘s</a:t>
            </a:r>
            <a:r>
              <a:rPr lang="de-DE" dirty="0"/>
              <a:t> </a:t>
            </a:r>
            <a:r>
              <a:rPr lang="de-DE" dirty="0" err="1"/>
              <a:t>enough</a:t>
            </a:r>
            <a:r>
              <a:rPr lang="de-DE" dirty="0"/>
              <a:t> to </a:t>
            </a:r>
            <a:r>
              <a:rPr lang="de-DE" dirty="0" err="1"/>
              <a:t>show</a:t>
            </a:r>
            <a:r>
              <a:rPr lang="de-DE" dirty="0"/>
              <a:t> the </a:t>
            </a:r>
            <a:r>
              <a:rPr lang="de-DE" dirty="0" err="1"/>
              <a:t>idea</a:t>
            </a:r>
            <a:r>
              <a:rPr lang="de-DE" dirty="0"/>
              <a:t>… but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better</a:t>
            </a: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Third,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granularity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still a </a:t>
            </a:r>
            <a:r>
              <a:rPr lang="de-DE" dirty="0" err="1"/>
              <a:t>challenge</a:t>
            </a:r>
            <a:r>
              <a:rPr lang="de-DE" dirty="0"/>
              <a:t>. Some </a:t>
            </a:r>
            <a:r>
              <a:rPr lang="de-DE" dirty="0" err="1"/>
              <a:t>topics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fine-grained</a:t>
            </a:r>
            <a:r>
              <a:rPr lang="de-DE" dirty="0"/>
              <a:t> and </a:t>
            </a:r>
            <a:r>
              <a:rPr lang="de-DE" dirty="0" err="1"/>
              <a:t>need</a:t>
            </a:r>
            <a:r>
              <a:rPr lang="de-DE" dirty="0"/>
              <a:t> to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consolidated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actionable</a:t>
            </a:r>
            <a:r>
              <a:rPr lang="de-DE" dirty="0"/>
              <a:t> </a:t>
            </a:r>
            <a:r>
              <a:rPr lang="de-DE" dirty="0" err="1"/>
              <a:t>business</a:t>
            </a:r>
            <a:r>
              <a:rPr lang="de-DE" dirty="0"/>
              <a:t> </a:t>
            </a:r>
            <a:r>
              <a:rPr lang="de-DE" dirty="0" err="1"/>
              <a:t>themes</a:t>
            </a:r>
            <a:r>
              <a:rPr lang="de-DE" dirty="0"/>
              <a:t>.</a:t>
            </a:r>
            <a:br>
              <a:rPr lang="de-DE" dirty="0"/>
            </a:b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emotion</a:t>
            </a:r>
            <a:r>
              <a:rPr lang="de-DE" dirty="0"/>
              <a:t> </a:t>
            </a:r>
            <a:r>
              <a:rPr lang="de-DE" dirty="0" err="1"/>
              <a:t>mapping</a:t>
            </a:r>
            <a:r>
              <a:rPr lang="de-DE" dirty="0"/>
              <a:t>,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consolidation</a:t>
            </a:r>
            <a:r>
              <a:rPr lang="de-DE" dirty="0"/>
              <a:t>, </a:t>
            </a:r>
            <a:r>
              <a:rPr lang="de-DE" dirty="0" err="1"/>
              <a:t>topic</a:t>
            </a:r>
            <a:r>
              <a:rPr lang="de-DE" dirty="0"/>
              <a:t> </a:t>
            </a:r>
            <a:r>
              <a:rPr lang="de-DE" dirty="0" err="1"/>
              <a:t>trends</a:t>
            </a:r>
            <a:r>
              <a:rPr lang="de-DE" dirty="0"/>
              <a:t>, </a:t>
            </a:r>
            <a:r>
              <a:rPr lang="de-DE" dirty="0" err="1"/>
              <a:t>predictive</a:t>
            </a:r>
            <a:r>
              <a:rPr lang="de-DE" dirty="0"/>
              <a:t> </a:t>
            </a:r>
            <a:r>
              <a:rPr lang="de-DE" dirty="0" err="1"/>
              <a:t>modelling</a:t>
            </a:r>
            <a:r>
              <a:rPr lang="de-DE" dirty="0"/>
              <a:t>, </a:t>
            </a:r>
            <a:r>
              <a:rPr lang="de-DE" dirty="0" err="1"/>
              <a:t>dashboard</a:t>
            </a:r>
            <a:r>
              <a:rPr lang="de-DE" dirty="0"/>
              <a:t> </a:t>
            </a:r>
            <a:r>
              <a:rPr lang="de-DE" dirty="0" err="1"/>
              <a:t>finalisation</a:t>
            </a:r>
            <a:r>
              <a:rPr lang="de-DE" dirty="0"/>
              <a:t> and final </a:t>
            </a:r>
            <a:r>
              <a:rPr lang="de-DE" dirty="0" err="1"/>
              <a:t>evaluation</a:t>
            </a:r>
            <a:r>
              <a:rPr lang="de-DE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AF1C2-FDA6-C844-B8EF-C457CCF7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BFC1D-CE6E-896F-A2C1-33B5154E6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87374-7C9B-E786-FC10-909B5478C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t"/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Thank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you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for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listening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 I am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looking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forward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to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your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questions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ptos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F0647-7249-617E-0F67-359E0DA12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16979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pto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pto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pto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pto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pto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pto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pto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pto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pto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pto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Apto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Apto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Apto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Apto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Apto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Apto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Apto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Apto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Apto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BC115-5237-111B-6D28-8309C3358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D2E498-064C-2F24-D7DA-CC6A31A1D0FD}"/>
              </a:ext>
            </a:extLst>
          </p:cNvPr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99EC5-441C-0BD8-1893-04BFD50E5F8A}"/>
              </a:ext>
            </a:extLst>
          </p:cNvPr>
          <p:cNvSpPr txBox="1"/>
          <p:nvPr/>
        </p:nvSpPr>
        <p:spPr>
          <a:xfrm>
            <a:off x="1903074" y="5615572"/>
            <a:ext cx="8130362" cy="2761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700" b="0" i="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EMOTIONAL &amp; LATENT FEEDBACK INTERPRETATION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6732308-3394-A2F9-A9D0-201B3EB11C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78" b="2747"/>
          <a:stretch>
            <a:fillRect/>
          </a:stretch>
        </p:blipFill>
        <p:spPr>
          <a:xfrm>
            <a:off x="929963" y="993642"/>
            <a:ext cx="10332073" cy="447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105156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800"/>
              </a:spcAft>
              <a:defRPr>
                <a:latin typeface="Aptos"/>
              </a:defRPr>
            </a:pPr>
            <a:r>
              <a:rPr sz="88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ELFI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700" b="0" i="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EMOTIONAL &amp; LATENT FEEDBACK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3310128"/>
            <a:ext cx="10692079" cy="9144"/>
          </a:xfrm>
          <a:prstGeom prst="rect">
            <a:avLst/>
          </a:prstGeom>
          <a:solidFill>
            <a:srgbClr val="D0DAD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6035040"/>
            <a:ext cx="10692079" cy="174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CAPSTONE MIDTERM</a:t>
            </a:r>
            <a:r>
              <a:rPr lang="de-DE"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 by Iris Detemple</a:t>
            </a:r>
            <a:r>
              <a:rPr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     ·     NLP · CORE AFFECT · POWER BI     ·     DATA: HIGH5 EMPLOYEE SURVEY</a:t>
            </a:r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3C3B045F-A5A2-CD7F-49BC-7BAB3B281B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4690698"/>
              </p:ext>
            </p:extLst>
          </p:nvPr>
        </p:nvGraphicFramePr>
        <p:xfrm>
          <a:off x="749808" y="3611880"/>
          <a:ext cx="10692078" cy="1920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17">
            <a:extLst>
              <a:ext uri="{FF2B5EF4-FFF2-40B4-BE49-F238E27FC236}">
                <a16:creationId xmlns:a16="http://schemas.microsoft.com/office/drawing/2014/main" id="{AE6BF2FE-D374-20CC-A9DB-AD20CE476ECF}"/>
              </a:ext>
            </a:extLst>
          </p:cNvPr>
          <p:cNvSpPr txBox="1"/>
          <p:nvPr/>
        </p:nvSpPr>
        <p:spPr>
          <a:xfrm>
            <a:off x="9613087" y="6355080"/>
            <a:ext cx="1828800" cy="1565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2 / </a:t>
            </a:r>
            <a:r>
              <a:rPr lang="de-DE" sz="900" dirty="0">
                <a:solidFill>
                  <a:srgbClr val="64748B"/>
                </a:solidFill>
              </a:rPr>
              <a:t>8</a:t>
            </a:r>
            <a:endParaRPr sz="900" b="0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92079" cy="174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000" b="1" i="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PROBLEM</a:t>
            </a:r>
            <a:r>
              <a:rPr sz="1000" dirty="0">
                <a:solidFill>
                  <a:srgbClr val="64748B"/>
                </a:solidFill>
                <a:latin typeface="Aptos"/>
              </a:rPr>
              <a:t>   ·   WHY THIS PROJECT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9195188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30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Thousands of comments are collected.</a:t>
            </a:r>
            <a:r>
              <a:rPr lang="de-DE" sz="30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 </a:t>
            </a:r>
            <a:r>
              <a:rPr sz="30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Few of them are 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355080"/>
            <a:ext cx="1069207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</a:rPr>
              <a:t>ELFI · MIDTERM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874519"/>
            <a:ext cx="3368954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32004" cy="1828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75688"/>
            <a:ext cx="2893466" cy="573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lang="de-DE" sz="1600" b="1" i="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COMMENTS ARE </a:t>
            </a:r>
            <a:r>
              <a:rPr sz="1600" b="1" i="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READ, NOT ANALYSED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1370" y="1874519"/>
            <a:ext cx="3368954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11370" y="1874519"/>
            <a:ext cx="32004" cy="1828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7402" y="2075688"/>
            <a:ext cx="2893466" cy="573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2000" b="1" i="0">
                <a:solidFill>
                  <a:srgbClr val="2563EB"/>
                </a:solidFill>
                <a:latin typeface="Aptos"/>
              </a:defRPr>
            </a:lvl1pPr>
          </a:lstStyle>
          <a:p>
            <a:pPr>
              <a:defRPr>
                <a:latin typeface="Aptos"/>
              </a:defRPr>
            </a:pPr>
            <a:r>
              <a:rPr sz="160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LOCAL VIEW,</a:t>
            </a:r>
            <a:br>
              <a:rPr lang="de-DE" sz="1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sz="160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GLOBAL CLAIM</a:t>
            </a:r>
            <a:r>
              <a:rPr lang="de-DE" sz="160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S</a:t>
            </a:r>
            <a:endParaRPr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72932" y="1874519"/>
            <a:ext cx="3368954" cy="18288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72932" y="1874519"/>
            <a:ext cx="32004" cy="1828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8964" y="2075688"/>
            <a:ext cx="2893466" cy="573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sz="1600" b="1" i="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SCORES </a:t>
            </a:r>
            <a:r>
              <a:rPr lang="de-DE" sz="1600" b="1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TELL US WHAT CHANGED, NOT </a:t>
            </a:r>
            <a:r>
              <a:rPr sz="1600" b="1" i="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WH</a:t>
            </a:r>
            <a:r>
              <a:rPr lang="de-DE" sz="1600" b="1" i="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Y</a:t>
            </a:r>
            <a:endParaRPr sz="1600" b="1" i="0" dirty="0">
              <a:solidFill>
                <a:schemeClr val="accent1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49808" y="4023360"/>
            <a:ext cx="10692079" cy="13716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9808" y="4023360"/>
            <a:ext cx="32004" cy="1371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224528"/>
            <a:ext cx="10216591" cy="5307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sz="1000" dirty="0">
                <a:solidFill>
                  <a:srgbClr val="64748B"/>
                </a:solidFill>
              </a:rPr>
              <a:t>GUIDING QUESTION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ELFI </a:t>
            </a:r>
            <a:r>
              <a:rPr lang="de-DE" sz="1600" b="0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turns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 </a:t>
            </a:r>
            <a:r>
              <a:rPr lang="de-DE" sz="1600" b="0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comments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 </a:t>
            </a:r>
            <a:r>
              <a:rPr lang="de-DE" sz="1600" b="0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into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 a </a:t>
            </a:r>
            <a:r>
              <a:rPr lang="de-DE" sz="1600" b="0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structured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, </a:t>
            </a:r>
            <a:r>
              <a:rPr lang="de-DE" sz="1600" b="0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comparable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 </a:t>
            </a:r>
            <a:r>
              <a:rPr lang="de-DE" sz="1600" b="0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data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 </a:t>
            </a:r>
            <a:r>
              <a:rPr lang="de-DE" sz="1600" b="0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layer</a:t>
            </a:r>
            <a:r>
              <a:rPr lang="de-DE" sz="16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!</a:t>
            </a:r>
            <a:endParaRPr sz="1600" b="0" i="0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3087" y="6355080"/>
            <a:ext cx="1828800" cy="1565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2 / </a:t>
            </a:r>
            <a:r>
              <a:rPr lang="de-DE" sz="900" dirty="0">
                <a:solidFill>
                  <a:srgbClr val="64748B"/>
                </a:solidFill>
              </a:rPr>
              <a:t>8</a:t>
            </a:r>
            <a:endParaRPr sz="900" b="0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92079" cy="174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FRAMEWORK</a:t>
            </a:r>
            <a:r>
              <a:rPr sz="1000" dirty="0">
                <a:solidFill>
                  <a:srgbClr val="64748B"/>
                </a:solidFill>
                <a:latin typeface="Aptos"/>
              </a:rPr>
              <a:t>   ·   WHY EMOTIONS, NOT POLARITY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9195188" cy="1215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defRPr>
                <a:latin typeface="Aptos"/>
              </a:defRPr>
            </a:pPr>
            <a:r>
              <a:rPr lang="de-DE" sz="3000" dirty="0" err="1">
                <a:solidFill>
                  <a:schemeClr val="accent1">
                    <a:lumMod val="50000"/>
                  </a:schemeClr>
                </a:solidFill>
              </a:rPr>
              <a:t>Constructed</a:t>
            </a:r>
            <a:r>
              <a:rPr lang="de-DE" sz="3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3000" dirty="0" err="1">
                <a:solidFill>
                  <a:schemeClr val="accent1">
                    <a:lumMod val="50000"/>
                  </a:schemeClr>
                </a:solidFill>
              </a:rPr>
              <a:t>Emotions</a:t>
            </a:r>
            <a:r>
              <a:rPr lang="de-DE" sz="3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3000" dirty="0" err="1">
                <a:solidFill>
                  <a:schemeClr val="accent1">
                    <a:lumMod val="50000"/>
                  </a:schemeClr>
                </a:solidFill>
              </a:rPr>
              <a:t>instead</a:t>
            </a:r>
            <a:r>
              <a:rPr lang="de-DE" sz="3000" dirty="0">
                <a:solidFill>
                  <a:schemeClr val="accent1">
                    <a:lumMod val="50000"/>
                  </a:schemeClr>
                </a:solidFill>
              </a:rPr>
              <a:t> of rigid </a:t>
            </a:r>
            <a:r>
              <a:rPr lang="de-DE" sz="3000" dirty="0" err="1">
                <a:solidFill>
                  <a:schemeClr val="accent1">
                    <a:lumMod val="50000"/>
                  </a:schemeClr>
                </a:solidFill>
              </a:rPr>
              <a:t>boxes</a:t>
            </a:r>
            <a:endParaRPr lang="de-DE" sz="30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defRPr>
                <a:latin typeface="Aptos"/>
              </a:defRPr>
            </a:pPr>
            <a:r>
              <a:rPr lang="de-DE" sz="1700" dirty="0">
                <a:solidFill>
                  <a:srgbClr val="727272"/>
                </a:solidFill>
              </a:rPr>
              <a:t>The </a:t>
            </a:r>
            <a:r>
              <a:rPr lang="de-DE" sz="1700" dirty="0" err="1">
                <a:solidFill>
                  <a:srgbClr val="727272"/>
                </a:solidFill>
              </a:rPr>
              <a:t>conceptual</a:t>
            </a:r>
            <a:r>
              <a:rPr lang="de-DE" sz="1700" dirty="0">
                <a:solidFill>
                  <a:srgbClr val="727272"/>
                </a:solidFill>
              </a:rPr>
              <a:t> </a:t>
            </a:r>
            <a:r>
              <a:rPr lang="de-DE" sz="1700" dirty="0" err="1">
                <a:solidFill>
                  <a:srgbClr val="727272"/>
                </a:solidFill>
              </a:rPr>
              <a:t>foundation</a:t>
            </a:r>
            <a:r>
              <a:rPr lang="de-DE" sz="1700" dirty="0">
                <a:solidFill>
                  <a:srgbClr val="727272"/>
                </a:solidFill>
              </a:rPr>
              <a:t> </a:t>
            </a:r>
            <a:r>
              <a:rPr lang="de-DE" sz="1700" dirty="0">
                <a:solidFill>
                  <a:srgbClr val="727272"/>
                </a:solidFill>
                <a:latin typeface="Aptos"/>
              </a:rPr>
              <a:t>of the ELFI </a:t>
            </a:r>
            <a:r>
              <a:rPr lang="de-DE" sz="1700" dirty="0" err="1">
                <a:solidFill>
                  <a:srgbClr val="727272"/>
                </a:solidFill>
                <a:latin typeface="Aptos"/>
              </a:rPr>
              <a:t>dashboard</a:t>
            </a:r>
            <a:endParaRPr lang="de-DE" sz="1700" dirty="0">
              <a:solidFill>
                <a:srgbClr val="727272"/>
              </a:solidFill>
              <a:latin typeface="Apto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endParaRPr sz="30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6355080"/>
            <a:ext cx="1069207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</a:rPr>
              <a:t>ELFI · MIDTERM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959583"/>
            <a:ext cx="5163159" cy="353745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9808" y="1959583"/>
            <a:ext cx="32004" cy="353745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60752"/>
            <a:ext cx="4687671" cy="13104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CLASSIC SENTIMENT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defRPr>
                <a:latin typeface="Aptos"/>
              </a:defRPr>
            </a:pPr>
            <a:r>
              <a:rPr sz="1600" dirty="0">
                <a:solidFill>
                  <a:schemeClr val="accent1">
                    <a:lumMod val="50000"/>
                  </a:schemeClr>
                </a:solidFill>
              </a:rPr>
              <a:t>POSITIVE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defRPr>
                <a:latin typeface="Aptos"/>
              </a:defRPr>
            </a:pPr>
            <a:r>
              <a:rPr sz="1600" dirty="0">
                <a:solidFill>
                  <a:schemeClr val="accent1">
                    <a:lumMod val="50000"/>
                  </a:schemeClr>
                </a:solidFill>
              </a:rPr>
              <a:t>NEUTRAL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defRPr>
                <a:latin typeface="Aptos"/>
              </a:defRPr>
            </a:pPr>
            <a:r>
              <a:rPr sz="1600" dirty="0">
                <a:solidFill>
                  <a:schemeClr val="accent1">
                    <a:lumMod val="50000"/>
                  </a:schemeClr>
                </a:solidFill>
              </a:rPr>
              <a:t>NEGATIVE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959583"/>
            <a:ext cx="5163159" cy="3537453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78727" y="1959583"/>
            <a:ext cx="32004" cy="353745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4759" y="2160752"/>
            <a:ext cx="4687671" cy="358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CORE AFFECT — VALENCE × AROUSAL</a:t>
            </a:r>
            <a:br>
              <a:rPr lang="de-DE" sz="950" b="1" i="0" dirty="0">
                <a:solidFill>
                  <a:srgbClr val="2563EB"/>
                </a:solidFill>
                <a:latin typeface="Aptos"/>
              </a:rPr>
            </a:br>
            <a:r>
              <a:rPr lang="de-DE" sz="1000" dirty="0">
                <a:solidFill>
                  <a:srgbClr val="64748B"/>
                </a:solidFill>
                <a:latin typeface="Aptos"/>
              </a:rPr>
              <a:t>Lisa Feldman </a:t>
            </a:r>
            <a:r>
              <a:rPr lang="de-DE" sz="1000" dirty="0" err="1">
                <a:solidFill>
                  <a:srgbClr val="64748B"/>
                </a:solidFill>
                <a:latin typeface="Aptos"/>
              </a:rPr>
              <a:t>Barrett's</a:t>
            </a:r>
            <a:r>
              <a:rPr lang="de-DE" sz="1000" dirty="0">
                <a:solidFill>
                  <a:srgbClr val="64748B"/>
                </a:solidFill>
                <a:latin typeface="Aptos"/>
              </a:rPr>
              <a:t> Theory of </a:t>
            </a:r>
            <a:r>
              <a:rPr lang="de-DE" sz="1000" dirty="0" err="1">
                <a:solidFill>
                  <a:srgbClr val="64748B"/>
                </a:solidFill>
                <a:latin typeface="Aptos"/>
              </a:rPr>
              <a:t>Constructed</a:t>
            </a:r>
            <a:r>
              <a:rPr lang="de-DE" sz="1000" dirty="0">
                <a:solidFill>
                  <a:srgbClr val="64748B"/>
                </a:solidFill>
                <a:latin typeface="Aptos"/>
              </a:rPr>
              <a:t> Emotion</a:t>
            </a:r>
            <a:endParaRPr sz="95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9623" y="2896101"/>
            <a:ext cx="2270683" cy="989645"/>
          </a:xfrm>
          <a:prstGeom prst="rect">
            <a:avLst/>
          </a:prstGeom>
          <a:solidFill>
            <a:schemeClr val="bg1">
              <a:alpha val="5009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60307" y="2896101"/>
            <a:ext cx="2270683" cy="989645"/>
          </a:xfrm>
          <a:prstGeom prst="rect">
            <a:avLst/>
          </a:prstGeom>
          <a:solidFill>
            <a:schemeClr val="bg1">
              <a:alpha val="5009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9623" y="3970521"/>
            <a:ext cx="2270683" cy="989645"/>
          </a:xfrm>
          <a:prstGeom prst="rect">
            <a:avLst/>
          </a:prstGeom>
          <a:solidFill>
            <a:schemeClr val="bg1">
              <a:alpha val="5009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60307" y="3970521"/>
            <a:ext cx="2270683" cy="989645"/>
          </a:xfrm>
          <a:prstGeom prst="rect">
            <a:avLst/>
          </a:prstGeom>
          <a:solidFill>
            <a:schemeClr val="bg1">
              <a:alpha val="5009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9623" y="3965033"/>
            <a:ext cx="4541367" cy="45719"/>
          </a:xfrm>
          <a:prstGeom prst="rect">
            <a:avLst/>
          </a:prstGeom>
          <a:solidFill>
            <a:srgbClr val="D0DAD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54821" y="2896101"/>
            <a:ext cx="10972" cy="1979289"/>
          </a:xfrm>
          <a:prstGeom prst="rect">
            <a:avLst/>
          </a:prstGeom>
          <a:solidFill>
            <a:srgbClr val="D0DAD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99351" y="3005829"/>
            <a:ext cx="2051227" cy="417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defRPr>
                <a:latin typeface="Aptos"/>
              </a:defRPr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</a:rPr>
              <a:t>Stress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tension, anger, overload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035" y="3005829"/>
            <a:ext cx="2051227" cy="417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defRPr>
                <a:latin typeface="Aptos"/>
              </a:defRPr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</a:rPr>
              <a:t>Enthusiasm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energy, pride, momentum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9351" y="4080249"/>
            <a:ext cx="2051227" cy="417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defRPr>
                <a:latin typeface="Aptos"/>
              </a:defRPr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</a:rPr>
              <a:t>Resignation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withdrawal, fatigue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035" y="4080249"/>
            <a:ext cx="2051227" cy="417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  <a:defRPr>
                <a:latin typeface="Aptos"/>
              </a:defRPr>
            </a:pPr>
            <a:r>
              <a:rPr sz="1400" b="1" dirty="0">
                <a:solidFill>
                  <a:schemeClr val="accent1">
                    <a:lumMod val="75000"/>
                  </a:schemeClr>
                </a:solidFill>
              </a:rPr>
              <a:t>Satisfaction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calm, trust, stability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9623" y="5081517"/>
            <a:ext cx="227068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850" b="0" i="0">
                <a:solidFill>
                  <a:srgbClr val="64748B"/>
                </a:solidFill>
                <a:latin typeface="Aptos"/>
              </a:rPr>
              <a:t>← VALENCE 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307" y="5081517"/>
            <a:ext cx="227068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850" b="0" i="0">
                <a:solidFill>
                  <a:srgbClr val="64748B"/>
                </a:solidFill>
                <a:latin typeface="Aptos"/>
              </a:rPr>
              <a:t>VALENCE +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9623" y="2647726"/>
            <a:ext cx="454136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850" b="0" i="0" dirty="0">
                <a:solidFill>
                  <a:srgbClr val="64748B"/>
                </a:solidFill>
                <a:latin typeface="Aptos"/>
              </a:rPr>
              <a:t>↑ AROUSAL + (ACTIVATED)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3087" y="6355080"/>
            <a:ext cx="1828800" cy="1565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3 / </a:t>
            </a:r>
            <a:r>
              <a:rPr lang="de-DE" sz="900" b="0" i="0" dirty="0">
                <a:solidFill>
                  <a:srgbClr val="64748B"/>
                </a:solidFill>
                <a:latin typeface="Aptos"/>
              </a:rPr>
              <a:t>8</a:t>
            </a:r>
            <a:endParaRPr sz="900" b="0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92079" cy="174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sz="1000" dirty="0">
                <a:solidFill>
                  <a:srgbClr val="64748B"/>
                </a:solidFill>
                <a:latin typeface="Aptos"/>
              </a:rPr>
              <a:t>   ·   </a:t>
            </a:r>
            <a:r>
              <a:rPr sz="1000" dirty="0">
                <a:solidFill>
                  <a:srgbClr val="64748B"/>
                </a:solidFill>
              </a:rPr>
              <a:t>TWO DATASETS, ONE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9195188" cy="1184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3000" dirty="0">
                <a:solidFill>
                  <a:schemeClr val="accent1">
                    <a:lumMod val="50000"/>
                  </a:schemeClr>
                </a:solidFill>
              </a:rPr>
              <a:t>Datasets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1700" dirty="0" err="1">
                <a:solidFill>
                  <a:srgbClr val="727272"/>
                </a:solidFill>
              </a:rPr>
              <a:t>Developed</a:t>
            </a:r>
            <a:r>
              <a:rPr lang="de-DE" sz="1700" dirty="0">
                <a:solidFill>
                  <a:srgbClr val="727272"/>
                </a:solidFill>
              </a:rPr>
              <a:t> on real Data. </a:t>
            </a:r>
            <a:r>
              <a:rPr lang="de-DE" sz="1700" dirty="0" err="1">
                <a:solidFill>
                  <a:srgbClr val="727272"/>
                </a:solidFill>
              </a:rPr>
              <a:t>Demonstrated</a:t>
            </a:r>
            <a:r>
              <a:rPr lang="de-DE" sz="1700" dirty="0">
                <a:solidFill>
                  <a:srgbClr val="727272"/>
                </a:solidFill>
              </a:rPr>
              <a:t> on </a:t>
            </a:r>
            <a:r>
              <a:rPr lang="de-DE" sz="1700" dirty="0" err="1">
                <a:solidFill>
                  <a:srgbClr val="727272"/>
                </a:solidFill>
              </a:rPr>
              <a:t>synthetic</a:t>
            </a:r>
            <a:r>
              <a:rPr lang="de-DE" sz="1700" dirty="0">
                <a:solidFill>
                  <a:srgbClr val="727272"/>
                </a:solidFill>
              </a:rPr>
              <a:t> Data.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endParaRPr sz="30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6355080"/>
            <a:ext cx="1069207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</a:rPr>
              <a:t>ELFI · MIDTERM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874519"/>
            <a:ext cx="5163159" cy="278892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9808" y="1874519"/>
            <a:ext cx="32004" cy="27889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075688"/>
            <a:ext cx="4687671" cy="174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REAL HIGH5</a:t>
            </a:r>
            <a:r>
              <a:rPr lang="de-DE" sz="1000" b="1" dirty="0">
                <a:solidFill>
                  <a:schemeClr val="accent1">
                    <a:lumMod val="75000"/>
                  </a:schemeClr>
                </a:solidFill>
              </a:rPr>
              <a:t> DATA</a:t>
            </a:r>
            <a:endParaRPr sz="95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" y="2529950"/>
            <a:ext cx="4651095" cy="193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46,000+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survey</a:t>
            </a: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responses</a:t>
            </a:r>
            <a:br>
              <a:rPr lang="de-DE" sz="1400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4,297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free</a:t>
            </a: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-text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comments</a:t>
            </a:r>
            <a:br>
              <a:rPr lang="de-DE" sz="1400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17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survey</a:t>
            </a: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exports</a:t>
            </a:r>
            <a:br>
              <a:rPr lang="de-DE" sz="1400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54 Likert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items</a:t>
            </a:r>
            <a:br>
              <a:rPr lang="de-DE" sz="1400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Confidential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74519"/>
            <a:ext cx="5163159" cy="278892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78727" y="1874519"/>
            <a:ext cx="32004" cy="27889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4759" y="2075688"/>
            <a:ext cx="4687671" cy="174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dirty="0"/>
              <a:t>SYNTHETIC DAT</a:t>
            </a:r>
            <a:r>
              <a:rPr lang="de-DE" dirty="0"/>
              <a:t>A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503061" y="2529950"/>
            <a:ext cx="4651095" cy="193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7,000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survey</a:t>
            </a: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responses</a:t>
            </a:r>
            <a:br>
              <a:rPr lang="de-DE" sz="1400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5,000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comments</a:t>
            </a:r>
            <a:br>
              <a:rPr lang="de-DE" sz="1400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Same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schema</a:t>
            </a:r>
            <a:br>
              <a:rPr lang="de-DE" sz="1400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Publicly</a:t>
            </a: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shareable</a:t>
            </a:r>
            <a:br>
              <a:rPr lang="de-DE" sz="1400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Used</a:t>
            </a:r>
            <a:r>
              <a:rPr lang="de-DE" sz="1400" dirty="0">
                <a:solidFill>
                  <a:schemeClr val="accent1">
                    <a:lumMod val="50000"/>
                  </a:schemeClr>
                </a:solidFill>
              </a:rPr>
              <a:t> for </a:t>
            </a:r>
            <a:r>
              <a:rPr lang="de-DE" sz="1400" dirty="0" err="1">
                <a:solidFill>
                  <a:schemeClr val="accent1">
                    <a:lumMod val="50000"/>
                  </a:schemeClr>
                </a:solidFill>
              </a:rPr>
              <a:t>demos</a:t>
            </a:r>
            <a:endParaRPr lang="de-DE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9808" y="4937760"/>
            <a:ext cx="10692079" cy="118872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49808" y="4937760"/>
            <a:ext cx="32004" cy="11887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" y="5138928"/>
            <a:ext cx="10216591" cy="540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lang="de-DE" sz="1000" b="1" dirty="0">
                <a:solidFill>
                  <a:schemeClr val="accent1">
                    <a:lumMod val="75000"/>
                  </a:schemeClr>
                </a:solidFill>
              </a:rPr>
              <a:t>THE PRIVACY R</a:t>
            </a: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ULE</a:t>
            </a:r>
            <a:endParaRPr lang="de-DE" sz="10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  <a:spcAft>
                <a:spcPts val="700"/>
              </a:spcAft>
              <a:defRPr>
                <a:latin typeface="Aptos"/>
              </a:defRPr>
            </a:pP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Every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model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runs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 on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both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datasets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. Statistical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properties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may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be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shown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. Original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comments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may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 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3087" y="6355080"/>
            <a:ext cx="1828800" cy="1565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4 / </a:t>
            </a:r>
            <a:r>
              <a:rPr lang="de-DE" sz="900" b="0" i="0" dirty="0">
                <a:solidFill>
                  <a:srgbClr val="64748B"/>
                </a:solidFill>
                <a:latin typeface="Aptos"/>
              </a:rPr>
              <a:t>8</a:t>
            </a:r>
            <a:endParaRPr sz="900" b="0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92079" cy="174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ARCHITECTURE</a:t>
            </a:r>
            <a:r>
              <a:rPr sz="1000" dirty="0">
                <a:solidFill>
                  <a:srgbClr val="64748B"/>
                </a:solidFill>
                <a:latin typeface="Aptos"/>
              </a:rPr>
              <a:t>   ·   SURVEY DATA TO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9195188" cy="723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3000" dirty="0">
                <a:solidFill>
                  <a:schemeClr val="accent1">
                    <a:lumMod val="50000"/>
                  </a:schemeClr>
                </a:solidFill>
              </a:rPr>
              <a:t>ELFI</a:t>
            </a:r>
            <a:r>
              <a:rPr sz="3000" dirty="0">
                <a:solidFill>
                  <a:schemeClr val="accent1">
                    <a:lumMod val="50000"/>
                  </a:schemeClr>
                </a:solidFill>
              </a:rPr>
              <a:t> pipeline</a:t>
            </a:r>
            <a:endParaRPr lang="de-DE" sz="30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1700" dirty="0">
                <a:solidFill>
                  <a:srgbClr val="727272"/>
                </a:solidFill>
              </a:rPr>
              <a:t>From </a:t>
            </a:r>
            <a:r>
              <a:rPr lang="de-DE" sz="1700" dirty="0" err="1">
                <a:solidFill>
                  <a:srgbClr val="727272"/>
                </a:solidFill>
              </a:rPr>
              <a:t>employee</a:t>
            </a:r>
            <a:r>
              <a:rPr lang="de-DE" sz="1700" dirty="0">
                <a:solidFill>
                  <a:srgbClr val="727272"/>
                </a:solidFill>
              </a:rPr>
              <a:t> </a:t>
            </a:r>
            <a:r>
              <a:rPr lang="de-DE" sz="1700" dirty="0" err="1">
                <a:solidFill>
                  <a:srgbClr val="727272"/>
                </a:solidFill>
              </a:rPr>
              <a:t>comments</a:t>
            </a:r>
            <a:r>
              <a:rPr lang="de-DE" sz="1700" dirty="0">
                <a:solidFill>
                  <a:srgbClr val="727272"/>
                </a:solidFill>
              </a:rPr>
              <a:t> to </a:t>
            </a:r>
            <a:r>
              <a:rPr lang="de-DE" sz="1700" dirty="0" err="1">
                <a:solidFill>
                  <a:srgbClr val="727272"/>
                </a:solidFill>
              </a:rPr>
              <a:t>actionable</a:t>
            </a:r>
            <a:r>
              <a:rPr lang="de-DE" sz="1700" dirty="0">
                <a:solidFill>
                  <a:srgbClr val="727272"/>
                </a:solidFill>
              </a:rPr>
              <a:t> </a:t>
            </a:r>
            <a:r>
              <a:rPr lang="de-DE" sz="1700" dirty="0" err="1">
                <a:solidFill>
                  <a:srgbClr val="727272"/>
                </a:solidFill>
              </a:rPr>
              <a:t>insights</a:t>
            </a:r>
            <a:endParaRPr sz="1700" dirty="0">
              <a:solidFill>
                <a:srgbClr val="72727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6355080"/>
            <a:ext cx="1069207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</a:rPr>
              <a:t>ELFI · MIDTERM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874518"/>
            <a:ext cx="1225775" cy="155448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9807" y="1874518"/>
            <a:ext cx="45719" cy="15544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1" y="2011679"/>
            <a:ext cx="996216" cy="771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01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>
                <a:latin typeface="Aptos"/>
              </a:defRPr>
            </a:pPr>
            <a:r>
              <a:rPr sz="1250" b="1" dirty="0">
                <a:solidFill>
                  <a:schemeClr val="accent1">
                    <a:lumMod val="50000"/>
                  </a:schemeClr>
                </a:solidFill>
              </a:rPr>
              <a:t>Survey data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950" b="0" i="0" dirty="0">
                <a:solidFill>
                  <a:srgbClr val="64748B"/>
                </a:solidFill>
                <a:latin typeface="Aptos"/>
              </a:rPr>
              <a:t>Comments and Scores</a:t>
            </a:r>
            <a:endParaRPr sz="95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76940" y="2304287"/>
            <a:ext cx="135034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 dirty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9633" y="1874518"/>
            <a:ext cx="1225775" cy="155448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09632" y="1874518"/>
            <a:ext cx="45719" cy="15544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74226" y="2011679"/>
            <a:ext cx="996216" cy="6004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125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ED</a:t>
            </a:r>
            <a:r>
              <a:rPr lang="de-DE" sz="125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A &amp; Data Quality</a:t>
            </a:r>
            <a:endParaRPr sz="1250" b="1" i="0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7400" y="2304287"/>
            <a:ext cx="135034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0093" y="1874518"/>
            <a:ext cx="1225775" cy="155448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80092" y="1874518"/>
            <a:ext cx="45719" cy="15544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44686" y="2011679"/>
            <a:ext cx="996216" cy="973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03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250" b="1" dirty="0">
                <a:solidFill>
                  <a:schemeClr val="accent1">
                    <a:lumMod val="50000"/>
                  </a:schemeClr>
                </a:solidFill>
              </a:rPr>
              <a:t>Feature Engineering</a:t>
            </a:r>
            <a:endParaRPr sz="125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950" b="0" i="0" dirty="0" err="1">
                <a:solidFill>
                  <a:srgbClr val="64748B"/>
                </a:solidFill>
                <a:latin typeface="Aptos"/>
              </a:rPr>
              <a:t>Recoding</a:t>
            </a:r>
            <a:r>
              <a:rPr lang="de-DE" sz="950" b="0" i="0" dirty="0">
                <a:solidFill>
                  <a:srgbClr val="64748B"/>
                </a:solidFill>
                <a:latin typeface="Aptos"/>
              </a:rPr>
              <a:t>, reverse </a:t>
            </a:r>
            <a:r>
              <a:rPr lang="de-DE" sz="950" b="0" i="0" dirty="0" err="1">
                <a:solidFill>
                  <a:srgbClr val="64748B"/>
                </a:solidFill>
                <a:latin typeface="Aptos"/>
              </a:rPr>
              <a:t>coding</a:t>
            </a:r>
            <a:r>
              <a:rPr lang="de-DE" sz="950" b="0" i="0" dirty="0">
                <a:solidFill>
                  <a:srgbClr val="64748B"/>
                </a:solidFill>
                <a:latin typeface="Aptos"/>
              </a:rPr>
              <a:t>, </a:t>
            </a:r>
            <a:r>
              <a:rPr lang="de-DE" sz="950" b="0" i="0" dirty="0" err="1">
                <a:solidFill>
                  <a:srgbClr val="64748B"/>
                </a:solidFill>
                <a:latin typeface="Aptos"/>
              </a:rPr>
              <a:t>scores</a:t>
            </a:r>
            <a:endParaRPr sz="95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07223" y="2304287"/>
            <a:ext cx="135034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39916" y="1874518"/>
            <a:ext cx="1225775" cy="155448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39915" y="1874518"/>
            <a:ext cx="45719" cy="15544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61976" y="2011679"/>
            <a:ext cx="1116875" cy="13113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04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1250" b="1" dirty="0">
                <a:solidFill>
                  <a:schemeClr val="accent1">
                    <a:lumMod val="50000"/>
                  </a:schemeClr>
                </a:solidFill>
              </a:rPr>
              <a:t>Sentiment</a:t>
            </a:r>
            <a:r>
              <a:rPr lang="de-DE" sz="1250" b="1" dirty="0">
                <a:solidFill>
                  <a:schemeClr val="accent1">
                    <a:lumMod val="50000"/>
                  </a:schemeClr>
                </a:solidFill>
              </a:rPr>
              <a:t> Analysis</a:t>
            </a:r>
            <a:endParaRPr sz="125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50" b="0" i="0" dirty="0">
                <a:solidFill>
                  <a:srgbClr val="64748B"/>
                </a:solidFill>
                <a:latin typeface="Aptos"/>
              </a:rPr>
              <a:t>German Sentiment</a:t>
            </a:r>
            <a:br>
              <a:rPr lang="de-DE" sz="950" b="0" i="0" dirty="0">
                <a:solidFill>
                  <a:srgbClr val="64748B"/>
                </a:solidFill>
                <a:latin typeface="Aptos"/>
              </a:rPr>
            </a:br>
            <a:r>
              <a:rPr sz="950" b="0" i="0" dirty="0">
                <a:solidFill>
                  <a:srgbClr val="64748B"/>
                </a:solidFill>
                <a:latin typeface="Aptos"/>
              </a:rPr>
              <a:t>BER</a:t>
            </a:r>
            <a:r>
              <a:rPr lang="de-DE" sz="950" b="0" i="0" dirty="0">
                <a:solidFill>
                  <a:srgbClr val="64748B"/>
                </a:solidFill>
                <a:latin typeface="Aptos"/>
              </a:rPr>
              <a:t>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950" dirty="0">
                <a:solidFill>
                  <a:srgbClr val="64748B"/>
                </a:solidFill>
                <a:latin typeface="Aptos"/>
                <a:sym typeface="Wingdings" pitchFamily="2" charset="2"/>
              </a:rPr>
              <a:t> </a:t>
            </a:r>
            <a:r>
              <a:rPr lang="de-DE" sz="950" dirty="0" err="1">
                <a:solidFill>
                  <a:srgbClr val="64748B"/>
                </a:solidFill>
                <a:latin typeface="Aptos"/>
                <a:sym typeface="Wingdings" pitchFamily="2" charset="2"/>
              </a:rPr>
              <a:t>Continuous</a:t>
            </a:r>
            <a:r>
              <a:rPr lang="de-DE" sz="950" dirty="0">
                <a:solidFill>
                  <a:srgbClr val="64748B"/>
                </a:solidFill>
                <a:latin typeface="Aptos"/>
                <a:sym typeface="Wingdings" pitchFamily="2" charset="2"/>
              </a:rPr>
              <a:t> Valence</a:t>
            </a:r>
            <a:endParaRPr sz="95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45794" y="2304287"/>
            <a:ext cx="135034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 dirty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7854" y="1874518"/>
            <a:ext cx="1225775" cy="155448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67853" y="1874518"/>
            <a:ext cx="45719" cy="15544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32447" y="2011679"/>
            <a:ext cx="996216" cy="13113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05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>
                <a:latin typeface="Aptos"/>
              </a:defRPr>
            </a:pPr>
            <a:r>
              <a:rPr lang="de-DE" sz="1250" b="1" dirty="0">
                <a:solidFill>
                  <a:schemeClr val="accent1">
                    <a:lumMod val="50000"/>
                  </a:schemeClr>
                </a:solidFill>
              </a:rPr>
              <a:t>Topic Modeling</a:t>
            </a:r>
            <a:endParaRPr sz="125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950" dirty="0" err="1">
                <a:solidFill>
                  <a:srgbClr val="64748B"/>
                </a:solidFill>
                <a:latin typeface="Aptos"/>
              </a:rPr>
              <a:t>BERTopic</a:t>
            </a:r>
            <a:endParaRPr lang="de-DE" sz="950" dirty="0">
              <a:solidFill>
                <a:srgbClr val="64748B"/>
              </a:solidFill>
              <a:latin typeface="Aptos"/>
            </a:endParaRPr>
          </a:p>
          <a:p>
            <a:pPr marL="171450" indent="-171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à"/>
              <a:defRPr>
                <a:latin typeface="Aptos"/>
              </a:defRPr>
            </a:pPr>
            <a:r>
              <a:rPr lang="de-DE" sz="950" b="0" i="0" dirty="0">
                <a:solidFill>
                  <a:srgbClr val="64748B"/>
                </a:solidFill>
                <a:latin typeface="Aptos"/>
                <a:sym typeface="Wingdings" pitchFamily="2" charset="2"/>
              </a:rPr>
              <a:t>Topics &amp; Trends</a:t>
            </a:r>
          </a:p>
          <a:p>
            <a:pPr marL="171450" indent="-171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à"/>
              <a:defRPr>
                <a:latin typeface="Aptos"/>
              </a:defRPr>
            </a:pPr>
            <a:endParaRPr lang="de-DE" sz="950" dirty="0">
              <a:solidFill>
                <a:srgbClr val="64748B"/>
              </a:solidFill>
              <a:sym typeface="Wingdings" pitchFamily="2" charset="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endParaRPr sz="95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94988" y="2304287"/>
            <a:ext cx="135034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27681" y="1874518"/>
            <a:ext cx="1225775" cy="155448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527680" y="1874518"/>
            <a:ext cx="45719" cy="15544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2274" y="2011679"/>
            <a:ext cx="996216" cy="8053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06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250" b="1" dirty="0">
                <a:solidFill>
                  <a:schemeClr val="accent1">
                    <a:lumMod val="50000"/>
                  </a:schemeClr>
                </a:solidFill>
              </a:rPr>
              <a:t>Emotion Mapping</a:t>
            </a:r>
            <a:endParaRPr sz="125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950" dirty="0">
                <a:solidFill>
                  <a:srgbClr val="64748B"/>
                </a:solidFill>
                <a:latin typeface="Aptos"/>
              </a:rPr>
              <a:t>Va</a:t>
            </a:r>
            <a:r>
              <a:rPr lang="de-DE" sz="950" b="0" i="0" dirty="0">
                <a:solidFill>
                  <a:srgbClr val="64748B"/>
                </a:solidFill>
                <a:latin typeface="Aptos"/>
              </a:rPr>
              <a:t>lence &amp; Arousal</a:t>
            </a:r>
            <a:endParaRPr sz="95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9808" y="3716307"/>
            <a:ext cx="5163159" cy="20574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49808" y="3716307"/>
            <a:ext cx="32004" cy="2057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3917475"/>
            <a:ext cx="4687671" cy="16032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DESIGN DECISIONS</a:t>
            </a:r>
          </a:p>
          <a:p>
            <a:pPr marL="171450" indent="-171450">
              <a:lnSpc>
                <a:spcPct val="118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sz="1100" b="1" dirty="0">
                <a:solidFill>
                  <a:schemeClr val="accent1">
                    <a:lumMod val="50000"/>
                  </a:schemeClr>
                </a:solidFill>
              </a:rPr>
              <a:t>Two independent layers.  </a:t>
            </a: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Emotion and topic are modelled separately, then joined per comment — each layer stays interpretable on its own.</a:t>
            </a:r>
          </a:p>
          <a:p>
            <a:pPr marL="171450" indent="-171450">
              <a:lnSpc>
                <a:spcPct val="118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sz="1100" b="1" dirty="0">
                <a:solidFill>
                  <a:schemeClr val="accent1">
                    <a:lumMod val="50000"/>
                  </a:schemeClr>
                </a:solidFill>
              </a:rPr>
              <a:t>German-specific models.  </a:t>
            </a: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The comments are German; multilingual defaults lose nuance.</a:t>
            </a:r>
          </a:p>
          <a:p>
            <a:pPr marL="171450" indent="-171450">
              <a:lnSpc>
                <a:spcPct val="118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sz="1100" b="1" dirty="0">
                <a:solidFill>
                  <a:schemeClr val="accent1">
                    <a:lumMod val="50000"/>
                  </a:schemeClr>
                </a:solidFill>
              </a:rPr>
              <a:t>One analytical table.  </a:t>
            </a: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The pipeline ends in a flat, dashboard-ready dataset, not in a notebook</a:t>
            </a:r>
            <a:r>
              <a:rPr sz="14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78727" y="3716307"/>
            <a:ext cx="5163159" cy="20574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78727" y="3716307"/>
            <a:ext cx="32004" cy="2057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4759" y="3917475"/>
            <a:ext cx="4687671" cy="1491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IN EVALUATION — CACHING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Embeddings, sentiment inference and </a:t>
            </a:r>
            <a:r>
              <a:rPr sz="1100" dirty="0" err="1">
                <a:solidFill>
                  <a:schemeClr val="accent1">
                    <a:lumMod val="50000"/>
                  </a:schemeClr>
                </a:solidFill>
              </a:rPr>
              <a:t>BERTopic</a:t>
            </a: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 fits are the expensive steps.</a:t>
            </a:r>
            <a:endParaRPr lang="de-DE" sz="1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I am currently evaluating persisting intermediate results as Parquet files so they are not recomputed on every run.</a:t>
            </a:r>
            <a:endParaRPr lang="de-DE" sz="1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endParaRPr sz="1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150" b="0" i="1" dirty="0">
                <a:solidFill>
                  <a:srgbClr val="64748B"/>
                </a:solidFill>
                <a:latin typeface="Aptos"/>
              </a:rPr>
              <a:t>Evaluated, not yet implemented — details in the appendix.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889970"/>
            <a:ext cx="106920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150" b="0" i="1" dirty="0">
                <a:solidFill>
                  <a:srgbClr val="64748B"/>
                </a:solidFill>
                <a:latin typeface="Aptos"/>
              </a:rPr>
              <a:t>One full pass over 5,000 comments takes about five minutes for the sentiment and topic layers together — the cost sits in tuning, not in production.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3087" y="6355080"/>
            <a:ext cx="1828800" cy="1565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5 / </a:t>
            </a:r>
            <a:r>
              <a:rPr lang="de-DE" sz="900" b="0" i="0" dirty="0">
                <a:solidFill>
                  <a:srgbClr val="64748B"/>
                </a:solidFill>
                <a:latin typeface="Aptos"/>
              </a:rPr>
              <a:t>8</a:t>
            </a:r>
            <a:endParaRPr sz="9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39" name="TextBox 20">
            <a:extLst>
              <a:ext uri="{FF2B5EF4-FFF2-40B4-BE49-F238E27FC236}">
                <a16:creationId xmlns:a16="http://schemas.microsoft.com/office/drawing/2014/main" id="{30AC8537-2996-7071-DE97-6528147F7514}"/>
              </a:ext>
            </a:extLst>
          </p:cNvPr>
          <p:cNvSpPr txBox="1"/>
          <p:nvPr/>
        </p:nvSpPr>
        <p:spPr>
          <a:xfrm>
            <a:off x="8758541" y="2339965"/>
            <a:ext cx="135034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1AD7DE31-4913-B615-8C5A-42460A518780}"/>
              </a:ext>
            </a:extLst>
          </p:cNvPr>
          <p:cNvSpPr/>
          <p:nvPr/>
        </p:nvSpPr>
        <p:spPr>
          <a:xfrm>
            <a:off x="8880601" y="1879916"/>
            <a:ext cx="1225775" cy="155448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3B743874-C755-9EB4-AE85-934B79D37B5F}"/>
              </a:ext>
            </a:extLst>
          </p:cNvPr>
          <p:cNvSpPr txBox="1"/>
          <p:nvPr/>
        </p:nvSpPr>
        <p:spPr>
          <a:xfrm>
            <a:off x="9045194" y="2017077"/>
            <a:ext cx="996216" cy="1143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</a:t>
            </a:r>
            <a:r>
              <a:rPr lang="de-DE" sz="900" b="0" i="0" dirty="0">
                <a:solidFill>
                  <a:srgbClr val="64748B"/>
                </a:solidFill>
                <a:latin typeface="Aptos"/>
              </a:rPr>
              <a:t>7</a:t>
            </a:r>
            <a:endParaRPr sz="900" b="0" i="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300"/>
              </a:spcAft>
              <a:defRPr>
                <a:latin typeface="Aptos"/>
              </a:defRPr>
            </a:pPr>
            <a:r>
              <a:rPr lang="de-DE" sz="1250" b="1" dirty="0">
                <a:solidFill>
                  <a:schemeClr val="accent1">
                    <a:lumMod val="50000"/>
                  </a:schemeClr>
                </a:solidFill>
              </a:rPr>
              <a:t>Analytics Layer</a:t>
            </a:r>
            <a:endParaRPr sz="125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950" b="0" i="0" dirty="0" err="1">
                <a:solidFill>
                  <a:srgbClr val="64748B"/>
                </a:solidFill>
                <a:latin typeface="Aptos"/>
              </a:rPr>
              <a:t>Prediction</a:t>
            </a:r>
            <a:r>
              <a:rPr lang="de-DE" sz="950" b="0" i="0" dirty="0">
                <a:solidFill>
                  <a:srgbClr val="64748B"/>
                </a:solidFill>
                <a:latin typeface="Aptos"/>
              </a:rPr>
              <a:t> Models, Relationships &amp; </a:t>
            </a:r>
            <a:r>
              <a:rPr lang="de-DE" sz="950" b="0" i="0" dirty="0" err="1">
                <a:solidFill>
                  <a:srgbClr val="64748B"/>
                </a:solidFill>
                <a:latin typeface="Aptos"/>
              </a:rPr>
              <a:t>Correlations</a:t>
            </a:r>
            <a:endParaRPr sz="95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18AC7635-5958-72F5-1D0B-1EC445A8CD50}"/>
              </a:ext>
            </a:extLst>
          </p:cNvPr>
          <p:cNvSpPr txBox="1"/>
          <p:nvPr/>
        </p:nvSpPr>
        <p:spPr>
          <a:xfrm>
            <a:off x="10097103" y="2309685"/>
            <a:ext cx="135034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B936BCC5-B2E6-9F6F-4B20-2FD621CAC411}"/>
              </a:ext>
            </a:extLst>
          </p:cNvPr>
          <p:cNvSpPr/>
          <p:nvPr/>
        </p:nvSpPr>
        <p:spPr>
          <a:xfrm>
            <a:off x="10219163" y="1879916"/>
            <a:ext cx="1225775" cy="155448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44" name="Rectangle 26">
            <a:extLst>
              <a:ext uri="{FF2B5EF4-FFF2-40B4-BE49-F238E27FC236}">
                <a16:creationId xmlns:a16="http://schemas.microsoft.com/office/drawing/2014/main" id="{CE6FE4A4-2D91-89B6-1133-7442E94B2730}"/>
              </a:ext>
            </a:extLst>
          </p:cNvPr>
          <p:cNvSpPr/>
          <p:nvPr/>
        </p:nvSpPr>
        <p:spPr>
          <a:xfrm>
            <a:off x="10219162" y="1879916"/>
            <a:ext cx="45719" cy="15544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5" name="TextBox 27">
            <a:extLst>
              <a:ext uri="{FF2B5EF4-FFF2-40B4-BE49-F238E27FC236}">
                <a16:creationId xmlns:a16="http://schemas.microsoft.com/office/drawing/2014/main" id="{6A7FC801-C81B-5E16-E981-7B538478E12D}"/>
              </a:ext>
            </a:extLst>
          </p:cNvPr>
          <p:cNvSpPr txBox="1"/>
          <p:nvPr/>
        </p:nvSpPr>
        <p:spPr>
          <a:xfrm>
            <a:off x="10383756" y="2017077"/>
            <a:ext cx="996216" cy="6004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</a:t>
            </a:r>
            <a:r>
              <a:rPr lang="de-DE" sz="900" b="0" i="0" dirty="0">
                <a:solidFill>
                  <a:srgbClr val="64748B"/>
                </a:solidFill>
                <a:latin typeface="Aptos"/>
              </a:rPr>
              <a:t>8</a:t>
            </a:r>
            <a:endParaRPr sz="900" b="0" i="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25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Power BI </a:t>
            </a:r>
            <a:r>
              <a:rPr sz="1250" b="1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Dashboar</a:t>
            </a:r>
            <a:r>
              <a:rPr lang="de-DE" sz="125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d</a:t>
            </a:r>
            <a:endParaRPr sz="1250" b="1" i="0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7D25985F-925F-19B4-298C-456CF3294D0D}"/>
              </a:ext>
            </a:extLst>
          </p:cNvPr>
          <p:cNvSpPr/>
          <p:nvPr/>
        </p:nvSpPr>
        <p:spPr>
          <a:xfrm>
            <a:off x="8878594" y="1868186"/>
            <a:ext cx="45719" cy="15544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830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92079" cy="174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METRICS</a:t>
            </a:r>
            <a:r>
              <a:rPr sz="1000" dirty="0">
                <a:solidFill>
                  <a:srgbClr val="64748B"/>
                </a:solidFill>
                <a:latin typeface="Aptos"/>
              </a:rPr>
              <a:t>   ·   HOW SUCCESS IS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9195188" cy="723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3000" dirty="0">
                <a:solidFill>
                  <a:schemeClr val="accent1">
                    <a:lumMod val="50000"/>
                  </a:schemeClr>
                </a:solidFill>
              </a:rPr>
              <a:t>Model Evaluation &amp; Validation</a:t>
            </a:r>
            <a:br>
              <a:rPr lang="de-DE" sz="3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de-DE" sz="1700" dirty="0">
                <a:solidFill>
                  <a:srgbClr val="727272"/>
                </a:solidFill>
              </a:rPr>
              <a:t>How </a:t>
            </a:r>
            <a:r>
              <a:rPr lang="de-DE" sz="1700" dirty="0" err="1">
                <a:solidFill>
                  <a:srgbClr val="727272"/>
                </a:solidFill>
              </a:rPr>
              <a:t>model</a:t>
            </a:r>
            <a:r>
              <a:rPr lang="de-DE" sz="1700" dirty="0">
                <a:solidFill>
                  <a:srgbClr val="727272"/>
                </a:solidFill>
              </a:rPr>
              <a:t> </a:t>
            </a:r>
            <a:r>
              <a:rPr lang="de-DE" sz="1700" dirty="0" err="1">
                <a:solidFill>
                  <a:srgbClr val="727272"/>
                </a:solidFill>
              </a:rPr>
              <a:t>quality</a:t>
            </a:r>
            <a:r>
              <a:rPr lang="de-DE" sz="1700" dirty="0">
                <a:solidFill>
                  <a:srgbClr val="727272"/>
                </a:solidFill>
              </a:rPr>
              <a:t> </a:t>
            </a:r>
            <a:r>
              <a:rPr lang="de-DE" sz="1700" dirty="0" err="1">
                <a:solidFill>
                  <a:srgbClr val="727272"/>
                </a:solidFill>
              </a:rPr>
              <a:t>is</a:t>
            </a:r>
            <a:r>
              <a:rPr lang="de-DE" sz="1700" dirty="0">
                <a:solidFill>
                  <a:srgbClr val="727272"/>
                </a:solidFill>
              </a:rPr>
              <a:t> </a:t>
            </a:r>
            <a:r>
              <a:rPr lang="de-DE" sz="1700" dirty="0" err="1">
                <a:solidFill>
                  <a:srgbClr val="727272"/>
                </a:solidFill>
              </a:rPr>
              <a:t>assessed</a:t>
            </a:r>
            <a:endParaRPr sz="1700" dirty="0">
              <a:solidFill>
                <a:srgbClr val="72727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6355080"/>
            <a:ext cx="1069207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</a:rPr>
              <a:t>ELFI · MIDTERM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210375"/>
            <a:ext cx="9258300" cy="2957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1700" dirty="0">
                <a:solidFill>
                  <a:srgbClr val="727272"/>
                </a:solidFill>
              </a:rPr>
              <a:t> </a:t>
            </a:r>
            <a:r>
              <a:rPr lang="de-DE" sz="1150" i="1" dirty="0">
                <a:solidFill>
                  <a:srgbClr val="64748B"/>
                </a:solidFill>
              </a:rPr>
              <a:t>Topic </a:t>
            </a:r>
            <a:r>
              <a:rPr lang="de-DE" sz="1150" i="1" dirty="0" err="1">
                <a:solidFill>
                  <a:srgbClr val="64748B"/>
                </a:solidFill>
              </a:rPr>
              <a:t>Coherence</a:t>
            </a:r>
            <a:r>
              <a:rPr lang="de-DE" sz="1150" i="1" dirty="0">
                <a:solidFill>
                  <a:srgbClr val="64748B"/>
                </a:solidFill>
              </a:rPr>
              <a:t> (</a:t>
            </a:r>
            <a:r>
              <a:rPr lang="de-DE" sz="1150" i="1" dirty="0" err="1">
                <a:solidFill>
                  <a:srgbClr val="64748B"/>
                </a:solidFill>
              </a:rPr>
              <a:t>C_v</a:t>
            </a:r>
            <a:r>
              <a:rPr lang="de-DE" sz="1150" i="1" dirty="0">
                <a:solidFill>
                  <a:srgbClr val="64748B"/>
                </a:solidFill>
              </a:rPr>
              <a:t>) Measures </a:t>
            </a:r>
            <a:r>
              <a:rPr lang="de-DE" sz="1150" i="1" dirty="0" err="1">
                <a:solidFill>
                  <a:srgbClr val="64748B"/>
                </a:solidFill>
              </a:rPr>
              <a:t>how</a:t>
            </a:r>
            <a:r>
              <a:rPr lang="de-DE" sz="1150" i="1" dirty="0">
                <a:solidFill>
                  <a:srgbClr val="64748B"/>
                </a:solidFill>
              </a:rPr>
              <a:t> </a:t>
            </a:r>
            <a:r>
              <a:rPr lang="de-DE" sz="1150" i="1" dirty="0" err="1">
                <a:solidFill>
                  <a:srgbClr val="64748B"/>
                </a:solidFill>
              </a:rPr>
              <a:t>well</a:t>
            </a:r>
            <a:r>
              <a:rPr lang="de-DE" sz="1150" i="1" dirty="0">
                <a:solidFill>
                  <a:srgbClr val="64748B"/>
                </a:solidFill>
              </a:rPr>
              <a:t> the </a:t>
            </a:r>
            <a:r>
              <a:rPr lang="de-DE" sz="1150" i="1" dirty="0" err="1">
                <a:solidFill>
                  <a:srgbClr val="64748B"/>
                </a:solidFill>
              </a:rPr>
              <a:t>terms</a:t>
            </a:r>
            <a:r>
              <a:rPr lang="de-DE" sz="1150" i="1" dirty="0">
                <a:solidFill>
                  <a:srgbClr val="64748B"/>
                </a:solidFill>
              </a:rPr>
              <a:t> </a:t>
            </a:r>
            <a:r>
              <a:rPr lang="de-DE" sz="1150" i="1" dirty="0" err="1">
                <a:solidFill>
                  <a:srgbClr val="64748B"/>
                </a:solidFill>
              </a:rPr>
              <a:t>inside</a:t>
            </a:r>
            <a:r>
              <a:rPr lang="de-DE" sz="1150" i="1" dirty="0">
                <a:solidFill>
                  <a:srgbClr val="64748B"/>
                </a:solidFill>
              </a:rPr>
              <a:t> </a:t>
            </a:r>
            <a:r>
              <a:rPr lang="de-DE" sz="1150" i="1" dirty="0" err="1">
                <a:solidFill>
                  <a:srgbClr val="64748B"/>
                </a:solidFill>
              </a:rPr>
              <a:t>one</a:t>
            </a:r>
            <a:r>
              <a:rPr lang="de-DE" sz="1150" i="1" dirty="0">
                <a:solidFill>
                  <a:srgbClr val="64748B"/>
                </a:solidFill>
              </a:rPr>
              <a:t> </a:t>
            </a:r>
            <a:r>
              <a:rPr lang="de-DE" sz="1150" i="1" dirty="0" err="1">
                <a:solidFill>
                  <a:srgbClr val="64748B"/>
                </a:solidFill>
              </a:rPr>
              <a:t>topic</a:t>
            </a:r>
            <a:r>
              <a:rPr lang="de-DE" sz="1150" i="1" dirty="0">
                <a:solidFill>
                  <a:srgbClr val="64748B"/>
                </a:solidFill>
              </a:rPr>
              <a:t> </a:t>
            </a:r>
            <a:r>
              <a:rPr lang="de-DE" sz="1150" i="1" dirty="0" err="1">
                <a:solidFill>
                  <a:srgbClr val="64748B"/>
                </a:solidFill>
              </a:rPr>
              <a:t>belong</a:t>
            </a:r>
            <a:r>
              <a:rPr lang="de-DE" sz="1150" i="1" dirty="0">
                <a:solidFill>
                  <a:srgbClr val="64748B"/>
                </a:solidFill>
              </a:rPr>
              <a:t> </a:t>
            </a:r>
            <a:r>
              <a:rPr lang="de-DE" sz="1150" i="1" dirty="0" err="1">
                <a:solidFill>
                  <a:srgbClr val="64748B"/>
                </a:solidFill>
              </a:rPr>
              <a:t>together</a:t>
            </a:r>
            <a:r>
              <a:rPr lang="de-DE" sz="1150" i="1" dirty="0">
                <a:solidFill>
                  <a:srgbClr val="64748B"/>
                </a:solidFill>
              </a:rPr>
              <a:t> </a:t>
            </a:r>
            <a:r>
              <a:rPr lang="de-DE" sz="1150" i="1" dirty="0" err="1">
                <a:solidFill>
                  <a:srgbClr val="64748B"/>
                </a:solidFill>
              </a:rPr>
              <a:t>semantically</a:t>
            </a:r>
            <a:r>
              <a:rPr lang="de-DE" sz="1150" i="1" dirty="0">
                <a:solidFill>
                  <a:srgbClr val="64748B"/>
                </a:solidFill>
              </a:rPr>
              <a:t>.</a:t>
            </a:r>
            <a:endParaRPr sz="1150" i="1" dirty="0">
              <a:solidFill>
                <a:srgbClr val="64748B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13087" y="6355080"/>
            <a:ext cx="1828800" cy="1565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900" dirty="0">
                <a:solidFill>
                  <a:srgbClr val="64748B"/>
                </a:solidFill>
              </a:rPr>
              <a:t>7</a:t>
            </a:r>
            <a:r>
              <a:rPr sz="900" b="0" i="0" dirty="0">
                <a:solidFill>
                  <a:srgbClr val="64748B"/>
                </a:solidFill>
                <a:latin typeface="Aptos"/>
              </a:rPr>
              <a:t> / </a:t>
            </a:r>
            <a:r>
              <a:rPr lang="de-DE" sz="900" b="0" i="0" dirty="0">
                <a:solidFill>
                  <a:srgbClr val="64748B"/>
                </a:solidFill>
                <a:latin typeface="Aptos"/>
              </a:rPr>
              <a:t>8</a:t>
            </a:r>
            <a:endParaRPr sz="9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1FABD327-92AD-DEAA-C572-C22514D0DA05}"/>
              </a:ext>
            </a:extLst>
          </p:cNvPr>
          <p:cNvSpPr/>
          <p:nvPr/>
        </p:nvSpPr>
        <p:spPr>
          <a:xfrm>
            <a:off x="749808" y="2165410"/>
            <a:ext cx="5163159" cy="278892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63B6B6B0-0C78-3E24-7A5C-7E91CA1CC51A}"/>
              </a:ext>
            </a:extLst>
          </p:cNvPr>
          <p:cNvSpPr/>
          <p:nvPr/>
        </p:nvSpPr>
        <p:spPr>
          <a:xfrm>
            <a:off x="749808" y="2165410"/>
            <a:ext cx="32004" cy="27889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C0B01F67-81C2-9646-9F80-3527520F2A2A}"/>
              </a:ext>
            </a:extLst>
          </p:cNvPr>
          <p:cNvSpPr txBox="1"/>
          <p:nvPr/>
        </p:nvSpPr>
        <p:spPr>
          <a:xfrm>
            <a:off x="885338" y="2356147"/>
            <a:ext cx="4687671" cy="3586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lang="de-DE" sz="1000" b="1" dirty="0">
                <a:solidFill>
                  <a:schemeClr val="accent1">
                    <a:lumMod val="75000"/>
                  </a:schemeClr>
                </a:solidFill>
              </a:rPr>
              <a:t>Topic</a:t>
            </a:r>
            <a:r>
              <a:rPr lang="de-DE" sz="95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lang="de-DE" sz="1000" b="1" dirty="0">
                <a:solidFill>
                  <a:schemeClr val="accent1">
                    <a:lumMod val="75000"/>
                  </a:schemeClr>
                </a:solidFill>
              </a:rPr>
              <a:t>Modeling</a:t>
            </a:r>
            <a:br>
              <a:rPr lang="de-DE" sz="1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de-DE" sz="1000" b="1" dirty="0">
                <a:solidFill>
                  <a:schemeClr val="accent1">
                    <a:lumMod val="75000"/>
                  </a:schemeClr>
                </a:solidFill>
              </a:rPr>
              <a:t>Key Finding: </a:t>
            </a:r>
            <a:r>
              <a:rPr lang="de-DE" sz="1000" b="1" dirty="0" err="1">
                <a:solidFill>
                  <a:schemeClr val="accent1">
                    <a:lumMod val="75000"/>
                  </a:schemeClr>
                </a:solidFill>
              </a:rPr>
              <a:t>Stopword</a:t>
            </a:r>
            <a:r>
              <a:rPr lang="de-DE" sz="1000" b="1" dirty="0">
                <a:solidFill>
                  <a:schemeClr val="accent1">
                    <a:lumMod val="75000"/>
                  </a:schemeClr>
                </a:solidFill>
              </a:rPr>
              <a:t> Engineering </a:t>
            </a:r>
            <a:r>
              <a:rPr lang="de-DE" sz="1000" b="1" dirty="0" err="1">
                <a:solidFill>
                  <a:schemeClr val="accent1">
                    <a:lumMod val="75000"/>
                  </a:schemeClr>
                </a:solidFill>
              </a:rPr>
              <a:t>mattered</a:t>
            </a:r>
            <a:r>
              <a:rPr lang="de-DE" sz="1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de-DE" sz="1000" b="1" dirty="0" err="1">
                <a:solidFill>
                  <a:schemeClr val="accent1">
                    <a:lumMod val="75000"/>
                  </a:schemeClr>
                </a:solidFill>
              </a:rPr>
              <a:t>most</a:t>
            </a:r>
            <a:endParaRPr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2A2A1543-489A-BA87-B0E0-C18725FA7194}"/>
              </a:ext>
            </a:extLst>
          </p:cNvPr>
          <p:cNvSpPr txBox="1"/>
          <p:nvPr/>
        </p:nvSpPr>
        <p:spPr>
          <a:xfrm>
            <a:off x="1037844" y="2820841"/>
            <a:ext cx="4651095" cy="2215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Model: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BERTopic</a:t>
            </a:r>
            <a:endParaRPr lang="de-DE" sz="11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defRPr>
                <a:latin typeface="Aptos"/>
              </a:defRPr>
            </a:pPr>
            <a:endParaRPr lang="de-DE" sz="1200" dirty="0"/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Topic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Coherence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C_v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): 0.350</a:t>
            </a:r>
            <a:br>
              <a:rPr lang="de-DE" sz="1200" dirty="0"/>
            </a:br>
            <a:r>
              <a:rPr lang="de-DE" sz="1200" dirty="0">
                <a:solidFill>
                  <a:srgbClr val="64748B"/>
                </a:solidFill>
                <a:latin typeface="Aptos"/>
              </a:rPr>
              <a:t>Current </a:t>
            </a:r>
            <a:r>
              <a:rPr lang="de-DE" sz="1200" dirty="0" err="1">
                <a:solidFill>
                  <a:srgbClr val="64748B"/>
                </a:solidFill>
                <a:latin typeface="Aptos"/>
              </a:rPr>
              <a:t>best</a:t>
            </a:r>
            <a:r>
              <a:rPr lang="de-DE" sz="120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200" dirty="0" err="1">
                <a:solidFill>
                  <a:srgbClr val="64748B"/>
                </a:solidFill>
                <a:latin typeface="Aptos"/>
              </a:rPr>
              <a:t>configuration</a:t>
            </a:r>
            <a:r>
              <a:rPr lang="de-DE" sz="1200" dirty="0">
                <a:solidFill>
                  <a:srgbClr val="64748B"/>
                </a:solidFill>
                <a:latin typeface="Aptos"/>
              </a:rPr>
              <a:t>. Higher = </a:t>
            </a:r>
            <a:r>
              <a:rPr lang="de-DE" sz="1200" dirty="0" err="1">
                <a:solidFill>
                  <a:srgbClr val="64748B"/>
                </a:solidFill>
                <a:latin typeface="Aptos"/>
              </a:rPr>
              <a:t>more</a:t>
            </a:r>
            <a:r>
              <a:rPr lang="de-DE" sz="120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200" dirty="0" err="1">
                <a:solidFill>
                  <a:srgbClr val="64748B"/>
                </a:solidFill>
                <a:latin typeface="Aptos"/>
              </a:rPr>
              <a:t>consistent</a:t>
            </a:r>
            <a:r>
              <a:rPr lang="de-DE" sz="1200" dirty="0">
                <a:solidFill>
                  <a:srgbClr val="64748B"/>
                </a:solidFill>
                <a:latin typeface="Aptos"/>
              </a:rPr>
              <a:t>, </a:t>
            </a:r>
            <a:r>
              <a:rPr lang="de-DE" sz="1200" dirty="0" err="1">
                <a:solidFill>
                  <a:srgbClr val="64748B"/>
                </a:solidFill>
                <a:latin typeface="Aptos"/>
              </a:rPr>
              <a:t>more</a:t>
            </a:r>
            <a:r>
              <a:rPr lang="de-DE" sz="120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200" dirty="0" err="1">
                <a:solidFill>
                  <a:srgbClr val="64748B"/>
                </a:solidFill>
                <a:latin typeface="Aptos"/>
              </a:rPr>
              <a:t>interpretable</a:t>
            </a:r>
            <a:r>
              <a:rPr lang="de-DE" sz="120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200" dirty="0" err="1">
                <a:solidFill>
                  <a:srgbClr val="64748B"/>
                </a:solidFill>
                <a:latin typeface="Aptos"/>
              </a:rPr>
              <a:t>topics</a:t>
            </a:r>
            <a:r>
              <a:rPr lang="de-DE" sz="1200" dirty="0">
                <a:solidFill>
                  <a:srgbClr val="64748B"/>
                </a:solidFill>
                <a:latin typeface="Aptos"/>
              </a:rPr>
              <a:t>.</a:t>
            </a:r>
            <a:br>
              <a:rPr lang="de-DE" sz="1200" dirty="0">
                <a:solidFill>
                  <a:srgbClr val="64748B"/>
                </a:solidFill>
              </a:rPr>
            </a:br>
            <a:endParaRPr lang="de-DE" sz="1200" dirty="0">
              <a:solidFill>
                <a:srgbClr val="64748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Outlier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Rate: 18,1 %</a:t>
            </a:r>
            <a:br>
              <a:rPr lang="de-DE" sz="1200" dirty="0"/>
            </a:br>
            <a:r>
              <a:rPr lang="de-DE" sz="1200" dirty="0">
                <a:solidFill>
                  <a:srgbClr val="64748B"/>
                </a:solidFill>
                <a:latin typeface="Aptos"/>
              </a:rPr>
              <a:t>Share of </a:t>
            </a:r>
            <a:r>
              <a:rPr lang="de-DE" sz="1200" dirty="0" err="1">
                <a:solidFill>
                  <a:srgbClr val="64748B"/>
                </a:solidFill>
                <a:latin typeface="Aptos"/>
              </a:rPr>
              <a:t>comments</a:t>
            </a:r>
            <a:r>
              <a:rPr lang="de-DE" sz="1200" dirty="0">
                <a:solidFill>
                  <a:srgbClr val="64748B"/>
                </a:solidFill>
                <a:latin typeface="Aptos"/>
              </a:rPr>
              <a:t> in the </a:t>
            </a:r>
            <a:r>
              <a:rPr lang="de-DE" sz="1200" dirty="0" err="1">
                <a:solidFill>
                  <a:srgbClr val="64748B"/>
                </a:solidFill>
                <a:latin typeface="Aptos"/>
              </a:rPr>
              <a:t>noise</a:t>
            </a:r>
            <a:r>
              <a:rPr lang="de-DE" sz="120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200" dirty="0" err="1">
                <a:solidFill>
                  <a:srgbClr val="64748B"/>
                </a:solidFill>
                <a:latin typeface="Aptos"/>
              </a:rPr>
              <a:t>cluster</a:t>
            </a:r>
            <a:r>
              <a:rPr lang="de-DE" sz="1200" dirty="0">
                <a:solidFill>
                  <a:srgbClr val="64748B"/>
                </a:solidFill>
                <a:latin typeface="Aptos"/>
              </a:rPr>
              <a:t> (−1). Coverage </a:t>
            </a:r>
            <a:r>
              <a:rPr lang="de-DE" sz="1200" dirty="0" err="1">
                <a:solidFill>
                  <a:srgbClr val="64748B"/>
                </a:solidFill>
                <a:latin typeface="Aptos"/>
              </a:rPr>
              <a:t>metric</a:t>
            </a:r>
            <a:r>
              <a:rPr lang="de-DE" sz="1200" dirty="0">
                <a:solidFill>
                  <a:srgbClr val="64748B"/>
                </a:solidFill>
                <a:latin typeface="Aptos"/>
              </a:rPr>
              <a:t>.</a:t>
            </a:r>
            <a:br>
              <a:rPr lang="de-DE" sz="1200" dirty="0">
                <a:solidFill>
                  <a:srgbClr val="64748B"/>
                </a:solidFill>
              </a:rPr>
            </a:br>
            <a:endParaRPr lang="de-DE" sz="11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Manual Topic Review</a:t>
            </a:r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endParaRPr lang="de-DE" sz="1200" dirty="0">
              <a:solidFill>
                <a:srgbClr val="64748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>
                <a:latin typeface="Aptos"/>
              </a:defRPr>
            </a:pPr>
            <a:endParaRPr lang="de-DE" sz="1200" dirty="0"/>
          </a:p>
        </p:txBody>
      </p:sp>
      <p:sp>
        <p:nvSpPr>
          <p:cNvPr id="28" name="Rectangle 10">
            <a:extLst>
              <a:ext uri="{FF2B5EF4-FFF2-40B4-BE49-F238E27FC236}">
                <a16:creationId xmlns:a16="http://schemas.microsoft.com/office/drawing/2014/main" id="{DEA071F8-0F5B-93C7-56D4-062D43A900DC}"/>
              </a:ext>
            </a:extLst>
          </p:cNvPr>
          <p:cNvSpPr/>
          <p:nvPr/>
        </p:nvSpPr>
        <p:spPr>
          <a:xfrm>
            <a:off x="6278727" y="2165410"/>
            <a:ext cx="5163159" cy="278892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3A2DF3D4-3C21-FAF6-D740-3C21DE9C2F60}"/>
              </a:ext>
            </a:extLst>
          </p:cNvPr>
          <p:cNvSpPr/>
          <p:nvPr/>
        </p:nvSpPr>
        <p:spPr>
          <a:xfrm>
            <a:off x="6278727" y="2165410"/>
            <a:ext cx="32004" cy="27889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876CC251-7507-5BF8-77F3-25ABD375C141}"/>
              </a:ext>
            </a:extLst>
          </p:cNvPr>
          <p:cNvSpPr txBox="1"/>
          <p:nvPr/>
        </p:nvSpPr>
        <p:spPr>
          <a:xfrm>
            <a:off x="6534759" y="2366579"/>
            <a:ext cx="4687671" cy="174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lang="de-DE" sz="1000" b="1" dirty="0" err="1">
                <a:solidFill>
                  <a:schemeClr val="accent1">
                    <a:lumMod val="75000"/>
                  </a:schemeClr>
                </a:solidFill>
              </a:rPr>
              <a:t>Predictive</a:t>
            </a:r>
            <a:r>
              <a:rPr lang="de-DE" sz="950" b="1" i="0" dirty="0">
                <a:solidFill>
                  <a:srgbClr val="2563EB"/>
                </a:solidFill>
                <a:latin typeface="Aptos"/>
              </a:rPr>
              <a:t> </a:t>
            </a:r>
            <a:r>
              <a:rPr lang="de-DE" sz="1000" b="1" dirty="0">
                <a:solidFill>
                  <a:schemeClr val="accent1">
                    <a:lumMod val="75000"/>
                  </a:schemeClr>
                </a:solidFill>
              </a:rPr>
              <a:t>Layer</a:t>
            </a:r>
            <a:endParaRPr sz="1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B5AA5024-6157-7045-4385-1930BACF0931}"/>
              </a:ext>
            </a:extLst>
          </p:cNvPr>
          <p:cNvSpPr txBox="1"/>
          <p:nvPr/>
        </p:nvSpPr>
        <p:spPr>
          <a:xfrm>
            <a:off x="6503061" y="2820841"/>
            <a:ext cx="4651095" cy="5883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b="1" dirty="0">
                <a:solidFill>
                  <a:schemeClr val="accent1">
                    <a:lumMod val="50000"/>
                  </a:schemeClr>
                </a:solidFill>
              </a:rPr>
              <a:t>Planned Models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: Linear Regression, Random Forest,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XGBoost</a:t>
            </a:r>
            <a:endParaRPr lang="de-DE" sz="11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  <a:defRPr>
                <a:latin typeface="Aptos"/>
              </a:defRPr>
            </a:pPr>
            <a:endParaRPr lang="de-DE" sz="11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b="1" dirty="0">
                <a:solidFill>
                  <a:schemeClr val="accent1">
                    <a:lumMod val="50000"/>
                  </a:schemeClr>
                </a:solidFill>
              </a:rPr>
              <a:t>Evaluation: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MAE, RMSE, R</a:t>
            </a:r>
            <a:r>
              <a:rPr lang="de-DE" sz="1100" baseline="30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92079" cy="174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PRODUCT</a:t>
            </a:r>
            <a:r>
              <a:rPr sz="1000" dirty="0">
                <a:solidFill>
                  <a:srgbClr val="64748B"/>
                </a:solidFill>
                <a:latin typeface="Aptos"/>
              </a:rPr>
              <a:t>   ·   TARGET DASHBOARD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9195188" cy="1184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3000" dirty="0">
                <a:solidFill>
                  <a:schemeClr val="accent1">
                    <a:lumMod val="50000"/>
                  </a:schemeClr>
                </a:solidFill>
              </a:rPr>
              <a:t>Target </a:t>
            </a:r>
            <a:r>
              <a:rPr lang="de-DE" sz="3000" dirty="0" err="1">
                <a:solidFill>
                  <a:schemeClr val="accent1">
                    <a:lumMod val="50000"/>
                  </a:schemeClr>
                </a:solidFill>
              </a:rPr>
              <a:t>Product</a:t>
            </a:r>
            <a:br>
              <a:rPr lang="de-DE" sz="3000" b="0" i="0" dirty="0">
                <a:solidFill>
                  <a:srgbClr val="0F172A"/>
                </a:solidFill>
                <a:latin typeface="Aptos"/>
              </a:rPr>
            </a:br>
            <a:r>
              <a:rPr lang="de-DE" sz="1700" dirty="0">
                <a:solidFill>
                  <a:srgbClr val="727272"/>
                </a:solidFill>
              </a:rPr>
              <a:t>How ELFI </a:t>
            </a:r>
            <a:r>
              <a:rPr lang="de-DE" sz="1700" dirty="0" err="1">
                <a:solidFill>
                  <a:srgbClr val="727272"/>
                </a:solidFill>
              </a:rPr>
              <a:t>creates</a:t>
            </a:r>
            <a:r>
              <a:rPr lang="de-DE" sz="1700" dirty="0">
                <a:solidFill>
                  <a:srgbClr val="727272"/>
                </a:solidFill>
              </a:rPr>
              <a:t> </a:t>
            </a:r>
            <a:r>
              <a:rPr lang="de-DE" sz="1700" dirty="0" err="1">
                <a:solidFill>
                  <a:srgbClr val="727272"/>
                </a:solidFill>
              </a:rPr>
              <a:t>actionable</a:t>
            </a:r>
            <a:r>
              <a:rPr lang="de-DE" sz="1700" dirty="0">
                <a:solidFill>
                  <a:srgbClr val="727272"/>
                </a:solidFill>
              </a:rPr>
              <a:t> </a:t>
            </a:r>
            <a:r>
              <a:rPr lang="de-DE" sz="1700" dirty="0" err="1">
                <a:solidFill>
                  <a:srgbClr val="727272"/>
                </a:solidFill>
              </a:rPr>
              <a:t>insights</a:t>
            </a:r>
            <a:endParaRPr lang="de-DE" sz="1700" dirty="0">
              <a:solidFill>
                <a:srgbClr val="727272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endParaRPr sz="3000" b="0" i="0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8095" y="6363483"/>
            <a:ext cx="1069207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</a:rPr>
              <a:t>ELFI · MIDTERM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874518"/>
            <a:ext cx="2480995" cy="284633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9808" y="1874518"/>
            <a:ext cx="32004" cy="28463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75688"/>
            <a:ext cx="2005507" cy="180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PAGE 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sz="1600" b="1" dirty="0">
                <a:solidFill>
                  <a:schemeClr val="accent1">
                    <a:lumMod val="75000"/>
                  </a:schemeClr>
                </a:solidFill>
              </a:rPr>
              <a:t>Overview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1100" b="0" i="0" dirty="0">
                <a:solidFill>
                  <a:srgbClr val="64748B"/>
                </a:solidFill>
                <a:latin typeface="Aptos"/>
              </a:rPr>
              <a:t>Comment </a:t>
            </a:r>
            <a:r>
              <a:rPr lang="de-DE" sz="1100" b="0" i="0" dirty="0" err="1">
                <a:solidFill>
                  <a:srgbClr val="64748B"/>
                </a:solidFill>
                <a:latin typeface="Aptos"/>
              </a:rPr>
              <a:t>volume</a:t>
            </a:r>
            <a:r>
              <a:rPr lang="de-DE" sz="1100" b="0" i="0" dirty="0">
                <a:solidFill>
                  <a:srgbClr val="64748B"/>
                </a:solidFill>
                <a:latin typeface="Aptos"/>
              </a:rPr>
              <a:t>, </a:t>
            </a:r>
            <a:r>
              <a:rPr lang="de-DE" sz="1100" b="0" i="0" dirty="0" err="1">
                <a:solidFill>
                  <a:srgbClr val="64748B"/>
                </a:solidFill>
                <a:latin typeface="Aptos"/>
              </a:rPr>
              <a:t>average</a:t>
            </a:r>
            <a:r>
              <a:rPr lang="de-DE" sz="11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0" i="0" dirty="0" err="1">
                <a:solidFill>
                  <a:srgbClr val="64748B"/>
                </a:solidFill>
                <a:latin typeface="Aptos"/>
              </a:rPr>
              <a:t>valence</a:t>
            </a:r>
            <a:r>
              <a:rPr lang="de-DE" sz="1100" b="0" i="0" dirty="0">
                <a:solidFill>
                  <a:srgbClr val="64748B"/>
                </a:solidFill>
                <a:latin typeface="Aptos"/>
              </a:rPr>
              <a:t>, </a:t>
            </a:r>
            <a:r>
              <a:rPr lang="de-DE" sz="1100" b="0" i="0" dirty="0" err="1">
                <a:solidFill>
                  <a:srgbClr val="64748B"/>
                </a:solidFill>
                <a:latin typeface="Aptos"/>
              </a:rPr>
              <a:t>participation</a:t>
            </a:r>
            <a:r>
              <a:rPr lang="de-DE" sz="1100" b="0" i="0" dirty="0">
                <a:solidFill>
                  <a:srgbClr val="64748B"/>
                </a:solidFill>
                <a:latin typeface="Aptos"/>
              </a:rPr>
              <a:t>, </a:t>
            </a:r>
            <a:r>
              <a:rPr lang="de-DE" sz="1100" b="0" i="0" dirty="0" err="1">
                <a:solidFill>
                  <a:srgbClr val="64748B"/>
                </a:solidFill>
                <a:latin typeface="Aptos"/>
              </a:rPr>
              <a:t>iteration</a:t>
            </a:r>
            <a:r>
              <a:rPr lang="de-DE" sz="11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0" i="0" dirty="0" err="1">
                <a:solidFill>
                  <a:srgbClr val="64748B"/>
                </a:solidFill>
                <a:latin typeface="Aptos"/>
              </a:rPr>
              <a:t>filter</a:t>
            </a:r>
            <a:r>
              <a:rPr lang="de-DE" sz="1100" b="0" i="0" dirty="0">
                <a:solidFill>
                  <a:srgbClr val="64748B"/>
                </a:solidFill>
                <a:latin typeface="Aptos"/>
              </a:rPr>
              <a:t>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endParaRPr lang="de-DE" sz="110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25000"/>
              </a:lnSpc>
              <a:defRPr>
                <a:latin typeface="Aptos"/>
              </a:defRPr>
            </a:pPr>
            <a:r>
              <a:rPr lang="de-DE" sz="1100" b="1" dirty="0" err="1">
                <a:solidFill>
                  <a:srgbClr val="64748B"/>
                </a:solidFill>
                <a:latin typeface="Aptos"/>
              </a:rPr>
              <a:t>What</a:t>
            </a:r>
            <a:r>
              <a:rPr lang="de-DE" sz="1100" b="1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1" dirty="0" err="1">
                <a:solidFill>
                  <a:srgbClr val="64748B"/>
                </a:solidFill>
                <a:latin typeface="Aptos"/>
              </a:rPr>
              <a:t>is</a:t>
            </a:r>
            <a:r>
              <a:rPr lang="de-DE" sz="1100" b="1" dirty="0">
                <a:solidFill>
                  <a:srgbClr val="64748B"/>
                </a:solidFill>
                <a:latin typeface="Aptos"/>
              </a:rPr>
              <a:t> the </a:t>
            </a:r>
            <a:r>
              <a:rPr lang="de-DE" sz="1100" b="1" dirty="0" err="1">
                <a:solidFill>
                  <a:srgbClr val="64748B"/>
                </a:solidFill>
                <a:latin typeface="Aptos"/>
              </a:rPr>
              <a:t>current</a:t>
            </a:r>
            <a:r>
              <a:rPr lang="de-DE" sz="1100" b="1" dirty="0">
                <a:solidFill>
                  <a:srgbClr val="64748B"/>
                </a:solidFill>
                <a:latin typeface="Aptos"/>
              </a:rPr>
              <a:t> emotional and </a:t>
            </a:r>
            <a:r>
              <a:rPr lang="de-DE" sz="1100" b="1" dirty="0" err="1">
                <a:solidFill>
                  <a:srgbClr val="64748B"/>
                </a:solidFill>
                <a:latin typeface="Aptos"/>
              </a:rPr>
              <a:t>thematic</a:t>
            </a:r>
            <a:r>
              <a:rPr lang="de-DE" sz="1100" b="1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1" dirty="0" err="1">
                <a:solidFill>
                  <a:srgbClr val="64748B"/>
                </a:solidFill>
                <a:latin typeface="Aptos"/>
              </a:rPr>
              <a:t>state</a:t>
            </a:r>
            <a:r>
              <a:rPr lang="de-DE" sz="1100" b="1" dirty="0">
                <a:solidFill>
                  <a:srgbClr val="64748B"/>
                </a:solidFill>
                <a:latin typeface="Aptos"/>
              </a:rPr>
              <a:t>?</a:t>
            </a:r>
            <a:endParaRPr sz="1100" b="1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86835" y="1874518"/>
            <a:ext cx="2480995" cy="284633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86835" y="1874518"/>
            <a:ext cx="32004" cy="28463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2867" y="2075688"/>
            <a:ext cx="2005507" cy="180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PAGE 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sz="1600" b="1" dirty="0">
                <a:solidFill>
                  <a:schemeClr val="accent1">
                    <a:lumMod val="75000"/>
                  </a:schemeClr>
                </a:solidFill>
              </a:rPr>
              <a:t>Core Affect Map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100" b="0" i="0" dirty="0">
                <a:solidFill>
                  <a:srgbClr val="64748B"/>
                </a:solidFill>
                <a:latin typeface="Aptos"/>
              </a:rPr>
              <a:t>Comments and topic clusters positioned on valence × arousal. The </a:t>
            </a:r>
            <a:r>
              <a:rPr sz="1100" b="0" i="0" dirty="0" err="1">
                <a:solidFill>
                  <a:srgbClr val="64748B"/>
                </a:solidFill>
                <a:latin typeface="Aptos"/>
              </a:rPr>
              <a:t>centrepiece</a:t>
            </a:r>
            <a:r>
              <a:rPr sz="1100" b="0" i="0" dirty="0">
                <a:solidFill>
                  <a:srgbClr val="64748B"/>
                </a:solidFill>
                <a:latin typeface="Aptos"/>
              </a:rPr>
              <a:t>.</a:t>
            </a:r>
            <a:endParaRPr lang="de-DE" sz="1100" b="0" i="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endParaRPr lang="de-DE" sz="1100" b="1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1100" b="1" dirty="0">
                <a:solidFill>
                  <a:srgbClr val="64748B"/>
                </a:solidFill>
                <a:latin typeface="Aptos"/>
              </a:rPr>
              <a:t>How do </a:t>
            </a:r>
            <a:r>
              <a:rPr lang="de-DE" sz="1100" b="1" dirty="0" err="1">
                <a:solidFill>
                  <a:srgbClr val="64748B"/>
                </a:solidFill>
                <a:latin typeface="Aptos"/>
              </a:rPr>
              <a:t>employees</a:t>
            </a:r>
            <a:r>
              <a:rPr lang="de-DE" sz="1100" b="1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1" dirty="0" err="1">
                <a:solidFill>
                  <a:srgbClr val="64748B"/>
                </a:solidFill>
                <a:latin typeface="Aptos"/>
              </a:rPr>
              <a:t>feel</a:t>
            </a:r>
            <a:r>
              <a:rPr lang="de-DE" sz="1100" b="1" dirty="0">
                <a:solidFill>
                  <a:srgbClr val="64748B"/>
                </a:solidFill>
                <a:latin typeface="Aptos"/>
              </a:rPr>
              <a:t>?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endParaRPr sz="11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23863" y="1874518"/>
            <a:ext cx="2480995" cy="284633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23863" y="1874518"/>
            <a:ext cx="32004" cy="28463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9895" y="2075688"/>
            <a:ext cx="2005507" cy="2004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PAGE 3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>
                <a:latin typeface="Aptos"/>
              </a:defRPr>
            </a:pPr>
            <a:r>
              <a:rPr sz="1600" b="1" dirty="0">
                <a:solidFill>
                  <a:schemeClr val="accent1">
                    <a:lumMod val="75000"/>
                  </a:schemeClr>
                </a:solidFill>
              </a:rPr>
              <a:t>Topics &amp; Trends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100" b="0" i="0" dirty="0">
                <a:solidFill>
                  <a:srgbClr val="64748B"/>
                </a:solidFill>
                <a:latin typeface="Aptos"/>
              </a:rPr>
              <a:t>Topic frequency, movement across iterations, emotion per topic.</a:t>
            </a:r>
            <a:endParaRPr lang="de-DE" sz="1100" b="0" i="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endParaRPr lang="de-DE" sz="110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endParaRPr lang="de-DE" sz="1100" b="0" i="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1100" b="1" i="0" dirty="0" err="1">
                <a:solidFill>
                  <a:srgbClr val="64748B"/>
                </a:solidFill>
                <a:latin typeface="Aptos"/>
              </a:rPr>
              <a:t>What</a:t>
            </a:r>
            <a:r>
              <a:rPr lang="de-DE" sz="1100" b="1" i="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1" i="0" dirty="0" err="1">
                <a:solidFill>
                  <a:srgbClr val="64748B"/>
                </a:solidFill>
                <a:latin typeface="Aptos"/>
              </a:rPr>
              <a:t>are</a:t>
            </a:r>
            <a:r>
              <a:rPr lang="de-DE" sz="1100" b="1" i="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1" i="0" dirty="0" err="1">
                <a:solidFill>
                  <a:srgbClr val="64748B"/>
                </a:solidFill>
                <a:latin typeface="Aptos"/>
              </a:rPr>
              <a:t>employees</a:t>
            </a:r>
            <a:r>
              <a:rPr lang="de-DE" sz="1100" b="1" i="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1" i="0" dirty="0" err="1">
                <a:solidFill>
                  <a:srgbClr val="64748B"/>
                </a:solidFill>
                <a:latin typeface="Aptos"/>
              </a:rPr>
              <a:t>talking</a:t>
            </a:r>
            <a:r>
              <a:rPr lang="de-DE" sz="1100" b="1" i="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1" i="0" dirty="0" err="1">
                <a:solidFill>
                  <a:srgbClr val="64748B"/>
                </a:solidFill>
                <a:latin typeface="Aptos"/>
              </a:rPr>
              <a:t>about</a:t>
            </a:r>
            <a:r>
              <a:rPr lang="de-DE" sz="1100" b="1" i="0" dirty="0">
                <a:solidFill>
                  <a:srgbClr val="64748B"/>
                </a:solidFill>
                <a:latin typeface="Aptos"/>
              </a:rPr>
              <a:t>?</a:t>
            </a:r>
            <a:endParaRPr sz="1100" b="1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60891" y="1874518"/>
            <a:ext cx="2480995" cy="284633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0891" y="1874518"/>
            <a:ext cx="32004" cy="28463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6923" y="2075688"/>
            <a:ext cx="2005507" cy="1644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PAGE 4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sz="1600" b="1" dirty="0" err="1">
                <a:solidFill>
                  <a:schemeClr val="accent1">
                    <a:lumMod val="75000"/>
                  </a:schemeClr>
                </a:solidFill>
              </a:rPr>
              <a:t>Organi</a:t>
            </a:r>
            <a:r>
              <a:rPr lang="de-DE" sz="1600" b="1" dirty="0" err="1">
                <a:solidFill>
                  <a:schemeClr val="accent1">
                    <a:lumMod val="75000"/>
                  </a:schemeClr>
                </a:solidFill>
              </a:rPr>
              <a:t>z</a:t>
            </a:r>
            <a:r>
              <a:rPr sz="1600" b="1" dirty="0" err="1">
                <a:solidFill>
                  <a:schemeClr val="accent1">
                    <a:lumMod val="75000"/>
                  </a:schemeClr>
                </a:solidFill>
              </a:rPr>
              <a:t>ational</a:t>
            </a:r>
            <a:r>
              <a:rPr sz="1600" b="1" dirty="0">
                <a:solidFill>
                  <a:schemeClr val="accent1">
                    <a:lumMod val="75000"/>
                  </a:schemeClr>
                </a:solidFill>
              </a:rPr>
              <a:t> Comparison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100" b="0" i="0" dirty="0">
                <a:solidFill>
                  <a:srgbClr val="64748B"/>
                </a:solidFill>
                <a:latin typeface="Aptos"/>
              </a:rPr>
              <a:t>Business units side by side, valence against survey scores.</a:t>
            </a:r>
            <a:endParaRPr lang="de-DE" sz="1100" b="0" i="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endParaRPr lang="de-DE" sz="1100" b="1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1100" b="1" i="0" dirty="0" err="1">
                <a:solidFill>
                  <a:srgbClr val="64748B"/>
                </a:solidFill>
                <a:latin typeface="Aptos"/>
              </a:rPr>
              <a:t>Where</a:t>
            </a:r>
            <a:r>
              <a:rPr lang="de-DE" sz="1100" b="1" i="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1" i="0" dirty="0" err="1">
                <a:solidFill>
                  <a:srgbClr val="64748B"/>
                </a:solidFill>
                <a:latin typeface="Aptos"/>
              </a:rPr>
              <a:t>should</a:t>
            </a:r>
            <a:r>
              <a:rPr lang="de-DE" sz="1100" b="1" i="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1" i="0" dirty="0" err="1">
                <a:solidFill>
                  <a:srgbClr val="64748B"/>
                </a:solidFill>
                <a:latin typeface="Aptos"/>
              </a:rPr>
              <a:t>action</a:t>
            </a:r>
            <a:r>
              <a:rPr lang="de-DE" sz="1100" b="1" i="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1" i="0" dirty="0" err="1">
                <a:solidFill>
                  <a:srgbClr val="64748B"/>
                </a:solidFill>
                <a:latin typeface="Aptos"/>
              </a:rPr>
              <a:t>be</a:t>
            </a:r>
            <a:r>
              <a:rPr lang="de-DE" sz="1100" b="1" i="0" dirty="0">
                <a:solidFill>
                  <a:srgbClr val="64748B"/>
                </a:solidFill>
                <a:latin typeface="Aptos"/>
              </a:rPr>
              <a:t> </a:t>
            </a:r>
            <a:r>
              <a:rPr lang="de-DE" sz="1100" b="1" i="0" dirty="0" err="1">
                <a:solidFill>
                  <a:srgbClr val="64748B"/>
                </a:solidFill>
                <a:latin typeface="Aptos"/>
              </a:rPr>
              <a:t>taken</a:t>
            </a:r>
            <a:r>
              <a:rPr lang="de-DE" sz="1100" b="1" i="0" dirty="0">
                <a:solidFill>
                  <a:srgbClr val="64748B"/>
                </a:solidFill>
                <a:latin typeface="Aptos"/>
              </a:rPr>
              <a:t>?</a:t>
            </a:r>
            <a:endParaRPr sz="1100" b="1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9808" y="5115325"/>
            <a:ext cx="10692079" cy="9625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solidFill>
                <a:schemeClr val="accent1">
                  <a:lumMod val="40000"/>
                  <a:lumOff val="60000"/>
                </a:schemeClr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49808" y="5115325"/>
            <a:ext cx="32004" cy="96250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316492"/>
            <a:ext cx="10216591" cy="5584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lang="de-DE" sz="1000" b="1" dirty="0">
                <a:solidFill>
                  <a:schemeClr val="accent1">
                    <a:lumMod val="75000"/>
                  </a:schemeClr>
                </a:solidFill>
              </a:rPr>
              <a:t>Comments </a:t>
            </a:r>
            <a:r>
              <a:rPr lang="de-DE" sz="10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 </a:t>
            </a:r>
            <a:r>
              <a:rPr lang="de-DE" sz="1000" b="1" dirty="0" err="1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Emotions</a:t>
            </a:r>
            <a:r>
              <a:rPr lang="de-DE" sz="10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  Topics  </a:t>
            </a:r>
            <a:r>
              <a:rPr lang="de-DE" sz="1000" b="1" dirty="0" err="1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Insights</a:t>
            </a:r>
            <a:r>
              <a:rPr lang="de-DE" sz="10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  Actions</a:t>
            </a:r>
            <a:endParaRPr lang="de-DE" sz="10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Turning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employee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feedback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into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 organizational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</a:rPr>
              <a:t>decisions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3087" y="6355080"/>
            <a:ext cx="1828800" cy="1565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900" dirty="0">
                <a:solidFill>
                  <a:srgbClr val="64748B"/>
                </a:solidFill>
              </a:rPr>
              <a:t>7 </a:t>
            </a:r>
            <a:r>
              <a:rPr sz="900" b="0" i="0" dirty="0">
                <a:solidFill>
                  <a:srgbClr val="64748B"/>
                </a:solidFill>
                <a:latin typeface="Aptos"/>
              </a:rPr>
              <a:t>/ </a:t>
            </a:r>
            <a:r>
              <a:rPr lang="de-DE" sz="900" b="0" i="0" dirty="0">
                <a:solidFill>
                  <a:srgbClr val="64748B"/>
                </a:solidFill>
                <a:latin typeface="Aptos"/>
              </a:rPr>
              <a:t>8</a:t>
            </a:r>
            <a:endParaRPr sz="900" b="0" i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afik 47">
            <a:extLst>
              <a:ext uri="{FF2B5EF4-FFF2-40B4-BE49-F238E27FC236}">
                <a16:creationId xmlns:a16="http://schemas.microsoft.com/office/drawing/2014/main" id="{DAA9CDDD-29C5-3019-F5B9-6CEE36B4F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" y="0"/>
            <a:ext cx="12141708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692079" cy="174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OUTLOOK</a:t>
            </a:r>
            <a:r>
              <a:rPr sz="1000" dirty="0">
                <a:solidFill>
                  <a:srgbClr val="64748B"/>
                </a:solidFill>
                <a:latin typeface="Aptos"/>
              </a:rPr>
              <a:t>   ·   RISKS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9195188" cy="723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3000" dirty="0">
                <a:solidFill>
                  <a:schemeClr val="accent1">
                    <a:lumMod val="50000"/>
                  </a:schemeClr>
                </a:solidFill>
              </a:rPr>
              <a:t>Roadmap, </a:t>
            </a:r>
            <a:r>
              <a:rPr lang="de-DE" sz="3000" dirty="0" err="1">
                <a:solidFill>
                  <a:schemeClr val="accent1">
                    <a:lumMod val="50000"/>
                  </a:schemeClr>
                </a:solidFill>
              </a:rPr>
              <a:t>Risks</a:t>
            </a:r>
            <a:r>
              <a:rPr lang="de-DE" sz="3000" dirty="0">
                <a:solidFill>
                  <a:schemeClr val="accent1">
                    <a:lumMod val="50000"/>
                  </a:schemeClr>
                </a:solidFill>
              </a:rPr>
              <a:t> &amp; Next </a:t>
            </a:r>
            <a:r>
              <a:rPr lang="de-DE" sz="3000" dirty="0" err="1">
                <a:solidFill>
                  <a:schemeClr val="accent1">
                    <a:lumMod val="50000"/>
                  </a:schemeClr>
                </a:solidFill>
              </a:rPr>
              <a:t>Steps</a:t>
            </a:r>
            <a:endParaRPr lang="de-DE" sz="30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defRPr>
                <a:latin typeface="Aptos"/>
              </a:defRPr>
            </a:pPr>
            <a:r>
              <a:rPr lang="de-DE" sz="1700" dirty="0">
                <a:solidFill>
                  <a:srgbClr val="727272"/>
                </a:solidFill>
              </a:rPr>
              <a:t>Current </a:t>
            </a:r>
            <a:r>
              <a:rPr lang="de-DE" sz="1700" dirty="0" err="1">
                <a:solidFill>
                  <a:srgbClr val="727272"/>
                </a:solidFill>
              </a:rPr>
              <a:t>status</a:t>
            </a:r>
            <a:r>
              <a:rPr lang="de-DE" sz="1700" dirty="0">
                <a:solidFill>
                  <a:srgbClr val="727272"/>
                </a:solidFill>
              </a:rPr>
              <a:t> and </a:t>
            </a:r>
            <a:r>
              <a:rPr lang="de-DE" sz="1700" dirty="0" err="1">
                <a:solidFill>
                  <a:srgbClr val="727272"/>
                </a:solidFill>
              </a:rPr>
              <a:t>path</a:t>
            </a:r>
            <a:r>
              <a:rPr lang="de-DE" sz="1700" dirty="0">
                <a:solidFill>
                  <a:srgbClr val="727272"/>
                </a:solidFill>
              </a:rPr>
              <a:t> to the final </a:t>
            </a:r>
            <a:r>
              <a:rPr lang="de-DE" sz="1700" dirty="0" err="1">
                <a:solidFill>
                  <a:srgbClr val="727272"/>
                </a:solidFill>
              </a:rPr>
              <a:t>product</a:t>
            </a:r>
            <a:endParaRPr sz="1700" dirty="0">
              <a:solidFill>
                <a:srgbClr val="72727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6355080"/>
            <a:ext cx="1069207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</a:rPr>
              <a:t>ELFI · MIDTERM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3182325"/>
            <a:ext cx="5163159" cy="2286000"/>
          </a:xfrm>
          <a:prstGeom prst="rect">
            <a:avLst/>
          </a:prstGeom>
          <a:solidFill>
            <a:srgbClr val="EFF6FF"/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3182325"/>
            <a:ext cx="32004" cy="228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383494"/>
            <a:ext cx="4687671" cy="10131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RISKS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Synthetic text quality.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Arousal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model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not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validated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yet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. Valence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could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differentiate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even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more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sz="1100" dirty="0">
                <a:solidFill>
                  <a:schemeClr val="accent1">
                    <a:lumMod val="50000"/>
                  </a:schemeClr>
                </a:solidFill>
              </a:rPr>
              <a:t>Topic granularity.</a:t>
            </a:r>
            <a:endParaRPr lang="de-DE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78727" y="3182325"/>
            <a:ext cx="5163159" cy="2286000"/>
          </a:xfrm>
          <a:prstGeom prst="rect">
            <a:avLst/>
          </a:prstGeom>
          <a:solidFill>
            <a:srgbClr val="EFF6FF"/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78727" y="3182325"/>
            <a:ext cx="32004" cy="228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4759" y="3340965"/>
            <a:ext cx="4687671" cy="22215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>
                <a:latin typeface="Aptos"/>
              </a:defRPr>
            </a:pPr>
            <a:r>
              <a:rPr sz="1000" b="1" dirty="0">
                <a:solidFill>
                  <a:schemeClr val="accent1">
                    <a:lumMod val="75000"/>
                  </a:schemeClr>
                </a:solidFill>
              </a:rPr>
              <a:t>NEXT STEPS</a:t>
            </a:r>
            <a:endParaRPr lang="de-DE" sz="1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Emotion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mapping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Topic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consolidation</a:t>
            </a:r>
            <a:endParaRPr lang="de-DE" sz="11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Topic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trends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&amp; organizational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comparison</a:t>
            </a:r>
            <a:endParaRPr lang="de-DE" sz="11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Predictive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modelling</a:t>
            </a:r>
            <a:endParaRPr lang="de-DE" sz="1100" dirty="0">
              <a:solidFill>
                <a:schemeClr val="accent1">
                  <a:lumMod val="50000"/>
                </a:schemeClr>
              </a:solidFill>
            </a:endParaRP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Dashboard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finalisation</a:t>
            </a: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ptos"/>
              </a:defRPr>
            </a:pPr>
            <a:r>
              <a:rPr lang="de-DE" sz="1100" dirty="0">
                <a:solidFill>
                  <a:schemeClr val="accent1">
                    <a:lumMod val="50000"/>
                  </a:schemeClr>
                </a:solidFill>
              </a:rPr>
              <a:t>Evaluation &amp; </a:t>
            </a:r>
            <a:r>
              <a:rPr lang="de-DE" sz="1100" dirty="0" err="1">
                <a:solidFill>
                  <a:schemeClr val="accent1">
                    <a:lumMod val="50000"/>
                  </a:schemeClr>
                </a:solidFill>
              </a:rPr>
              <a:t>validation</a:t>
            </a:r>
            <a:br>
              <a:rPr lang="de-DE" dirty="0"/>
            </a:br>
            <a:endParaRPr lang="de-DE" dirty="0"/>
          </a:p>
        </p:txBody>
      </p:sp>
      <p:sp>
        <p:nvSpPr>
          <p:cNvPr id="14" name="TextBox 13"/>
          <p:cNvSpPr txBox="1"/>
          <p:nvPr/>
        </p:nvSpPr>
        <p:spPr>
          <a:xfrm>
            <a:off x="9633082" y="6355080"/>
            <a:ext cx="1828800" cy="1565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900" dirty="0">
                <a:solidFill>
                  <a:srgbClr val="64748B"/>
                </a:solidFill>
              </a:rPr>
              <a:t>8 / 8</a:t>
            </a:r>
            <a:endParaRPr sz="9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41831035-789E-0909-BD40-52CD1F6CD6A6}"/>
              </a:ext>
            </a:extLst>
          </p:cNvPr>
          <p:cNvSpPr/>
          <p:nvPr/>
        </p:nvSpPr>
        <p:spPr>
          <a:xfrm>
            <a:off x="746757" y="1707592"/>
            <a:ext cx="952401" cy="1321628"/>
          </a:xfrm>
          <a:prstGeom prst="rect">
            <a:avLst/>
          </a:prstGeom>
          <a:solidFill>
            <a:srgbClr val="EFF6FF"/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39BEC29D-CAAA-8D51-6E35-55CF5F2B8690}"/>
              </a:ext>
            </a:extLst>
          </p:cNvPr>
          <p:cNvSpPr/>
          <p:nvPr/>
        </p:nvSpPr>
        <p:spPr>
          <a:xfrm>
            <a:off x="746755" y="1707592"/>
            <a:ext cx="45719" cy="13216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25E554C3-3563-0DF9-9654-41C7618A92AC}"/>
              </a:ext>
            </a:extLst>
          </p:cNvPr>
          <p:cNvSpPr txBox="1"/>
          <p:nvPr/>
        </p:nvSpPr>
        <p:spPr>
          <a:xfrm>
            <a:off x="868817" y="1844753"/>
            <a:ext cx="764573" cy="756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EDA &amp;</a:t>
            </a:r>
            <a:br>
              <a:rPr lang="de-DE" sz="11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</a:br>
            <a:r>
              <a:rPr lang="de-DE" sz="1100" b="1" i="0" dirty="0">
                <a:solidFill>
                  <a:schemeClr val="tx2">
                    <a:lumMod val="50000"/>
                  </a:schemeClr>
                </a:solidFill>
                <a:latin typeface="Aptos"/>
              </a:rPr>
              <a:t>Data Quali</a:t>
            </a:r>
            <a:r>
              <a:rPr lang="de-DE" sz="1100" b="1" dirty="0">
                <a:solidFill>
                  <a:schemeClr val="tx2">
                    <a:lumMod val="50000"/>
                  </a:schemeClr>
                </a:solidFill>
                <a:latin typeface="Aptos"/>
              </a:rPr>
              <a:t>ty</a:t>
            </a:r>
            <a:endParaRPr sz="1100" b="1" i="0" dirty="0">
              <a:solidFill>
                <a:schemeClr val="tx2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E4112313-C85B-0A6F-D904-2C333A38DA01}"/>
              </a:ext>
            </a:extLst>
          </p:cNvPr>
          <p:cNvSpPr txBox="1"/>
          <p:nvPr/>
        </p:nvSpPr>
        <p:spPr>
          <a:xfrm>
            <a:off x="1718700" y="2137361"/>
            <a:ext cx="103635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 dirty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4018D630-4909-C235-BCDD-1387036C3BCB}"/>
              </a:ext>
            </a:extLst>
          </p:cNvPr>
          <p:cNvSpPr/>
          <p:nvPr/>
        </p:nvSpPr>
        <p:spPr>
          <a:xfrm>
            <a:off x="1851393" y="1707592"/>
            <a:ext cx="940755" cy="1321628"/>
          </a:xfrm>
          <a:prstGeom prst="rect">
            <a:avLst/>
          </a:prstGeom>
          <a:solidFill>
            <a:srgbClr val="EFF6FF"/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D1689CBD-D2FA-5273-2EB6-5D4CD5576D8C}"/>
              </a:ext>
            </a:extLst>
          </p:cNvPr>
          <p:cNvSpPr/>
          <p:nvPr/>
        </p:nvSpPr>
        <p:spPr>
          <a:xfrm>
            <a:off x="1851392" y="1707592"/>
            <a:ext cx="45719" cy="13216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0E76D51F-B1D5-6CE3-693F-833E04AD15C7}"/>
              </a:ext>
            </a:extLst>
          </p:cNvPr>
          <p:cNvSpPr txBox="1"/>
          <p:nvPr/>
        </p:nvSpPr>
        <p:spPr>
          <a:xfrm>
            <a:off x="1973454" y="1844753"/>
            <a:ext cx="764573" cy="6092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Survey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Scoring</a:t>
            </a:r>
            <a:endParaRPr sz="1100" b="1" i="0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B16679A0-4A54-F212-E90D-DDCB532F3512}"/>
              </a:ext>
            </a:extLst>
          </p:cNvPr>
          <p:cNvSpPr txBox="1"/>
          <p:nvPr/>
        </p:nvSpPr>
        <p:spPr>
          <a:xfrm>
            <a:off x="2823347" y="2137361"/>
            <a:ext cx="103635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8DA68816-6C6B-18CB-73ED-D0F095753185}"/>
              </a:ext>
            </a:extLst>
          </p:cNvPr>
          <p:cNvSpPr/>
          <p:nvPr/>
        </p:nvSpPr>
        <p:spPr>
          <a:xfrm>
            <a:off x="2956040" y="1707592"/>
            <a:ext cx="940755" cy="1321628"/>
          </a:xfrm>
          <a:prstGeom prst="rect">
            <a:avLst/>
          </a:prstGeom>
          <a:solidFill>
            <a:srgbClr val="EFF6FF"/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4B15CBCC-EFAF-6B48-A3A7-C3F4F8BE76D6}"/>
              </a:ext>
            </a:extLst>
          </p:cNvPr>
          <p:cNvSpPr/>
          <p:nvPr/>
        </p:nvSpPr>
        <p:spPr>
          <a:xfrm>
            <a:off x="2956039" y="1707592"/>
            <a:ext cx="45719" cy="13216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91FA5CD8-72CF-B7F3-5D73-7A05A67C7340}"/>
              </a:ext>
            </a:extLst>
          </p:cNvPr>
          <p:cNvSpPr txBox="1"/>
          <p:nvPr/>
        </p:nvSpPr>
        <p:spPr>
          <a:xfrm>
            <a:off x="3078101" y="1844753"/>
            <a:ext cx="764573" cy="5932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03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Synthetic</a:t>
            </a:r>
            <a:endParaRPr lang="de-DE" sz="1100" b="1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Da</a:t>
            </a:r>
            <a:r>
              <a:rPr lang="de-DE" sz="11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taset</a:t>
            </a:r>
            <a:endParaRPr sz="1100" b="1" i="0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FE673AF5-DBA1-1BBA-EE64-295CC9B8AE4C}"/>
              </a:ext>
            </a:extLst>
          </p:cNvPr>
          <p:cNvSpPr txBox="1"/>
          <p:nvPr/>
        </p:nvSpPr>
        <p:spPr>
          <a:xfrm>
            <a:off x="3896091" y="2137361"/>
            <a:ext cx="103635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31" name="Rectangle 17">
            <a:extLst>
              <a:ext uri="{FF2B5EF4-FFF2-40B4-BE49-F238E27FC236}">
                <a16:creationId xmlns:a16="http://schemas.microsoft.com/office/drawing/2014/main" id="{D566BA41-9949-8D20-9773-3192A4D78F3E}"/>
              </a:ext>
            </a:extLst>
          </p:cNvPr>
          <p:cNvSpPr/>
          <p:nvPr/>
        </p:nvSpPr>
        <p:spPr>
          <a:xfrm>
            <a:off x="4028784" y="1707592"/>
            <a:ext cx="940755" cy="1321628"/>
          </a:xfrm>
          <a:prstGeom prst="rect">
            <a:avLst/>
          </a:prstGeom>
          <a:solidFill>
            <a:srgbClr val="EFF6FF"/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2F81D46E-648A-4203-4E63-FC1DE6474DF7}"/>
              </a:ext>
            </a:extLst>
          </p:cNvPr>
          <p:cNvSpPr/>
          <p:nvPr/>
        </p:nvSpPr>
        <p:spPr>
          <a:xfrm>
            <a:off x="4028783" y="1707592"/>
            <a:ext cx="45719" cy="13216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5A07241A-EF23-7C77-BA55-022614B1D2BC}"/>
              </a:ext>
            </a:extLst>
          </p:cNvPr>
          <p:cNvSpPr txBox="1"/>
          <p:nvPr/>
        </p:nvSpPr>
        <p:spPr>
          <a:xfrm>
            <a:off x="4108313" y="1844753"/>
            <a:ext cx="857177" cy="5932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04</a:t>
            </a:r>
            <a:endParaRPr lang="de-DE" sz="900" b="0" i="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Zero Shot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Baseline</a:t>
            </a:r>
            <a:endParaRPr lang="de-DE" sz="1100" b="1" i="0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151A4CB5-322F-44A0-5995-B933C8825134}"/>
              </a:ext>
            </a:extLst>
          </p:cNvPr>
          <p:cNvSpPr txBox="1"/>
          <p:nvPr/>
        </p:nvSpPr>
        <p:spPr>
          <a:xfrm>
            <a:off x="4990114" y="2137361"/>
            <a:ext cx="103635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 dirty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35" name="Rectangle 21">
            <a:extLst>
              <a:ext uri="{FF2B5EF4-FFF2-40B4-BE49-F238E27FC236}">
                <a16:creationId xmlns:a16="http://schemas.microsoft.com/office/drawing/2014/main" id="{D55367CD-3584-280A-AE74-A13EEED93BBB}"/>
              </a:ext>
            </a:extLst>
          </p:cNvPr>
          <p:cNvSpPr/>
          <p:nvPr/>
        </p:nvSpPr>
        <p:spPr>
          <a:xfrm>
            <a:off x="5112174" y="1707592"/>
            <a:ext cx="940755" cy="1321628"/>
          </a:xfrm>
          <a:prstGeom prst="rect">
            <a:avLst/>
          </a:prstGeom>
          <a:solidFill>
            <a:srgbClr val="EFF6FF"/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6" name="Rectangle 22">
            <a:extLst>
              <a:ext uri="{FF2B5EF4-FFF2-40B4-BE49-F238E27FC236}">
                <a16:creationId xmlns:a16="http://schemas.microsoft.com/office/drawing/2014/main" id="{B9E6F71E-B3C7-763B-3AC6-95ACF68304C0}"/>
              </a:ext>
            </a:extLst>
          </p:cNvPr>
          <p:cNvSpPr/>
          <p:nvPr/>
        </p:nvSpPr>
        <p:spPr>
          <a:xfrm>
            <a:off x="5112173" y="1707592"/>
            <a:ext cx="45719" cy="13216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3F8D11B1-C569-2A56-FAF4-49C47915E369}"/>
              </a:ext>
            </a:extLst>
          </p:cNvPr>
          <p:cNvSpPr txBox="1"/>
          <p:nvPr/>
        </p:nvSpPr>
        <p:spPr>
          <a:xfrm>
            <a:off x="5234235" y="1844753"/>
            <a:ext cx="764573" cy="8094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05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German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Sentiment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BERT</a:t>
            </a:r>
            <a:endParaRPr sz="1100" b="1" i="0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990E0946-D6A9-12C1-007C-E7271F9B466C}"/>
              </a:ext>
            </a:extLst>
          </p:cNvPr>
          <p:cNvSpPr txBox="1"/>
          <p:nvPr/>
        </p:nvSpPr>
        <p:spPr>
          <a:xfrm>
            <a:off x="6062865" y="2137361"/>
            <a:ext cx="103635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E6927BD7-32BB-6A28-77CE-EEB896CB3370}"/>
              </a:ext>
            </a:extLst>
          </p:cNvPr>
          <p:cNvSpPr/>
          <p:nvPr/>
        </p:nvSpPr>
        <p:spPr>
          <a:xfrm>
            <a:off x="6195558" y="1707592"/>
            <a:ext cx="940755" cy="1321628"/>
          </a:xfrm>
          <a:prstGeom prst="rect">
            <a:avLst/>
          </a:prstGeom>
          <a:solidFill>
            <a:srgbClr val="EFF6FF"/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40" name="Rectangle 26">
            <a:extLst>
              <a:ext uri="{FF2B5EF4-FFF2-40B4-BE49-F238E27FC236}">
                <a16:creationId xmlns:a16="http://schemas.microsoft.com/office/drawing/2014/main" id="{35B1313A-8074-FE5E-0F00-A66EBCAD3415}"/>
              </a:ext>
            </a:extLst>
          </p:cNvPr>
          <p:cNvSpPr/>
          <p:nvPr/>
        </p:nvSpPr>
        <p:spPr>
          <a:xfrm>
            <a:off x="6195557" y="1707592"/>
            <a:ext cx="45719" cy="13216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280C9EFE-27E1-E5F8-5B8B-51D1AFFC5D5A}"/>
              </a:ext>
            </a:extLst>
          </p:cNvPr>
          <p:cNvSpPr txBox="1"/>
          <p:nvPr/>
        </p:nvSpPr>
        <p:spPr>
          <a:xfrm>
            <a:off x="6317619" y="1844753"/>
            <a:ext cx="764573" cy="5932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06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BERTopic</a:t>
            </a:r>
            <a:endParaRPr lang="de-DE" sz="1100" b="1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&amp; Trends</a:t>
            </a:r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9293866A-A295-D947-6CDD-5EA97640A9BD}"/>
              </a:ext>
            </a:extLst>
          </p:cNvPr>
          <p:cNvSpPr txBox="1"/>
          <p:nvPr/>
        </p:nvSpPr>
        <p:spPr>
          <a:xfrm>
            <a:off x="7160593" y="2173039"/>
            <a:ext cx="103635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43" name="Rectangle 21">
            <a:extLst>
              <a:ext uri="{FF2B5EF4-FFF2-40B4-BE49-F238E27FC236}">
                <a16:creationId xmlns:a16="http://schemas.microsoft.com/office/drawing/2014/main" id="{A05669B0-5904-9AD2-DEE8-A79CA0D1C099}"/>
              </a:ext>
            </a:extLst>
          </p:cNvPr>
          <p:cNvSpPr/>
          <p:nvPr/>
        </p:nvSpPr>
        <p:spPr>
          <a:xfrm>
            <a:off x="7282653" y="1711371"/>
            <a:ext cx="940755" cy="1321628"/>
          </a:xfrm>
          <a:prstGeom prst="rect">
            <a:avLst/>
          </a:prstGeom>
          <a:solidFill>
            <a:srgbClr val="EFF6FF"/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9C64BCC3-9BE2-FFD3-69B5-E4A06D509305}"/>
              </a:ext>
            </a:extLst>
          </p:cNvPr>
          <p:cNvSpPr txBox="1"/>
          <p:nvPr/>
        </p:nvSpPr>
        <p:spPr>
          <a:xfrm>
            <a:off x="7404714" y="1848532"/>
            <a:ext cx="764573" cy="5932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</a:t>
            </a:r>
            <a:r>
              <a:rPr lang="de-DE" sz="900" b="0" i="0" dirty="0">
                <a:solidFill>
                  <a:srgbClr val="64748B"/>
                </a:solidFill>
                <a:latin typeface="Aptos"/>
              </a:rPr>
              <a:t>7</a:t>
            </a:r>
            <a:endParaRPr sz="900" b="0" i="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Dashboard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Concept</a:t>
            </a:r>
            <a:endParaRPr sz="1100" b="1" i="0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3CB661BE-37A9-BB93-E970-DAC8970B2D80}"/>
              </a:ext>
            </a:extLst>
          </p:cNvPr>
          <p:cNvSpPr txBox="1"/>
          <p:nvPr/>
        </p:nvSpPr>
        <p:spPr>
          <a:xfrm>
            <a:off x="8233340" y="2141140"/>
            <a:ext cx="120492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1AEF3C39-0934-5D1E-C655-A4DD5CC87403}"/>
              </a:ext>
            </a:extLst>
          </p:cNvPr>
          <p:cNvSpPr/>
          <p:nvPr/>
        </p:nvSpPr>
        <p:spPr>
          <a:xfrm>
            <a:off x="8355400" y="1711371"/>
            <a:ext cx="940755" cy="1321628"/>
          </a:xfrm>
          <a:prstGeom prst="rect">
            <a:avLst/>
          </a:prstGeom>
          <a:solidFill>
            <a:srgbClr val="EFF6FF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dirty="0"/>
          </a:p>
        </p:txBody>
      </p:sp>
      <p:sp>
        <p:nvSpPr>
          <p:cNvPr id="47" name="Rectangle 26">
            <a:extLst>
              <a:ext uri="{FF2B5EF4-FFF2-40B4-BE49-F238E27FC236}">
                <a16:creationId xmlns:a16="http://schemas.microsoft.com/office/drawing/2014/main" id="{ED44ADAD-D8BD-F446-0050-932B2EBEC14C}"/>
              </a:ext>
            </a:extLst>
          </p:cNvPr>
          <p:cNvSpPr/>
          <p:nvPr/>
        </p:nvSpPr>
        <p:spPr>
          <a:xfrm>
            <a:off x="8355399" y="1711371"/>
            <a:ext cx="45719" cy="13216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48" name="TextBox 27">
            <a:extLst>
              <a:ext uri="{FF2B5EF4-FFF2-40B4-BE49-F238E27FC236}">
                <a16:creationId xmlns:a16="http://schemas.microsoft.com/office/drawing/2014/main" id="{260BC32A-DCF9-22A2-AF40-757874073461}"/>
              </a:ext>
            </a:extLst>
          </p:cNvPr>
          <p:cNvSpPr txBox="1"/>
          <p:nvPr/>
        </p:nvSpPr>
        <p:spPr>
          <a:xfrm>
            <a:off x="8477461" y="1848532"/>
            <a:ext cx="764573" cy="5547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</a:t>
            </a:r>
            <a:r>
              <a:rPr lang="de-DE" sz="900" b="0" i="0" dirty="0">
                <a:solidFill>
                  <a:srgbClr val="64748B"/>
                </a:solidFill>
                <a:latin typeface="Aptos"/>
              </a:rPr>
              <a:t>8</a:t>
            </a:r>
            <a:endParaRPr sz="900" b="0" i="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Arousal Dimension</a:t>
            </a:r>
            <a:endParaRPr sz="1100" b="1" i="0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50" name="Rectangle 26">
            <a:extLst>
              <a:ext uri="{FF2B5EF4-FFF2-40B4-BE49-F238E27FC236}">
                <a16:creationId xmlns:a16="http://schemas.microsoft.com/office/drawing/2014/main" id="{D99CE316-6911-F505-20CA-7E229E6C40AE}"/>
              </a:ext>
            </a:extLst>
          </p:cNvPr>
          <p:cNvSpPr/>
          <p:nvPr/>
        </p:nvSpPr>
        <p:spPr>
          <a:xfrm>
            <a:off x="7284245" y="1711295"/>
            <a:ext cx="45719" cy="13216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51" name="TextBox 20">
            <a:extLst>
              <a:ext uri="{FF2B5EF4-FFF2-40B4-BE49-F238E27FC236}">
                <a16:creationId xmlns:a16="http://schemas.microsoft.com/office/drawing/2014/main" id="{09CF4017-B4B4-1CB7-36D3-53DE9E8CBECA}"/>
              </a:ext>
            </a:extLst>
          </p:cNvPr>
          <p:cNvSpPr txBox="1"/>
          <p:nvPr/>
        </p:nvSpPr>
        <p:spPr>
          <a:xfrm>
            <a:off x="9315691" y="2173039"/>
            <a:ext cx="103635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52" name="Rectangle 21">
            <a:extLst>
              <a:ext uri="{FF2B5EF4-FFF2-40B4-BE49-F238E27FC236}">
                <a16:creationId xmlns:a16="http://schemas.microsoft.com/office/drawing/2014/main" id="{D510DD18-5A58-95A6-4989-C2D95674AEF6}"/>
              </a:ext>
            </a:extLst>
          </p:cNvPr>
          <p:cNvSpPr/>
          <p:nvPr/>
        </p:nvSpPr>
        <p:spPr>
          <a:xfrm>
            <a:off x="9437751" y="1711371"/>
            <a:ext cx="940755" cy="1321628"/>
          </a:xfrm>
          <a:prstGeom prst="rect">
            <a:avLst/>
          </a:prstGeom>
          <a:solidFill>
            <a:srgbClr val="EFF6FF"/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53" name="TextBox 23">
            <a:extLst>
              <a:ext uri="{FF2B5EF4-FFF2-40B4-BE49-F238E27FC236}">
                <a16:creationId xmlns:a16="http://schemas.microsoft.com/office/drawing/2014/main" id="{ADF4FA5F-CDE2-421A-85DD-72098A0CD24A}"/>
              </a:ext>
            </a:extLst>
          </p:cNvPr>
          <p:cNvSpPr txBox="1"/>
          <p:nvPr/>
        </p:nvSpPr>
        <p:spPr>
          <a:xfrm>
            <a:off x="9549179" y="1848532"/>
            <a:ext cx="764573" cy="5547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sz="900" b="0" i="0" dirty="0">
                <a:solidFill>
                  <a:srgbClr val="64748B"/>
                </a:solidFill>
                <a:latin typeface="Aptos"/>
              </a:rPr>
              <a:t>0</a:t>
            </a:r>
            <a:r>
              <a:rPr lang="de-DE" sz="900" dirty="0">
                <a:solidFill>
                  <a:srgbClr val="64748B"/>
                </a:solidFill>
                <a:latin typeface="Aptos"/>
              </a:rPr>
              <a:t>9</a:t>
            </a:r>
            <a:endParaRPr sz="900" b="0" i="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Predictive</a:t>
            </a:r>
            <a:r>
              <a:rPr lang="de-DE" sz="110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 Modelling</a:t>
            </a:r>
            <a:endParaRPr sz="1100" b="1" i="0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54" name="TextBox 24">
            <a:extLst>
              <a:ext uri="{FF2B5EF4-FFF2-40B4-BE49-F238E27FC236}">
                <a16:creationId xmlns:a16="http://schemas.microsoft.com/office/drawing/2014/main" id="{3100C28E-6290-0FA7-89CD-728FEF6B8FF0}"/>
              </a:ext>
            </a:extLst>
          </p:cNvPr>
          <p:cNvSpPr txBox="1"/>
          <p:nvPr/>
        </p:nvSpPr>
        <p:spPr>
          <a:xfrm>
            <a:off x="10399067" y="2141140"/>
            <a:ext cx="120492" cy="2400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400" b="0" i="0">
                <a:solidFill>
                  <a:srgbClr val="64748B"/>
                </a:solidFill>
                <a:latin typeface="Aptos"/>
              </a:rPr>
              <a:t>›</a:t>
            </a:r>
          </a:p>
        </p:txBody>
      </p:sp>
      <p:sp>
        <p:nvSpPr>
          <p:cNvPr id="55" name="Rectangle 25">
            <a:extLst>
              <a:ext uri="{FF2B5EF4-FFF2-40B4-BE49-F238E27FC236}">
                <a16:creationId xmlns:a16="http://schemas.microsoft.com/office/drawing/2014/main" id="{A4F671EE-DEA2-ED21-B974-B39F4491AC9F}"/>
              </a:ext>
            </a:extLst>
          </p:cNvPr>
          <p:cNvSpPr/>
          <p:nvPr/>
        </p:nvSpPr>
        <p:spPr>
          <a:xfrm>
            <a:off x="10521127" y="1711371"/>
            <a:ext cx="940755" cy="1321628"/>
          </a:xfrm>
          <a:prstGeom prst="rect">
            <a:avLst/>
          </a:prstGeom>
          <a:solidFill>
            <a:srgbClr val="EFF6FF"/>
          </a:solidFill>
          <a:ln w="9525">
            <a:solidFill>
              <a:srgbClr val="D0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56" name="Rectangle 26">
            <a:extLst>
              <a:ext uri="{FF2B5EF4-FFF2-40B4-BE49-F238E27FC236}">
                <a16:creationId xmlns:a16="http://schemas.microsoft.com/office/drawing/2014/main" id="{A35FAF60-7DDB-B0C7-4F89-142C695F61E2}"/>
              </a:ext>
            </a:extLst>
          </p:cNvPr>
          <p:cNvSpPr/>
          <p:nvPr/>
        </p:nvSpPr>
        <p:spPr>
          <a:xfrm>
            <a:off x="10521126" y="1711371"/>
            <a:ext cx="45719" cy="13216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57" name="TextBox 27">
            <a:extLst>
              <a:ext uri="{FF2B5EF4-FFF2-40B4-BE49-F238E27FC236}">
                <a16:creationId xmlns:a16="http://schemas.microsoft.com/office/drawing/2014/main" id="{5227C582-0E00-FE21-3D81-9C8C850C2A3B}"/>
              </a:ext>
            </a:extLst>
          </p:cNvPr>
          <p:cNvSpPr txBox="1"/>
          <p:nvPr/>
        </p:nvSpPr>
        <p:spPr>
          <a:xfrm>
            <a:off x="10632555" y="1848532"/>
            <a:ext cx="764573" cy="5932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900" dirty="0">
                <a:solidFill>
                  <a:srgbClr val="64748B"/>
                </a:solidFill>
                <a:latin typeface="Aptos"/>
              </a:rPr>
              <a:t>10</a:t>
            </a:r>
            <a:endParaRPr sz="900" b="0" i="0" dirty="0">
              <a:solidFill>
                <a:srgbClr val="64748B"/>
              </a:solidFill>
              <a:latin typeface="Apto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Dashboard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>
                <a:latin typeface="Aptos"/>
              </a:defRPr>
            </a:pPr>
            <a:r>
              <a:rPr lang="de-DE" sz="1100" b="1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Finalisation</a:t>
            </a:r>
            <a:endParaRPr sz="1100" b="1" i="0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58" name="Rectangle 26">
            <a:extLst>
              <a:ext uri="{FF2B5EF4-FFF2-40B4-BE49-F238E27FC236}">
                <a16:creationId xmlns:a16="http://schemas.microsoft.com/office/drawing/2014/main" id="{CFE49770-8D7D-BB24-D2BD-E1C9EA45BD96}"/>
              </a:ext>
            </a:extLst>
          </p:cNvPr>
          <p:cNvSpPr/>
          <p:nvPr/>
        </p:nvSpPr>
        <p:spPr>
          <a:xfrm>
            <a:off x="9439343" y="1711295"/>
            <a:ext cx="45719" cy="13216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2ED7A982-9722-8330-B082-1B2D72860DED}"/>
              </a:ext>
            </a:extLst>
          </p:cNvPr>
          <p:cNvSpPr txBox="1"/>
          <p:nvPr/>
        </p:nvSpPr>
        <p:spPr>
          <a:xfrm>
            <a:off x="1303200" y="2700000"/>
            <a:ext cx="48112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>
                <a:latin typeface="Aptos"/>
              </a:defRPr>
            </a:pPr>
            <a:r>
              <a:rPr lang="de-DE" dirty="0">
                <a:solidFill/>
                <a:latin typeface="Aptos"/>
              </a:rPr>
              <a:t>✅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DCA2B62E-5302-5CCE-CEAE-F7D0C831FE12}"/>
              </a:ext>
            </a:extLst>
          </p:cNvPr>
          <p:cNvSpPr txBox="1"/>
          <p:nvPr/>
        </p:nvSpPr>
        <p:spPr>
          <a:xfrm>
            <a:off x="2402741" y="2700000"/>
            <a:ext cx="48112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>
                <a:latin typeface="Aptos"/>
              </a:defRPr>
            </a:pPr>
            <a:r>
              <a:rPr lang="de-DE" dirty="0">
                <a:solidFill/>
                <a:latin typeface="Aptos"/>
              </a:rPr>
              <a:t>✅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A1CE0799-958D-1483-38D0-E917F924A4E8}"/>
              </a:ext>
            </a:extLst>
          </p:cNvPr>
          <p:cNvSpPr txBox="1"/>
          <p:nvPr/>
        </p:nvSpPr>
        <p:spPr>
          <a:xfrm>
            <a:off x="3495930" y="2700000"/>
            <a:ext cx="48112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>
                <a:latin typeface="Aptos"/>
              </a:defRPr>
            </a:pPr>
            <a:r>
              <a:rPr lang="de-DE" dirty="0">
                <a:solidFill/>
                <a:latin typeface="Aptos"/>
              </a:rPr>
              <a:t>✅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585B5071-0C15-12A7-2AA3-99D206DF37E5}"/>
              </a:ext>
            </a:extLst>
          </p:cNvPr>
          <p:cNvSpPr txBox="1"/>
          <p:nvPr/>
        </p:nvSpPr>
        <p:spPr>
          <a:xfrm>
            <a:off x="4576509" y="2700000"/>
            <a:ext cx="48112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>
                <a:latin typeface="Aptos"/>
              </a:defRPr>
            </a:pPr>
            <a:r>
              <a:rPr lang="de-DE" dirty="0">
                <a:solidFill/>
                <a:latin typeface="Aptos"/>
              </a:rPr>
              <a:t>✅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93B5A1FB-39CA-6476-A5DB-225FA1A67546}"/>
              </a:ext>
            </a:extLst>
          </p:cNvPr>
          <p:cNvSpPr txBox="1"/>
          <p:nvPr/>
        </p:nvSpPr>
        <p:spPr>
          <a:xfrm>
            <a:off x="5644976" y="2700000"/>
            <a:ext cx="48112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>
                <a:latin typeface="Aptos"/>
              </a:defRPr>
            </a:pPr>
            <a:r>
              <a:rPr lang="de-DE" dirty="0">
                <a:solidFill/>
                <a:latin typeface="Aptos"/>
              </a:rPr>
              <a:t>✅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E7695236-89DB-B1F1-C650-3F9E3B923F5D}"/>
              </a:ext>
            </a:extLst>
          </p:cNvPr>
          <p:cNvSpPr txBox="1"/>
          <p:nvPr/>
        </p:nvSpPr>
        <p:spPr>
          <a:xfrm>
            <a:off x="6740708" y="2700000"/>
            <a:ext cx="48112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>
                <a:latin typeface="Aptos"/>
              </a:defRPr>
            </a:pPr>
            <a:r>
              <a:rPr lang="de-DE" dirty="0">
                <a:solidFill/>
                <a:latin typeface="Aptos"/>
              </a:rPr>
              <a:t>✅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EB3083A6-F402-18A2-D013-ECF33698AE66}"/>
              </a:ext>
            </a:extLst>
          </p:cNvPr>
          <p:cNvSpPr txBox="1"/>
          <p:nvPr/>
        </p:nvSpPr>
        <p:spPr>
          <a:xfrm>
            <a:off x="7814347" y="2700000"/>
            <a:ext cx="48112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>
                <a:latin typeface="Aptos"/>
              </a:defRPr>
            </a:pPr>
            <a:r>
              <a:rPr lang="de-DE" dirty="0">
                <a:solidFill/>
                <a:latin typeface="Aptos"/>
              </a:rPr>
              <a:t>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0DF4E-74C7-2EBC-CD52-221998BC6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84DEAF-EE14-A1BF-FF92-EFA2AAF4F135}"/>
              </a:ext>
            </a:extLst>
          </p:cNvPr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A876C5-A3D8-6DAB-E147-25767EF3D8D0}"/>
              </a:ext>
            </a:extLst>
          </p:cNvPr>
          <p:cNvSpPr txBox="1"/>
          <p:nvPr/>
        </p:nvSpPr>
        <p:spPr>
          <a:xfrm>
            <a:off x="749808" y="2008485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92000"/>
              </a:lnSpc>
              <a:spcBef>
                <a:spcPts val="0"/>
              </a:spcBef>
              <a:spcAft>
                <a:spcPts val="800"/>
              </a:spcAft>
              <a:defRPr>
                <a:latin typeface="Aptos"/>
              </a:defRPr>
            </a:pPr>
            <a:r>
              <a:rPr lang="de-DE" sz="8800" b="0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Thank</a:t>
            </a:r>
            <a:r>
              <a:rPr lang="de-DE" sz="88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 </a:t>
            </a:r>
            <a:r>
              <a:rPr lang="de-DE" sz="8800" b="0" i="0" dirty="0" err="1">
                <a:solidFill>
                  <a:schemeClr val="accent1">
                    <a:lumMod val="50000"/>
                  </a:schemeClr>
                </a:solidFill>
                <a:latin typeface="Aptos"/>
              </a:rPr>
              <a:t>You</a:t>
            </a:r>
            <a:r>
              <a:rPr lang="de-DE" sz="88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!</a:t>
            </a:r>
            <a:endParaRPr sz="8800" b="0" i="0" dirty="0">
              <a:solidFill>
                <a:schemeClr val="accent1">
                  <a:lumMod val="50000"/>
                </a:schemeClr>
              </a:solidFill>
              <a:latin typeface="Aptos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lang="de-DE" sz="1700" b="0" i="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Open for Questions – </a:t>
            </a:r>
            <a:r>
              <a:rPr lang="de-DE" sz="1700" b="0" i="0" dirty="0" err="1">
                <a:solidFill>
                  <a:schemeClr val="accent1">
                    <a:lumMod val="75000"/>
                  </a:schemeClr>
                </a:solidFill>
                <a:latin typeface="Aptos"/>
              </a:rPr>
              <a:t>Let‘s</a:t>
            </a:r>
            <a:r>
              <a:rPr lang="de-DE" sz="1700" b="0" i="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 </a:t>
            </a:r>
            <a:r>
              <a:rPr lang="de-DE" sz="1700" b="0" i="0" dirty="0" err="1">
                <a:solidFill>
                  <a:schemeClr val="accent1">
                    <a:lumMod val="75000"/>
                  </a:schemeClr>
                </a:solidFill>
                <a:latin typeface="Aptos"/>
              </a:rPr>
              <a:t>discuss</a:t>
            </a:r>
            <a:r>
              <a:rPr lang="de-DE" sz="1700" dirty="0">
                <a:solidFill>
                  <a:schemeClr val="accent1">
                    <a:lumMod val="75000"/>
                  </a:schemeClr>
                </a:solidFill>
              </a:rPr>
              <a:t>!</a:t>
            </a:r>
            <a:endParaRPr sz="1700" b="0" i="0" dirty="0">
              <a:solidFill>
                <a:schemeClr val="accent1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4FD319-5FFE-F266-9BDA-D888F6AFE04E}"/>
              </a:ext>
            </a:extLst>
          </p:cNvPr>
          <p:cNvSpPr/>
          <p:nvPr/>
        </p:nvSpPr>
        <p:spPr>
          <a:xfrm>
            <a:off x="749808" y="4267053"/>
            <a:ext cx="10692079" cy="9144"/>
          </a:xfrm>
          <a:prstGeom prst="rect">
            <a:avLst/>
          </a:prstGeom>
          <a:solidFill>
            <a:srgbClr val="D0DADB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Aptos"/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E023A-8043-27A9-09C4-A3E2F19AB553}"/>
              </a:ext>
            </a:extLst>
          </p:cNvPr>
          <p:cNvSpPr txBox="1"/>
          <p:nvPr/>
        </p:nvSpPr>
        <p:spPr>
          <a:xfrm>
            <a:off x="749808" y="6035040"/>
            <a:ext cx="10692079" cy="174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>
                <a:latin typeface="Aptos"/>
              </a:defRPr>
            </a:pPr>
            <a:r>
              <a:rPr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CAPSTONE MIDTERM</a:t>
            </a:r>
            <a:r>
              <a:rPr lang="de-DE"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 by Iris Detemple</a:t>
            </a:r>
            <a:r>
              <a:rPr sz="1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</a:rPr>
              <a:t>     ·     NLP · CORE AFFECT · POWER BI     ·     DATA: HIGH5 EMPLOYEE SURVEY</a:t>
            </a:r>
          </a:p>
        </p:txBody>
      </p:sp>
    </p:spTree>
    <p:extLst>
      <p:ext uri="{BB962C8B-B14F-4D97-AF65-F5344CB8AC3E}">
        <p14:creationId xmlns:p14="http://schemas.microsoft.com/office/powerpoint/2010/main" val="2504234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ptos"/>
        <a:font script="Hebr" typeface="Aptos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ptos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ptos"/>
        <a:font script="Hebr" typeface="Aptos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ptos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3039</Words>
  <Application>Microsoft Macintosh PowerPoint</Application>
  <PresentationFormat>Breitbild</PresentationFormat>
  <Paragraphs>340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Arial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ELFI — Emotional &amp; Latent Feedback Interpretation</dc:title>
  <dc:subject>Capstone midterm presentation</dc:subject>
  <dc:creator>Iris Detemple</dc:creator>
  <cp:keywords/>
  <dc:description>Midterm deck: main story (slides 1-9) plus technical appendix (A1-A11). Speaker notes in the notes pane.</dc:description>
  <cp:lastModifiedBy>iris.detemple@gmail.com</cp:lastModifiedBy>
  <cp:revision>40</cp:revision>
  <dcterms:created xsi:type="dcterms:W3CDTF">2026-08-05T21:18:03Z</dcterms:created>
  <dcterms:modified xsi:type="dcterms:W3CDTF">2026-08-06T14:03:37Z</dcterms:modified>
  <cp:category/>
</cp:coreProperties>
</file>