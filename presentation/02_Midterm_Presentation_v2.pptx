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2" r:id="rId7"/>
    <p:sldId id="263" r:id="rId8"/>
    <p:sldId id="264" r:id="rId9"/>
    <p:sldId id="265" r:id="rId10"/>
    <p:sldId id="277" r:id="rId11"/>
    <p:sldId id="261"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7519"/>
    <p:restoredTop sz="78561"/>
  </p:normalViewPr>
  <p:slideViewPr>
    <p:cSldViewPr snapToGrid="0" snapToObjects="1">
      <p:cViewPr>
        <p:scale>
          <a:sx n="120" d="100"/>
          <a:sy n="120" d="100"/>
        </p:scale>
        <p:origin x="336" y="-856"/>
      </p:cViewPr>
      <p:guideLst>
        <p:guide orient="horz" pos="2160"/>
        <p:guide pos="2880"/>
      </p:guideLst>
    </p:cSldViewPr>
  </p:slideViewPr>
  <p:outlineViewPr>
    <p:cViewPr>
      <p:scale>
        <a:sx n="33" d="100"/>
        <a:sy n="33" d="100"/>
      </p:scale>
      <p:origin x="0" y="0"/>
    </p:cViewPr>
  </p:outlineViewPr>
  <p:notesTextViewPr>
    <p:cViewPr>
      <p:scale>
        <a:sx n="145" d="100"/>
        <a:sy n="14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03BCA8-77A5-4E1A-8CF7-E6BBCECE08B3}"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28C0730F-68EF-4246-A6AC-AD08D20DCFFB}">
      <dgm:prSet/>
      <dgm:spPr/>
      <dgm:t>
        <a:bodyPr/>
        <a:lstStyle/>
        <a:p>
          <a:pPr>
            <a:lnSpc>
              <a:spcPct val="100000"/>
            </a:lnSpc>
          </a:pPr>
          <a:r>
            <a:rPr lang="en-US" b="1"/>
            <a:t>01   </a:t>
          </a:r>
          <a:r>
            <a:rPr lang="en-US"/>
            <a:t>How do employees feel?</a:t>
          </a:r>
        </a:p>
      </dgm:t>
    </dgm:pt>
    <dgm:pt modelId="{5D767A80-296F-464C-B156-6654D15B44EA}" type="parTrans" cxnId="{7BEC87C0-F3AE-4BD5-AFAC-3FDAE7C15BB6}">
      <dgm:prSet/>
      <dgm:spPr/>
      <dgm:t>
        <a:bodyPr/>
        <a:lstStyle/>
        <a:p>
          <a:endParaRPr lang="en-US"/>
        </a:p>
      </dgm:t>
    </dgm:pt>
    <dgm:pt modelId="{BA5CF8A3-3D18-42BA-99F9-30CCA7E3AE56}" type="sibTrans" cxnId="{7BEC87C0-F3AE-4BD5-AFAC-3FDAE7C15BB6}">
      <dgm:prSet/>
      <dgm:spPr/>
      <dgm:t>
        <a:bodyPr/>
        <a:lstStyle/>
        <a:p>
          <a:endParaRPr lang="en-US"/>
        </a:p>
      </dgm:t>
    </dgm:pt>
    <dgm:pt modelId="{EB79FA56-1E1C-478B-BC84-1D94FBD7F7B6}">
      <dgm:prSet/>
      <dgm:spPr/>
      <dgm:t>
        <a:bodyPr/>
        <a:lstStyle/>
        <a:p>
          <a:pPr>
            <a:lnSpc>
              <a:spcPct val="100000"/>
            </a:lnSpc>
          </a:pPr>
          <a:r>
            <a:rPr lang="en-US" b="1"/>
            <a:t>02   </a:t>
          </a:r>
          <a:r>
            <a:rPr lang="en-US"/>
            <a:t>What are employees talking about?</a:t>
          </a:r>
        </a:p>
      </dgm:t>
    </dgm:pt>
    <dgm:pt modelId="{A883649E-209C-4EE1-A0B4-6C381118B82F}" type="parTrans" cxnId="{D772EE0E-440D-442A-835C-98A045C1D1AA}">
      <dgm:prSet/>
      <dgm:spPr/>
      <dgm:t>
        <a:bodyPr/>
        <a:lstStyle/>
        <a:p>
          <a:endParaRPr lang="en-US"/>
        </a:p>
      </dgm:t>
    </dgm:pt>
    <dgm:pt modelId="{9EDB9EBE-A856-4E87-A813-022335CA2DCD}" type="sibTrans" cxnId="{D772EE0E-440D-442A-835C-98A045C1D1AA}">
      <dgm:prSet/>
      <dgm:spPr/>
      <dgm:t>
        <a:bodyPr/>
        <a:lstStyle/>
        <a:p>
          <a:endParaRPr lang="en-US"/>
        </a:p>
      </dgm:t>
    </dgm:pt>
    <dgm:pt modelId="{12A01843-E170-4142-AB05-44557D7BA40D}">
      <dgm:prSet/>
      <dgm:spPr/>
      <dgm:t>
        <a:bodyPr/>
        <a:lstStyle/>
        <a:p>
          <a:pPr>
            <a:lnSpc>
              <a:spcPct val="100000"/>
            </a:lnSpc>
          </a:pPr>
          <a:r>
            <a:rPr lang="en-US" b="1"/>
            <a:t>03   </a:t>
          </a:r>
          <a:r>
            <a:rPr lang="en-US"/>
            <a:t>How do emotions relate to engagement?</a:t>
          </a:r>
        </a:p>
      </dgm:t>
    </dgm:pt>
    <dgm:pt modelId="{3521360C-00AC-4450-AD01-A29CDFC116A2}" type="parTrans" cxnId="{AE08E9E2-1CDD-4CF6-8D14-3C5453F23EA3}">
      <dgm:prSet/>
      <dgm:spPr/>
      <dgm:t>
        <a:bodyPr/>
        <a:lstStyle/>
        <a:p>
          <a:endParaRPr lang="en-US"/>
        </a:p>
      </dgm:t>
    </dgm:pt>
    <dgm:pt modelId="{17456811-C00D-4408-8337-22A45EFE8F20}" type="sibTrans" cxnId="{AE08E9E2-1CDD-4CF6-8D14-3C5453F23EA3}">
      <dgm:prSet/>
      <dgm:spPr/>
      <dgm:t>
        <a:bodyPr/>
        <a:lstStyle/>
        <a:p>
          <a:endParaRPr lang="en-US"/>
        </a:p>
      </dgm:t>
    </dgm:pt>
    <dgm:pt modelId="{31F0696D-76CF-4716-84FA-3F99FFE46E00}" type="pres">
      <dgm:prSet presAssocID="{E803BCA8-77A5-4E1A-8CF7-E6BBCECE08B3}" presName="root" presStyleCnt="0">
        <dgm:presLayoutVars>
          <dgm:dir/>
          <dgm:resizeHandles val="exact"/>
        </dgm:presLayoutVars>
      </dgm:prSet>
      <dgm:spPr/>
    </dgm:pt>
    <dgm:pt modelId="{87C10D9C-26E0-4A8A-BE45-7091ABCD9FD1}" type="pres">
      <dgm:prSet presAssocID="{28C0730F-68EF-4246-A6AC-AD08D20DCFFB}" presName="compNode" presStyleCnt="0"/>
      <dgm:spPr/>
    </dgm:pt>
    <dgm:pt modelId="{8D0A89CF-D886-48FA-A40D-63A05048F036}" type="pres">
      <dgm:prSet presAssocID="{28C0730F-68EF-4246-A6AC-AD08D20DCFFB}"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Neutral Face with No Fill"/>
        </a:ext>
      </dgm:extLst>
    </dgm:pt>
    <dgm:pt modelId="{D8BBAB54-C9A4-42A6-BBCE-A4EEAFEE42A4}" type="pres">
      <dgm:prSet presAssocID="{28C0730F-68EF-4246-A6AC-AD08D20DCFFB}" presName="spaceRect" presStyleCnt="0"/>
      <dgm:spPr/>
    </dgm:pt>
    <dgm:pt modelId="{2186D706-3914-4DDE-9EBA-BC1BEDA60B2D}" type="pres">
      <dgm:prSet presAssocID="{28C0730F-68EF-4246-A6AC-AD08D20DCFFB}" presName="textRect" presStyleLbl="revTx" presStyleIdx="0" presStyleCnt="3">
        <dgm:presLayoutVars>
          <dgm:chMax val="1"/>
          <dgm:chPref val="1"/>
        </dgm:presLayoutVars>
      </dgm:prSet>
      <dgm:spPr/>
    </dgm:pt>
    <dgm:pt modelId="{2B572D8A-8293-4112-BB2C-3E76EC92FF9E}" type="pres">
      <dgm:prSet presAssocID="{BA5CF8A3-3D18-42BA-99F9-30CCA7E3AE56}" presName="sibTrans" presStyleCnt="0"/>
      <dgm:spPr/>
    </dgm:pt>
    <dgm:pt modelId="{5CAFBD0C-CDCF-4153-B482-F0EB3AF1D61A}" type="pres">
      <dgm:prSet presAssocID="{EB79FA56-1E1C-478B-BC84-1D94FBD7F7B6}" presName="compNode" presStyleCnt="0"/>
      <dgm:spPr/>
    </dgm:pt>
    <dgm:pt modelId="{14C6E02D-885C-4F11-BE40-BD602FEE12B8}" type="pres">
      <dgm:prSet presAssocID="{EB79FA56-1E1C-478B-BC84-1D94FBD7F7B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at"/>
        </a:ext>
      </dgm:extLst>
    </dgm:pt>
    <dgm:pt modelId="{2B4B62B4-1BD2-46B8-9639-6779925F8FF1}" type="pres">
      <dgm:prSet presAssocID="{EB79FA56-1E1C-478B-BC84-1D94FBD7F7B6}" presName="spaceRect" presStyleCnt="0"/>
      <dgm:spPr/>
    </dgm:pt>
    <dgm:pt modelId="{BFA222EC-2B8F-4D34-8D22-FDBE59AE59C3}" type="pres">
      <dgm:prSet presAssocID="{EB79FA56-1E1C-478B-BC84-1D94FBD7F7B6}" presName="textRect" presStyleLbl="revTx" presStyleIdx="1" presStyleCnt="3">
        <dgm:presLayoutVars>
          <dgm:chMax val="1"/>
          <dgm:chPref val="1"/>
        </dgm:presLayoutVars>
      </dgm:prSet>
      <dgm:spPr/>
    </dgm:pt>
    <dgm:pt modelId="{ECA35AB2-7799-4D59-8A50-DD2CA77B5C97}" type="pres">
      <dgm:prSet presAssocID="{9EDB9EBE-A856-4E87-A813-022335CA2DCD}" presName="sibTrans" presStyleCnt="0"/>
      <dgm:spPr/>
    </dgm:pt>
    <dgm:pt modelId="{A6ADD030-423D-4EFA-939F-75D012E84D09}" type="pres">
      <dgm:prSet presAssocID="{12A01843-E170-4142-AB05-44557D7BA40D}" presName="compNode" presStyleCnt="0"/>
      <dgm:spPr/>
    </dgm:pt>
    <dgm:pt modelId="{F203DC3F-E9A1-4726-96D9-A9B4FDF0031A}" type="pres">
      <dgm:prSet presAssocID="{12A01843-E170-4142-AB05-44557D7BA40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Herz"/>
        </a:ext>
      </dgm:extLst>
    </dgm:pt>
    <dgm:pt modelId="{541DF7A4-057D-4389-87AE-3E25BC5F38F8}" type="pres">
      <dgm:prSet presAssocID="{12A01843-E170-4142-AB05-44557D7BA40D}" presName="spaceRect" presStyleCnt="0"/>
      <dgm:spPr/>
    </dgm:pt>
    <dgm:pt modelId="{394058D9-6A98-4B6D-8CD1-2F8243A18D92}" type="pres">
      <dgm:prSet presAssocID="{12A01843-E170-4142-AB05-44557D7BA40D}" presName="textRect" presStyleLbl="revTx" presStyleIdx="2" presStyleCnt="3">
        <dgm:presLayoutVars>
          <dgm:chMax val="1"/>
          <dgm:chPref val="1"/>
        </dgm:presLayoutVars>
      </dgm:prSet>
      <dgm:spPr/>
    </dgm:pt>
  </dgm:ptLst>
  <dgm:cxnLst>
    <dgm:cxn modelId="{40A75802-E105-459E-9688-7A8BE444B52F}" type="presOf" srcId="{28C0730F-68EF-4246-A6AC-AD08D20DCFFB}" destId="{2186D706-3914-4DDE-9EBA-BC1BEDA60B2D}" srcOrd="0" destOrd="0" presId="urn:microsoft.com/office/officeart/2018/2/layout/IconLabelList"/>
    <dgm:cxn modelId="{D772EE0E-440D-442A-835C-98A045C1D1AA}" srcId="{E803BCA8-77A5-4E1A-8CF7-E6BBCECE08B3}" destId="{EB79FA56-1E1C-478B-BC84-1D94FBD7F7B6}" srcOrd="1" destOrd="0" parTransId="{A883649E-209C-4EE1-A0B4-6C381118B82F}" sibTransId="{9EDB9EBE-A856-4E87-A813-022335CA2DCD}"/>
    <dgm:cxn modelId="{2F942A82-0BB3-440A-A205-3B5CD3E933C1}" type="presOf" srcId="{E803BCA8-77A5-4E1A-8CF7-E6BBCECE08B3}" destId="{31F0696D-76CF-4716-84FA-3F99FFE46E00}" srcOrd="0" destOrd="0" presId="urn:microsoft.com/office/officeart/2018/2/layout/IconLabelList"/>
    <dgm:cxn modelId="{7BEC87C0-F3AE-4BD5-AFAC-3FDAE7C15BB6}" srcId="{E803BCA8-77A5-4E1A-8CF7-E6BBCECE08B3}" destId="{28C0730F-68EF-4246-A6AC-AD08D20DCFFB}" srcOrd="0" destOrd="0" parTransId="{5D767A80-296F-464C-B156-6654D15B44EA}" sibTransId="{BA5CF8A3-3D18-42BA-99F9-30CCA7E3AE56}"/>
    <dgm:cxn modelId="{AEBAA7C9-FE22-4FC8-8A58-EAEC6270869A}" type="presOf" srcId="{12A01843-E170-4142-AB05-44557D7BA40D}" destId="{394058D9-6A98-4B6D-8CD1-2F8243A18D92}" srcOrd="0" destOrd="0" presId="urn:microsoft.com/office/officeart/2018/2/layout/IconLabelList"/>
    <dgm:cxn modelId="{AE08E9E2-1CDD-4CF6-8D14-3C5453F23EA3}" srcId="{E803BCA8-77A5-4E1A-8CF7-E6BBCECE08B3}" destId="{12A01843-E170-4142-AB05-44557D7BA40D}" srcOrd="2" destOrd="0" parTransId="{3521360C-00AC-4450-AD01-A29CDFC116A2}" sibTransId="{17456811-C00D-4408-8337-22A45EFE8F20}"/>
    <dgm:cxn modelId="{001589E5-FBF1-4537-9F5E-8DA1CA080172}" type="presOf" srcId="{EB79FA56-1E1C-478B-BC84-1D94FBD7F7B6}" destId="{BFA222EC-2B8F-4D34-8D22-FDBE59AE59C3}" srcOrd="0" destOrd="0" presId="urn:microsoft.com/office/officeart/2018/2/layout/IconLabelList"/>
    <dgm:cxn modelId="{034F169F-619D-4C1A-A1D4-6F269F46F058}" type="presParOf" srcId="{31F0696D-76CF-4716-84FA-3F99FFE46E00}" destId="{87C10D9C-26E0-4A8A-BE45-7091ABCD9FD1}" srcOrd="0" destOrd="0" presId="urn:microsoft.com/office/officeart/2018/2/layout/IconLabelList"/>
    <dgm:cxn modelId="{F0D7EB06-D3B1-40F7-BC28-9F5AE0A9C709}" type="presParOf" srcId="{87C10D9C-26E0-4A8A-BE45-7091ABCD9FD1}" destId="{8D0A89CF-D886-48FA-A40D-63A05048F036}" srcOrd="0" destOrd="0" presId="urn:microsoft.com/office/officeart/2018/2/layout/IconLabelList"/>
    <dgm:cxn modelId="{4380253F-06FD-4811-8B01-A4F294A8E6B0}" type="presParOf" srcId="{87C10D9C-26E0-4A8A-BE45-7091ABCD9FD1}" destId="{D8BBAB54-C9A4-42A6-BBCE-A4EEAFEE42A4}" srcOrd="1" destOrd="0" presId="urn:microsoft.com/office/officeart/2018/2/layout/IconLabelList"/>
    <dgm:cxn modelId="{BB196B8E-9EAB-47B4-8D3C-EA63BA2064C2}" type="presParOf" srcId="{87C10D9C-26E0-4A8A-BE45-7091ABCD9FD1}" destId="{2186D706-3914-4DDE-9EBA-BC1BEDA60B2D}" srcOrd="2" destOrd="0" presId="urn:microsoft.com/office/officeart/2018/2/layout/IconLabelList"/>
    <dgm:cxn modelId="{3E26B160-E6AF-4AD3-AB14-F518E4242A18}" type="presParOf" srcId="{31F0696D-76CF-4716-84FA-3F99FFE46E00}" destId="{2B572D8A-8293-4112-BB2C-3E76EC92FF9E}" srcOrd="1" destOrd="0" presId="urn:microsoft.com/office/officeart/2018/2/layout/IconLabelList"/>
    <dgm:cxn modelId="{4B95E1FE-A4D2-461C-B90D-BFBF7C17445E}" type="presParOf" srcId="{31F0696D-76CF-4716-84FA-3F99FFE46E00}" destId="{5CAFBD0C-CDCF-4153-B482-F0EB3AF1D61A}" srcOrd="2" destOrd="0" presId="urn:microsoft.com/office/officeart/2018/2/layout/IconLabelList"/>
    <dgm:cxn modelId="{2EBD6D8C-C219-4F75-A764-3B9A01E38E85}" type="presParOf" srcId="{5CAFBD0C-CDCF-4153-B482-F0EB3AF1D61A}" destId="{14C6E02D-885C-4F11-BE40-BD602FEE12B8}" srcOrd="0" destOrd="0" presId="urn:microsoft.com/office/officeart/2018/2/layout/IconLabelList"/>
    <dgm:cxn modelId="{6FF73BFF-36BB-4CB8-A2DC-DA31E15C9988}" type="presParOf" srcId="{5CAFBD0C-CDCF-4153-B482-F0EB3AF1D61A}" destId="{2B4B62B4-1BD2-46B8-9639-6779925F8FF1}" srcOrd="1" destOrd="0" presId="urn:microsoft.com/office/officeart/2018/2/layout/IconLabelList"/>
    <dgm:cxn modelId="{6DEBE2C7-1E20-442B-BD62-6C6CF7966129}" type="presParOf" srcId="{5CAFBD0C-CDCF-4153-B482-F0EB3AF1D61A}" destId="{BFA222EC-2B8F-4D34-8D22-FDBE59AE59C3}" srcOrd="2" destOrd="0" presId="urn:microsoft.com/office/officeart/2018/2/layout/IconLabelList"/>
    <dgm:cxn modelId="{7EF0961C-2F5D-4387-B8CF-A63EF575B612}" type="presParOf" srcId="{31F0696D-76CF-4716-84FA-3F99FFE46E00}" destId="{ECA35AB2-7799-4D59-8A50-DD2CA77B5C97}" srcOrd="3" destOrd="0" presId="urn:microsoft.com/office/officeart/2018/2/layout/IconLabelList"/>
    <dgm:cxn modelId="{EA174618-FB1D-4D97-BF49-45D6369B5EBD}" type="presParOf" srcId="{31F0696D-76CF-4716-84FA-3F99FFE46E00}" destId="{A6ADD030-423D-4EFA-939F-75D012E84D09}" srcOrd="4" destOrd="0" presId="urn:microsoft.com/office/officeart/2018/2/layout/IconLabelList"/>
    <dgm:cxn modelId="{122AFB34-6ACB-43FF-838C-7FD09B760156}" type="presParOf" srcId="{A6ADD030-423D-4EFA-939F-75D012E84D09}" destId="{F203DC3F-E9A1-4726-96D9-A9B4FDF0031A}" srcOrd="0" destOrd="0" presId="urn:microsoft.com/office/officeart/2018/2/layout/IconLabelList"/>
    <dgm:cxn modelId="{FCCFF85F-A63A-4ED3-9E54-BAFD07A72D65}" type="presParOf" srcId="{A6ADD030-423D-4EFA-939F-75D012E84D09}" destId="{541DF7A4-057D-4389-87AE-3E25BC5F38F8}" srcOrd="1" destOrd="0" presId="urn:microsoft.com/office/officeart/2018/2/layout/IconLabelList"/>
    <dgm:cxn modelId="{1D12994B-E092-4EAE-BA34-99E02126A596}" type="presParOf" srcId="{A6ADD030-423D-4EFA-939F-75D012E84D09}" destId="{394058D9-6A98-4B6D-8CD1-2F8243A18D9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0A89CF-D886-48FA-A40D-63A05048F036}">
      <dsp:nvSpPr>
        <dsp:cNvPr id="0" name=""/>
        <dsp:cNvSpPr/>
      </dsp:nvSpPr>
      <dsp:spPr>
        <a:xfrm>
          <a:off x="2334237" y="226221"/>
          <a:ext cx="660498" cy="6604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86D706-3914-4DDE-9EBA-BC1BEDA60B2D}">
      <dsp:nvSpPr>
        <dsp:cNvPr id="0" name=""/>
        <dsp:cNvSpPr/>
      </dsp:nvSpPr>
      <dsp:spPr>
        <a:xfrm>
          <a:off x="1930599" y="1106909"/>
          <a:ext cx="1467773" cy="587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a:t>01   </a:t>
          </a:r>
          <a:r>
            <a:rPr lang="en-US" sz="1200" kern="1200"/>
            <a:t>How do employees feel?</a:t>
          </a:r>
        </a:p>
      </dsp:txBody>
      <dsp:txXfrm>
        <a:off x="1930599" y="1106909"/>
        <a:ext cx="1467773" cy="587109"/>
      </dsp:txXfrm>
    </dsp:sp>
    <dsp:sp modelId="{14C6E02D-885C-4F11-BE40-BD602FEE12B8}">
      <dsp:nvSpPr>
        <dsp:cNvPr id="0" name=""/>
        <dsp:cNvSpPr/>
      </dsp:nvSpPr>
      <dsp:spPr>
        <a:xfrm>
          <a:off x="4058870" y="226221"/>
          <a:ext cx="660498" cy="6604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FA222EC-2B8F-4D34-8D22-FDBE59AE59C3}">
      <dsp:nvSpPr>
        <dsp:cNvPr id="0" name=""/>
        <dsp:cNvSpPr/>
      </dsp:nvSpPr>
      <dsp:spPr>
        <a:xfrm>
          <a:off x="3655233" y="1106909"/>
          <a:ext cx="1467773" cy="587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a:t>02   </a:t>
          </a:r>
          <a:r>
            <a:rPr lang="en-US" sz="1200" kern="1200"/>
            <a:t>What are employees talking about?</a:t>
          </a:r>
        </a:p>
      </dsp:txBody>
      <dsp:txXfrm>
        <a:off x="3655233" y="1106909"/>
        <a:ext cx="1467773" cy="587109"/>
      </dsp:txXfrm>
    </dsp:sp>
    <dsp:sp modelId="{F203DC3F-E9A1-4726-96D9-A9B4FDF0031A}">
      <dsp:nvSpPr>
        <dsp:cNvPr id="0" name=""/>
        <dsp:cNvSpPr/>
      </dsp:nvSpPr>
      <dsp:spPr>
        <a:xfrm>
          <a:off x="5783504" y="226221"/>
          <a:ext cx="660498" cy="66049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4058D9-6A98-4B6D-8CD1-2F8243A18D92}">
      <dsp:nvSpPr>
        <dsp:cNvPr id="0" name=""/>
        <dsp:cNvSpPr/>
      </dsp:nvSpPr>
      <dsp:spPr>
        <a:xfrm>
          <a:off x="5379867" y="1106909"/>
          <a:ext cx="1467773" cy="587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100000"/>
            </a:lnSpc>
            <a:spcBef>
              <a:spcPct val="0"/>
            </a:spcBef>
            <a:spcAft>
              <a:spcPct val="35000"/>
            </a:spcAft>
            <a:buNone/>
          </a:pPr>
          <a:r>
            <a:rPr lang="en-US" sz="1200" b="1" kern="1200"/>
            <a:t>03   </a:t>
          </a:r>
          <a:r>
            <a:rPr lang="en-US" sz="1200" kern="1200"/>
            <a:t>How do emotions relate to engagement?</a:t>
          </a:r>
        </a:p>
      </dsp:txBody>
      <dsp:txXfrm>
        <a:off x="5379867" y="1106909"/>
        <a:ext cx="1467773" cy="587109"/>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8500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og2gether-my.sharepoint.com/personal/iris_detemple_otto_de/_layouts/15/Doc.aspx?sourcedoc=%7B4846D2CE-C62C-41FE-82CE-7093EAE24536%7D&amp;file=02_Midterm_Presentation.pptx&amp;action=edit&amp;mobileredirect=true"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My project is called ELFI — Emotional &amp; Latent Feedback Interpretation.</a:t>
            </a:r>
          </a:p>
          <a:p>
            <a:r>
              <a:t>Companies collect employee feedback regularly, and a large part of it arrives as free-text comments. Those comments carry a lot of valuable information, but they are usually only partly used.</a:t>
            </a:r>
          </a:p>
          <a:p>
            <a:r>
              <a:t>There is a second problem. Smaller units typically read only their own comments and then draw conclusions about the whole organisation. The cross-organisational picture is missing.</a:t>
            </a:r>
          </a:p>
          <a:p>
            <a:r>
              <a:t>So my goal is a dashboard that automatically detects which topics are discussed, which emotions sit behind them, and how both shift between business units and over time.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171450" indent="-171450" fontAlgn="t">
              <a:buFont typeface="Arial" panose="020B0604020202020204" pitchFamily="34" charset="0"/>
              <a:buChar char="•"/>
            </a:pPr>
            <a:r>
              <a:rPr lang="de-DE" sz="1200" b="0" i="0" kern="1200" dirty="0" err="1">
                <a:solidFill>
                  <a:schemeClr val="tx1"/>
                </a:solidFill>
                <a:effectLst/>
                <a:latin typeface="+mn-lt"/>
                <a:ea typeface="+mn-ea"/>
                <a:cs typeface="+mn-cs"/>
              </a:rPr>
              <a:t>Three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things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wrong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status</a:t>
            </a:r>
            <a:r>
              <a:rPr lang="de-DE" sz="1200" b="0" i="0" kern="1200" dirty="0">
                <a:solidFill>
                  <a:schemeClr val="tx1"/>
                </a:solidFill>
                <a:effectLst/>
                <a:latin typeface="+mn-lt"/>
                <a:ea typeface="+mn-ea"/>
                <a:cs typeface="+mn-cs"/>
              </a:rPr>
              <a:t> quo.</a:t>
            </a:r>
          </a:p>
          <a:p>
            <a:pPr marL="171450" indent="-171450" fontAlgn="t">
              <a:buFont typeface="Arial" panose="020B0604020202020204" pitchFamily="34" charset="0"/>
              <a:buChar char="•"/>
            </a:pPr>
            <a:r>
              <a:rPr lang="de-DE" sz="1200" b="0" i="0" kern="1200" dirty="0">
                <a:solidFill>
                  <a:schemeClr val="tx1"/>
                </a:solidFill>
                <a:effectLst/>
                <a:latin typeface="+mn-lt"/>
                <a:ea typeface="+mn-ea"/>
                <a:cs typeface="+mn-cs"/>
              </a:rPr>
              <a:t>First, </a:t>
            </a:r>
            <a:r>
              <a:rPr lang="de-DE" sz="1200" b="0" i="0" kern="1200" dirty="0" err="1">
                <a:solidFill>
                  <a:schemeClr val="tx1"/>
                </a:solidFill>
                <a:effectLst/>
                <a:latin typeface="+mn-lt"/>
                <a:ea typeface="+mn-ea"/>
                <a:cs typeface="+mn-cs"/>
              </a:rPr>
              <a:t>comments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usually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read</a:t>
            </a:r>
            <a:r>
              <a:rPr lang="de-DE" sz="1200" b="0" i="0" kern="1200" dirty="0">
                <a:solidFill>
                  <a:schemeClr val="tx1"/>
                </a:solidFill>
                <a:effectLst/>
                <a:latin typeface="+mn-lt"/>
                <a:ea typeface="+mn-ea"/>
                <a:cs typeface="+mn-cs"/>
              </a:rPr>
              <a:t>, but not </a:t>
            </a:r>
            <a:r>
              <a:rPr lang="de-DE" sz="1200" b="0" i="0" kern="1200" dirty="0" err="1">
                <a:solidFill>
                  <a:schemeClr val="tx1"/>
                </a:solidFill>
                <a:effectLst/>
                <a:latin typeface="+mn-lt"/>
                <a:ea typeface="+mn-ea"/>
                <a:cs typeface="+mn-cs"/>
              </a:rPr>
              <a:t>analysed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systematically</a:t>
            </a:r>
            <a:r>
              <a:rPr lang="de-DE" sz="1200" b="0" i="0" kern="1200" dirty="0">
                <a:solidFill>
                  <a:schemeClr val="tx1"/>
                </a:solidFill>
                <a:effectLst/>
                <a:latin typeface="+mn-lt"/>
                <a:ea typeface="+mn-ea"/>
                <a:cs typeface="+mn-cs"/>
              </a:rPr>
              <a:t>. Valuable </a:t>
            </a:r>
            <a:r>
              <a:rPr lang="de-DE" sz="1200" b="0" i="0" kern="1200" dirty="0" err="1">
                <a:solidFill>
                  <a:schemeClr val="tx1"/>
                </a:solidFill>
                <a:effectLst/>
                <a:latin typeface="+mn-lt"/>
                <a:ea typeface="+mn-ea"/>
                <a:cs typeface="+mn-cs"/>
              </a:rPr>
              <a:t>information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remains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hidden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inside</a:t>
            </a:r>
            <a:r>
              <a:rPr lang="de-DE" sz="1200" b="0" i="0" kern="1200" dirty="0">
                <a:solidFill>
                  <a:schemeClr val="tx1"/>
                </a:solidFill>
                <a:effectLst/>
                <a:latin typeface="+mn-lt"/>
                <a:ea typeface="+mn-ea"/>
                <a:cs typeface="+mn-cs"/>
              </a:rPr>
              <a:t> large </a:t>
            </a:r>
            <a:r>
              <a:rPr lang="de-DE" sz="1200" b="0" i="0" kern="1200" dirty="0" err="1">
                <a:solidFill>
                  <a:schemeClr val="tx1"/>
                </a:solidFill>
                <a:effectLst/>
                <a:latin typeface="+mn-lt"/>
                <a:ea typeface="+mn-ea"/>
                <a:cs typeface="+mn-cs"/>
              </a:rPr>
              <a:t>amounts</a:t>
            </a:r>
            <a:r>
              <a:rPr lang="de-DE" sz="1200" b="0" i="0" kern="1200" dirty="0">
                <a:solidFill>
                  <a:schemeClr val="tx1"/>
                </a:solidFill>
                <a:effectLst/>
                <a:latin typeface="+mn-lt"/>
                <a:ea typeface="+mn-ea"/>
                <a:cs typeface="+mn-cs"/>
              </a:rPr>
              <a:t> of </a:t>
            </a:r>
            <a:r>
              <a:rPr lang="de-DE" sz="1200" b="0" i="0" kern="1200" dirty="0" err="1">
                <a:solidFill>
                  <a:schemeClr val="tx1"/>
                </a:solidFill>
                <a:effectLst/>
                <a:latin typeface="+mn-lt"/>
                <a:ea typeface="+mn-ea"/>
                <a:cs typeface="+mn-cs"/>
              </a:rPr>
              <a:t>free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text</a:t>
            </a:r>
            <a:r>
              <a:rPr lang="de-DE" sz="1200" b="0" i="0" kern="1200" dirty="0">
                <a:solidFill>
                  <a:schemeClr val="tx1"/>
                </a:solidFill>
                <a:effectLst/>
                <a:latin typeface="+mn-lt"/>
                <a:ea typeface="+mn-ea"/>
                <a:cs typeface="+mn-cs"/>
              </a:rPr>
              <a:t>.</a:t>
            </a:r>
          </a:p>
          <a:p>
            <a:pPr marL="171450" indent="-171450" fontAlgn="t">
              <a:buFont typeface="Arial" panose="020B0604020202020204" pitchFamily="34" charset="0"/>
              <a:buChar char="•"/>
            </a:pPr>
            <a:r>
              <a:rPr lang="de-DE" sz="1200" b="0" i="0" kern="1200" dirty="0">
                <a:solidFill>
                  <a:schemeClr val="tx1"/>
                </a:solidFill>
                <a:effectLst/>
                <a:latin typeface="+mn-lt"/>
                <a:ea typeface="+mn-ea"/>
                <a:cs typeface="+mn-cs"/>
              </a:rPr>
              <a:t>Second, </a:t>
            </a:r>
            <a:r>
              <a:rPr lang="de-DE" sz="1200" b="0" i="0" kern="1200" dirty="0" err="1">
                <a:solidFill>
                  <a:schemeClr val="tx1"/>
                </a:solidFill>
                <a:effectLst/>
                <a:latin typeface="+mn-lt"/>
                <a:ea typeface="+mn-ea"/>
                <a:cs typeface="+mn-cs"/>
              </a:rPr>
              <a:t>every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unit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only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sees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its</a:t>
            </a:r>
            <a:r>
              <a:rPr lang="de-DE" sz="1200" b="0" i="0" kern="1200" dirty="0">
                <a:solidFill>
                  <a:schemeClr val="tx1"/>
                </a:solidFill>
                <a:effectLst/>
                <a:latin typeface="+mn-lt"/>
                <a:ea typeface="+mn-ea"/>
                <a:cs typeface="+mn-cs"/>
              </a:rPr>
              <a:t> own </a:t>
            </a:r>
            <a:r>
              <a:rPr lang="de-DE" sz="1200" b="0" i="0" kern="1200" dirty="0" err="1">
                <a:solidFill>
                  <a:schemeClr val="tx1"/>
                </a:solidFill>
                <a:effectLst/>
                <a:latin typeface="+mn-lt"/>
                <a:ea typeface="+mn-ea"/>
                <a:cs typeface="+mn-cs"/>
              </a:rPr>
              <a:t>comments</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often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generalises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from</a:t>
            </a:r>
            <a:r>
              <a:rPr lang="de-DE" sz="1200" b="0" i="0" kern="1200" dirty="0">
                <a:solidFill>
                  <a:schemeClr val="tx1"/>
                </a:solidFill>
                <a:effectLst/>
                <a:latin typeface="+mn-lt"/>
                <a:ea typeface="+mn-ea"/>
                <a:cs typeface="+mn-cs"/>
              </a:rPr>
              <a:t> a </a:t>
            </a:r>
            <a:r>
              <a:rPr lang="de-DE" sz="1200" b="0" i="0" kern="1200" dirty="0" err="1">
                <a:solidFill>
                  <a:schemeClr val="tx1"/>
                </a:solidFill>
                <a:effectLst/>
                <a:latin typeface="+mn-lt"/>
                <a:ea typeface="+mn-ea"/>
                <a:cs typeface="+mn-cs"/>
              </a:rPr>
              <a:t>very</a:t>
            </a:r>
            <a:r>
              <a:rPr lang="de-DE" sz="1200" b="0" i="0" kern="1200" dirty="0">
                <a:solidFill>
                  <a:schemeClr val="tx1"/>
                </a:solidFill>
                <a:effectLst/>
                <a:latin typeface="+mn-lt"/>
                <a:ea typeface="+mn-ea"/>
                <a:cs typeface="+mn-cs"/>
              </a:rPr>
              <a:t> small sample. It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difficult</a:t>
            </a:r>
            <a:r>
              <a:rPr lang="de-DE" sz="1200" b="0" i="0" kern="1200" dirty="0">
                <a:solidFill>
                  <a:schemeClr val="tx1"/>
                </a:solidFill>
                <a:effectLst/>
                <a:latin typeface="+mn-lt"/>
                <a:ea typeface="+mn-ea"/>
                <a:cs typeface="+mn-cs"/>
              </a:rPr>
              <a:t> to </a:t>
            </a:r>
            <a:r>
              <a:rPr lang="de-DE" sz="1200" b="0" i="0" kern="1200" dirty="0" err="1">
                <a:solidFill>
                  <a:schemeClr val="tx1"/>
                </a:solidFill>
                <a:effectLst/>
                <a:latin typeface="+mn-lt"/>
                <a:ea typeface="+mn-ea"/>
                <a:cs typeface="+mn-cs"/>
              </a:rPr>
              <a:t>understand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whether</a:t>
            </a:r>
            <a:r>
              <a:rPr lang="de-DE" sz="1200" b="0" i="0" kern="1200" dirty="0">
                <a:solidFill>
                  <a:schemeClr val="tx1"/>
                </a:solidFill>
                <a:effectLst/>
                <a:latin typeface="+mn-lt"/>
                <a:ea typeface="+mn-ea"/>
                <a:cs typeface="+mn-cs"/>
              </a:rPr>
              <a:t> a </a:t>
            </a:r>
            <a:r>
              <a:rPr lang="de-DE" sz="1200" b="0" i="0" kern="1200" dirty="0" err="1">
                <a:solidFill>
                  <a:schemeClr val="tx1"/>
                </a:solidFill>
                <a:effectLst/>
                <a:latin typeface="+mn-lt"/>
                <a:ea typeface="+mn-ea"/>
                <a:cs typeface="+mn-cs"/>
              </a:rPr>
              <a:t>topic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affects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only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one</a:t>
            </a:r>
            <a:r>
              <a:rPr lang="de-DE" sz="1200" b="0" i="0" kern="1200" dirty="0">
                <a:solidFill>
                  <a:schemeClr val="tx1"/>
                </a:solidFill>
                <a:effectLst/>
                <a:latin typeface="+mn-lt"/>
                <a:ea typeface="+mn-ea"/>
                <a:cs typeface="+mn-cs"/>
              </a:rPr>
              <a:t> area </a:t>
            </a:r>
            <a:r>
              <a:rPr lang="de-DE" sz="1200" b="0" i="0" kern="1200" dirty="0" err="1">
                <a:solidFill>
                  <a:schemeClr val="tx1"/>
                </a:solidFill>
                <a:effectLst/>
                <a:latin typeface="+mn-lt"/>
                <a:ea typeface="+mn-ea"/>
                <a:cs typeface="+mn-cs"/>
              </a:rPr>
              <a:t>or</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organisation</a:t>
            </a:r>
            <a:r>
              <a:rPr lang="de-DE" sz="1200" b="0" i="0" kern="1200" dirty="0">
                <a:solidFill>
                  <a:schemeClr val="tx1"/>
                </a:solidFill>
                <a:effectLst/>
                <a:latin typeface="+mn-lt"/>
                <a:ea typeface="+mn-ea"/>
                <a:cs typeface="+mn-cs"/>
              </a:rPr>
              <a:t> as a </a:t>
            </a:r>
            <a:r>
              <a:rPr lang="de-DE" sz="1200" b="0" i="0" kern="1200" dirty="0" err="1">
                <a:solidFill>
                  <a:schemeClr val="tx1"/>
                </a:solidFill>
                <a:effectLst/>
                <a:latin typeface="+mn-lt"/>
                <a:ea typeface="+mn-ea"/>
                <a:cs typeface="+mn-cs"/>
              </a:rPr>
              <a:t>whole</a:t>
            </a:r>
            <a:r>
              <a:rPr lang="de-DE" sz="1200" b="0" i="0" kern="1200" dirty="0">
                <a:solidFill>
                  <a:schemeClr val="tx1"/>
                </a:solidFill>
                <a:effectLst/>
                <a:latin typeface="+mn-lt"/>
                <a:ea typeface="+mn-ea"/>
                <a:cs typeface="+mn-cs"/>
              </a:rPr>
              <a:t>.</a:t>
            </a:r>
          </a:p>
          <a:p>
            <a:pPr marL="171450" indent="-171450" fontAlgn="t">
              <a:buFont typeface="Arial" panose="020B0604020202020204" pitchFamily="34" charset="0"/>
              <a:buChar char="•"/>
            </a:pPr>
            <a:r>
              <a:rPr lang="de-DE" sz="1200" b="0" i="0" kern="1200" dirty="0">
                <a:solidFill>
                  <a:schemeClr val="tx1"/>
                </a:solidFill>
                <a:effectLst/>
                <a:latin typeface="+mn-lt"/>
                <a:ea typeface="+mn-ea"/>
                <a:cs typeface="+mn-cs"/>
              </a:rPr>
              <a:t>Third, </a:t>
            </a:r>
            <a:r>
              <a:rPr lang="de-DE" sz="1200" b="0" i="0" kern="1200" dirty="0" err="1">
                <a:solidFill>
                  <a:schemeClr val="tx1"/>
                </a:solidFill>
                <a:effectLst/>
                <a:latin typeface="+mn-lt"/>
                <a:ea typeface="+mn-ea"/>
                <a:cs typeface="+mn-cs"/>
              </a:rPr>
              <a:t>survey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scores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tell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us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that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something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changed</a:t>
            </a:r>
            <a:r>
              <a:rPr lang="de-DE" sz="1200" b="0" i="0" kern="1200" dirty="0">
                <a:solidFill>
                  <a:schemeClr val="tx1"/>
                </a:solidFill>
                <a:effectLst/>
                <a:latin typeface="+mn-lt"/>
                <a:ea typeface="+mn-ea"/>
                <a:cs typeface="+mn-cs"/>
              </a:rPr>
              <a:t>, but not </a:t>
            </a:r>
            <a:r>
              <a:rPr lang="de-DE" sz="1200" b="0" i="0" kern="1200" dirty="0" err="1">
                <a:solidFill>
                  <a:schemeClr val="tx1"/>
                </a:solidFill>
                <a:effectLst/>
                <a:latin typeface="+mn-lt"/>
                <a:ea typeface="+mn-ea"/>
                <a:cs typeface="+mn-cs"/>
              </a:rPr>
              <a:t>why</a:t>
            </a:r>
            <a:r>
              <a:rPr lang="de-DE" sz="1200" b="0" i="0" kern="1200" dirty="0">
                <a:solidFill>
                  <a:schemeClr val="tx1"/>
                </a:solidFill>
                <a:effectLst/>
                <a:latin typeface="+mn-lt"/>
                <a:ea typeface="+mn-ea"/>
                <a:cs typeface="+mn-cs"/>
              </a:rPr>
              <a:t> it </a:t>
            </a:r>
            <a:r>
              <a:rPr lang="de-DE" sz="1200" b="0" i="0" kern="1200" dirty="0" err="1">
                <a:solidFill>
                  <a:schemeClr val="tx1"/>
                </a:solidFill>
                <a:effectLst/>
                <a:latin typeface="+mn-lt"/>
                <a:ea typeface="+mn-ea"/>
                <a:cs typeface="+mn-cs"/>
              </a:rPr>
              <a:t>changed</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explanation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often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contained</a:t>
            </a:r>
            <a:r>
              <a:rPr lang="de-DE" sz="1200" b="0" i="0" kern="1200" dirty="0">
                <a:solidFill>
                  <a:schemeClr val="tx1"/>
                </a:solidFill>
                <a:effectLst/>
                <a:latin typeface="+mn-lt"/>
                <a:ea typeface="+mn-ea"/>
                <a:cs typeface="+mn-cs"/>
              </a:rPr>
              <a:t> in the </a:t>
            </a:r>
            <a:r>
              <a:rPr lang="de-DE" sz="1200" b="0" i="0" kern="1200" dirty="0" err="1">
                <a:solidFill>
                  <a:schemeClr val="tx1"/>
                </a:solidFill>
                <a:effectLst/>
                <a:latin typeface="+mn-lt"/>
                <a:ea typeface="+mn-ea"/>
                <a:cs typeface="+mn-cs"/>
              </a:rPr>
              <a:t>comments</a:t>
            </a:r>
            <a:r>
              <a:rPr lang="de-DE" sz="1200" b="0" i="0" kern="1200" dirty="0">
                <a:solidFill>
                  <a:schemeClr val="tx1"/>
                </a:solidFill>
                <a:effectLst/>
                <a:latin typeface="+mn-lt"/>
                <a:ea typeface="+mn-ea"/>
                <a:cs typeface="+mn-cs"/>
              </a:rPr>
              <a:t>, but the </a:t>
            </a:r>
            <a:r>
              <a:rPr lang="de-DE" sz="1200" b="0" i="0" kern="1200" dirty="0" err="1">
                <a:solidFill>
                  <a:schemeClr val="tx1"/>
                </a:solidFill>
                <a:effectLst/>
                <a:latin typeface="+mn-lt"/>
                <a:ea typeface="+mn-ea"/>
                <a:cs typeface="+mn-cs"/>
              </a:rPr>
              <a:t>comments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rarely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linked</a:t>
            </a:r>
            <a:r>
              <a:rPr lang="de-DE" sz="1200" b="0" i="0" kern="1200" dirty="0">
                <a:solidFill>
                  <a:schemeClr val="tx1"/>
                </a:solidFill>
                <a:effectLst/>
                <a:latin typeface="+mn-lt"/>
                <a:ea typeface="+mn-ea"/>
                <a:cs typeface="+mn-cs"/>
              </a:rPr>
              <a:t> back to the </a:t>
            </a:r>
            <a:r>
              <a:rPr lang="de-DE" sz="1200" b="0" i="0" kern="1200" dirty="0" err="1">
                <a:solidFill>
                  <a:schemeClr val="tx1"/>
                </a:solidFill>
                <a:effectLst/>
                <a:latin typeface="+mn-lt"/>
                <a:ea typeface="+mn-ea"/>
                <a:cs typeface="+mn-cs"/>
              </a:rPr>
              <a:t>survey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results</a:t>
            </a:r>
            <a:r>
              <a:rPr lang="de-DE" sz="1200" b="0" i="0" kern="1200" dirty="0">
                <a:solidFill>
                  <a:schemeClr val="tx1"/>
                </a:solidFill>
                <a:effectLst/>
                <a:latin typeface="+mn-lt"/>
                <a:ea typeface="+mn-ea"/>
                <a:cs typeface="+mn-cs"/>
              </a:rPr>
              <a:t>.</a:t>
            </a:r>
          </a:p>
          <a:p>
            <a:pPr marL="171450" indent="-171450" fontAlgn="t">
              <a:buFont typeface="Arial" panose="020B0604020202020204" pitchFamily="34" charset="0"/>
              <a:buChar char="•"/>
            </a:pPr>
            <a:r>
              <a:rPr lang="de-DE" sz="1200" b="0" i="0" kern="1200" dirty="0">
                <a:solidFill>
                  <a:schemeClr val="tx1"/>
                </a:solidFill>
                <a:effectLst/>
                <a:latin typeface="+mn-lt"/>
                <a:ea typeface="+mn-ea"/>
                <a:cs typeface="+mn-cs"/>
              </a:rPr>
              <a:t>ELFI </a:t>
            </a:r>
            <a:r>
              <a:rPr lang="de-DE" sz="1200" b="0" i="0" kern="1200" dirty="0" err="1">
                <a:solidFill>
                  <a:schemeClr val="tx1"/>
                </a:solidFill>
                <a:effectLst/>
                <a:latin typeface="+mn-lt"/>
                <a:ea typeface="+mn-ea"/>
                <a:cs typeface="+mn-cs"/>
              </a:rPr>
              <a:t>addresses</a:t>
            </a:r>
            <a:r>
              <a:rPr lang="de-DE" sz="1200" b="0" i="0" kern="1200" dirty="0">
                <a:solidFill>
                  <a:schemeClr val="tx1"/>
                </a:solidFill>
                <a:effectLst/>
                <a:latin typeface="+mn-lt"/>
                <a:ea typeface="+mn-ea"/>
                <a:cs typeface="+mn-cs"/>
              </a:rPr>
              <a:t> all </a:t>
            </a:r>
            <a:r>
              <a:rPr lang="de-DE" sz="1200" b="0" i="0" kern="1200" dirty="0" err="1">
                <a:solidFill>
                  <a:schemeClr val="tx1"/>
                </a:solidFill>
                <a:effectLst/>
                <a:latin typeface="+mn-lt"/>
                <a:ea typeface="+mn-ea"/>
                <a:cs typeface="+mn-cs"/>
              </a:rPr>
              <a:t>three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challenges</a:t>
            </a:r>
            <a:r>
              <a:rPr lang="de-DE" sz="1200" b="0" i="0" kern="1200" dirty="0">
                <a:solidFill>
                  <a:schemeClr val="tx1"/>
                </a:solidFill>
                <a:effectLst/>
                <a:latin typeface="+mn-lt"/>
                <a:ea typeface="+mn-ea"/>
                <a:cs typeface="+mn-cs"/>
              </a:rPr>
              <a:t> by </a:t>
            </a:r>
            <a:r>
              <a:rPr lang="de-DE" sz="1200" b="0" i="0" kern="1200" dirty="0" err="1">
                <a:solidFill>
                  <a:schemeClr val="tx1"/>
                </a:solidFill>
                <a:effectLst/>
                <a:latin typeface="+mn-lt"/>
                <a:ea typeface="+mn-ea"/>
                <a:cs typeface="+mn-cs"/>
              </a:rPr>
              <a:t>transforming</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comment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corpus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into</a:t>
            </a:r>
            <a:r>
              <a:rPr lang="de-DE" sz="1200" b="0" i="0" kern="1200" dirty="0">
                <a:solidFill>
                  <a:schemeClr val="tx1"/>
                </a:solidFill>
                <a:effectLst/>
                <a:latin typeface="+mn-lt"/>
                <a:ea typeface="+mn-ea"/>
                <a:cs typeface="+mn-cs"/>
              </a:rPr>
              <a:t> a </a:t>
            </a:r>
            <a:r>
              <a:rPr lang="de-DE" sz="1200" b="0" i="0" kern="1200" dirty="0" err="1">
                <a:solidFill>
                  <a:schemeClr val="tx1"/>
                </a:solidFill>
                <a:effectLst/>
                <a:latin typeface="+mn-lt"/>
                <a:ea typeface="+mn-ea"/>
                <a:cs typeface="+mn-cs"/>
              </a:rPr>
              <a:t>structured</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comparable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layer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that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can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analysed</a:t>
            </a:r>
            <a:r>
              <a:rPr lang="de-DE" sz="1200" b="0" i="0" kern="1200" dirty="0">
                <a:solidFill>
                  <a:schemeClr val="tx1"/>
                </a:solidFill>
                <a:effectLst/>
                <a:latin typeface="+mn-lt"/>
                <a:ea typeface="+mn-ea"/>
                <a:cs typeface="+mn-cs"/>
              </a:rPr>
              <a:t> by organisational </a:t>
            </a:r>
            <a:r>
              <a:rPr lang="de-DE" sz="1200" b="0" i="0" kern="1200" dirty="0" err="1">
                <a:solidFill>
                  <a:schemeClr val="tx1"/>
                </a:solidFill>
                <a:effectLst/>
                <a:latin typeface="+mn-lt"/>
                <a:ea typeface="+mn-ea"/>
                <a:cs typeface="+mn-cs"/>
              </a:rPr>
              <a:t>unit</a:t>
            </a:r>
            <a:r>
              <a:rPr lang="de-DE" sz="1200" b="0" i="0" kern="1200" dirty="0">
                <a:solidFill>
                  <a:schemeClr val="tx1"/>
                </a:solidFill>
                <a:effectLst/>
                <a:latin typeface="+mn-lt"/>
                <a:ea typeface="+mn-ea"/>
                <a:cs typeface="+mn-cs"/>
              </a:rPr>
              <a:t>, by </a:t>
            </a:r>
            <a:r>
              <a:rPr lang="de-DE" sz="1200" b="0" i="0" kern="1200" dirty="0" err="1">
                <a:solidFill>
                  <a:schemeClr val="tx1"/>
                </a:solidFill>
                <a:effectLst/>
                <a:latin typeface="+mn-lt"/>
                <a:ea typeface="+mn-ea"/>
                <a:cs typeface="+mn-cs"/>
              </a:rPr>
              <a:t>topic</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over</a:t>
            </a:r>
            <a:r>
              <a:rPr lang="de-DE" sz="1200" b="0" i="0" kern="1200" dirty="0">
                <a:solidFill>
                  <a:schemeClr val="tx1"/>
                </a:solidFill>
                <a:effectLst/>
                <a:latin typeface="+mn-lt"/>
                <a:ea typeface="+mn-ea"/>
                <a:cs typeface="+mn-cs"/>
              </a:rPr>
              <a:t> time.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fontAlgn="t"/>
            <a:r>
              <a:rPr lang="de-DE" sz="1200" b="0" i="0" kern="1200" dirty="0">
                <a:solidFill>
                  <a:schemeClr val="tx1"/>
                </a:solidFill>
                <a:effectLst/>
                <a:latin typeface="+mn-lt"/>
                <a:ea typeface="+mn-ea"/>
                <a:cs typeface="+mn-cs"/>
              </a:rPr>
              <a:t>Most </a:t>
            </a:r>
            <a:r>
              <a:rPr lang="de-DE" sz="1200" b="0" i="0" kern="1200" dirty="0" err="1">
                <a:solidFill>
                  <a:schemeClr val="tx1"/>
                </a:solidFill>
                <a:effectLst/>
                <a:latin typeface="+mn-lt"/>
                <a:ea typeface="+mn-ea"/>
                <a:cs typeface="+mn-cs"/>
              </a:rPr>
              <a:t>sentiment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systems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classify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comments</a:t>
            </a:r>
            <a:r>
              <a:rPr lang="de-DE" sz="1200" b="0" i="0" kern="1200" dirty="0">
                <a:solidFill>
                  <a:schemeClr val="tx1"/>
                </a:solidFill>
                <a:effectLst/>
                <a:latin typeface="+mn-lt"/>
                <a:ea typeface="+mn-ea"/>
                <a:cs typeface="+mn-cs"/>
              </a:rPr>
              <a:t> as positive, neutral </a:t>
            </a:r>
            <a:r>
              <a:rPr lang="de-DE" sz="1200" b="0" i="0" kern="1200" dirty="0" err="1">
                <a:solidFill>
                  <a:schemeClr val="tx1"/>
                </a:solidFill>
                <a:effectLst/>
                <a:latin typeface="+mn-lt"/>
                <a:ea typeface="+mn-ea"/>
                <a:cs typeface="+mn-cs"/>
              </a:rPr>
              <a:t>or</a:t>
            </a:r>
            <a:r>
              <a:rPr lang="de-DE" sz="1200" b="0" i="0" kern="1200" dirty="0">
                <a:solidFill>
                  <a:schemeClr val="tx1"/>
                </a:solidFill>
                <a:effectLst/>
                <a:latin typeface="+mn-lt"/>
                <a:ea typeface="+mn-ea"/>
                <a:cs typeface="+mn-cs"/>
              </a:rPr>
              <a:t> negative.</a:t>
            </a:r>
          </a:p>
          <a:p>
            <a:pPr fontAlgn="t"/>
            <a:r>
              <a:rPr lang="de-DE" sz="1200" b="0" i="0" kern="1200" dirty="0">
                <a:solidFill>
                  <a:schemeClr val="tx1"/>
                </a:solidFill>
                <a:effectLst/>
                <a:latin typeface="+mn-lt"/>
                <a:ea typeface="+mn-ea"/>
                <a:cs typeface="+mn-cs"/>
              </a:rPr>
              <a:t>For </a:t>
            </a:r>
            <a:r>
              <a:rPr lang="de-DE" sz="1200" b="0" i="0" kern="1200" dirty="0" err="1">
                <a:solidFill>
                  <a:schemeClr val="tx1"/>
                </a:solidFill>
                <a:effectLst/>
                <a:latin typeface="+mn-lt"/>
                <a:ea typeface="+mn-ea"/>
                <a:cs typeface="+mn-cs"/>
              </a:rPr>
              <a:t>employee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feedback</a:t>
            </a:r>
            <a:r>
              <a:rPr lang="de-DE" sz="1200" b="0" i="0" kern="1200" dirty="0">
                <a:solidFill>
                  <a:schemeClr val="tx1"/>
                </a:solidFill>
                <a:effectLst/>
                <a:latin typeface="+mn-lt"/>
                <a:ea typeface="+mn-ea"/>
                <a:cs typeface="+mn-cs"/>
              </a:rPr>
              <a:t>, I </a:t>
            </a:r>
            <a:r>
              <a:rPr lang="de-DE" sz="1200" b="0" i="0" kern="1200" dirty="0" err="1">
                <a:solidFill>
                  <a:schemeClr val="tx1"/>
                </a:solidFill>
                <a:effectLst/>
                <a:latin typeface="+mn-lt"/>
                <a:ea typeface="+mn-ea"/>
                <a:cs typeface="+mn-cs"/>
              </a:rPr>
              <a:t>believe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that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simplistic</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A negative </a:t>
            </a:r>
            <a:r>
              <a:rPr lang="de-DE" sz="1200" b="0" i="0" kern="1200" dirty="0" err="1">
                <a:solidFill>
                  <a:schemeClr val="tx1"/>
                </a:solidFill>
                <a:effectLst/>
                <a:latin typeface="+mn-lt"/>
                <a:ea typeface="+mn-ea"/>
                <a:cs typeface="+mn-cs"/>
              </a:rPr>
              <a:t>comment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can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mean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many</a:t>
            </a:r>
            <a:r>
              <a:rPr lang="de-DE" sz="1200" b="0" i="0" kern="1200" dirty="0">
                <a:solidFill>
                  <a:schemeClr val="tx1"/>
                </a:solidFill>
                <a:effectLst/>
                <a:latin typeface="+mn-lt"/>
                <a:ea typeface="+mn-ea"/>
                <a:cs typeface="+mn-cs"/>
              </a:rPr>
              <a:t> different </a:t>
            </a:r>
            <a:r>
              <a:rPr lang="de-DE" sz="1200" b="0" i="0" kern="1200" dirty="0" err="1">
                <a:solidFill>
                  <a:schemeClr val="tx1"/>
                </a:solidFill>
                <a:effectLst/>
                <a:latin typeface="+mn-lt"/>
                <a:ea typeface="+mn-ea"/>
                <a:cs typeface="+mn-cs"/>
              </a:rPr>
              <a:t>things</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It </a:t>
            </a:r>
            <a:r>
              <a:rPr lang="de-DE" sz="1200" b="0" i="0" kern="1200" dirty="0" err="1">
                <a:solidFill>
                  <a:schemeClr val="tx1"/>
                </a:solidFill>
                <a:effectLst/>
                <a:latin typeface="+mn-lt"/>
                <a:ea typeface="+mn-ea"/>
                <a:cs typeface="+mn-cs"/>
              </a:rPr>
              <a:t>might</a:t>
            </a:r>
            <a:r>
              <a:rPr lang="de-DE" sz="1200" b="0" i="0" kern="1200" dirty="0">
                <a:solidFill>
                  <a:schemeClr val="tx1"/>
                </a:solidFill>
                <a:effectLst/>
                <a:latin typeface="+mn-lt"/>
                <a:ea typeface="+mn-ea"/>
                <a:cs typeface="+mn-cs"/>
              </a:rPr>
              <a:t> express </a:t>
            </a:r>
            <a:r>
              <a:rPr lang="de-DE" sz="1200" b="0" i="0" kern="1200" dirty="0" err="1">
                <a:solidFill>
                  <a:schemeClr val="tx1"/>
                </a:solidFill>
                <a:effectLst/>
                <a:latin typeface="+mn-lt"/>
                <a:ea typeface="+mn-ea"/>
                <a:cs typeface="+mn-cs"/>
              </a:rPr>
              <a:t>anger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uncertainty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frustration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exhaustion</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When</a:t>
            </a:r>
            <a:r>
              <a:rPr lang="de-DE" sz="1200" b="0" i="0" kern="1200" dirty="0">
                <a:solidFill>
                  <a:schemeClr val="tx1"/>
                </a:solidFill>
                <a:effectLst/>
                <a:latin typeface="+mn-lt"/>
                <a:ea typeface="+mn-ea"/>
                <a:cs typeface="+mn-cs"/>
              </a:rPr>
              <a:t> all of </a:t>
            </a:r>
            <a:r>
              <a:rPr lang="de-DE" sz="1200" b="0" i="0" kern="1200" dirty="0" err="1">
                <a:solidFill>
                  <a:schemeClr val="tx1"/>
                </a:solidFill>
                <a:effectLst/>
                <a:latin typeface="+mn-lt"/>
                <a:ea typeface="+mn-ea"/>
                <a:cs typeface="+mn-cs"/>
              </a:rPr>
              <a:t>these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receive</a:t>
            </a:r>
            <a:r>
              <a:rPr lang="de-DE" sz="1200" b="0" i="0" kern="1200" dirty="0">
                <a:solidFill>
                  <a:schemeClr val="tx1"/>
                </a:solidFill>
                <a:effectLst/>
                <a:latin typeface="+mn-lt"/>
                <a:ea typeface="+mn-ea"/>
                <a:cs typeface="+mn-cs"/>
              </a:rPr>
              <a:t> the same </a:t>
            </a:r>
            <a:r>
              <a:rPr lang="de-DE" sz="1200" b="0" i="0" kern="1200" dirty="0" err="1">
                <a:solidFill>
                  <a:schemeClr val="tx1"/>
                </a:solidFill>
                <a:effectLst/>
                <a:latin typeface="+mn-lt"/>
                <a:ea typeface="+mn-ea"/>
                <a:cs typeface="+mn-cs"/>
              </a:rPr>
              <a:t>label</a:t>
            </a:r>
            <a:r>
              <a:rPr lang="de-DE" sz="1200" b="0" i="0" kern="1200" dirty="0">
                <a:solidFill>
                  <a:schemeClr val="tx1"/>
                </a:solidFill>
                <a:effectLst/>
                <a:latin typeface="+mn-lt"/>
                <a:ea typeface="+mn-ea"/>
                <a:cs typeface="+mn-cs"/>
              </a:rPr>
              <a:t>, important </a:t>
            </a:r>
            <a:r>
              <a:rPr lang="de-DE" sz="1200" b="0" i="0" kern="1200" dirty="0" err="1">
                <a:solidFill>
                  <a:schemeClr val="tx1"/>
                </a:solidFill>
                <a:effectLst/>
                <a:latin typeface="+mn-lt"/>
                <a:ea typeface="+mn-ea"/>
                <a:cs typeface="+mn-cs"/>
              </a:rPr>
              <a:t>information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lost.</a:t>
            </a:r>
          </a:p>
          <a:p>
            <a:pPr fontAlgn="t"/>
            <a:r>
              <a:rPr lang="de-DE" sz="1200" b="0" i="0" kern="1200" dirty="0">
                <a:solidFill>
                  <a:schemeClr val="tx1"/>
                </a:solidFill>
                <a:effectLst/>
                <a:latin typeface="+mn-lt"/>
                <a:ea typeface="+mn-ea"/>
                <a:cs typeface="+mn-cs"/>
              </a:rPr>
              <a:t>The </a:t>
            </a:r>
            <a:r>
              <a:rPr lang="de-DE" sz="1200" b="0" i="0" kern="1200" dirty="0" err="1">
                <a:solidFill>
                  <a:schemeClr val="tx1"/>
                </a:solidFill>
                <a:effectLst/>
                <a:latin typeface="+mn-lt"/>
                <a:ea typeface="+mn-ea"/>
                <a:cs typeface="+mn-cs"/>
              </a:rPr>
              <a:t>challenge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that</a:t>
            </a:r>
            <a:r>
              <a:rPr lang="de-DE" sz="1200" b="0" i="0" kern="1200" dirty="0">
                <a:solidFill>
                  <a:schemeClr val="tx1"/>
                </a:solidFill>
                <a:effectLst/>
                <a:latin typeface="+mn-lt"/>
                <a:ea typeface="+mn-ea"/>
                <a:cs typeface="+mn-cs"/>
              </a:rPr>
              <a:t> different emotional </a:t>
            </a:r>
            <a:r>
              <a:rPr lang="de-DE" sz="1200" b="0" i="0" kern="1200" dirty="0" err="1">
                <a:solidFill>
                  <a:schemeClr val="tx1"/>
                </a:solidFill>
                <a:effectLst/>
                <a:latin typeface="+mn-lt"/>
                <a:ea typeface="+mn-ea"/>
                <a:cs typeface="+mn-cs"/>
              </a:rPr>
              <a:t>states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often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require</a:t>
            </a:r>
            <a:r>
              <a:rPr lang="de-DE" sz="1200" b="0" i="0" kern="1200" dirty="0">
                <a:solidFill>
                  <a:schemeClr val="tx1"/>
                </a:solidFill>
                <a:effectLst/>
                <a:latin typeface="+mn-lt"/>
                <a:ea typeface="+mn-ea"/>
                <a:cs typeface="+mn-cs"/>
              </a:rPr>
              <a:t> different organisational </a:t>
            </a:r>
            <a:r>
              <a:rPr lang="de-DE" sz="1200" b="0" i="0" kern="1200" dirty="0" err="1">
                <a:solidFill>
                  <a:schemeClr val="tx1"/>
                </a:solidFill>
                <a:effectLst/>
                <a:latin typeface="+mn-lt"/>
                <a:ea typeface="+mn-ea"/>
                <a:cs typeface="+mn-cs"/>
              </a:rPr>
              <a:t>responses</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For </a:t>
            </a:r>
            <a:r>
              <a:rPr lang="de-DE" sz="1200" b="0" i="0" kern="1200" dirty="0" err="1">
                <a:solidFill>
                  <a:schemeClr val="tx1"/>
                </a:solidFill>
                <a:effectLst/>
                <a:latin typeface="+mn-lt"/>
                <a:ea typeface="+mn-ea"/>
                <a:cs typeface="+mn-cs"/>
              </a:rPr>
              <a:t>example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uncertainty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during</a:t>
            </a:r>
            <a:r>
              <a:rPr lang="de-DE" sz="1200" b="0" i="0" kern="1200" dirty="0">
                <a:solidFill>
                  <a:schemeClr val="tx1"/>
                </a:solidFill>
                <a:effectLst/>
                <a:latin typeface="+mn-lt"/>
                <a:ea typeface="+mn-ea"/>
                <a:cs typeface="+mn-cs"/>
              </a:rPr>
              <a:t> a change </a:t>
            </a:r>
            <a:r>
              <a:rPr lang="de-DE" sz="1200" b="0" i="0" kern="1200" dirty="0" err="1">
                <a:solidFill>
                  <a:schemeClr val="tx1"/>
                </a:solidFill>
                <a:effectLst/>
                <a:latin typeface="+mn-lt"/>
                <a:ea typeface="+mn-ea"/>
                <a:cs typeface="+mn-cs"/>
              </a:rPr>
              <a:t>process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may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suggest</a:t>
            </a:r>
            <a:r>
              <a:rPr lang="de-DE" sz="1200" b="0" i="0" kern="1200" dirty="0">
                <a:solidFill>
                  <a:schemeClr val="tx1"/>
                </a:solidFill>
                <a:effectLst/>
                <a:latin typeface="+mn-lt"/>
                <a:ea typeface="+mn-ea"/>
                <a:cs typeface="+mn-cs"/>
              </a:rPr>
              <a:t> additional </a:t>
            </a:r>
            <a:r>
              <a:rPr lang="de-DE" sz="1200" b="0" i="0" kern="1200" dirty="0" err="1">
                <a:solidFill>
                  <a:schemeClr val="tx1"/>
                </a:solidFill>
                <a:effectLst/>
                <a:latin typeface="+mn-lt"/>
                <a:ea typeface="+mn-ea"/>
                <a:cs typeface="+mn-cs"/>
              </a:rPr>
              <a:t>communication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workshops</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Anger </a:t>
            </a:r>
            <a:r>
              <a:rPr lang="de-DE" sz="1200" b="0" i="0" kern="1200" dirty="0" err="1">
                <a:solidFill>
                  <a:schemeClr val="tx1"/>
                </a:solidFill>
                <a:effectLst/>
                <a:latin typeface="+mn-lt"/>
                <a:ea typeface="+mn-ea"/>
                <a:cs typeface="+mn-cs"/>
              </a:rPr>
              <a:t>about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workload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points</a:t>
            </a:r>
            <a:r>
              <a:rPr lang="de-DE" sz="1200" b="0" i="0" kern="1200" dirty="0">
                <a:solidFill>
                  <a:schemeClr val="tx1"/>
                </a:solidFill>
                <a:effectLst/>
                <a:latin typeface="+mn-lt"/>
                <a:ea typeface="+mn-ea"/>
                <a:cs typeface="+mn-cs"/>
              </a:rPr>
              <a:t> to a </a:t>
            </a:r>
            <a:r>
              <a:rPr lang="de-DE" sz="1200" b="0" i="0" kern="1200" dirty="0" err="1">
                <a:solidFill>
                  <a:schemeClr val="tx1"/>
                </a:solidFill>
                <a:effectLst/>
                <a:latin typeface="+mn-lt"/>
                <a:ea typeface="+mn-ea"/>
                <a:cs typeface="+mn-cs"/>
              </a:rPr>
              <a:t>completely</a:t>
            </a:r>
            <a:r>
              <a:rPr lang="de-DE" sz="1200" b="0" i="0" kern="1200" dirty="0">
                <a:solidFill>
                  <a:schemeClr val="tx1"/>
                </a:solidFill>
                <a:effectLst/>
                <a:latin typeface="+mn-lt"/>
                <a:ea typeface="+mn-ea"/>
                <a:cs typeface="+mn-cs"/>
              </a:rPr>
              <a:t> different </a:t>
            </a:r>
            <a:r>
              <a:rPr lang="de-DE" sz="1200" b="0" i="0" kern="1200" dirty="0" err="1">
                <a:solidFill>
                  <a:schemeClr val="tx1"/>
                </a:solidFill>
                <a:effectLst/>
                <a:latin typeface="+mn-lt"/>
                <a:ea typeface="+mn-ea"/>
                <a:cs typeface="+mn-cs"/>
              </a:rPr>
              <a:t>intervention</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That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why</a:t>
            </a:r>
            <a:r>
              <a:rPr lang="de-DE" sz="1200" b="0" i="0" kern="1200" dirty="0">
                <a:solidFill>
                  <a:schemeClr val="tx1"/>
                </a:solidFill>
                <a:effectLst/>
                <a:latin typeface="+mn-lt"/>
                <a:ea typeface="+mn-ea"/>
                <a:cs typeface="+mn-cs"/>
              </a:rPr>
              <a:t> I </a:t>
            </a:r>
            <a:r>
              <a:rPr lang="de-DE" sz="1200" b="0" i="0" kern="1200" dirty="0" err="1">
                <a:solidFill>
                  <a:schemeClr val="tx1"/>
                </a:solidFill>
                <a:effectLst/>
                <a:latin typeface="+mn-lt"/>
                <a:ea typeface="+mn-ea"/>
                <a:cs typeface="+mn-cs"/>
              </a:rPr>
              <a:t>use</a:t>
            </a:r>
            <a:r>
              <a:rPr lang="de-DE" sz="1200" b="0" i="0" kern="1200" dirty="0">
                <a:solidFill>
                  <a:schemeClr val="tx1"/>
                </a:solidFill>
                <a:effectLst/>
                <a:latin typeface="+mn-lt"/>
                <a:ea typeface="+mn-ea"/>
                <a:cs typeface="+mn-cs"/>
              </a:rPr>
              <a:t> Lisa Feldman </a:t>
            </a:r>
            <a:r>
              <a:rPr lang="de-DE" sz="1200" b="0" i="0" kern="1200" dirty="0" err="1">
                <a:solidFill>
                  <a:schemeClr val="tx1"/>
                </a:solidFill>
                <a:effectLst/>
                <a:latin typeface="+mn-lt"/>
                <a:ea typeface="+mn-ea"/>
                <a:cs typeface="+mn-cs"/>
              </a:rPr>
              <a:t>Barrett’s</a:t>
            </a:r>
            <a:r>
              <a:rPr lang="de-DE" sz="1200" b="0" i="0" kern="1200" dirty="0">
                <a:solidFill>
                  <a:schemeClr val="tx1"/>
                </a:solidFill>
                <a:effectLst/>
                <a:latin typeface="+mn-lt"/>
                <a:ea typeface="+mn-ea"/>
                <a:cs typeface="+mn-cs"/>
              </a:rPr>
              <a:t> Theory of </a:t>
            </a:r>
            <a:r>
              <a:rPr lang="de-DE" sz="1200" b="0" i="0" kern="1200" dirty="0" err="1">
                <a:solidFill>
                  <a:schemeClr val="tx1"/>
                </a:solidFill>
                <a:effectLst/>
                <a:latin typeface="+mn-lt"/>
                <a:ea typeface="+mn-ea"/>
                <a:cs typeface="+mn-cs"/>
              </a:rPr>
              <a:t>Constructed</a:t>
            </a:r>
            <a:r>
              <a:rPr lang="de-DE" sz="1200" b="0" i="0" kern="1200" dirty="0">
                <a:solidFill>
                  <a:schemeClr val="tx1"/>
                </a:solidFill>
                <a:effectLst/>
                <a:latin typeface="+mn-lt"/>
                <a:ea typeface="+mn-ea"/>
                <a:cs typeface="+mn-cs"/>
              </a:rPr>
              <a:t> Emotion as the </a:t>
            </a:r>
            <a:r>
              <a:rPr lang="de-DE" sz="1200" b="0" i="0" kern="1200" dirty="0" err="1">
                <a:solidFill>
                  <a:schemeClr val="tx1"/>
                </a:solidFill>
                <a:effectLst/>
                <a:latin typeface="+mn-lt"/>
                <a:ea typeface="+mn-ea"/>
                <a:cs typeface="+mn-cs"/>
              </a:rPr>
              <a:t>conceptual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foundation</a:t>
            </a:r>
            <a:r>
              <a:rPr lang="de-DE" sz="1200" b="0" i="0" kern="1200" dirty="0">
                <a:solidFill>
                  <a:schemeClr val="tx1"/>
                </a:solidFill>
                <a:effectLst/>
                <a:latin typeface="+mn-lt"/>
                <a:ea typeface="+mn-ea"/>
                <a:cs typeface="+mn-cs"/>
              </a:rPr>
              <a:t> of ELFI.</a:t>
            </a:r>
          </a:p>
          <a:p>
            <a:pPr fontAlgn="t"/>
            <a:r>
              <a:rPr lang="de-DE" sz="1200" b="0" i="0" kern="1200" dirty="0" err="1">
                <a:solidFill>
                  <a:schemeClr val="tx1"/>
                </a:solidFill>
                <a:effectLst/>
                <a:latin typeface="+mn-lt"/>
                <a:ea typeface="+mn-ea"/>
                <a:cs typeface="+mn-cs"/>
              </a:rPr>
              <a:t>Instead</a:t>
            </a:r>
            <a:r>
              <a:rPr lang="de-DE" sz="1200" b="0" i="0" kern="1200" dirty="0">
                <a:solidFill>
                  <a:schemeClr val="tx1"/>
                </a:solidFill>
                <a:effectLst/>
                <a:latin typeface="+mn-lt"/>
                <a:ea typeface="+mn-ea"/>
                <a:cs typeface="+mn-cs"/>
              </a:rPr>
              <a:t> of </a:t>
            </a:r>
            <a:r>
              <a:rPr lang="de-DE" sz="1200" b="0" i="0" kern="1200" dirty="0" err="1">
                <a:solidFill>
                  <a:schemeClr val="tx1"/>
                </a:solidFill>
                <a:effectLst/>
                <a:latin typeface="+mn-lt"/>
                <a:ea typeface="+mn-ea"/>
                <a:cs typeface="+mn-cs"/>
              </a:rPr>
              <a:t>fixed</a:t>
            </a:r>
            <a:r>
              <a:rPr lang="de-DE" sz="1200" b="0" i="0" kern="1200" dirty="0">
                <a:solidFill>
                  <a:schemeClr val="tx1"/>
                </a:solidFill>
                <a:effectLst/>
                <a:latin typeface="+mn-lt"/>
                <a:ea typeface="+mn-ea"/>
                <a:cs typeface="+mn-cs"/>
              </a:rPr>
              <a:t> emotional </a:t>
            </a:r>
            <a:r>
              <a:rPr lang="de-DE" sz="1200" b="0" i="0" kern="1200" dirty="0" err="1">
                <a:solidFill>
                  <a:schemeClr val="tx1"/>
                </a:solidFill>
                <a:effectLst/>
                <a:latin typeface="+mn-lt"/>
                <a:ea typeface="+mn-ea"/>
                <a:cs typeface="+mn-cs"/>
              </a:rPr>
              <a:t>categories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emotions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represented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through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two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dimensions</a:t>
            </a:r>
            <a:r>
              <a:rPr lang="de-DE" sz="1200" b="0" i="0" kern="1200" dirty="0">
                <a:solidFill>
                  <a:schemeClr val="tx1"/>
                </a:solidFill>
                <a:effectLst/>
                <a:latin typeface="+mn-lt"/>
                <a:ea typeface="+mn-ea"/>
                <a:cs typeface="+mn-cs"/>
              </a:rPr>
              <a:t>:</a:t>
            </a:r>
          </a:p>
          <a:p>
            <a:pPr lvl="0" fontAlgn="t"/>
            <a:r>
              <a:rPr lang="de-DE" sz="1200" b="0" i="0" kern="1200" dirty="0">
                <a:solidFill>
                  <a:schemeClr val="tx1"/>
                </a:solidFill>
                <a:effectLst/>
                <a:latin typeface="+mn-lt"/>
                <a:ea typeface="+mn-ea"/>
                <a:cs typeface="+mn-cs"/>
              </a:rPr>
              <a:t>Valence, </a:t>
            </a:r>
            <a:r>
              <a:rPr lang="de-DE" sz="1200" b="0" i="0" kern="1200" dirty="0" err="1">
                <a:solidFill>
                  <a:schemeClr val="tx1"/>
                </a:solidFill>
                <a:effectLst/>
                <a:latin typeface="+mn-lt"/>
                <a:ea typeface="+mn-ea"/>
                <a:cs typeface="+mn-cs"/>
              </a:rPr>
              <a:t>meaning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pleasant</a:t>
            </a:r>
            <a:r>
              <a:rPr lang="de-DE" sz="1200" b="0" i="0" kern="1200" dirty="0">
                <a:solidFill>
                  <a:schemeClr val="tx1"/>
                </a:solidFill>
                <a:effectLst/>
                <a:latin typeface="+mn-lt"/>
                <a:ea typeface="+mn-ea"/>
                <a:cs typeface="+mn-cs"/>
              </a:rPr>
              <a:t> versus </a:t>
            </a:r>
            <a:r>
              <a:rPr lang="de-DE" sz="1200" b="0" i="0" kern="1200" dirty="0" err="1">
                <a:solidFill>
                  <a:schemeClr val="tx1"/>
                </a:solidFill>
                <a:effectLst/>
                <a:latin typeface="+mn-lt"/>
                <a:ea typeface="+mn-ea"/>
                <a:cs typeface="+mn-cs"/>
              </a:rPr>
              <a:t>unpleasant</a:t>
            </a:r>
            <a:endParaRPr lang="de-DE" sz="1200" b="0" i="0" kern="1200" dirty="0">
              <a:solidFill>
                <a:schemeClr val="tx1"/>
              </a:solidFill>
              <a:effectLst/>
              <a:latin typeface="+mn-lt"/>
              <a:ea typeface="+mn-ea"/>
              <a:cs typeface="+mn-cs"/>
            </a:endParaRPr>
          </a:p>
          <a:p>
            <a:pPr lvl="0" fontAlgn="t"/>
            <a:r>
              <a:rPr lang="de-DE" sz="1200" b="0" i="0" kern="1200" dirty="0">
                <a:solidFill>
                  <a:schemeClr val="tx1"/>
                </a:solidFill>
                <a:effectLst/>
                <a:latin typeface="+mn-lt"/>
                <a:ea typeface="+mn-ea"/>
                <a:cs typeface="+mn-cs"/>
              </a:rPr>
              <a:t>Arousal, </a:t>
            </a:r>
            <a:r>
              <a:rPr lang="de-DE" sz="1200" b="0" i="0" kern="1200" dirty="0" err="1">
                <a:solidFill>
                  <a:schemeClr val="tx1"/>
                </a:solidFill>
                <a:effectLst/>
                <a:latin typeface="+mn-lt"/>
                <a:ea typeface="+mn-ea"/>
                <a:cs typeface="+mn-cs"/>
              </a:rPr>
              <a:t>meaning</a:t>
            </a:r>
            <a:r>
              <a:rPr lang="de-DE" sz="1200" b="0" i="0" kern="1200" dirty="0">
                <a:solidFill>
                  <a:schemeClr val="tx1"/>
                </a:solidFill>
                <a:effectLst/>
                <a:latin typeface="+mn-lt"/>
                <a:ea typeface="+mn-ea"/>
                <a:cs typeface="+mn-cs"/>
              </a:rPr>
              <a:t> low versus high </a:t>
            </a:r>
            <a:r>
              <a:rPr lang="de-DE" sz="1200" b="0" i="0" kern="1200" dirty="0" err="1">
                <a:solidFill>
                  <a:schemeClr val="tx1"/>
                </a:solidFill>
                <a:effectLst/>
                <a:latin typeface="+mn-lt"/>
                <a:ea typeface="+mn-ea"/>
                <a:cs typeface="+mn-cs"/>
              </a:rPr>
              <a:t>activation</a:t>
            </a:r>
            <a:endParaRPr lang="de-DE" sz="1200" b="0" i="0" kern="1200" dirty="0">
              <a:solidFill>
                <a:schemeClr val="tx1"/>
              </a:solidFill>
              <a:effectLst/>
              <a:latin typeface="+mn-lt"/>
              <a:ea typeface="+mn-ea"/>
              <a:cs typeface="+mn-cs"/>
            </a:endParaRPr>
          </a:p>
          <a:p>
            <a:pPr fontAlgn="t"/>
            <a:r>
              <a:rPr lang="de-DE" sz="1200" b="0" i="0" kern="1200" dirty="0">
                <a:solidFill>
                  <a:schemeClr val="tx1"/>
                </a:solidFill>
                <a:effectLst/>
                <a:latin typeface="+mn-lt"/>
                <a:ea typeface="+mn-ea"/>
                <a:cs typeface="+mn-cs"/>
              </a:rPr>
              <a:t>The Core </a:t>
            </a:r>
            <a:r>
              <a:rPr lang="de-DE" sz="1200" b="0" i="0" kern="1200" dirty="0" err="1">
                <a:solidFill>
                  <a:schemeClr val="tx1"/>
                </a:solidFill>
                <a:effectLst/>
                <a:latin typeface="+mn-lt"/>
                <a:ea typeface="+mn-ea"/>
                <a:cs typeface="+mn-cs"/>
              </a:rPr>
              <a:t>Affect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Map</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later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becomes</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centrepiece</a:t>
            </a:r>
            <a:r>
              <a:rPr lang="de-DE" sz="1200" b="0" i="0" kern="1200" dirty="0">
                <a:solidFill>
                  <a:schemeClr val="tx1"/>
                </a:solidFill>
                <a:effectLst/>
                <a:latin typeface="+mn-lt"/>
                <a:ea typeface="+mn-ea"/>
                <a:cs typeface="+mn-cs"/>
              </a:rPr>
              <a:t> of the </a:t>
            </a:r>
            <a:r>
              <a:rPr lang="de-DE" sz="1200" b="0" i="0" kern="1200" dirty="0" err="1">
                <a:solidFill>
                  <a:schemeClr val="tx1"/>
                </a:solidFill>
                <a:effectLst/>
                <a:latin typeface="+mn-lt"/>
                <a:ea typeface="+mn-ea"/>
                <a:cs typeface="+mn-cs"/>
              </a:rPr>
              <a:t>dashboard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because</a:t>
            </a:r>
            <a:r>
              <a:rPr lang="de-DE" sz="1200" b="0" i="0" kern="1200" dirty="0">
                <a:solidFill>
                  <a:schemeClr val="tx1"/>
                </a:solidFill>
                <a:effectLst/>
                <a:latin typeface="+mn-lt"/>
                <a:ea typeface="+mn-ea"/>
                <a:cs typeface="+mn-cs"/>
              </a:rPr>
              <a:t> it </a:t>
            </a:r>
            <a:r>
              <a:rPr lang="de-DE" sz="1200" b="0" i="0" kern="1200" dirty="0" err="1">
                <a:solidFill>
                  <a:schemeClr val="tx1"/>
                </a:solidFill>
                <a:effectLst/>
                <a:latin typeface="+mn-lt"/>
                <a:ea typeface="+mn-ea"/>
                <a:cs typeface="+mn-cs"/>
              </a:rPr>
              <a:t>helps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distinguish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between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states</a:t>
            </a:r>
            <a:r>
              <a:rPr lang="de-DE" sz="1200" b="0" i="0" kern="1200" dirty="0">
                <a:solidFill>
                  <a:schemeClr val="tx1"/>
                </a:solidFill>
                <a:effectLst/>
                <a:latin typeface="+mn-lt"/>
                <a:ea typeface="+mn-ea"/>
                <a:cs typeface="+mn-cs"/>
              </a:rPr>
              <a:t> such as stress, </a:t>
            </a:r>
            <a:r>
              <a:rPr lang="de-DE" sz="1200" b="0" i="0" kern="1200" dirty="0" err="1">
                <a:solidFill>
                  <a:schemeClr val="tx1"/>
                </a:solidFill>
                <a:effectLst/>
                <a:latin typeface="+mn-lt"/>
                <a:ea typeface="+mn-ea"/>
                <a:cs typeface="+mn-cs"/>
              </a:rPr>
              <a:t>resignation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satisfaction</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enthusiasm</a:t>
            </a:r>
            <a:r>
              <a:rPr lang="de-DE"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fontAlgn="t"/>
            <a:r>
              <a:rPr lang="de-DE" sz="1200" b="0" i="0" kern="1200" dirty="0">
                <a:solidFill>
                  <a:schemeClr val="tx1"/>
                </a:solidFill>
                <a:effectLst/>
                <a:latin typeface="+mn-lt"/>
                <a:ea typeface="+mn-ea"/>
                <a:cs typeface="+mn-cs"/>
              </a:rPr>
              <a:t>The </a:t>
            </a:r>
            <a:r>
              <a:rPr lang="de-DE" sz="1200" b="0" i="0" kern="1200" dirty="0" err="1">
                <a:solidFill>
                  <a:schemeClr val="tx1"/>
                </a:solidFill>
                <a:effectLst/>
                <a:latin typeface="+mn-lt"/>
                <a:ea typeface="+mn-ea"/>
                <a:cs typeface="+mn-cs"/>
              </a:rPr>
              <a:t>project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developed</a:t>
            </a:r>
            <a:r>
              <a:rPr lang="de-DE" sz="1200" b="0" i="0" kern="1200" dirty="0">
                <a:solidFill>
                  <a:schemeClr val="tx1"/>
                </a:solidFill>
                <a:effectLst/>
                <a:latin typeface="+mn-lt"/>
                <a:ea typeface="+mn-ea"/>
                <a:cs typeface="+mn-cs"/>
              </a:rPr>
              <a:t> on real High5 </a:t>
            </a:r>
            <a:r>
              <a:rPr lang="de-DE" sz="1200" b="0" i="0" kern="1200" dirty="0" err="1">
                <a:solidFill>
                  <a:schemeClr val="tx1"/>
                </a:solidFill>
                <a:effectLst/>
                <a:latin typeface="+mn-lt"/>
                <a:ea typeface="+mn-ea"/>
                <a:cs typeface="+mn-cs"/>
              </a:rPr>
              <a:t>survey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The </a:t>
            </a:r>
            <a:r>
              <a:rPr lang="de-DE" sz="1200" b="0" i="0" kern="1200" dirty="0" err="1">
                <a:solidFill>
                  <a:schemeClr val="tx1"/>
                </a:solidFill>
                <a:effectLst/>
                <a:latin typeface="+mn-lt"/>
                <a:ea typeface="+mn-ea"/>
                <a:cs typeface="+mn-cs"/>
              </a:rPr>
              <a:t>dataset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contains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more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than</a:t>
            </a:r>
            <a:r>
              <a:rPr lang="de-DE" sz="1200" b="0" i="0" kern="1200" dirty="0">
                <a:solidFill>
                  <a:schemeClr val="tx1"/>
                </a:solidFill>
                <a:effectLst/>
                <a:latin typeface="+mn-lt"/>
                <a:ea typeface="+mn-ea"/>
                <a:cs typeface="+mn-cs"/>
              </a:rPr>
              <a:t> 46,000 </a:t>
            </a:r>
            <a:r>
              <a:rPr lang="de-DE" sz="1200" b="0" i="0" kern="1200" dirty="0" err="1">
                <a:solidFill>
                  <a:schemeClr val="tx1"/>
                </a:solidFill>
                <a:effectLst/>
                <a:latin typeface="+mn-lt"/>
                <a:ea typeface="+mn-ea"/>
                <a:cs typeface="+mn-cs"/>
              </a:rPr>
              <a:t>survey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responses</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approximately</a:t>
            </a:r>
            <a:r>
              <a:rPr lang="de-DE" sz="1200" b="0" i="0" kern="1200" dirty="0">
                <a:solidFill>
                  <a:schemeClr val="tx1"/>
                </a:solidFill>
                <a:effectLst/>
                <a:latin typeface="+mn-lt"/>
                <a:ea typeface="+mn-ea"/>
                <a:cs typeface="+mn-cs"/>
              </a:rPr>
              <a:t> 4,300 </a:t>
            </a:r>
            <a:r>
              <a:rPr lang="de-DE" sz="1200" b="0" i="0" kern="1200" dirty="0" err="1">
                <a:solidFill>
                  <a:schemeClr val="tx1"/>
                </a:solidFill>
                <a:effectLst/>
                <a:latin typeface="+mn-lt"/>
                <a:ea typeface="+mn-ea"/>
                <a:cs typeface="+mn-cs"/>
              </a:rPr>
              <a:t>free</a:t>
            </a:r>
            <a:r>
              <a:rPr lang="de-DE" sz="1200" b="0" i="0" kern="1200" dirty="0">
                <a:solidFill>
                  <a:schemeClr val="tx1"/>
                </a:solidFill>
                <a:effectLst/>
                <a:latin typeface="+mn-lt"/>
                <a:ea typeface="+mn-ea"/>
                <a:cs typeface="+mn-cs"/>
              </a:rPr>
              <a:t>-text </a:t>
            </a:r>
            <a:r>
              <a:rPr lang="de-DE" sz="1200" b="0" i="0" kern="1200" dirty="0" err="1">
                <a:solidFill>
                  <a:schemeClr val="tx1"/>
                </a:solidFill>
                <a:effectLst/>
                <a:latin typeface="+mn-lt"/>
                <a:ea typeface="+mn-ea"/>
                <a:cs typeface="+mn-cs"/>
              </a:rPr>
              <a:t>comments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collected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across</a:t>
            </a:r>
            <a:r>
              <a:rPr lang="de-DE" sz="1200" b="0" i="0" kern="1200" dirty="0">
                <a:solidFill>
                  <a:schemeClr val="tx1"/>
                </a:solidFill>
                <a:effectLst/>
                <a:latin typeface="+mn-lt"/>
                <a:ea typeface="+mn-ea"/>
                <a:cs typeface="+mn-cs"/>
              </a:rPr>
              <a:t> multiple </a:t>
            </a:r>
            <a:r>
              <a:rPr lang="de-DE" sz="1200" b="0" i="0" kern="1200" dirty="0" err="1">
                <a:solidFill>
                  <a:schemeClr val="tx1"/>
                </a:solidFill>
                <a:effectLst/>
                <a:latin typeface="+mn-lt"/>
                <a:ea typeface="+mn-ea"/>
                <a:cs typeface="+mn-cs"/>
              </a:rPr>
              <a:t>survey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iterations</a:t>
            </a:r>
            <a:r>
              <a:rPr lang="de-DE" sz="1200" b="0" i="0" kern="1200" dirty="0">
                <a:solidFill>
                  <a:schemeClr val="tx1"/>
                </a:solidFill>
                <a:effectLst/>
                <a:latin typeface="+mn-lt"/>
                <a:ea typeface="+mn-ea"/>
                <a:cs typeface="+mn-cs"/>
              </a:rPr>
              <a:t>. </a:t>
            </a:r>
            <a:r>
              <a:rPr lang="de-DE" sz="1200" b="0" i="0" u="none" strike="noStrike" kern="1200" dirty="0">
                <a:solidFill>
                  <a:schemeClr val="tx1"/>
                </a:solidFill>
                <a:effectLst/>
                <a:latin typeface="+mn-lt"/>
                <a:ea typeface="+mn-ea"/>
                <a:cs typeface="+mn-cs"/>
                <a:hlinkClick r:id="rId3"/>
              </a:rPr>
              <a:t>[02_Midterm...esentation | PowerPoint]</a:t>
            </a:r>
            <a:endParaRPr lang="de-DE" sz="1200" b="0" i="0" kern="1200" dirty="0">
              <a:solidFill>
                <a:schemeClr val="tx1"/>
              </a:solidFill>
              <a:effectLst/>
              <a:latin typeface="+mn-lt"/>
              <a:ea typeface="+mn-ea"/>
              <a:cs typeface="+mn-cs"/>
            </a:endParaRPr>
          </a:p>
          <a:p>
            <a:pPr fontAlgn="t"/>
            <a:r>
              <a:rPr lang="de-DE" sz="1200" b="0" i="0" kern="1200" dirty="0" err="1">
                <a:solidFill>
                  <a:schemeClr val="tx1"/>
                </a:solidFill>
                <a:effectLst/>
                <a:latin typeface="+mn-lt"/>
                <a:ea typeface="+mn-ea"/>
                <a:cs typeface="+mn-cs"/>
              </a:rPr>
              <a:t>Because</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comments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confidential</a:t>
            </a:r>
            <a:r>
              <a:rPr lang="de-DE" sz="1200" b="0" i="0" kern="1200" dirty="0">
                <a:solidFill>
                  <a:schemeClr val="tx1"/>
                </a:solidFill>
                <a:effectLst/>
                <a:latin typeface="+mn-lt"/>
                <a:ea typeface="+mn-ea"/>
                <a:cs typeface="+mn-cs"/>
              </a:rPr>
              <a:t>, I </a:t>
            </a:r>
            <a:r>
              <a:rPr lang="de-DE" sz="1200" b="0" i="0" kern="1200" dirty="0" err="1">
                <a:solidFill>
                  <a:schemeClr val="tx1"/>
                </a:solidFill>
                <a:effectLst/>
                <a:latin typeface="+mn-lt"/>
                <a:ea typeface="+mn-ea"/>
                <a:cs typeface="+mn-cs"/>
              </a:rPr>
              <a:t>cannot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show</a:t>
            </a:r>
            <a:r>
              <a:rPr lang="de-DE" sz="1200" b="0" i="0" kern="1200" dirty="0">
                <a:solidFill>
                  <a:schemeClr val="tx1"/>
                </a:solidFill>
                <a:effectLst/>
                <a:latin typeface="+mn-lt"/>
                <a:ea typeface="+mn-ea"/>
                <a:cs typeface="+mn-cs"/>
              </a:rPr>
              <a:t> original </a:t>
            </a:r>
            <a:r>
              <a:rPr lang="de-DE" sz="1200" b="0" i="0" kern="1200" dirty="0" err="1">
                <a:solidFill>
                  <a:schemeClr val="tx1"/>
                </a:solidFill>
                <a:effectLst/>
                <a:latin typeface="+mn-lt"/>
                <a:ea typeface="+mn-ea"/>
                <a:cs typeface="+mn-cs"/>
              </a:rPr>
              <a:t>text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examples</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However</a:t>
            </a:r>
            <a:r>
              <a:rPr lang="de-DE" sz="1200" b="0" i="0" kern="1200" dirty="0">
                <a:solidFill>
                  <a:schemeClr val="tx1"/>
                </a:solidFill>
                <a:effectLst/>
                <a:latin typeface="+mn-lt"/>
                <a:ea typeface="+mn-ea"/>
                <a:cs typeface="+mn-cs"/>
              </a:rPr>
              <a:t>, I am </a:t>
            </a:r>
            <a:r>
              <a:rPr lang="de-DE" sz="1200" b="0" i="0" kern="1200" dirty="0" err="1">
                <a:solidFill>
                  <a:schemeClr val="tx1"/>
                </a:solidFill>
                <a:effectLst/>
                <a:latin typeface="+mn-lt"/>
                <a:ea typeface="+mn-ea"/>
                <a:cs typeface="+mn-cs"/>
              </a:rPr>
              <a:t>allowed</a:t>
            </a:r>
            <a:r>
              <a:rPr lang="de-DE" sz="1200" b="0" i="0" kern="1200" dirty="0">
                <a:solidFill>
                  <a:schemeClr val="tx1"/>
                </a:solidFill>
                <a:effectLst/>
                <a:latin typeface="+mn-lt"/>
                <a:ea typeface="+mn-ea"/>
                <a:cs typeface="+mn-cs"/>
              </a:rPr>
              <a:t> to </a:t>
            </a:r>
            <a:r>
              <a:rPr lang="de-DE" sz="1200" b="0" i="0" kern="1200" dirty="0" err="1">
                <a:solidFill>
                  <a:schemeClr val="tx1"/>
                </a:solidFill>
                <a:effectLst/>
                <a:latin typeface="+mn-lt"/>
                <a:ea typeface="+mn-ea"/>
                <a:cs typeface="+mn-cs"/>
              </a:rPr>
              <a:t>use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aggregated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statistics</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structural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characteristics</a:t>
            </a:r>
            <a:r>
              <a:rPr lang="de-DE" sz="1200" b="0" i="0" kern="1200" dirty="0">
                <a:solidFill>
                  <a:schemeClr val="tx1"/>
                </a:solidFill>
                <a:effectLst/>
                <a:latin typeface="+mn-lt"/>
                <a:ea typeface="+mn-ea"/>
                <a:cs typeface="+mn-cs"/>
              </a:rPr>
              <a:t> of the </a:t>
            </a:r>
            <a:r>
              <a:rPr lang="de-DE" sz="1200" b="0" i="0" kern="1200" dirty="0" err="1">
                <a:solidFill>
                  <a:schemeClr val="tx1"/>
                </a:solidFill>
                <a:effectLst/>
                <a:latin typeface="+mn-lt"/>
                <a:ea typeface="+mn-ea"/>
                <a:cs typeface="+mn-cs"/>
              </a:rPr>
              <a:t>dataset</a:t>
            </a:r>
            <a:r>
              <a:rPr lang="de-DE" sz="1200" b="0" i="0" kern="1200" dirty="0">
                <a:solidFill>
                  <a:schemeClr val="tx1"/>
                </a:solidFill>
                <a:effectLst/>
                <a:latin typeface="+mn-lt"/>
                <a:ea typeface="+mn-ea"/>
                <a:cs typeface="+mn-cs"/>
              </a:rPr>
              <a:t>. </a:t>
            </a:r>
          </a:p>
          <a:p>
            <a:pPr fontAlgn="t"/>
            <a:r>
              <a:rPr lang="de-DE" sz="1200" b="0" i="0" kern="1200" dirty="0">
                <a:solidFill>
                  <a:schemeClr val="tx1"/>
                </a:solidFill>
                <a:effectLst/>
                <a:latin typeface="+mn-lt"/>
                <a:ea typeface="+mn-ea"/>
                <a:cs typeface="+mn-cs"/>
              </a:rPr>
              <a:t>For </a:t>
            </a:r>
            <a:r>
              <a:rPr lang="de-DE" sz="1200" b="0" i="0" kern="1200" dirty="0" err="1">
                <a:solidFill>
                  <a:schemeClr val="tx1"/>
                </a:solidFill>
                <a:effectLst/>
                <a:latin typeface="+mn-lt"/>
                <a:ea typeface="+mn-ea"/>
                <a:cs typeface="+mn-cs"/>
              </a:rPr>
              <a:t>presentations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demonstrations</a:t>
            </a:r>
            <a:r>
              <a:rPr lang="de-DE" sz="1200" b="0" i="0" kern="1200" dirty="0">
                <a:solidFill>
                  <a:schemeClr val="tx1"/>
                </a:solidFill>
                <a:effectLst/>
                <a:latin typeface="+mn-lt"/>
                <a:ea typeface="+mn-ea"/>
                <a:cs typeface="+mn-cs"/>
              </a:rPr>
              <a:t> and the final </a:t>
            </a:r>
            <a:r>
              <a:rPr lang="de-DE" sz="1200" b="0" i="0" kern="1200" dirty="0" err="1">
                <a:solidFill>
                  <a:schemeClr val="tx1"/>
                </a:solidFill>
                <a:effectLst/>
                <a:latin typeface="+mn-lt"/>
                <a:ea typeface="+mn-ea"/>
                <a:cs typeface="+mn-cs"/>
              </a:rPr>
              <a:t>dashboard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showcase</a:t>
            </a:r>
            <a:r>
              <a:rPr lang="de-DE" sz="1200" b="0" i="0" kern="1200" dirty="0">
                <a:solidFill>
                  <a:schemeClr val="tx1"/>
                </a:solidFill>
                <a:effectLst/>
                <a:latin typeface="+mn-lt"/>
                <a:ea typeface="+mn-ea"/>
                <a:cs typeface="+mn-cs"/>
              </a:rPr>
              <a:t>, I </a:t>
            </a:r>
            <a:r>
              <a:rPr lang="de-DE" sz="1200" b="0" i="0" kern="1200" dirty="0" err="1">
                <a:solidFill>
                  <a:schemeClr val="tx1"/>
                </a:solidFill>
                <a:effectLst/>
                <a:latin typeface="+mn-lt"/>
                <a:ea typeface="+mn-ea"/>
                <a:cs typeface="+mn-cs"/>
              </a:rPr>
              <a:t>therefore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use</a:t>
            </a:r>
            <a:r>
              <a:rPr lang="de-DE" sz="1200" b="0" i="0" kern="1200" dirty="0">
                <a:solidFill>
                  <a:schemeClr val="tx1"/>
                </a:solidFill>
                <a:effectLst/>
                <a:latin typeface="+mn-lt"/>
                <a:ea typeface="+mn-ea"/>
                <a:cs typeface="+mn-cs"/>
              </a:rPr>
              <a:t> a </a:t>
            </a:r>
            <a:r>
              <a:rPr lang="de-DE" sz="1200" b="0" i="0" kern="1200" dirty="0" err="1">
                <a:solidFill>
                  <a:schemeClr val="tx1"/>
                </a:solidFill>
                <a:effectLst/>
                <a:latin typeface="+mn-lt"/>
                <a:ea typeface="+mn-ea"/>
                <a:cs typeface="+mn-cs"/>
              </a:rPr>
              <a:t>synthetic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dataset</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The </a:t>
            </a:r>
            <a:r>
              <a:rPr lang="de-DE" sz="1200" b="0" i="0" kern="1200" dirty="0" err="1">
                <a:solidFill>
                  <a:schemeClr val="tx1"/>
                </a:solidFill>
                <a:effectLst/>
                <a:latin typeface="+mn-lt"/>
                <a:ea typeface="+mn-ea"/>
                <a:cs typeface="+mn-cs"/>
              </a:rPr>
              <a:t>synthetic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dataset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follows</a:t>
            </a:r>
            <a:r>
              <a:rPr lang="de-DE" sz="1200" b="0" i="0" kern="1200" dirty="0">
                <a:solidFill>
                  <a:schemeClr val="tx1"/>
                </a:solidFill>
                <a:effectLst/>
                <a:latin typeface="+mn-lt"/>
                <a:ea typeface="+mn-ea"/>
                <a:cs typeface="+mn-cs"/>
              </a:rPr>
              <a:t> the same </a:t>
            </a:r>
            <a:r>
              <a:rPr lang="de-DE" sz="1200" b="0" i="0" kern="1200" dirty="0" err="1">
                <a:solidFill>
                  <a:schemeClr val="tx1"/>
                </a:solidFill>
                <a:effectLst/>
                <a:latin typeface="+mn-lt"/>
                <a:ea typeface="+mn-ea"/>
                <a:cs typeface="+mn-cs"/>
              </a:rPr>
              <a:t>schema</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survey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logic</a:t>
            </a:r>
            <a:r>
              <a:rPr lang="de-DE" sz="1200" b="0" i="0" kern="1200" dirty="0">
                <a:solidFill>
                  <a:schemeClr val="tx1"/>
                </a:solidFill>
                <a:effectLst/>
                <a:latin typeface="+mn-lt"/>
                <a:ea typeface="+mn-ea"/>
                <a:cs typeface="+mn-cs"/>
              </a:rPr>
              <a:t> as the original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but </a:t>
            </a:r>
            <a:r>
              <a:rPr lang="de-DE" sz="1200" b="0" i="0" kern="1200" dirty="0" err="1">
                <a:solidFill>
                  <a:schemeClr val="tx1"/>
                </a:solidFill>
                <a:effectLst/>
                <a:latin typeface="+mn-lt"/>
                <a:ea typeface="+mn-ea"/>
                <a:cs typeface="+mn-cs"/>
              </a:rPr>
              <a:t>contains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no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confidential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information</a:t>
            </a:r>
            <a:r>
              <a:rPr lang="de-DE" sz="1200" b="0" i="0" kern="1200" dirty="0">
                <a:solidFill>
                  <a:schemeClr val="tx1"/>
                </a:solidFill>
                <a:effectLst/>
                <a:latin typeface="+mn-lt"/>
                <a:ea typeface="+mn-ea"/>
                <a:cs typeface="+mn-cs"/>
              </a:rPr>
              <a:t>. This </a:t>
            </a:r>
            <a:r>
              <a:rPr lang="de-DE" sz="1200" b="0" i="0" kern="1200" dirty="0" err="1">
                <a:solidFill>
                  <a:schemeClr val="tx1"/>
                </a:solidFill>
                <a:effectLst/>
                <a:latin typeface="+mn-lt"/>
                <a:ea typeface="+mn-ea"/>
                <a:cs typeface="+mn-cs"/>
              </a:rPr>
              <a:t>allows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me</a:t>
            </a:r>
            <a:r>
              <a:rPr lang="de-DE" sz="1200" b="0" i="0" kern="1200" dirty="0">
                <a:solidFill>
                  <a:schemeClr val="tx1"/>
                </a:solidFill>
                <a:effectLst/>
                <a:latin typeface="+mn-lt"/>
                <a:ea typeface="+mn-ea"/>
                <a:cs typeface="+mn-cs"/>
              </a:rPr>
              <a:t> to </a:t>
            </a:r>
            <a:r>
              <a:rPr lang="de-DE" sz="1200" b="0" i="0" kern="1200" dirty="0" err="1">
                <a:solidFill>
                  <a:schemeClr val="tx1"/>
                </a:solidFill>
                <a:effectLst/>
                <a:latin typeface="+mn-lt"/>
                <a:ea typeface="+mn-ea"/>
                <a:cs typeface="+mn-cs"/>
              </a:rPr>
              <a:t>develop</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validate</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pipeline</a:t>
            </a:r>
            <a:r>
              <a:rPr lang="de-DE" sz="1200" b="0" i="0" kern="1200" dirty="0">
                <a:solidFill>
                  <a:schemeClr val="tx1"/>
                </a:solidFill>
                <a:effectLst/>
                <a:latin typeface="+mn-lt"/>
                <a:ea typeface="+mn-ea"/>
                <a:cs typeface="+mn-cs"/>
              </a:rPr>
              <a:t> on real organisational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while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presenting</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results</a:t>
            </a:r>
            <a:r>
              <a:rPr lang="de-DE" sz="1200" b="0" i="0" kern="1200" dirty="0">
                <a:solidFill>
                  <a:schemeClr val="tx1"/>
                </a:solidFill>
                <a:effectLst/>
                <a:latin typeface="+mn-lt"/>
                <a:ea typeface="+mn-ea"/>
                <a:cs typeface="+mn-cs"/>
              </a:rPr>
              <a:t> on a </a:t>
            </a:r>
            <a:r>
              <a:rPr lang="de-DE" sz="1200" b="0" i="0" kern="1200" dirty="0" err="1">
                <a:solidFill>
                  <a:schemeClr val="tx1"/>
                </a:solidFill>
                <a:effectLst/>
                <a:latin typeface="+mn-lt"/>
                <a:ea typeface="+mn-ea"/>
                <a:cs typeface="+mn-cs"/>
              </a:rPr>
              <a:t>privacy</a:t>
            </a:r>
            <a:r>
              <a:rPr lang="de-DE" sz="1200" b="0" i="0" kern="1200" dirty="0">
                <a:solidFill>
                  <a:schemeClr val="tx1"/>
                </a:solidFill>
                <a:effectLst/>
                <a:latin typeface="+mn-lt"/>
                <a:ea typeface="+mn-ea"/>
                <a:cs typeface="+mn-cs"/>
              </a:rPr>
              <a:t>-safe </a:t>
            </a:r>
            <a:r>
              <a:rPr lang="de-DE" sz="1200" b="0" i="0" kern="1200" dirty="0" err="1">
                <a:solidFill>
                  <a:schemeClr val="tx1"/>
                </a:solidFill>
                <a:effectLst/>
                <a:latin typeface="+mn-lt"/>
                <a:ea typeface="+mn-ea"/>
                <a:cs typeface="+mn-cs"/>
              </a:rPr>
              <a:t>twin</a:t>
            </a:r>
            <a:r>
              <a:rPr lang="de-DE" sz="1200" b="0" i="0" kern="1200" dirty="0">
                <a:solidFill>
                  <a:schemeClr val="tx1"/>
                </a:solidFill>
                <a:effectLst/>
                <a:latin typeface="+mn-lt"/>
                <a:ea typeface="+mn-ea"/>
                <a:cs typeface="+mn-cs"/>
              </a:rPr>
              <a:t> of the </a:t>
            </a:r>
            <a:r>
              <a:rPr lang="de-DE" sz="1200" b="0" i="0" kern="1200" dirty="0" err="1">
                <a:solidFill>
                  <a:schemeClr val="tx1"/>
                </a:solidFill>
                <a:effectLst/>
                <a:latin typeface="+mn-lt"/>
                <a:ea typeface="+mn-ea"/>
                <a:cs typeface="+mn-cs"/>
              </a:rPr>
              <a:t>dataset</a:t>
            </a:r>
            <a:r>
              <a:rPr lang="de-DE"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sz="1200" b="1" kern="1200" dirty="0">
                <a:solidFill>
                  <a:schemeClr val="tx1"/>
                </a:solidFill>
                <a:effectLst/>
                <a:latin typeface="+mn-lt"/>
                <a:ea typeface="+mn-ea"/>
                <a:cs typeface="+mn-cs"/>
              </a:rPr>
              <a:t>Schritt 1</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The </a:t>
            </a:r>
            <a:r>
              <a:rPr lang="de-DE" sz="1200" kern="1200" dirty="0" err="1">
                <a:solidFill>
                  <a:schemeClr val="tx1"/>
                </a:solidFill>
                <a:effectLst/>
                <a:latin typeface="+mn-lt"/>
                <a:ea typeface="+mn-ea"/>
                <a:cs typeface="+mn-cs"/>
              </a:rPr>
              <a:t>process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starts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with</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survey</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comments</a:t>
            </a:r>
            <a:r>
              <a:rPr lang="de-DE" sz="1200" kern="1200" dirty="0">
                <a:solidFill>
                  <a:schemeClr val="tx1"/>
                </a:solidFill>
                <a:effectLst/>
                <a:latin typeface="+mn-lt"/>
                <a:ea typeface="+mn-ea"/>
                <a:cs typeface="+mn-cs"/>
              </a:rPr>
              <a:t> and </a:t>
            </a:r>
            <a:r>
              <a:rPr lang="de-DE" sz="1200" kern="1200" dirty="0" err="1">
                <a:solidFill>
                  <a:schemeClr val="tx1"/>
                </a:solidFill>
                <a:effectLst/>
                <a:latin typeface="+mn-lt"/>
                <a:ea typeface="+mn-ea"/>
                <a:cs typeface="+mn-cs"/>
              </a:rPr>
              <a:t>survey</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scores</a:t>
            </a:r>
            <a:r>
              <a:rPr lang="de-DE" sz="1200" kern="1200" dirty="0">
                <a:solidFill>
                  <a:schemeClr val="tx1"/>
                </a:solidFill>
                <a:effectLst/>
                <a:latin typeface="+mn-lt"/>
                <a:ea typeface="+mn-ea"/>
                <a:cs typeface="+mn-cs"/>
              </a:rPr>
              <a:t>.</a:t>
            </a:r>
          </a:p>
          <a:p>
            <a:r>
              <a:rPr lang="de-DE" sz="1200" b="1" kern="1200" dirty="0">
                <a:solidFill>
                  <a:schemeClr val="tx1"/>
                </a:solidFill>
                <a:effectLst/>
                <a:latin typeface="+mn-lt"/>
                <a:ea typeface="+mn-ea"/>
                <a:cs typeface="+mn-cs"/>
              </a:rPr>
              <a:t>Schritt 2</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In the EDA </a:t>
            </a:r>
            <a:r>
              <a:rPr lang="de-DE" sz="1200" kern="1200" dirty="0" err="1">
                <a:solidFill>
                  <a:schemeClr val="tx1"/>
                </a:solidFill>
                <a:effectLst/>
                <a:latin typeface="+mn-lt"/>
                <a:ea typeface="+mn-ea"/>
                <a:cs typeface="+mn-cs"/>
              </a:rPr>
              <a:t>phase</a:t>
            </a:r>
            <a:r>
              <a:rPr lang="de-DE" sz="1200" kern="1200" dirty="0">
                <a:solidFill>
                  <a:schemeClr val="tx1"/>
                </a:solidFill>
                <a:effectLst/>
                <a:latin typeface="+mn-lt"/>
                <a:ea typeface="+mn-ea"/>
                <a:cs typeface="+mn-cs"/>
              </a:rPr>
              <a:t> I </a:t>
            </a:r>
            <a:r>
              <a:rPr lang="de-DE" sz="1200" kern="1200" dirty="0" err="1">
                <a:solidFill>
                  <a:schemeClr val="tx1"/>
                </a:solidFill>
                <a:effectLst/>
                <a:latin typeface="+mn-lt"/>
                <a:ea typeface="+mn-ea"/>
                <a:cs typeface="+mn-cs"/>
              </a:rPr>
              <a:t>analyse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data</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quality</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missing</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values</a:t>
            </a:r>
            <a:r>
              <a:rPr lang="de-DE" sz="1200" kern="1200" dirty="0">
                <a:solidFill>
                  <a:schemeClr val="tx1"/>
                </a:solidFill>
                <a:effectLst/>
                <a:latin typeface="+mn-lt"/>
                <a:ea typeface="+mn-ea"/>
                <a:cs typeface="+mn-cs"/>
              </a:rPr>
              <a:t> and </a:t>
            </a:r>
            <a:r>
              <a:rPr lang="de-DE" sz="1200" kern="1200" dirty="0" err="1">
                <a:solidFill>
                  <a:schemeClr val="tx1"/>
                </a:solidFill>
                <a:effectLst/>
                <a:latin typeface="+mn-lt"/>
                <a:ea typeface="+mn-ea"/>
                <a:cs typeface="+mn-cs"/>
              </a:rPr>
              <a:t>reliability</a:t>
            </a:r>
            <a:r>
              <a:rPr lang="de-DE" sz="1200" kern="1200" dirty="0">
                <a:solidFill>
                  <a:schemeClr val="tx1"/>
                </a:solidFill>
                <a:effectLst/>
                <a:latin typeface="+mn-lt"/>
                <a:ea typeface="+mn-ea"/>
                <a:cs typeface="+mn-cs"/>
              </a:rPr>
              <a:t>. I also </a:t>
            </a:r>
            <a:r>
              <a:rPr lang="de-DE" sz="1200" kern="1200" dirty="0" err="1">
                <a:solidFill>
                  <a:schemeClr val="tx1"/>
                </a:solidFill>
                <a:effectLst/>
                <a:latin typeface="+mn-lt"/>
                <a:ea typeface="+mn-ea"/>
                <a:cs typeface="+mn-cs"/>
              </a:rPr>
              <a:t>create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survey</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scores</a:t>
            </a:r>
            <a:r>
              <a:rPr lang="de-DE" sz="1200" kern="1200" dirty="0">
                <a:solidFill>
                  <a:schemeClr val="tx1"/>
                </a:solidFill>
                <a:effectLst/>
                <a:latin typeface="+mn-lt"/>
                <a:ea typeface="+mn-ea"/>
                <a:cs typeface="+mn-cs"/>
              </a:rPr>
              <a:t> such as </a:t>
            </a:r>
            <a:r>
              <a:rPr lang="de-DE" sz="1200" kern="1200" dirty="0" err="1">
                <a:solidFill>
                  <a:schemeClr val="tx1"/>
                </a:solidFill>
                <a:effectLst/>
                <a:latin typeface="+mn-lt"/>
                <a:ea typeface="+mn-ea"/>
                <a:cs typeface="+mn-cs"/>
              </a:rPr>
              <a:t>engagement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leadership</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or</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culture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scores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from</a:t>
            </a:r>
            <a:r>
              <a:rPr lang="de-DE" sz="1200" kern="1200" dirty="0">
                <a:solidFill>
                  <a:schemeClr val="tx1"/>
                </a:solidFill>
                <a:effectLst/>
                <a:latin typeface="+mn-lt"/>
                <a:ea typeface="+mn-ea"/>
                <a:cs typeface="+mn-cs"/>
              </a:rPr>
              <a:t> the </a:t>
            </a:r>
            <a:r>
              <a:rPr lang="de-DE" sz="1200" kern="1200" dirty="0" err="1">
                <a:solidFill>
                  <a:schemeClr val="tx1"/>
                </a:solidFill>
                <a:effectLst/>
                <a:latin typeface="+mn-lt"/>
                <a:ea typeface="+mn-ea"/>
                <a:cs typeface="+mn-cs"/>
              </a:rPr>
              <a:t>questionnaire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items</a:t>
            </a:r>
            <a:r>
              <a:rPr lang="de-DE" sz="1200" kern="1200" dirty="0">
                <a:solidFill>
                  <a:schemeClr val="tx1"/>
                </a:solidFill>
                <a:effectLst/>
                <a:latin typeface="+mn-lt"/>
                <a:ea typeface="+mn-ea"/>
                <a:cs typeface="+mn-cs"/>
              </a:rPr>
              <a:t>.</a:t>
            </a:r>
          </a:p>
          <a:p>
            <a:r>
              <a:rPr lang="de-DE" sz="1200" b="1" kern="1200" dirty="0">
                <a:solidFill>
                  <a:schemeClr val="tx1"/>
                </a:solidFill>
                <a:effectLst/>
                <a:latin typeface="+mn-lt"/>
                <a:ea typeface="+mn-ea"/>
                <a:cs typeface="+mn-cs"/>
              </a:rPr>
              <a:t>Schritt 3</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For </a:t>
            </a:r>
            <a:r>
              <a:rPr lang="de-DE" sz="1200" kern="1200" dirty="0" err="1">
                <a:solidFill>
                  <a:schemeClr val="tx1"/>
                </a:solidFill>
                <a:effectLst/>
                <a:latin typeface="+mn-lt"/>
                <a:ea typeface="+mn-ea"/>
                <a:cs typeface="+mn-cs"/>
              </a:rPr>
              <a:t>sentiment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analysis</a:t>
            </a:r>
            <a:r>
              <a:rPr lang="de-DE" sz="1200" kern="1200" dirty="0">
                <a:solidFill>
                  <a:schemeClr val="tx1"/>
                </a:solidFill>
                <a:effectLst/>
                <a:latin typeface="+mn-lt"/>
                <a:ea typeface="+mn-ea"/>
                <a:cs typeface="+mn-cs"/>
              </a:rPr>
              <a:t> I </a:t>
            </a:r>
            <a:r>
              <a:rPr lang="de-DE" sz="1200" kern="1200" dirty="0" err="1">
                <a:solidFill>
                  <a:schemeClr val="tx1"/>
                </a:solidFill>
                <a:effectLst/>
                <a:latin typeface="+mn-lt"/>
                <a:ea typeface="+mn-ea"/>
                <a:cs typeface="+mn-cs"/>
              </a:rPr>
              <a:t>use</a:t>
            </a:r>
            <a:r>
              <a:rPr lang="de-DE" sz="1200" kern="1200" dirty="0">
                <a:solidFill>
                  <a:schemeClr val="tx1"/>
                </a:solidFill>
                <a:effectLst/>
                <a:latin typeface="+mn-lt"/>
                <a:ea typeface="+mn-ea"/>
                <a:cs typeface="+mn-cs"/>
              </a:rPr>
              <a:t> German Sentiment BERT. </a:t>
            </a:r>
            <a:r>
              <a:rPr lang="de-DE" sz="1200" kern="1200" dirty="0" err="1">
                <a:solidFill>
                  <a:schemeClr val="tx1"/>
                </a:solidFill>
                <a:effectLst/>
                <a:latin typeface="+mn-lt"/>
                <a:ea typeface="+mn-ea"/>
                <a:cs typeface="+mn-cs"/>
              </a:rPr>
              <a:t>Instead</a:t>
            </a:r>
            <a:r>
              <a:rPr lang="de-DE" sz="1200" kern="1200" dirty="0">
                <a:solidFill>
                  <a:schemeClr val="tx1"/>
                </a:solidFill>
                <a:effectLst/>
                <a:latin typeface="+mn-lt"/>
                <a:ea typeface="+mn-ea"/>
                <a:cs typeface="+mn-cs"/>
              </a:rPr>
              <a:t> of </a:t>
            </a:r>
            <a:r>
              <a:rPr lang="de-DE" sz="1200" kern="1200" dirty="0" err="1">
                <a:solidFill>
                  <a:schemeClr val="tx1"/>
                </a:solidFill>
                <a:effectLst/>
                <a:latin typeface="+mn-lt"/>
                <a:ea typeface="+mn-ea"/>
                <a:cs typeface="+mn-cs"/>
              </a:rPr>
              <a:t>assigning</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only</a:t>
            </a:r>
            <a:r>
              <a:rPr lang="de-DE" sz="1200" kern="1200" dirty="0">
                <a:solidFill>
                  <a:schemeClr val="tx1"/>
                </a:solidFill>
                <a:effectLst/>
                <a:latin typeface="+mn-lt"/>
                <a:ea typeface="+mn-ea"/>
                <a:cs typeface="+mn-cs"/>
              </a:rPr>
              <a:t> positive </a:t>
            </a:r>
            <a:r>
              <a:rPr lang="de-DE" sz="1200" kern="1200" dirty="0" err="1">
                <a:solidFill>
                  <a:schemeClr val="tx1"/>
                </a:solidFill>
                <a:effectLst/>
                <a:latin typeface="+mn-lt"/>
                <a:ea typeface="+mn-ea"/>
                <a:cs typeface="+mn-cs"/>
              </a:rPr>
              <a:t>or</a:t>
            </a:r>
            <a:r>
              <a:rPr lang="de-DE" sz="1200" kern="1200" dirty="0">
                <a:solidFill>
                  <a:schemeClr val="tx1"/>
                </a:solidFill>
                <a:effectLst/>
                <a:latin typeface="+mn-lt"/>
                <a:ea typeface="+mn-ea"/>
                <a:cs typeface="+mn-cs"/>
              </a:rPr>
              <a:t> negative </a:t>
            </a:r>
            <a:r>
              <a:rPr lang="de-DE" sz="1200" kern="1200" dirty="0" err="1">
                <a:solidFill>
                  <a:schemeClr val="tx1"/>
                </a:solidFill>
                <a:effectLst/>
                <a:latin typeface="+mn-lt"/>
                <a:ea typeface="+mn-ea"/>
                <a:cs typeface="+mn-cs"/>
              </a:rPr>
              <a:t>labels</a:t>
            </a:r>
            <a:r>
              <a:rPr lang="de-DE" sz="1200" kern="1200" dirty="0">
                <a:solidFill>
                  <a:schemeClr val="tx1"/>
                </a:solidFill>
                <a:effectLst/>
                <a:latin typeface="+mn-lt"/>
                <a:ea typeface="+mn-ea"/>
                <a:cs typeface="+mn-cs"/>
              </a:rPr>
              <a:t>, I </a:t>
            </a:r>
            <a:r>
              <a:rPr lang="de-DE" sz="1200" kern="1200" dirty="0" err="1">
                <a:solidFill>
                  <a:schemeClr val="tx1"/>
                </a:solidFill>
                <a:effectLst/>
                <a:latin typeface="+mn-lt"/>
                <a:ea typeface="+mn-ea"/>
                <a:cs typeface="+mn-cs"/>
              </a:rPr>
              <a:t>calculate</a:t>
            </a:r>
            <a:r>
              <a:rPr lang="de-DE" sz="1200" kern="1200" dirty="0">
                <a:solidFill>
                  <a:schemeClr val="tx1"/>
                </a:solidFill>
                <a:effectLst/>
                <a:latin typeface="+mn-lt"/>
                <a:ea typeface="+mn-ea"/>
                <a:cs typeface="+mn-cs"/>
              </a:rPr>
              <a:t> a </a:t>
            </a:r>
            <a:r>
              <a:rPr lang="de-DE" sz="1200" kern="1200" dirty="0" err="1">
                <a:solidFill>
                  <a:schemeClr val="tx1"/>
                </a:solidFill>
                <a:effectLst/>
                <a:latin typeface="+mn-lt"/>
                <a:ea typeface="+mn-ea"/>
                <a:cs typeface="+mn-cs"/>
              </a:rPr>
              <a:t>continuous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valence</a:t>
            </a:r>
            <a:r>
              <a:rPr lang="de-DE" sz="1200" kern="1200" dirty="0">
                <a:solidFill>
                  <a:schemeClr val="tx1"/>
                </a:solidFill>
                <a:effectLst/>
                <a:latin typeface="+mn-lt"/>
                <a:ea typeface="+mn-ea"/>
                <a:cs typeface="+mn-cs"/>
              </a:rPr>
              <a:t> score </a:t>
            </a:r>
            <a:r>
              <a:rPr lang="de-DE" sz="1200" kern="1200" dirty="0" err="1">
                <a:solidFill>
                  <a:schemeClr val="tx1"/>
                </a:solidFill>
                <a:effectLst/>
                <a:latin typeface="+mn-lt"/>
                <a:ea typeface="+mn-ea"/>
                <a:cs typeface="+mn-cs"/>
              </a:rPr>
              <a:t>between</a:t>
            </a:r>
            <a:r>
              <a:rPr lang="de-DE" sz="1200" kern="1200" dirty="0">
                <a:solidFill>
                  <a:schemeClr val="tx1"/>
                </a:solidFill>
                <a:effectLst/>
                <a:latin typeface="+mn-lt"/>
                <a:ea typeface="+mn-ea"/>
                <a:cs typeface="+mn-cs"/>
              </a:rPr>
              <a:t> minus </a:t>
            </a:r>
            <a:r>
              <a:rPr lang="de-DE" sz="1200" kern="1200" dirty="0" err="1">
                <a:solidFill>
                  <a:schemeClr val="tx1"/>
                </a:solidFill>
                <a:effectLst/>
                <a:latin typeface="+mn-lt"/>
                <a:ea typeface="+mn-ea"/>
                <a:cs typeface="+mn-cs"/>
              </a:rPr>
              <a:t>one</a:t>
            </a:r>
            <a:r>
              <a:rPr lang="de-DE" sz="1200" kern="1200" dirty="0">
                <a:solidFill>
                  <a:schemeClr val="tx1"/>
                </a:solidFill>
                <a:effectLst/>
                <a:latin typeface="+mn-lt"/>
                <a:ea typeface="+mn-ea"/>
                <a:cs typeface="+mn-cs"/>
              </a:rPr>
              <a:t> and plus </a:t>
            </a:r>
            <a:r>
              <a:rPr lang="de-DE" sz="1200" kern="1200" dirty="0" err="1">
                <a:solidFill>
                  <a:schemeClr val="tx1"/>
                </a:solidFill>
                <a:effectLst/>
                <a:latin typeface="+mn-lt"/>
                <a:ea typeface="+mn-ea"/>
                <a:cs typeface="+mn-cs"/>
              </a:rPr>
              <a:t>one</a:t>
            </a:r>
            <a:r>
              <a:rPr lang="de-DE" sz="1200" kern="1200" dirty="0">
                <a:solidFill>
                  <a:schemeClr val="tx1"/>
                </a:solidFill>
                <a:effectLst/>
                <a:latin typeface="+mn-lt"/>
                <a:ea typeface="+mn-ea"/>
                <a:cs typeface="+mn-cs"/>
              </a:rPr>
              <a:t>.</a:t>
            </a:r>
          </a:p>
          <a:p>
            <a:r>
              <a:rPr lang="de-DE" sz="1200" b="1" kern="1200" dirty="0">
                <a:solidFill>
                  <a:schemeClr val="tx1"/>
                </a:solidFill>
                <a:effectLst/>
                <a:latin typeface="+mn-lt"/>
                <a:ea typeface="+mn-ea"/>
                <a:cs typeface="+mn-cs"/>
              </a:rPr>
              <a:t>Schritt 4</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For </a:t>
            </a:r>
            <a:r>
              <a:rPr lang="de-DE" sz="1200" kern="1200" dirty="0" err="1">
                <a:solidFill>
                  <a:schemeClr val="tx1"/>
                </a:solidFill>
                <a:effectLst/>
                <a:latin typeface="+mn-lt"/>
                <a:ea typeface="+mn-ea"/>
                <a:cs typeface="+mn-cs"/>
              </a:rPr>
              <a:t>topic</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modelling</a:t>
            </a:r>
            <a:r>
              <a:rPr lang="de-DE" sz="1200" kern="1200" dirty="0">
                <a:solidFill>
                  <a:schemeClr val="tx1"/>
                </a:solidFill>
                <a:effectLst/>
                <a:latin typeface="+mn-lt"/>
                <a:ea typeface="+mn-ea"/>
                <a:cs typeface="+mn-cs"/>
              </a:rPr>
              <a:t> I </a:t>
            </a:r>
            <a:r>
              <a:rPr lang="de-DE" sz="1200" kern="1200" dirty="0" err="1">
                <a:solidFill>
                  <a:schemeClr val="tx1"/>
                </a:solidFill>
                <a:effectLst/>
                <a:latin typeface="+mn-lt"/>
                <a:ea typeface="+mn-ea"/>
                <a:cs typeface="+mn-cs"/>
              </a:rPr>
              <a:t>use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BERTopic</a:t>
            </a:r>
            <a:r>
              <a:rPr lang="de-DE" sz="1200" kern="1200" dirty="0">
                <a:solidFill>
                  <a:schemeClr val="tx1"/>
                </a:solidFill>
                <a:effectLst/>
                <a:latin typeface="+mn-lt"/>
                <a:ea typeface="+mn-ea"/>
                <a:cs typeface="+mn-cs"/>
              </a:rPr>
              <a:t>. The </a:t>
            </a:r>
            <a:r>
              <a:rPr lang="de-DE" sz="1200" kern="1200" dirty="0" err="1">
                <a:solidFill>
                  <a:schemeClr val="tx1"/>
                </a:solidFill>
                <a:effectLst/>
                <a:latin typeface="+mn-lt"/>
                <a:ea typeface="+mn-ea"/>
                <a:cs typeface="+mn-cs"/>
              </a:rPr>
              <a:t>pipeline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combines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sentence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embeddings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dimensionality</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reduction</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using</a:t>
            </a:r>
            <a:r>
              <a:rPr lang="de-DE" sz="1200" kern="1200" dirty="0">
                <a:solidFill>
                  <a:schemeClr val="tx1"/>
                </a:solidFill>
                <a:effectLst/>
                <a:latin typeface="+mn-lt"/>
                <a:ea typeface="+mn-ea"/>
                <a:cs typeface="+mn-cs"/>
              </a:rPr>
              <a:t> UMAP and </a:t>
            </a:r>
            <a:r>
              <a:rPr lang="de-DE" sz="1200" kern="1200" dirty="0" err="1">
                <a:solidFill>
                  <a:schemeClr val="tx1"/>
                </a:solidFill>
                <a:effectLst/>
                <a:latin typeface="+mn-lt"/>
                <a:ea typeface="+mn-ea"/>
                <a:cs typeface="+mn-cs"/>
              </a:rPr>
              <a:t>density-based</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clustering</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with</a:t>
            </a:r>
            <a:r>
              <a:rPr lang="de-DE" sz="1200" kern="1200" dirty="0">
                <a:solidFill>
                  <a:schemeClr val="tx1"/>
                </a:solidFill>
                <a:effectLst/>
                <a:latin typeface="+mn-lt"/>
                <a:ea typeface="+mn-ea"/>
                <a:cs typeface="+mn-cs"/>
              </a:rPr>
              <a:t> HDBSCAN. I </a:t>
            </a:r>
            <a:r>
              <a:rPr lang="de-DE" sz="1200" kern="1200" dirty="0" err="1">
                <a:solidFill>
                  <a:schemeClr val="tx1"/>
                </a:solidFill>
                <a:effectLst/>
                <a:latin typeface="+mn-lt"/>
                <a:ea typeface="+mn-ea"/>
                <a:cs typeface="+mn-cs"/>
              </a:rPr>
              <a:t>evaluated</a:t>
            </a:r>
            <a:r>
              <a:rPr lang="de-DE" sz="1200" kern="1200" dirty="0">
                <a:solidFill>
                  <a:schemeClr val="tx1"/>
                </a:solidFill>
                <a:effectLst/>
                <a:latin typeface="+mn-lt"/>
                <a:ea typeface="+mn-ea"/>
                <a:cs typeface="+mn-cs"/>
              </a:rPr>
              <a:t> multiple </a:t>
            </a:r>
            <a:r>
              <a:rPr lang="de-DE" sz="1200" kern="1200" dirty="0" err="1">
                <a:solidFill>
                  <a:schemeClr val="tx1"/>
                </a:solidFill>
                <a:effectLst/>
                <a:latin typeface="+mn-lt"/>
                <a:ea typeface="+mn-ea"/>
                <a:cs typeface="+mn-cs"/>
              </a:rPr>
              <a:t>configurations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using</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grid</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searches</a:t>
            </a:r>
            <a:r>
              <a:rPr lang="de-DE" sz="1200" kern="1200" dirty="0">
                <a:solidFill>
                  <a:schemeClr val="tx1"/>
                </a:solidFill>
                <a:effectLst/>
                <a:latin typeface="+mn-lt"/>
                <a:ea typeface="+mn-ea"/>
                <a:cs typeface="+mn-cs"/>
              </a:rPr>
              <a:t> and </a:t>
            </a:r>
            <a:r>
              <a:rPr lang="de-DE" sz="1200" kern="1200" dirty="0" err="1">
                <a:solidFill>
                  <a:schemeClr val="tx1"/>
                </a:solidFill>
                <a:effectLst/>
                <a:latin typeface="+mn-lt"/>
                <a:ea typeface="+mn-ea"/>
                <a:cs typeface="+mn-cs"/>
              </a:rPr>
              <a:t>compared</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them</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using</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topic</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quality</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metrics</a:t>
            </a:r>
            <a:r>
              <a:rPr lang="de-DE" sz="1200" kern="1200" dirty="0">
                <a:solidFill>
                  <a:schemeClr val="tx1"/>
                </a:solidFill>
                <a:effectLst/>
                <a:latin typeface="+mn-lt"/>
                <a:ea typeface="+mn-ea"/>
                <a:cs typeface="+mn-cs"/>
              </a:rPr>
              <a:t>.</a:t>
            </a:r>
          </a:p>
          <a:p>
            <a:r>
              <a:rPr lang="de-DE" sz="1200" b="1" kern="1200" dirty="0">
                <a:solidFill>
                  <a:schemeClr val="tx1"/>
                </a:solidFill>
                <a:effectLst/>
                <a:latin typeface="+mn-lt"/>
                <a:ea typeface="+mn-ea"/>
                <a:cs typeface="+mn-cs"/>
              </a:rPr>
              <a:t>Schritt 5</a:t>
            </a:r>
            <a:endParaRPr lang="de-DE" sz="1200" kern="1200" dirty="0">
              <a:solidFill>
                <a:schemeClr val="tx1"/>
              </a:solidFill>
              <a:effectLst/>
              <a:latin typeface="+mn-lt"/>
              <a:ea typeface="+mn-ea"/>
              <a:cs typeface="+mn-cs"/>
            </a:endParaRPr>
          </a:p>
          <a:p>
            <a:r>
              <a:rPr lang="de-DE" sz="1200" kern="1200" dirty="0">
                <a:solidFill>
                  <a:schemeClr val="tx1"/>
                </a:solidFill>
                <a:effectLst/>
                <a:latin typeface="+mn-lt"/>
                <a:ea typeface="+mn-ea"/>
                <a:cs typeface="+mn-cs"/>
              </a:rPr>
              <a:t>The </a:t>
            </a:r>
            <a:r>
              <a:rPr lang="de-DE" sz="1200" kern="1200" dirty="0" err="1">
                <a:solidFill>
                  <a:schemeClr val="tx1"/>
                </a:solidFill>
                <a:effectLst/>
                <a:latin typeface="+mn-lt"/>
                <a:ea typeface="+mn-ea"/>
                <a:cs typeface="+mn-cs"/>
              </a:rPr>
              <a:t>next</a:t>
            </a:r>
            <a:r>
              <a:rPr lang="de-DE" sz="1200" kern="1200" dirty="0">
                <a:solidFill>
                  <a:schemeClr val="tx1"/>
                </a:solidFill>
                <a:effectLst/>
                <a:latin typeface="+mn-lt"/>
                <a:ea typeface="+mn-ea"/>
                <a:cs typeface="+mn-cs"/>
              </a:rPr>
              <a:t> planned step </a:t>
            </a:r>
            <a:r>
              <a:rPr lang="de-DE" sz="1200" kern="1200" dirty="0" err="1">
                <a:solidFill>
                  <a:schemeClr val="tx1"/>
                </a:solidFill>
                <a:effectLst/>
                <a:latin typeface="+mn-lt"/>
                <a:ea typeface="+mn-ea"/>
                <a:cs typeface="+mn-cs"/>
              </a:rPr>
              <a:t>is</a:t>
            </a:r>
            <a:r>
              <a:rPr lang="de-DE" sz="1200" kern="1200" dirty="0">
                <a:solidFill>
                  <a:schemeClr val="tx1"/>
                </a:solidFill>
                <a:effectLst/>
                <a:latin typeface="+mn-lt"/>
                <a:ea typeface="+mn-ea"/>
                <a:cs typeface="+mn-cs"/>
              </a:rPr>
              <a:t> the </a:t>
            </a:r>
            <a:r>
              <a:rPr lang="de-DE" sz="1200" kern="1200" dirty="0" err="1">
                <a:solidFill>
                  <a:schemeClr val="tx1"/>
                </a:solidFill>
                <a:effectLst/>
                <a:latin typeface="+mn-lt"/>
                <a:ea typeface="+mn-ea"/>
                <a:cs typeface="+mn-cs"/>
              </a:rPr>
              <a:t>emotion</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layer</a:t>
            </a:r>
            <a:r>
              <a:rPr lang="de-DE" sz="1200" kern="1200" dirty="0">
                <a:solidFill>
                  <a:schemeClr val="tx1"/>
                </a:solidFill>
                <a:effectLst/>
                <a:latin typeface="+mn-lt"/>
                <a:ea typeface="+mn-ea"/>
                <a:cs typeface="+mn-cs"/>
              </a:rPr>
              <a:t>. Here I </a:t>
            </a:r>
            <a:r>
              <a:rPr lang="de-DE" sz="1200" kern="1200" dirty="0" err="1">
                <a:solidFill>
                  <a:schemeClr val="tx1"/>
                </a:solidFill>
                <a:effectLst/>
                <a:latin typeface="+mn-lt"/>
                <a:ea typeface="+mn-ea"/>
                <a:cs typeface="+mn-cs"/>
              </a:rPr>
              <a:t>want</a:t>
            </a:r>
            <a:r>
              <a:rPr lang="de-DE" sz="1200" kern="1200" dirty="0">
                <a:solidFill>
                  <a:schemeClr val="tx1"/>
                </a:solidFill>
                <a:effectLst/>
                <a:latin typeface="+mn-lt"/>
                <a:ea typeface="+mn-ea"/>
                <a:cs typeface="+mn-cs"/>
              </a:rPr>
              <a:t> to </a:t>
            </a:r>
            <a:r>
              <a:rPr lang="de-DE" sz="1200" kern="1200" dirty="0" err="1">
                <a:solidFill>
                  <a:schemeClr val="tx1"/>
                </a:solidFill>
                <a:effectLst/>
                <a:latin typeface="+mn-lt"/>
                <a:ea typeface="+mn-ea"/>
                <a:cs typeface="+mn-cs"/>
              </a:rPr>
              <a:t>move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from</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sentiment</a:t>
            </a:r>
            <a:r>
              <a:rPr lang="de-DE" sz="1200" kern="1200" dirty="0">
                <a:solidFill>
                  <a:schemeClr val="tx1"/>
                </a:solidFill>
                <a:effectLst/>
                <a:latin typeface="+mn-lt"/>
                <a:ea typeface="+mn-ea"/>
                <a:cs typeface="+mn-cs"/>
              </a:rPr>
              <a:t> to </a:t>
            </a:r>
            <a:r>
              <a:rPr lang="de-DE" sz="1200" kern="1200" dirty="0" err="1">
                <a:solidFill>
                  <a:schemeClr val="tx1"/>
                </a:solidFill>
                <a:effectLst/>
                <a:latin typeface="+mn-lt"/>
                <a:ea typeface="+mn-ea"/>
                <a:cs typeface="+mn-cs"/>
              </a:rPr>
              <a:t>psychologically</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meaningful</a:t>
            </a:r>
            <a:r>
              <a:rPr lang="de-DE" sz="1200" kern="1200" dirty="0">
                <a:solidFill>
                  <a:schemeClr val="tx1"/>
                </a:solidFill>
                <a:effectLst/>
                <a:latin typeface="+mn-lt"/>
                <a:ea typeface="+mn-ea"/>
                <a:cs typeface="+mn-cs"/>
              </a:rPr>
              <a:t> emotional </a:t>
            </a:r>
            <a:r>
              <a:rPr lang="de-DE" sz="1200" kern="1200" dirty="0" err="1">
                <a:solidFill>
                  <a:schemeClr val="tx1"/>
                </a:solidFill>
                <a:effectLst/>
                <a:latin typeface="+mn-lt"/>
                <a:ea typeface="+mn-ea"/>
                <a:cs typeface="+mn-cs"/>
              </a:rPr>
              <a:t>states</a:t>
            </a:r>
            <a:r>
              <a:rPr lang="de-DE" sz="1200" kern="1200" dirty="0">
                <a:solidFill>
                  <a:schemeClr val="tx1"/>
                </a:solidFill>
                <a:effectLst/>
                <a:latin typeface="+mn-lt"/>
                <a:ea typeface="+mn-ea"/>
                <a:cs typeface="+mn-cs"/>
              </a:rPr>
              <a:t> by </a:t>
            </a:r>
            <a:r>
              <a:rPr lang="de-DE" sz="1200" kern="1200" dirty="0" err="1">
                <a:solidFill>
                  <a:schemeClr val="tx1"/>
                </a:solidFill>
                <a:effectLst/>
                <a:latin typeface="+mn-lt"/>
                <a:ea typeface="+mn-ea"/>
                <a:cs typeface="+mn-cs"/>
              </a:rPr>
              <a:t>combining</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valence</a:t>
            </a:r>
            <a:r>
              <a:rPr lang="de-DE" sz="1200" kern="1200" dirty="0">
                <a:solidFill>
                  <a:schemeClr val="tx1"/>
                </a:solidFill>
                <a:effectLst/>
                <a:latin typeface="+mn-lt"/>
                <a:ea typeface="+mn-ea"/>
                <a:cs typeface="+mn-cs"/>
              </a:rPr>
              <a:t> and </a:t>
            </a:r>
            <a:r>
              <a:rPr lang="de-DE" sz="1200" kern="1200" dirty="0" err="1">
                <a:solidFill>
                  <a:schemeClr val="tx1"/>
                </a:solidFill>
                <a:effectLst/>
                <a:latin typeface="+mn-lt"/>
                <a:ea typeface="+mn-ea"/>
                <a:cs typeface="+mn-cs"/>
              </a:rPr>
              <a:t>arousal</a:t>
            </a:r>
            <a:r>
              <a:rPr lang="de-DE" sz="1200" kern="1200" dirty="0">
                <a:solidFill>
                  <a:schemeClr val="tx1"/>
                </a:solidFill>
                <a:effectLst/>
                <a:latin typeface="+mn-lt"/>
                <a:ea typeface="+mn-ea"/>
                <a:cs typeface="+mn-cs"/>
              </a:rPr>
              <a:t>.</a:t>
            </a:r>
          </a:p>
          <a:p>
            <a:r>
              <a:rPr lang="de-DE" sz="1200" kern="1200" dirty="0">
                <a:solidFill>
                  <a:schemeClr val="tx1"/>
                </a:solidFill>
                <a:effectLst/>
                <a:latin typeface="+mn-lt"/>
                <a:ea typeface="+mn-ea"/>
                <a:cs typeface="+mn-cs"/>
              </a:rPr>
              <a:t>Idea: German Sentiment BERT </a:t>
            </a:r>
            <a:r>
              <a:rPr lang="de-DE" sz="1200" kern="1200" dirty="0">
                <a:solidFill>
                  <a:schemeClr val="tx1"/>
                </a:solidFill>
                <a:effectLst/>
                <a:latin typeface="+mn-lt"/>
                <a:ea typeface="+mn-ea"/>
                <a:cs typeface="+mn-cs"/>
                <a:sym typeface="Wingdings" pitchFamily="2" charset="2"/>
              </a:rPr>
              <a:t></a:t>
            </a:r>
            <a:r>
              <a:rPr lang="de-DE" sz="1200" kern="1200" dirty="0">
                <a:solidFill>
                  <a:schemeClr val="tx1"/>
                </a:solidFill>
                <a:effectLst/>
                <a:latin typeface="+mn-lt"/>
                <a:ea typeface="+mn-ea"/>
                <a:cs typeface="+mn-cs"/>
              </a:rPr>
              <a:t> Valence + Emotion </a:t>
            </a:r>
            <a:r>
              <a:rPr lang="de-DE" sz="1200" kern="1200" dirty="0" err="1">
                <a:solidFill>
                  <a:schemeClr val="tx1"/>
                </a:solidFill>
                <a:effectLst/>
                <a:latin typeface="+mn-lt"/>
                <a:ea typeface="+mn-ea"/>
                <a:cs typeface="+mn-cs"/>
              </a:rPr>
              <a:t>Classifier</a:t>
            </a:r>
            <a:r>
              <a:rPr lang="de-DE" sz="1200" kern="1200" dirty="0">
                <a:solidFill>
                  <a:schemeClr val="tx1"/>
                </a:solidFill>
                <a:effectLst/>
                <a:latin typeface="+mn-lt"/>
                <a:ea typeface="+mn-ea"/>
                <a:cs typeface="+mn-cs"/>
              </a:rPr>
              <a:t> </a:t>
            </a:r>
            <a:r>
              <a:rPr lang="de-DE" sz="1200" kern="1200" dirty="0">
                <a:solidFill>
                  <a:schemeClr val="tx1"/>
                </a:solidFill>
                <a:effectLst/>
                <a:latin typeface="+mn-lt"/>
                <a:ea typeface="+mn-ea"/>
                <a:cs typeface="+mn-cs"/>
                <a:sym typeface="Wingdings" pitchFamily="2" charset="2"/>
              </a:rPr>
              <a:t></a:t>
            </a:r>
            <a:r>
              <a:rPr lang="de-DE" sz="1200" kern="1200" dirty="0">
                <a:solidFill>
                  <a:schemeClr val="tx1"/>
                </a:solidFill>
                <a:effectLst/>
                <a:latin typeface="+mn-lt"/>
                <a:ea typeface="+mn-ea"/>
                <a:cs typeface="+mn-cs"/>
              </a:rPr>
              <a:t> Emotion </a:t>
            </a:r>
            <a:r>
              <a:rPr lang="de-DE" sz="1200" kern="1200" dirty="0" err="1">
                <a:solidFill>
                  <a:schemeClr val="tx1"/>
                </a:solidFill>
                <a:effectLst/>
                <a:latin typeface="+mn-lt"/>
                <a:ea typeface="+mn-ea"/>
                <a:cs typeface="+mn-cs"/>
              </a:rPr>
              <a:t>Probabilities</a:t>
            </a:r>
            <a:r>
              <a:rPr lang="de-DE" sz="1200" kern="1200" dirty="0">
                <a:solidFill>
                  <a:schemeClr val="tx1"/>
                </a:solidFill>
                <a:effectLst/>
                <a:latin typeface="+mn-lt"/>
                <a:ea typeface="+mn-ea"/>
                <a:cs typeface="+mn-cs"/>
              </a:rPr>
              <a:t> </a:t>
            </a:r>
            <a:r>
              <a:rPr lang="de-DE" sz="1200" kern="1200" dirty="0">
                <a:solidFill>
                  <a:schemeClr val="tx1"/>
                </a:solidFill>
                <a:effectLst/>
                <a:latin typeface="+mn-lt"/>
                <a:ea typeface="+mn-ea"/>
                <a:cs typeface="+mn-cs"/>
                <a:sym typeface="Wingdings" pitchFamily="2" charset="2"/>
              </a:rPr>
              <a:t></a:t>
            </a:r>
            <a:r>
              <a:rPr lang="de-DE" sz="1200" kern="1200" dirty="0">
                <a:solidFill>
                  <a:schemeClr val="tx1"/>
                </a:solidFill>
                <a:effectLst/>
                <a:latin typeface="+mn-lt"/>
                <a:ea typeface="+mn-ea"/>
                <a:cs typeface="+mn-cs"/>
              </a:rPr>
              <a:t> Valence + Arousal Mapping; possible Models: </a:t>
            </a:r>
            <a:r>
              <a:rPr lang="de-DE" sz="1200" kern="1200" dirty="0" err="1">
                <a:solidFill>
                  <a:schemeClr val="tx1"/>
                </a:solidFill>
                <a:effectLst/>
                <a:latin typeface="+mn-lt"/>
                <a:ea typeface="+mn-ea"/>
                <a:cs typeface="+mn-cs"/>
              </a:rPr>
              <a:t>maybe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ChrisLalk</a:t>
            </a:r>
            <a:r>
              <a:rPr lang="de-DE" sz="1200" kern="1200" dirty="0">
                <a:solidFill>
                  <a:schemeClr val="tx1"/>
                </a:solidFill>
                <a:effectLst/>
                <a:latin typeface="+mn-lt"/>
                <a:ea typeface="+mn-ea"/>
                <a:cs typeface="+mn-cs"/>
              </a:rPr>
              <a:t>/German-</a:t>
            </a:r>
            <a:r>
              <a:rPr lang="de-DE" sz="1200" kern="1200" dirty="0" err="1">
                <a:solidFill>
                  <a:schemeClr val="tx1"/>
                </a:solidFill>
                <a:effectLst/>
                <a:latin typeface="+mn-lt"/>
                <a:ea typeface="+mn-ea"/>
                <a:cs typeface="+mn-cs"/>
              </a:rPr>
              <a:t>Emotions</a:t>
            </a:r>
            <a:r>
              <a:rPr lang="de-DE" sz="1200" kern="1200" dirty="0">
                <a:solidFill>
                  <a:schemeClr val="tx1"/>
                </a:solidFill>
                <a:effectLst/>
                <a:latin typeface="+mn-lt"/>
                <a:ea typeface="+mn-ea"/>
                <a:cs typeface="+mn-cs"/>
              </a:rPr>
              <a:t>; Output: Valence, Arousal, Emotion per </a:t>
            </a:r>
            <a:r>
              <a:rPr lang="de-DE" sz="1200" kern="1200" dirty="0" err="1">
                <a:solidFill>
                  <a:schemeClr val="tx1"/>
                </a:solidFill>
                <a:effectLst/>
                <a:latin typeface="+mn-lt"/>
                <a:ea typeface="+mn-ea"/>
                <a:cs typeface="+mn-cs"/>
              </a:rPr>
              <a:t>comment</a:t>
            </a:r>
            <a:r>
              <a:rPr lang="de-DE" sz="1200" kern="1200" dirty="0">
                <a:solidFill>
                  <a:schemeClr val="tx1"/>
                </a:solidFill>
                <a:effectLst/>
                <a:latin typeface="+mn-lt"/>
                <a:ea typeface="+mn-ea"/>
                <a:cs typeface="+mn-cs"/>
              </a:rPr>
              <a:t> </a:t>
            </a:r>
          </a:p>
          <a:p>
            <a:r>
              <a:rPr lang="de-DE" sz="1200" kern="1200" dirty="0">
                <a:solidFill>
                  <a:schemeClr val="tx1"/>
                </a:solidFill>
                <a:effectLst/>
                <a:latin typeface="+mn-lt"/>
                <a:ea typeface="+mn-ea"/>
                <a:cs typeface="+mn-cs"/>
                <a:sym typeface="Wingdings" pitchFamily="2" charset="2"/>
              </a:rPr>
              <a:t></a:t>
            </a:r>
            <a:r>
              <a:rPr lang="de-DE" sz="1200" kern="1200" dirty="0">
                <a:solidFill>
                  <a:schemeClr val="tx1"/>
                </a:solidFill>
                <a:effectLst/>
                <a:latin typeface="+mn-lt"/>
                <a:ea typeface="+mn-ea"/>
                <a:cs typeface="+mn-cs"/>
              </a:rPr>
              <a:t> How do the </a:t>
            </a:r>
            <a:r>
              <a:rPr lang="de-DE" sz="1200" kern="1200" dirty="0" err="1">
                <a:solidFill>
                  <a:schemeClr val="tx1"/>
                </a:solidFill>
                <a:effectLst/>
                <a:latin typeface="+mn-lt"/>
                <a:ea typeface="+mn-ea"/>
                <a:cs typeface="+mn-cs"/>
              </a:rPr>
              <a:t>Employees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feel</a:t>
            </a:r>
            <a:r>
              <a:rPr lang="de-DE" sz="1200" kern="1200" dirty="0">
                <a:solidFill>
                  <a:schemeClr val="tx1"/>
                </a:solidFill>
                <a:effectLst/>
                <a:latin typeface="+mn-lt"/>
                <a:ea typeface="+mn-ea"/>
                <a:cs typeface="+mn-cs"/>
              </a:rPr>
              <a:t>	</a:t>
            </a:r>
          </a:p>
          <a:p>
            <a:r>
              <a:rPr lang="de-DE" sz="1200" b="1" kern="1200" dirty="0">
                <a:solidFill>
                  <a:schemeClr val="tx1"/>
                </a:solidFill>
                <a:effectLst/>
                <a:latin typeface="+mn-lt"/>
                <a:ea typeface="+mn-ea"/>
                <a:cs typeface="+mn-cs"/>
              </a:rPr>
              <a:t>Schritt 6</a:t>
            </a:r>
            <a:endParaRPr lang="de-DE" sz="1200" kern="1200" dirty="0">
              <a:solidFill>
                <a:schemeClr val="tx1"/>
              </a:solidFill>
              <a:effectLst/>
              <a:latin typeface="+mn-lt"/>
              <a:ea typeface="+mn-ea"/>
              <a:cs typeface="+mn-cs"/>
            </a:endParaRPr>
          </a:p>
          <a:p>
            <a:r>
              <a:rPr lang="de-DE" sz="1200" kern="1200" dirty="0" err="1">
                <a:solidFill>
                  <a:schemeClr val="tx1"/>
                </a:solidFill>
                <a:effectLst/>
                <a:latin typeface="+mn-lt"/>
                <a:ea typeface="+mn-ea"/>
                <a:cs typeface="+mn-cs"/>
              </a:rPr>
              <a:t>Afterwards</a:t>
            </a:r>
            <a:r>
              <a:rPr lang="de-DE" sz="1200" kern="1200" dirty="0">
                <a:solidFill>
                  <a:schemeClr val="tx1"/>
                </a:solidFill>
                <a:effectLst/>
                <a:latin typeface="+mn-lt"/>
                <a:ea typeface="+mn-ea"/>
                <a:cs typeface="+mn-cs"/>
              </a:rPr>
              <a:t> I will </a:t>
            </a:r>
            <a:r>
              <a:rPr lang="de-DE" sz="1200" kern="1200" dirty="0" err="1">
                <a:solidFill>
                  <a:schemeClr val="tx1"/>
                </a:solidFill>
                <a:effectLst/>
                <a:latin typeface="+mn-lt"/>
                <a:ea typeface="+mn-ea"/>
                <a:cs typeface="+mn-cs"/>
              </a:rPr>
              <a:t>analyse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how</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emotions</a:t>
            </a:r>
            <a:r>
              <a:rPr lang="de-DE" sz="1200" kern="1200" dirty="0">
                <a:solidFill>
                  <a:schemeClr val="tx1"/>
                </a:solidFill>
                <a:effectLst/>
                <a:latin typeface="+mn-lt"/>
                <a:ea typeface="+mn-ea"/>
                <a:cs typeface="+mn-cs"/>
              </a:rPr>
              <a:t> and </a:t>
            </a:r>
            <a:r>
              <a:rPr lang="de-DE" sz="1200" kern="1200" dirty="0" err="1">
                <a:solidFill>
                  <a:schemeClr val="tx1"/>
                </a:solidFill>
                <a:effectLst/>
                <a:latin typeface="+mn-lt"/>
                <a:ea typeface="+mn-ea"/>
                <a:cs typeface="+mn-cs"/>
              </a:rPr>
              <a:t>topics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relate</a:t>
            </a:r>
            <a:r>
              <a:rPr lang="de-DE" sz="1200" kern="1200" dirty="0">
                <a:solidFill>
                  <a:schemeClr val="tx1"/>
                </a:solidFill>
                <a:effectLst/>
                <a:latin typeface="+mn-lt"/>
                <a:ea typeface="+mn-ea"/>
                <a:cs typeface="+mn-cs"/>
              </a:rPr>
              <a:t> to </a:t>
            </a:r>
            <a:r>
              <a:rPr lang="de-DE" sz="1200" kern="1200" dirty="0" err="1">
                <a:solidFill>
                  <a:schemeClr val="tx1"/>
                </a:solidFill>
                <a:effectLst/>
                <a:latin typeface="+mn-lt"/>
                <a:ea typeface="+mn-ea"/>
                <a:cs typeface="+mn-cs"/>
              </a:rPr>
              <a:t>engagement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leadership</a:t>
            </a:r>
            <a:r>
              <a:rPr lang="de-DE" sz="1200" kern="1200" dirty="0">
                <a:solidFill>
                  <a:schemeClr val="tx1"/>
                </a:solidFill>
                <a:effectLst/>
                <a:latin typeface="+mn-lt"/>
                <a:ea typeface="+mn-ea"/>
                <a:cs typeface="+mn-cs"/>
              </a:rPr>
              <a:t> and </a:t>
            </a:r>
            <a:r>
              <a:rPr lang="de-DE" sz="1200" kern="1200" dirty="0" err="1">
                <a:solidFill>
                  <a:schemeClr val="tx1"/>
                </a:solidFill>
                <a:effectLst/>
                <a:latin typeface="+mn-lt"/>
                <a:ea typeface="+mn-ea"/>
                <a:cs typeface="+mn-cs"/>
              </a:rPr>
              <a:t>culture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scores</a:t>
            </a:r>
            <a:r>
              <a:rPr lang="de-DE" sz="1200" kern="1200" dirty="0">
                <a:solidFill>
                  <a:schemeClr val="tx1"/>
                </a:solidFill>
                <a:effectLst/>
                <a:latin typeface="+mn-lt"/>
                <a:ea typeface="+mn-ea"/>
                <a:cs typeface="+mn-cs"/>
              </a:rPr>
              <a:t>. </a:t>
            </a:r>
            <a:r>
              <a:rPr lang="de-DE" sz="1200" kern="1200" dirty="0">
                <a:solidFill>
                  <a:schemeClr val="tx1"/>
                </a:solidFill>
                <a:effectLst/>
                <a:latin typeface="+mn-lt"/>
                <a:ea typeface="+mn-ea"/>
                <a:cs typeface="+mn-cs"/>
                <a:sym typeface="Wingdings" pitchFamily="2" charset="2"/>
              </a:rPr>
              <a:t></a:t>
            </a:r>
            <a:r>
              <a:rPr lang="de-DE" sz="1200" kern="1200" dirty="0">
                <a:solidFill>
                  <a:schemeClr val="tx1"/>
                </a:solidFill>
                <a:effectLst/>
                <a:latin typeface="+mn-lt"/>
                <a:ea typeface="+mn-ea"/>
                <a:cs typeface="+mn-cs"/>
              </a:rPr>
              <a:t> Can I </a:t>
            </a:r>
            <a:r>
              <a:rPr lang="de-DE" sz="1200" kern="1200" dirty="0" err="1">
                <a:solidFill>
                  <a:schemeClr val="tx1"/>
                </a:solidFill>
                <a:effectLst/>
                <a:latin typeface="+mn-lt"/>
                <a:ea typeface="+mn-ea"/>
                <a:cs typeface="+mn-cs"/>
              </a:rPr>
              <a:t>predict</a:t>
            </a:r>
            <a:r>
              <a:rPr lang="de-DE" sz="1200" kern="1200" dirty="0">
                <a:solidFill>
                  <a:schemeClr val="tx1"/>
                </a:solidFill>
                <a:effectLst/>
                <a:latin typeface="+mn-lt"/>
                <a:ea typeface="+mn-ea"/>
                <a:cs typeface="+mn-cs"/>
              </a:rPr>
              <a:t> an Engagement Score by </a:t>
            </a:r>
            <a:r>
              <a:rPr lang="de-DE" sz="1200" kern="1200" dirty="0" err="1">
                <a:solidFill>
                  <a:schemeClr val="tx1"/>
                </a:solidFill>
                <a:effectLst/>
                <a:latin typeface="+mn-lt"/>
                <a:ea typeface="+mn-ea"/>
                <a:cs typeface="+mn-cs"/>
              </a:rPr>
              <a:t>comments</a:t>
            </a:r>
            <a:br>
              <a:rPr lang="de-DE" sz="1200" kern="1200" dirty="0">
                <a:solidFill>
                  <a:schemeClr val="tx1"/>
                </a:solidFill>
                <a:effectLst/>
                <a:latin typeface="+mn-lt"/>
                <a:ea typeface="+mn-ea"/>
                <a:cs typeface="+mn-cs"/>
              </a:rPr>
            </a:br>
            <a:r>
              <a:rPr lang="de-DE" sz="1200" kern="1200" dirty="0">
                <a:solidFill>
                  <a:schemeClr val="tx1"/>
                </a:solidFill>
                <a:effectLst/>
                <a:latin typeface="+mn-lt"/>
                <a:ea typeface="+mn-ea"/>
                <a:cs typeface="+mn-cs"/>
              </a:rPr>
              <a:t>Features: TF-IDF Features, Topic ID, Valence, Emotion Scores, Comment </a:t>
            </a:r>
            <a:r>
              <a:rPr lang="de-DE" sz="1200" kern="1200" dirty="0" err="1">
                <a:solidFill>
                  <a:schemeClr val="tx1"/>
                </a:solidFill>
                <a:effectLst/>
                <a:latin typeface="+mn-lt"/>
                <a:ea typeface="+mn-ea"/>
                <a:cs typeface="+mn-cs"/>
              </a:rPr>
              <a:t>Length</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maybe</a:t>
            </a:r>
            <a:r>
              <a:rPr lang="de-DE" sz="1200" kern="1200" dirty="0">
                <a:solidFill>
                  <a:schemeClr val="tx1"/>
                </a:solidFill>
                <a:effectLst/>
                <a:latin typeface="+mn-lt"/>
                <a:ea typeface="+mn-ea"/>
                <a:cs typeface="+mn-cs"/>
              </a:rPr>
              <a:t> I </a:t>
            </a:r>
            <a:r>
              <a:rPr lang="de-DE" sz="1200" kern="1200" dirty="0" err="1">
                <a:solidFill>
                  <a:schemeClr val="tx1"/>
                </a:solidFill>
                <a:effectLst/>
                <a:latin typeface="+mn-lt"/>
                <a:ea typeface="+mn-ea"/>
                <a:cs typeface="+mn-cs"/>
              </a:rPr>
              <a:t>can</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use</a:t>
            </a:r>
            <a:r>
              <a:rPr lang="de-DE" sz="1200" kern="1200" dirty="0">
                <a:solidFill>
                  <a:schemeClr val="tx1"/>
                </a:solidFill>
                <a:effectLst/>
                <a:latin typeface="+mn-lt"/>
                <a:ea typeface="+mn-ea"/>
                <a:cs typeface="+mn-cs"/>
              </a:rPr>
              <a:t> the </a:t>
            </a:r>
            <a:r>
              <a:rPr lang="de-DE" sz="1200" kern="1200" dirty="0" err="1">
                <a:solidFill>
                  <a:schemeClr val="tx1"/>
                </a:solidFill>
                <a:effectLst/>
                <a:latin typeface="+mn-lt"/>
                <a:ea typeface="+mn-ea"/>
                <a:cs typeface="+mn-cs"/>
              </a:rPr>
              <a:t>likert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scaled</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items</a:t>
            </a:r>
            <a:r>
              <a:rPr lang="de-DE" sz="1200" kern="1200" dirty="0">
                <a:solidFill>
                  <a:schemeClr val="tx1"/>
                </a:solidFill>
                <a:effectLst/>
                <a:latin typeface="+mn-lt"/>
                <a:ea typeface="+mn-ea"/>
                <a:cs typeface="+mn-cs"/>
              </a:rPr>
              <a:t> as </a:t>
            </a:r>
            <a:r>
              <a:rPr lang="de-DE" sz="1200" kern="1200" dirty="0" err="1">
                <a:solidFill>
                  <a:schemeClr val="tx1"/>
                </a:solidFill>
                <a:effectLst/>
                <a:latin typeface="+mn-lt"/>
                <a:ea typeface="+mn-ea"/>
                <a:cs typeface="+mn-cs"/>
              </a:rPr>
              <a:t>features</a:t>
            </a:r>
            <a:br>
              <a:rPr lang="de-DE" sz="1200" kern="1200" dirty="0">
                <a:solidFill>
                  <a:schemeClr val="tx1"/>
                </a:solidFill>
                <a:effectLst/>
                <a:latin typeface="+mn-lt"/>
                <a:ea typeface="+mn-ea"/>
                <a:cs typeface="+mn-cs"/>
              </a:rPr>
            </a:br>
            <a:r>
              <a:rPr lang="de-DE" sz="1200" kern="1200" dirty="0">
                <a:solidFill>
                  <a:schemeClr val="tx1"/>
                </a:solidFill>
                <a:effectLst/>
                <a:latin typeface="+mn-lt"/>
                <a:ea typeface="+mn-ea"/>
                <a:cs typeface="+mn-cs"/>
              </a:rPr>
              <a:t>Baseline: TF-IDF + Linear Regression </a:t>
            </a:r>
            <a:r>
              <a:rPr lang="de-DE" sz="1200" kern="1200" dirty="0">
                <a:solidFill>
                  <a:schemeClr val="tx1"/>
                </a:solidFill>
                <a:effectLst/>
                <a:latin typeface="+mn-lt"/>
                <a:ea typeface="+mn-ea"/>
                <a:cs typeface="+mn-cs"/>
                <a:sym typeface="Wingdings" pitchFamily="2" charset="2"/>
              </a:rPr>
              <a: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then</a:t>
            </a:r>
            <a:r>
              <a:rPr lang="de-DE" sz="1200" kern="1200" dirty="0">
                <a:solidFill>
                  <a:schemeClr val="tx1"/>
                </a:solidFill>
                <a:effectLst/>
                <a:latin typeface="+mn-lt"/>
                <a:ea typeface="+mn-ea"/>
                <a:cs typeface="+mn-cs"/>
              </a:rPr>
              <a:t> Random Forest and </a:t>
            </a:r>
            <a:r>
              <a:rPr lang="de-DE" sz="1200" kern="1200" dirty="0" err="1">
                <a:solidFill>
                  <a:schemeClr val="tx1"/>
                </a:solidFill>
                <a:effectLst/>
                <a:latin typeface="+mn-lt"/>
                <a:ea typeface="+mn-ea"/>
                <a:cs typeface="+mn-cs"/>
              </a:rPr>
              <a:t>XGBoost</a:t>
            </a:r>
            <a:br>
              <a:rPr lang="de-DE" sz="1200" kern="1200" dirty="0">
                <a:solidFill>
                  <a:schemeClr val="tx1"/>
                </a:solidFill>
                <a:effectLst/>
                <a:latin typeface="+mn-lt"/>
                <a:ea typeface="+mn-ea"/>
                <a:cs typeface="+mn-cs"/>
              </a:rPr>
            </a:br>
            <a:r>
              <a:rPr lang="de-DE" sz="1200" kern="1200" dirty="0">
                <a:solidFill>
                  <a:schemeClr val="tx1"/>
                </a:solidFill>
                <a:effectLst/>
                <a:latin typeface="+mn-lt"/>
                <a:ea typeface="+mn-ea"/>
                <a:cs typeface="+mn-cs"/>
              </a:rPr>
              <a:t>Evaluation: MAE, RMSE, R²</a:t>
            </a:r>
          </a:p>
          <a:p>
            <a:r>
              <a:rPr lang="de-DE" sz="1200" kern="1200" dirty="0">
                <a:solidFill>
                  <a:schemeClr val="tx1"/>
                </a:solidFill>
                <a:effectLst/>
                <a:latin typeface="+mn-lt"/>
                <a:ea typeface="+mn-ea"/>
                <a:cs typeface="+mn-cs"/>
                <a:sym typeface="Wingdings" pitchFamily="2" charset="2"/>
              </a:rPr>
              <a: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What</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relationships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are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there</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between</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language</a:t>
            </a:r>
            <a:r>
              <a:rPr lang="de-DE" sz="1200" kern="1200" dirty="0">
                <a:solidFill>
                  <a:schemeClr val="tx1"/>
                </a:solidFill>
                <a:effectLst/>
                <a:latin typeface="+mn-lt"/>
                <a:ea typeface="+mn-ea"/>
                <a:cs typeface="+mn-cs"/>
              </a:rPr>
              <a:t> and </a:t>
            </a:r>
            <a:r>
              <a:rPr lang="de-DE" sz="1200" kern="1200" dirty="0" err="1">
                <a:solidFill>
                  <a:schemeClr val="tx1"/>
                </a:solidFill>
                <a:effectLst/>
                <a:latin typeface="+mn-lt"/>
                <a:ea typeface="+mn-ea"/>
                <a:cs typeface="+mn-cs"/>
              </a:rPr>
              <a:t>engagement</a:t>
            </a:r>
            <a:r>
              <a:rPr lang="de-DE" sz="1200" kern="1200" dirty="0">
                <a:solidFill>
                  <a:schemeClr val="tx1"/>
                </a:solidFill>
                <a:effectLst/>
                <a:latin typeface="+mn-lt"/>
                <a:ea typeface="+mn-ea"/>
                <a:cs typeface="+mn-cs"/>
              </a:rPr>
              <a:t>?</a:t>
            </a:r>
          </a:p>
          <a:p>
            <a:r>
              <a:rPr lang="de-DE" sz="1200" b="1" kern="1200" dirty="0">
                <a:solidFill>
                  <a:schemeClr val="tx1"/>
                </a:solidFill>
                <a:effectLst/>
                <a:latin typeface="+mn-lt"/>
                <a:ea typeface="+mn-ea"/>
                <a:cs typeface="+mn-cs"/>
              </a:rPr>
              <a:t>Schritt 7</a:t>
            </a:r>
            <a:endParaRPr lang="de-DE" sz="1200" kern="1200" dirty="0">
              <a:solidFill>
                <a:schemeClr val="tx1"/>
              </a:solidFill>
              <a:effectLst/>
              <a:latin typeface="+mn-lt"/>
              <a:ea typeface="+mn-ea"/>
              <a:cs typeface="+mn-cs"/>
            </a:endParaRPr>
          </a:p>
          <a:p>
            <a:r>
              <a:rPr lang="de-DE" sz="1200" kern="1200" dirty="0" err="1">
                <a:solidFill>
                  <a:schemeClr val="tx1"/>
                </a:solidFill>
                <a:effectLst/>
                <a:latin typeface="+mn-lt"/>
                <a:ea typeface="+mn-ea"/>
                <a:cs typeface="+mn-cs"/>
              </a:rPr>
              <a:t>Finally</a:t>
            </a:r>
            <a:r>
              <a:rPr lang="de-DE" sz="1200" kern="1200" dirty="0">
                <a:solidFill>
                  <a:schemeClr val="tx1"/>
                </a:solidFill>
                <a:effectLst/>
                <a:latin typeface="+mn-lt"/>
                <a:ea typeface="+mn-ea"/>
                <a:cs typeface="+mn-cs"/>
              </a:rPr>
              <a:t>, all </a:t>
            </a:r>
            <a:r>
              <a:rPr lang="de-DE" sz="1200" kern="1200" dirty="0" err="1">
                <a:solidFill>
                  <a:schemeClr val="tx1"/>
                </a:solidFill>
                <a:effectLst/>
                <a:latin typeface="+mn-lt"/>
                <a:ea typeface="+mn-ea"/>
                <a:cs typeface="+mn-cs"/>
              </a:rPr>
              <a:t>information</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is</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integrated</a:t>
            </a:r>
            <a:r>
              <a:rPr lang="de-DE" sz="1200" kern="1200" dirty="0">
                <a:solidFill>
                  <a:schemeClr val="tx1"/>
                </a:solidFill>
                <a:effectLst/>
                <a:latin typeface="+mn-lt"/>
                <a:ea typeface="+mn-ea"/>
                <a:cs typeface="+mn-cs"/>
              </a:rPr>
              <a:t> </a:t>
            </a:r>
            <a:r>
              <a:rPr lang="de-DE" sz="1200" kern="1200" dirty="0" err="1">
                <a:solidFill>
                  <a:schemeClr val="tx1"/>
                </a:solidFill>
                <a:effectLst/>
                <a:latin typeface="+mn-lt"/>
                <a:ea typeface="+mn-ea"/>
                <a:cs typeface="+mn-cs"/>
              </a:rPr>
              <a:t>into</a:t>
            </a:r>
            <a:r>
              <a:rPr lang="de-DE" sz="1200" kern="1200" dirty="0">
                <a:solidFill>
                  <a:schemeClr val="tx1"/>
                </a:solidFill>
                <a:effectLst/>
                <a:latin typeface="+mn-lt"/>
                <a:ea typeface="+mn-ea"/>
                <a:cs typeface="+mn-cs"/>
              </a:rPr>
              <a:t> a Power BI </a:t>
            </a:r>
            <a:r>
              <a:rPr lang="de-DE" sz="1200" kern="1200" dirty="0" err="1">
                <a:solidFill>
                  <a:schemeClr val="tx1"/>
                </a:solidFill>
                <a:effectLst/>
                <a:latin typeface="+mn-lt"/>
                <a:ea typeface="+mn-ea"/>
                <a:cs typeface="+mn-cs"/>
              </a:rPr>
              <a:t>dashboard</a:t>
            </a:r>
            <a:r>
              <a:rPr lang="de-DE" sz="1200" kern="1200" dirty="0">
                <a:solidFill>
                  <a:schemeClr val="tx1"/>
                </a:solidFill>
                <a:effectLst/>
                <a:latin typeface="+mn-lt"/>
                <a:ea typeface="+mn-ea"/>
                <a:cs typeface="+mn-cs"/>
              </a:rPr>
              <a:t> for organisational </a:t>
            </a:r>
            <a:r>
              <a:rPr lang="de-DE" sz="1200" kern="1200" dirty="0" err="1">
                <a:solidFill>
                  <a:schemeClr val="tx1"/>
                </a:solidFill>
                <a:effectLst/>
                <a:latin typeface="+mn-lt"/>
                <a:ea typeface="+mn-ea"/>
                <a:cs typeface="+mn-cs"/>
              </a:rPr>
              <a:t>analysis</a:t>
            </a:r>
            <a:r>
              <a:rPr lang="de-DE" sz="1200" kern="1200" dirty="0">
                <a:solidFill>
                  <a:schemeClr val="tx1"/>
                </a:solidFill>
                <a:effectLst/>
                <a:latin typeface="+mn-lt"/>
                <a:ea typeface="+mn-ea"/>
                <a:cs typeface="+mn-cs"/>
              </a:rPr>
              <a:t> and </a:t>
            </a:r>
            <a:r>
              <a:rPr lang="de-DE" sz="1200" kern="1200" dirty="0" err="1">
                <a:solidFill>
                  <a:schemeClr val="tx1"/>
                </a:solidFill>
                <a:effectLst/>
                <a:latin typeface="+mn-lt"/>
                <a:ea typeface="+mn-ea"/>
                <a:cs typeface="+mn-cs"/>
              </a:rPr>
              <a:t>decision</a:t>
            </a:r>
            <a:r>
              <a:rPr lang="de-DE" sz="1200" kern="1200" dirty="0">
                <a:solidFill>
                  <a:schemeClr val="tx1"/>
                </a:solidFill>
                <a:effectLst/>
                <a:latin typeface="+mn-lt"/>
                <a:ea typeface="+mn-ea"/>
                <a:cs typeface="+mn-cs"/>
              </a:rPr>
              <a:t> support.</a:t>
            </a:r>
          </a:p>
          <a:p>
            <a:r>
              <a:rPr lang="de-DE" sz="1200" kern="1200" dirty="0">
                <a:solidFill>
                  <a:schemeClr val="tx1"/>
                </a:solidFill>
                <a:effectLst/>
                <a:latin typeface="+mn-lt"/>
                <a:ea typeface="+mn-ea"/>
                <a:cs typeface="+mn-cs"/>
              </a:rPr>
              <a:t> </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de-DE" dirty="0"/>
          </a:p>
          <a:p>
            <a:pPr fontAlgn="t"/>
            <a:r>
              <a:rPr lang="de-DE" sz="1200" b="0" i="0" kern="1200" dirty="0">
                <a:solidFill>
                  <a:schemeClr val="tx1"/>
                </a:solidFill>
                <a:effectLst/>
                <a:latin typeface="+mn-lt"/>
                <a:ea typeface="+mn-ea"/>
                <a:cs typeface="+mn-cs"/>
              </a:rPr>
              <a:t>Different </a:t>
            </a:r>
            <a:r>
              <a:rPr lang="de-DE" sz="1200" b="0" i="0" kern="1200" dirty="0" err="1">
                <a:solidFill>
                  <a:schemeClr val="tx1"/>
                </a:solidFill>
                <a:effectLst/>
                <a:latin typeface="+mn-lt"/>
                <a:ea typeface="+mn-ea"/>
                <a:cs typeface="+mn-cs"/>
              </a:rPr>
              <a:t>parts</a:t>
            </a:r>
            <a:r>
              <a:rPr lang="de-DE" sz="1200" b="0" i="0" kern="1200" dirty="0">
                <a:solidFill>
                  <a:schemeClr val="tx1"/>
                </a:solidFill>
                <a:effectLst/>
                <a:latin typeface="+mn-lt"/>
                <a:ea typeface="+mn-ea"/>
                <a:cs typeface="+mn-cs"/>
              </a:rPr>
              <a:t> of ELFI </a:t>
            </a:r>
            <a:r>
              <a:rPr lang="de-DE" sz="1200" b="0" i="0" kern="1200" dirty="0" err="1">
                <a:solidFill>
                  <a:schemeClr val="tx1"/>
                </a:solidFill>
                <a:effectLst/>
                <a:latin typeface="+mn-lt"/>
                <a:ea typeface="+mn-ea"/>
                <a:cs typeface="+mn-cs"/>
              </a:rPr>
              <a:t>require</a:t>
            </a:r>
            <a:r>
              <a:rPr lang="de-DE" sz="1200" b="0" i="0" kern="1200" dirty="0">
                <a:solidFill>
                  <a:schemeClr val="tx1"/>
                </a:solidFill>
                <a:effectLst/>
                <a:latin typeface="+mn-lt"/>
                <a:ea typeface="+mn-ea"/>
                <a:cs typeface="+mn-cs"/>
              </a:rPr>
              <a:t> different </a:t>
            </a:r>
            <a:r>
              <a:rPr lang="de-DE" sz="1200" b="0" i="0" kern="1200" dirty="0" err="1">
                <a:solidFill>
                  <a:schemeClr val="tx1"/>
                </a:solidFill>
                <a:effectLst/>
                <a:latin typeface="+mn-lt"/>
                <a:ea typeface="+mn-ea"/>
                <a:cs typeface="+mn-cs"/>
              </a:rPr>
              <a:t>evaluation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approaches</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For </a:t>
            </a:r>
            <a:r>
              <a:rPr lang="de-DE" sz="1200" b="0" i="0" kern="1200" dirty="0" err="1">
                <a:solidFill>
                  <a:schemeClr val="tx1"/>
                </a:solidFill>
                <a:effectLst/>
                <a:latin typeface="+mn-lt"/>
                <a:ea typeface="+mn-ea"/>
                <a:cs typeface="+mn-cs"/>
              </a:rPr>
              <a:t>topic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modelling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there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no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ground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truth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label</a:t>
            </a:r>
            <a:r>
              <a:rPr lang="de-DE" sz="1200" b="0" i="0" kern="1200" dirty="0">
                <a:solidFill>
                  <a:schemeClr val="tx1"/>
                </a:solidFill>
                <a:effectLst/>
                <a:latin typeface="+mn-lt"/>
                <a:ea typeface="+mn-ea"/>
                <a:cs typeface="+mn-cs"/>
              </a:rPr>
              <a:t>, so traditional </a:t>
            </a:r>
            <a:r>
              <a:rPr lang="de-DE" sz="1200" b="0" i="0" kern="1200" dirty="0" err="1">
                <a:solidFill>
                  <a:schemeClr val="tx1"/>
                </a:solidFill>
                <a:effectLst/>
                <a:latin typeface="+mn-lt"/>
                <a:ea typeface="+mn-ea"/>
                <a:cs typeface="+mn-cs"/>
              </a:rPr>
              <a:t>classification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metrics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cannot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used</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I </a:t>
            </a:r>
            <a:r>
              <a:rPr lang="de-DE" sz="1200" b="0" i="0" kern="1200" dirty="0" err="1">
                <a:solidFill>
                  <a:schemeClr val="tx1"/>
                </a:solidFill>
                <a:effectLst/>
                <a:latin typeface="+mn-lt"/>
                <a:ea typeface="+mn-ea"/>
                <a:cs typeface="+mn-cs"/>
              </a:rPr>
              <a:t>therefore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evaluate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BERTopic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using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topic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coherence</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outlier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rates</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Topic </a:t>
            </a:r>
            <a:r>
              <a:rPr lang="de-DE" sz="1200" b="0" i="0" kern="1200" dirty="0" err="1">
                <a:solidFill>
                  <a:schemeClr val="tx1"/>
                </a:solidFill>
                <a:effectLst/>
                <a:latin typeface="+mn-lt"/>
                <a:ea typeface="+mn-ea"/>
                <a:cs typeface="+mn-cs"/>
              </a:rPr>
              <a:t>coherence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measures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whether</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words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inside</a:t>
            </a:r>
            <a:r>
              <a:rPr lang="de-DE" sz="1200" b="0" i="0" kern="1200" dirty="0">
                <a:solidFill>
                  <a:schemeClr val="tx1"/>
                </a:solidFill>
                <a:effectLst/>
                <a:latin typeface="+mn-lt"/>
                <a:ea typeface="+mn-ea"/>
                <a:cs typeface="+mn-cs"/>
              </a:rPr>
              <a:t> a </a:t>
            </a:r>
            <a:r>
              <a:rPr lang="de-DE" sz="1200" b="0" i="0" kern="1200" dirty="0" err="1">
                <a:solidFill>
                  <a:schemeClr val="tx1"/>
                </a:solidFill>
                <a:effectLst/>
                <a:latin typeface="+mn-lt"/>
                <a:ea typeface="+mn-ea"/>
                <a:cs typeface="+mn-cs"/>
              </a:rPr>
              <a:t>topic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actually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belong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together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semantically</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Outlier</a:t>
            </a:r>
            <a:r>
              <a:rPr lang="de-DE" sz="1200" b="0" i="0" kern="1200" dirty="0">
                <a:solidFill>
                  <a:schemeClr val="tx1"/>
                </a:solidFill>
                <a:effectLst/>
                <a:latin typeface="+mn-lt"/>
                <a:ea typeface="+mn-ea"/>
                <a:cs typeface="+mn-cs"/>
              </a:rPr>
              <a:t> rate </a:t>
            </a:r>
            <a:r>
              <a:rPr lang="de-DE" sz="1200" b="0" i="0" kern="1200" dirty="0" err="1">
                <a:solidFill>
                  <a:schemeClr val="tx1"/>
                </a:solidFill>
                <a:effectLst/>
                <a:latin typeface="+mn-lt"/>
                <a:ea typeface="+mn-ea"/>
                <a:cs typeface="+mn-cs"/>
              </a:rPr>
              <a:t>measures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how</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many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comments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are</a:t>
            </a:r>
            <a:r>
              <a:rPr lang="de-DE" sz="1200" b="0" i="0" kern="1200" dirty="0">
                <a:solidFill>
                  <a:schemeClr val="tx1"/>
                </a:solidFill>
                <a:effectLst/>
                <a:latin typeface="+mn-lt"/>
                <a:ea typeface="+mn-ea"/>
                <a:cs typeface="+mn-cs"/>
              </a:rPr>
              <a:t> not </a:t>
            </a:r>
            <a:r>
              <a:rPr lang="de-DE" sz="1200" b="0" i="0" kern="1200" dirty="0" err="1">
                <a:solidFill>
                  <a:schemeClr val="tx1"/>
                </a:solidFill>
                <a:effectLst/>
                <a:latin typeface="+mn-lt"/>
                <a:ea typeface="+mn-ea"/>
                <a:cs typeface="+mn-cs"/>
              </a:rPr>
              <a:t>assigned</a:t>
            </a:r>
            <a:r>
              <a:rPr lang="de-DE" sz="1200" b="0" i="0" kern="1200" dirty="0">
                <a:solidFill>
                  <a:schemeClr val="tx1"/>
                </a:solidFill>
                <a:effectLst/>
                <a:latin typeface="+mn-lt"/>
                <a:ea typeface="+mn-ea"/>
                <a:cs typeface="+mn-cs"/>
              </a:rPr>
              <a:t> to a </a:t>
            </a:r>
            <a:r>
              <a:rPr lang="de-DE" sz="1200" b="0" i="0" kern="1200" dirty="0" err="1">
                <a:solidFill>
                  <a:schemeClr val="tx1"/>
                </a:solidFill>
                <a:effectLst/>
                <a:latin typeface="+mn-lt"/>
                <a:ea typeface="+mn-ea"/>
                <a:cs typeface="+mn-cs"/>
              </a:rPr>
              <a:t>meaningful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topic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cluster</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In </a:t>
            </a:r>
            <a:r>
              <a:rPr lang="de-DE" sz="1200" b="0" i="0" kern="1200" dirty="0" err="1">
                <a:solidFill>
                  <a:schemeClr val="tx1"/>
                </a:solidFill>
                <a:effectLst/>
                <a:latin typeface="+mn-lt"/>
                <a:ea typeface="+mn-ea"/>
                <a:cs typeface="+mn-cs"/>
              </a:rPr>
              <a:t>addition</a:t>
            </a:r>
            <a:r>
              <a:rPr lang="de-DE" sz="1200" b="0" i="0" kern="1200" dirty="0">
                <a:solidFill>
                  <a:schemeClr val="tx1"/>
                </a:solidFill>
                <a:effectLst/>
                <a:latin typeface="+mn-lt"/>
                <a:ea typeface="+mn-ea"/>
                <a:cs typeface="+mn-cs"/>
              </a:rPr>
              <a:t> to the quantitative </a:t>
            </a:r>
            <a:r>
              <a:rPr lang="de-DE" sz="1200" b="0" i="0" kern="1200" dirty="0" err="1">
                <a:solidFill>
                  <a:schemeClr val="tx1"/>
                </a:solidFill>
                <a:effectLst/>
                <a:latin typeface="+mn-lt"/>
                <a:ea typeface="+mn-ea"/>
                <a:cs typeface="+mn-cs"/>
              </a:rPr>
              <a:t>metrics</a:t>
            </a:r>
            <a:r>
              <a:rPr lang="de-DE" sz="1200" b="0" i="0" kern="1200" dirty="0">
                <a:solidFill>
                  <a:schemeClr val="tx1"/>
                </a:solidFill>
                <a:effectLst/>
                <a:latin typeface="+mn-lt"/>
                <a:ea typeface="+mn-ea"/>
                <a:cs typeface="+mn-cs"/>
              </a:rPr>
              <a:t> I also </a:t>
            </a:r>
            <a:r>
              <a:rPr lang="de-DE" sz="1200" b="0" i="0" kern="1200" dirty="0" err="1">
                <a:solidFill>
                  <a:schemeClr val="tx1"/>
                </a:solidFill>
                <a:effectLst/>
                <a:latin typeface="+mn-lt"/>
                <a:ea typeface="+mn-ea"/>
                <a:cs typeface="+mn-cs"/>
              </a:rPr>
              <a:t>manually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inspect</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topic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labels</a:t>
            </a:r>
            <a:r>
              <a:rPr lang="de-DE" sz="1200" b="0" i="0" kern="1200" dirty="0">
                <a:solidFill>
                  <a:schemeClr val="tx1"/>
                </a:solidFill>
                <a:effectLst/>
                <a:latin typeface="+mn-lt"/>
                <a:ea typeface="+mn-ea"/>
                <a:cs typeface="+mn-cs"/>
              </a:rPr>
              <a:t> to </a:t>
            </a:r>
            <a:r>
              <a:rPr lang="de-DE" sz="1200" b="0" i="0" kern="1200" dirty="0" err="1">
                <a:solidFill>
                  <a:schemeClr val="tx1"/>
                </a:solidFill>
                <a:effectLst/>
                <a:latin typeface="+mn-lt"/>
                <a:ea typeface="+mn-ea"/>
                <a:cs typeface="+mn-cs"/>
              </a:rPr>
              <a:t>assess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interpretability</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For the </a:t>
            </a:r>
            <a:r>
              <a:rPr lang="de-DE" sz="1200" b="0" i="0" kern="1200" dirty="0" err="1">
                <a:solidFill>
                  <a:schemeClr val="tx1"/>
                </a:solidFill>
                <a:effectLst/>
                <a:latin typeface="+mn-lt"/>
                <a:ea typeface="+mn-ea"/>
                <a:cs typeface="+mn-cs"/>
              </a:rPr>
              <a:t>predictive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layer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which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still in </a:t>
            </a:r>
            <a:r>
              <a:rPr lang="de-DE" sz="1200" b="0" i="0" kern="1200" dirty="0" err="1">
                <a:solidFill>
                  <a:schemeClr val="tx1"/>
                </a:solidFill>
                <a:effectLst/>
                <a:latin typeface="+mn-lt"/>
                <a:ea typeface="+mn-ea"/>
                <a:cs typeface="+mn-cs"/>
              </a:rPr>
              <a:t>development</a:t>
            </a:r>
            <a:r>
              <a:rPr lang="de-DE" sz="1200" b="0" i="0" kern="1200" dirty="0">
                <a:solidFill>
                  <a:schemeClr val="tx1"/>
                </a:solidFill>
                <a:effectLst/>
                <a:latin typeface="+mn-lt"/>
                <a:ea typeface="+mn-ea"/>
                <a:cs typeface="+mn-cs"/>
              </a:rPr>
              <a:t>, I will follow the </a:t>
            </a:r>
            <a:r>
              <a:rPr lang="de-DE" sz="1200" b="0" i="0" kern="1200" dirty="0" err="1">
                <a:solidFill>
                  <a:schemeClr val="tx1"/>
                </a:solidFill>
                <a:effectLst/>
                <a:latin typeface="+mn-lt"/>
                <a:ea typeface="+mn-ea"/>
                <a:cs typeface="+mn-cs"/>
              </a:rPr>
              <a:t>machine-learning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workflow</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from</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bootcamp</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The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will </a:t>
            </a:r>
            <a:r>
              <a:rPr lang="de-DE" sz="1200" b="0" i="0" kern="1200" dirty="0" err="1">
                <a:solidFill>
                  <a:schemeClr val="tx1"/>
                </a:solidFill>
                <a:effectLst/>
                <a:latin typeface="+mn-lt"/>
                <a:ea typeface="+mn-ea"/>
                <a:cs typeface="+mn-cs"/>
              </a:rPr>
              <a:t>be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split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into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training</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test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sets</a:t>
            </a:r>
            <a:r>
              <a:rPr lang="de-DE" sz="1200" b="0" i="0" kern="1200" dirty="0">
                <a:solidFill>
                  <a:schemeClr val="tx1"/>
                </a:solidFill>
                <a:effectLst/>
                <a:latin typeface="+mn-lt"/>
                <a:ea typeface="+mn-ea"/>
                <a:cs typeface="+mn-cs"/>
              </a:rPr>
              <a:t>, different </a:t>
            </a:r>
            <a:r>
              <a:rPr lang="de-DE" sz="1200" b="0" i="0" kern="1200" dirty="0" err="1">
                <a:solidFill>
                  <a:schemeClr val="tx1"/>
                </a:solidFill>
                <a:effectLst/>
                <a:latin typeface="+mn-lt"/>
                <a:ea typeface="+mn-ea"/>
                <a:cs typeface="+mn-cs"/>
              </a:rPr>
              <a:t>models</a:t>
            </a:r>
            <a:r>
              <a:rPr lang="de-DE" sz="1200" b="0" i="0" kern="1200" dirty="0">
                <a:solidFill>
                  <a:schemeClr val="tx1"/>
                </a:solidFill>
                <a:effectLst/>
                <a:latin typeface="+mn-lt"/>
                <a:ea typeface="+mn-ea"/>
                <a:cs typeface="+mn-cs"/>
              </a:rPr>
              <a:t> will </a:t>
            </a:r>
            <a:r>
              <a:rPr lang="de-DE" sz="1200" b="0" i="0" kern="1200" dirty="0" err="1">
                <a:solidFill>
                  <a:schemeClr val="tx1"/>
                </a:solidFill>
                <a:effectLst/>
                <a:latin typeface="+mn-lt"/>
                <a:ea typeface="+mn-ea"/>
                <a:cs typeface="+mn-cs"/>
              </a:rPr>
              <a:t>be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compared</a:t>
            </a:r>
            <a:r>
              <a:rPr lang="de-DE" sz="1200" b="0" i="0" kern="1200" dirty="0">
                <a:solidFill>
                  <a:schemeClr val="tx1"/>
                </a:solidFill>
                <a:effectLst/>
                <a:latin typeface="+mn-lt"/>
                <a:ea typeface="+mn-ea"/>
                <a:cs typeface="+mn-cs"/>
              </a:rPr>
              <a:t>, and the final </a:t>
            </a:r>
            <a:r>
              <a:rPr lang="de-DE" sz="1200" b="0" i="0" kern="1200" dirty="0" err="1">
                <a:solidFill>
                  <a:schemeClr val="tx1"/>
                </a:solidFill>
                <a:effectLst/>
                <a:latin typeface="+mn-lt"/>
                <a:ea typeface="+mn-ea"/>
                <a:cs typeface="+mn-cs"/>
              </a:rPr>
              <a:t>model</a:t>
            </a:r>
            <a:r>
              <a:rPr lang="de-DE" sz="1200" b="0" i="0" kern="1200" dirty="0">
                <a:solidFill>
                  <a:schemeClr val="tx1"/>
                </a:solidFill>
                <a:effectLst/>
                <a:latin typeface="+mn-lt"/>
                <a:ea typeface="+mn-ea"/>
                <a:cs typeface="+mn-cs"/>
              </a:rPr>
              <a:t> will </a:t>
            </a:r>
            <a:r>
              <a:rPr lang="de-DE" sz="1200" b="0" i="0" kern="1200" dirty="0" err="1">
                <a:solidFill>
                  <a:schemeClr val="tx1"/>
                </a:solidFill>
                <a:effectLst/>
                <a:latin typeface="+mn-lt"/>
                <a:ea typeface="+mn-ea"/>
                <a:cs typeface="+mn-cs"/>
              </a:rPr>
              <a:t>be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evaluated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using</a:t>
            </a:r>
            <a:r>
              <a:rPr lang="de-DE" sz="1200" b="0" i="0" kern="1200" dirty="0">
                <a:solidFill>
                  <a:schemeClr val="tx1"/>
                </a:solidFill>
                <a:effectLst/>
                <a:latin typeface="+mn-lt"/>
                <a:ea typeface="+mn-ea"/>
                <a:cs typeface="+mn-cs"/>
              </a:rPr>
              <a:t> MAE, RMSE and R².</a:t>
            </a:r>
          </a:p>
          <a:p>
            <a:pPr fontAlgn="t"/>
            <a:r>
              <a:rPr lang="de-DE" sz="1200" b="0" i="0" kern="1200" dirty="0">
                <a:solidFill>
                  <a:schemeClr val="tx1"/>
                </a:solidFill>
                <a:effectLst/>
                <a:latin typeface="+mn-lt"/>
                <a:ea typeface="+mn-ea"/>
                <a:cs typeface="+mn-cs"/>
              </a:rPr>
              <a:t>This will </a:t>
            </a:r>
            <a:r>
              <a:rPr lang="de-DE" sz="1200" b="0" i="0" kern="1200" dirty="0" err="1">
                <a:solidFill>
                  <a:schemeClr val="tx1"/>
                </a:solidFill>
                <a:effectLst/>
                <a:latin typeface="+mn-lt"/>
                <a:ea typeface="+mn-ea"/>
                <a:cs typeface="+mn-cs"/>
              </a:rPr>
              <a:t>allow</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me</a:t>
            </a:r>
            <a:r>
              <a:rPr lang="de-DE" sz="1200" b="0" i="0" kern="1200" dirty="0">
                <a:solidFill>
                  <a:schemeClr val="tx1"/>
                </a:solidFill>
                <a:effectLst/>
                <a:latin typeface="+mn-lt"/>
                <a:ea typeface="+mn-ea"/>
                <a:cs typeface="+mn-cs"/>
              </a:rPr>
              <a:t> to </a:t>
            </a:r>
            <a:r>
              <a:rPr lang="de-DE" sz="1200" b="0" i="0" kern="1200" dirty="0" err="1">
                <a:solidFill>
                  <a:schemeClr val="tx1"/>
                </a:solidFill>
                <a:effectLst/>
                <a:latin typeface="+mn-lt"/>
                <a:ea typeface="+mn-ea"/>
                <a:cs typeface="+mn-cs"/>
              </a:rPr>
              <a:t>assess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whether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employee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comments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contain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predictive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information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about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engagement</a:t>
            </a:r>
            <a:r>
              <a:rPr lang="de-DE" sz="1200" b="0" i="0" kern="1200" dirty="0">
                <a:solidFill>
                  <a:schemeClr val="tx1"/>
                </a:solidFill>
                <a:effectLst/>
                <a:latin typeface="+mn-lt"/>
                <a:ea typeface="+mn-ea"/>
                <a:cs typeface="+mn-cs"/>
              </a:rPr>
              <a:t> and organisational </a:t>
            </a:r>
            <a:r>
              <a:rPr lang="de-DE" sz="1200" b="0" i="0" kern="1200" dirty="0" err="1">
                <a:solidFill>
                  <a:schemeClr val="tx1"/>
                </a:solidFill>
                <a:effectLst/>
                <a:latin typeface="+mn-lt"/>
                <a:ea typeface="+mn-ea"/>
                <a:cs typeface="+mn-cs"/>
              </a:rPr>
              <a:t>outcomes</a:t>
            </a:r>
            <a:r>
              <a:rPr lang="de-DE" sz="1200" b="0" i="0" kern="1200" dirty="0">
                <a:solidFill>
                  <a:schemeClr val="tx1"/>
                </a:solidFill>
                <a:effectLst/>
                <a:latin typeface="+mn-lt"/>
                <a:ea typeface="+mn-ea"/>
                <a:cs typeface="+mn-cs"/>
              </a:rPr>
              <a:t>.</a:t>
            </a:r>
          </a:p>
          <a:p>
            <a:endParaRPr lang="de-DE" dirty="0"/>
          </a:p>
          <a:p>
            <a:r>
              <a:rPr lang="de-DE" dirty="0"/>
              <a:t>---</a:t>
            </a:r>
          </a:p>
          <a:p>
            <a:r>
              <a:rPr dirty="0"/>
              <a:t>Topic modelling needs a different evaluation logic than classic classification: there is no ground truth.</a:t>
            </a:r>
          </a:p>
          <a:p>
            <a:r>
              <a:rPr dirty="0"/>
              <a:t>I currently use </a:t>
            </a:r>
            <a:r>
              <a:rPr dirty="0" err="1"/>
              <a:t>C_v</a:t>
            </a:r>
            <a:r>
              <a:rPr dirty="0"/>
              <a:t> coherence. It measures how well the terms within a topic fit together. A good topic contains semantically related terms; a bad topic is a mix of unrelated terms. The higher the value, the more consistent and interpretable the topics.</a:t>
            </a:r>
          </a:p>
          <a:p>
            <a:r>
              <a:rPr dirty="0"/>
              <a:t>Alongside coherence I track the outlier rate as a coverage metric, and comment coverage for the pipeline itself. The predictive layer will add MAE, RMSE and R².</a:t>
            </a:r>
            <a:endParaRPr lang="de-DE"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central component of the dashboard will be the Core Affect Map: comments or topic clusters positioned by valence and arousal.</a:t>
            </a:r>
          </a:p>
          <a:p>
            <a:r>
              <a:t>Around it sit topic trends, topic development across iterations, comparisons between business units, and the relationship between emotions and survey scores.</a:t>
            </a:r>
          </a:p>
          <a:p>
            <a:r>
              <a:t>Overall project progress is at roughly two thirds.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fontAlgn="t"/>
            <a:r>
              <a:rPr lang="de-DE" sz="1200" b="0" i="0" kern="1200" dirty="0" err="1">
                <a:solidFill>
                  <a:schemeClr val="tx1"/>
                </a:solidFill>
                <a:effectLst/>
                <a:latin typeface="+mn-lt"/>
                <a:ea typeface="+mn-ea"/>
                <a:cs typeface="+mn-cs"/>
              </a:rPr>
              <a:t>There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three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main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risks</a:t>
            </a:r>
            <a:r>
              <a:rPr lang="de-DE" sz="1200" b="0" i="0" kern="1200" dirty="0">
                <a:solidFill>
                  <a:schemeClr val="tx1"/>
                </a:solidFill>
                <a:effectLst/>
                <a:latin typeface="+mn-lt"/>
                <a:ea typeface="+mn-ea"/>
                <a:cs typeface="+mn-cs"/>
              </a:rPr>
              <a:t> at the </a:t>
            </a:r>
            <a:r>
              <a:rPr lang="de-DE" sz="1200" b="0" i="0" kern="1200" dirty="0" err="1">
                <a:solidFill>
                  <a:schemeClr val="tx1"/>
                </a:solidFill>
                <a:effectLst/>
                <a:latin typeface="+mn-lt"/>
                <a:ea typeface="+mn-ea"/>
                <a:cs typeface="+mn-cs"/>
              </a:rPr>
              <a:t>moment</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First, the </a:t>
            </a:r>
            <a:r>
              <a:rPr lang="de-DE" sz="1200" b="0" i="0" kern="1200" dirty="0" err="1">
                <a:solidFill>
                  <a:schemeClr val="tx1"/>
                </a:solidFill>
                <a:effectLst/>
                <a:latin typeface="+mn-lt"/>
                <a:ea typeface="+mn-ea"/>
                <a:cs typeface="+mn-cs"/>
              </a:rPr>
              <a:t>synthetic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dataset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does</a:t>
            </a:r>
            <a:r>
              <a:rPr lang="de-DE" sz="1200" b="0" i="0" kern="1200" dirty="0">
                <a:solidFill>
                  <a:schemeClr val="tx1"/>
                </a:solidFill>
                <a:effectLst/>
                <a:latin typeface="+mn-lt"/>
                <a:ea typeface="+mn-ea"/>
                <a:cs typeface="+mn-cs"/>
              </a:rPr>
              <a:t> not fully </a:t>
            </a:r>
            <a:r>
              <a:rPr lang="de-DE" sz="1200" b="0" i="0" kern="1200" dirty="0" err="1">
                <a:solidFill>
                  <a:schemeClr val="tx1"/>
                </a:solidFill>
                <a:effectLst/>
                <a:latin typeface="+mn-lt"/>
                <a:ea typeface="+mn-ea"/>
                <a:cs typeface="+mn-cs"/>
              </a:rPr>
              <a:t>capture</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linguistic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diversity</a:t>
            </a:r>
            <a:r>
              <a:rPr lang="de-DE" sz="1200" b="0" i="0" kern="1200" dirty="0">
                <a:solidFill>
                  <a:schemeClr val="tx1"/>
                </a:solidFill>
                <a:effectLst/>
                <a:latin typeface="+mn-lt"/>
                <a:ea typeface="+mn-ea"/>
                <a:cs typeface="+mn-cs"/>
              </a:rPr>
              <a:t> of real </a:t>
            </a:r>
            <a:r>
              <a:rPr lang="de-DE" sz="1200" b="0" i="0" kern="1200" dirty="0" err="1">
                <a:solidFill>
                  <a:schemeClr val="tx1"/>
                </a:solidFill>
                <a:effectLst/>
                <a:latin typeface="+mn-lt"/>
                <a:ea typeface="+mn-ea"/>
                <a:cs typeface="+mn-cs"/>
              </a:rPr>
              <a:t>employee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comments</a:t>
            </a:r>
            <a:r>
              <a:rPr lang="de-DE" sz="1200" b="0" i="0" kern="1200" dirty="0">
                <a:solidFill>
                  <a:schemeClr val="tx1"/>
                </a:solidFill>
                <a:effectLst/>
                <a:latin typeface="+mn-lt"/>
                <a:ea typeface="+mn-ea"/>
                <a:cs typeface="+mn-cs"/>
              </a:rPr>
              <a:t>. This </a:t>
            </a:r>
            <a:r>
              <a:rPr lang="de-DE" sz="1200" b="0" i="0" kern="1200" dirty="0" err="1">
                <a:solidFill>
                  <a:schemeClr val="tx1"/>
                </a:solidFill>
                <a:effectLst/>
                <a:latin typeface="+mn-lt"/>
                <a:ea typeface="+mn-ea"/>
                <a:cs typeface="+mn-cs"/>
              </a:rPr>
              <a:t>may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influence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topic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quality</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needs</a:t>
            </a:r>
            <a:r>
              <a:rPr lang="de-DE" sz="1200" b="0" i="0" kern="1200" dirty="0">
                <a:solidFill>
                  <a:schemeClr val="tx1"/>
                </a:solidFill>
                <a:effectLst/>
                <a:latin typeface="+mn-lt"/>
                <a:ea typeface="+mn-ea"/>
                <a:cs typeface="+mn-cs"/>
              </a:rPr>
              <a:t> to </a:t>
            </a:r>
            <a:r>
              <a:rPr lang="de-DE" sz="1200" b="0" i="0" kern="1200" dirty="0" err="1">
                <a:solidFill>
                  <a:schemeClr val="tx1"/>
                </a:solidFill>
                <a:effectLst/>
                <a:latin typeface="+mn-lt"/>
                <a:ea typeface="+mn-ea"/>
                <a:cs typeface="+mn-cs"/>
              </a:rPr>
              <a:t>be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considered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when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interpreting</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results</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Second, the </a:t>
            </a:r>
            <a:r>
              <a:rPr lang="de-DE" sz="1200" b="0" i="0" kern="1200" dirty="0" err="1">
                <a:solidFill>
                  <a:schemeClr val="tx1"/>
                </a:solidFill>
                <a:effectLst/>
                <a:latin typeface="+mn-lt"/>
                <a:ea typeface="+mn-ea"/>
                <a:cs typeface="+mn-cs"/>
              </a:rPr>
              <a:t>arousal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dimension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still an open </a:t>
            </a:r>
            <a:r>
              <a:rPr lang="de-DE" sz="1200" b="0" i="0" kern="1200" dirty="0" err="1">
                <a:solidFill>
                  <a:schemeClr val="tx1"/>
                </a:solidFill>
                <a:effectLst/>
                <a:latin typeface="+mn-lt"/>
                <a:ea typeface="+mn-ea"/>
                <a:cs typeface="+mn-cs"/>
              </a:rPr>
              <a:t>topic</a:t>
            </a:r>
            <a:r>
              <a:rPr lang="de-DE" sz="1200" b="0" i="0" kern="1200" dirty="0">
                <a:solidFill>
                  <a:schemeClr val="tx1"/>
                </a:solidFill>
                <a:effectLst/>
                <a:latin typeface="+mn-lt"/>
                <a:ea typeface="+mn-ea"/>
                <a:cs typeface="+mn-cs"/>
              </a:rPr>
              <a:t>. Valence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already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implemented</a:t>
            </a:r>
            <a:r>
              <a:rPr lang="de-DE" sz="1200" b="0" i="0" kern="1200" dirty="0">
                <a:solidFill>
                  <a:schemeClr val="tx1"/>
                </a:solidFill>
                <a:effectLst/>
                <a:latin typeface="+mn-lt"/>
                <a:ea typeface="+mn-ea"/>
                <a:cs typeface="+mn-cs"/>
              </a:rPr>
              <a:t>, but I still </a:t>
            </a:r>
            <a:r>
              <a:rPr lang="de-DE" sz="1200" b="0" i="0" kern="1200" dirty="0" err="1">
                <a:solidFill>
                  <a:schemeClr val="tx1"/>
                </a:solidFill>
                <a:effectLst/>
                <a:latin typeface="+mn-lt"/>
                <a:ea typeface="+mn-ea"/>
                <a:cs typeface="+mn-cs"/>
              </a:rPr>
              <a:t>need</a:t>
            </a:r>
            <a:r>
              <a:rPr lang="de-DE" sz="1200" b="0" i="0" kern="1200" dirty="0">
                <a:solidFill>
                  <a:schemeClr val="tx1"/>
                </a:solidFill>
                <a:effectLst/>
                <a:latin typeface="+mn-lt"/>
                <a:ea typeface="+mn-ea"/>
                <a:cs typeface="+mn-cs"/>
              </a:rPr>
              <a:t> a robust and </a:t>
            </a:r>
            <a:r>
              <a:rPr lang="de-DE" sz="1200" b="0" i="0" kern="1200" dirty="0" err="1">
                <a:solidFill>
                  <a:schemeClr val="tx1"/>
                </a:solidFill>
                <a:effectLst/>
                <a:latin typeface="+mn-lt"/>
                <a:ea typeface="+mn-ea"/>
                <a:cs typeface="+mn-cs"/>
              </a:rPr>
              <a:t>validated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approach</a:t>
            </a:r>
            <a:r>
              <a:rPr lang="de-DE" sz="1200" b="0" i="0" kern="1200" dirty="0">
                <a:solidFill>
                  <a:schemeClr val="tx1"/>
                </a:solidFill>
                <a:effectLst/>
                <a:latin typeface="+mn-lt"/>
                <a:ea typeface="+mn-ea"/>
                <a:cs typeface="+mn-cs"/>
              </a:rPr>
              <a:t> for </a:t>
            </a:r>
            <a:r>
              <a:rPr lang="de-DE" sz="1200" b="0" i="0" kern="1200" dirty="0" err="1">
                <a:solidFill>
                  <a:schemeClr val="tx1"/>
                </a:solidFill>
                <a:effectLst/>
                <a:latin typeface="+mn-lt"/>
                <a:ea typeface="+mn-ea"/>
                <a:cs typeface="+mn-cs"/>
              </a:rPr>
              <a:t>arousal</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Third, the </a:t>
            </a:r>
            <a:r>
              <a:rPr lang="de-DE" sz="1200" b="0" i="0" kern="1200" dirty="0" err="1">
                <a:solidFill>
                  <a:schemeClr val="tx1"/>
                </a:solidFill>
                <a:effectLst/>
                <a:latin typeface="+mn-lt"/>
                <a:ea typeface="+mn-ea"/>
                <a:cs typeface="+mn-cs"/>
              </a:rPr>
              <a:t>current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BERTopic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configuration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produces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many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micro</a:t>
            </a:r>
            <a:r>
              <a:rPr lang="de-DE" sz="1200" b="0" i="0" kern="1200" dirty="0">
                <a:solidFill>
                  <a:schemeClr val="tx1"/>
                </a:solidFill>
                <a:effectLst/>
                <a:latin typeface="+mn-lt"/>
                <a:ea typeface="+mn-ea"/>
                <a:cs typeface="+mn-cs"/>
              </a:rPr>
              <a:t>-topics. The </a:t>
            </a:r>
            <a:r>
              <a:rPr lang="de-DE" sz="1200" b="0" i="0" kern="1200" dirty="0" err="1">
                <a:solidFill>
                  <a:schemeClr val="tx1"/>
                </a:solidFill>
                <a:effectLst/>
                <a:latin typeface="+mn-lt"/>
                <a:ea typeface="+mn-ea"/>
                <a:cs typeface="+mn-cs"/>
              </a:rPr>
              <a:t>next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challenge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to </a:t>
            </a:r>
            <a:r>
              <a:rPr lang="de-DE" sz="1200" b="0" i="0" kern="1200" dirty="0" err="1">
                <a:solidFill>
                  <a:schemeClr val="tx1"/>
                </a:solidFill>
                <a:effectLst/>
                <a:latin typeface="+mn-lt"/>
                <a:ea typeface="+mn-ea"/>
                <a:cs typeface="+mn-cs"/>
              </a:rPr>
              <a:t>consolidate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them</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into</a:t>
            </a:r>
            <a:r>
              <a:rPr lang="de-DE" sz="1200" b="0" i="0" kern="1200" dirty="0">
                <a:solidFill>
                  <a:schemeClr val="tx1"/>
                </a:solidFill>
                <a:effectLst/>
                <a:latin typeface="+mn-lt"/>
                <a:ea typeface="+mn-ea"/>
                <a:cs typeface="+mn-cs"/>
              </a:rPr>
              <a:t> a </a:t>
            </a:r>
            <a:r>
              <a:rPr lang="de-DE" sz="1200" b="0" i="0" kern="1200" dirty="0" err="1">
                <a:solidFill>
                  <a:schemeClr val="tx1"/>
                </a:solidFill>
                <a:effectLst/>
                <a:latin typeface="+mn-lt"/>
                <a:ea typeface="+mn-ea"/>
                <a:cs typeface="+mn-cs"/>
              </a:rPr>
              <a:t>smaller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number</a:t>
            </a:r>
            <a:r>
              <a:rPr lang="de-DE" sz="1200" b="0" i="0" kern="1200" dirty="0">
                <a:solidFill>
                  <a:schemeClr val="tx1"/>
                </a:solidFill>
                <a:effectLst/>
                <a:latin typeface="+mn-lt"/>
                <a:ea typeface="+mn-ea"/>
                <a:cs typeface="+mn-cs"/>
              </a:rPr>
              <a:t> of business-relevant </a:t>
            </a:r>
            <a:r>
              <a:rPr lang="de-DE" sz="1200" b="0" i="0" kern="1200" dirty="0" err="1">
                <a:solidFill>
                  <a:schemeClr val="tx1"/>
                </a:solidFill>
                <a:effectLst/>
                <a:latin typeface="+mn-lt"/>
                <a:ea typeface="+mn-ea"/>
                <a:cs typeface="+mn-cs"/>
              </a:rPr>
              <a:t>themes</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Looking </a:t>
            </a:r>
            <a:r>
              <a:rPr lang="de-DE" sz="1200" b="0" i="0" kern="1200" dirty="0" err="1">
                <a:solidFill>
                  <a:schemeClr val="tx1"/>
                </a:solidFill>
                <a:effectLst/>
                <a:latin typeface="+mn-lt"/>
                <a:ea typeface="+mn-ea"/>
                <a:cs typeface="+mn-cs"/>
              </a:rPr>
              <a:t>ahead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next</a:t>
            </a:r>
            <a:r>
              <a:rPr lang="de-DE" sz="1200" b="0" i="0" kern="1200" dirty="0">
                <a:solidFill>
                  <a:schemeClr val="tx1"/>
                </a:solidFill>
                <a:effectLst/>
                <a:latin typeface="+mn-lt"/>
                <a:ea typeface="+mn-ea"/>
                <a:cs typeface="+mn-cs"/>
              </a:rPr>
              <a:t> step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emotion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mapping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where</a:t>
            </a:r>
            <a:r>
              <a:rPr lang="de-DE" sz="1200" b="0" i="0" kern="1200" dirty="0">
                <a:solidFill>
                  <a:schemeClr val="tx1"/>
                </a:solidFill>
                <a:effectLst/>
                <a:latin typeface="+mn-lt"/>
                <a:ea typeface="+mn-ea"/>
                <a:cs typeface="+mn-cs"/>
              </a:rPr>
              <a:t> I </a:t>
            </a:r>
            <a:r>
              <a:rPr lang="de-DE" sz="1200" b="0" i="0" kern="1200" dirty="0" err="1">
                <a:solidFill>
                  <a:schemeClr val="tx1"/>
                </a:solidFill>
                <a:effectLst/>
                <a:latin typeface="+mn-lt"/>
                <a:ea typeface="+mn-ea"/>
                <a:cs typeface="+mn-cs"/>
              </a:rPr>
              <a:t>want</a:t>
            </a:r>
            <a:r>
              <a:rPr lang="de-DE" sz="1200" b="0" i="0" kern="1200" dirty="0">
                <a:solidFill>
                  <a:schemeClr val="tx1"/>
                </a:solidFill>
                <a:effectLst/>
                <a:latin typeface="+mn-lt"/>
                <a:ea typeface="+mn-ea"/>
                <a:cs typeface="+mn-cs"/>
              </a:rPr>
              <a:t> to </a:t>
            </a:r>
            <a:r>
              <a:rPr lang="de-DE" sz="1200" b="0" i="0" kern="1200" dirty="0" err="1">
                <a:solidFill>
                  <a:schemeClr val="tx1"/>
                </a:solidFill>
                <a:effectLst/>
                <a:latin typeface="+mn-lt"/>
                <a:ea typeface="+mn-ea"/>
                <a:cs typeface="+mn-cs"/>
              </a:rPr>
              <a:t>map</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emotions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onto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valence</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arousal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coordinates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within</a:t>
            </a:r>
            <a:r>
              <a:rPr lang="de-DE" sz="1200" b="0" i="0" kern="1200" dirty="0">
                <a:solidFill>
                  <a:schemeClr val="tx1"/>
                </a:solidFill>
                <a:effectLst/>
                <a:latin typeface="+mn-lt"/>
                <a:ea typeface="+mn-ea"/>
                <a:cs typeface="+mn-cs"/>
              </a:rPr>
              <a:t> the Core </a:t>
            </a:r>
            <a:r>
              <a:rPr lang="de-DE" sz="1200" b="0" i="0" kern="1200" dirty="0" err="1">
                <a:solidFill>
                  <a:schemeClr val="tx1"/>
                </a:solidFill>
                <a:effectLst/>
                <a:latin typeface="+mn-lt"/>
                <a:ea typeface="+mn-ea"/>
                <a:cs typeface="+mn-cs"/>
              </a:rPr>
              <a:t>Affect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framework</a:t>
            </a:r>
            <a:r>
              <a:rPr lang="de-DE" sz="1200" b="0" i="0" kern="1200" dirty="0">
                <a:solidFill>
                  <a:schemeClr val="tx1"/>
                </a:solidFill>
                <a:effectLst/>
                <a:latin typeface="+mn-lt"/>
                <a:ea typeface="+mn-ea"/>
                <a:cs typeface="+mn-cs"/>
              </a:rPr>
              <a:t>.</a:t>
            </a:r>
          </a:p>
          <a:p>
            <a:pPr fontAlgn="t"/>
            <a:r>
              <a:rPr lang="de-DE" sz="1200" b="0" i="0" kern="1200" dirty="0">
                <a:solidFill>
                  <a:schemeClr val="tx1"/>
                </a:solidFill>
                <a:effectLst/>
                <a:latin typeface="+mn-lt"/>
                <a:ea typeface="+mn-ea"/>
                <a:cs typeface="+mn-cs"/>
              </a:rPr>
              <a:t>I also </a:t>
            </a:r>
            <a:r>
              <a:rPr lang="de-DE" sz="1200" b="0" i="0" kern="1200" dirty="0" err="1">
                <a:solidFill>
                  <a:schemeClr val="tx1"/>
                </a:solidFill>
                <a:effectLst/>
                <a:latin typeface="+mn-lt"/>
                <a:ea typeface="+mn-ea"/>
                <a:cs typeface="+mn-cs"/>
              </a:rPr>
              <a:t>want</a:t>
            </a:r>
            <a:r>
              <a:rPr lang="de-DE" sz="1200" b="0" i="0" kern="1200" dirty="0">
                <a:solidFill>
                  <a:schemeClr val="tx1"/>
                </a:solidFill>
                <a:effectLst/>
                <a:latin typeface="+mn-lt"/>
                <a:ea typeface="+mn-ea"/>
                <a:cs typeface="+mn-cs"/>
              </a:rPr>
              <a:t> to </a:t>
            </a:r>
            <a:r>
              <a:rPr lang="de-DE" sz="1200" b="0" i="0" kern="1200" dirty="0" err="1">
                <a:solidFill>
                  <a:schemeClr val="tx1"/>
                </a:solidFill>
                <a:effectLst/>
                <a:latin typeface="+mn-lt"/>
                <a:ea typeface="+mn-ea"/>
                <a:cs typeface="+mn-cs"/>
              </a:rPr>
              <a:t>consolidate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topics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analyse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topic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trends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over</a:t>
            </a:r>
            <a:r>
              <a:rPr lang="de-DE" sz="1200" b="0" i="0" kern="1200" dirty="0">
                <a:solidFill>
                  <a:schemeClr val="tx1"/>
                </a:solidFill>
                <a:effectLst/>
                <a:latin typeface="+mn-lt"/>
                <a:ea typeface="+mn-ea"/>
                <a:cs typeface="+mn-cs"/>
              </a:rPr>
              <a:t> time and </a:t>
            </a:r>
            <a:r>
              <a:rPr lang="de-DE" sz="1200" b="0" i="0" kern="1200" dirty="0" err="1">
                <a:solidFill>
                  <a:schemeClr val="tx1"/>
                </a:solidFill>
                <a:effectLst/>
                <a:latin typeface="+mn-lt"/>
                <a:ea typeface="+mn-ea"/>
                <a:cs typeface="+mn-cs"/>
              </a:rPr>
              <a:t>compare</a:t>
            </a:r>
            <a:r>
              <a:rPr lang="de-DE" sz="1200" b="0" i="0" kern="1200" dirty="0">
                <a:solidFill>
                  <a:schemeClr val="tx1"/>
                </a:solidFill>
                <a:effectLst/>
                <a:latin typeface="+mn-lt"/>
                <a:ea typeface="+mn-ea"/>
                <a:cs typeface="+mn-cs"/>
              </a:rPr>
              <a:t> organisational </a:t>
            </a:r>
            <a:r>
              <a:rPr lang="de-DE" sz="1200" b="0" i="0" kern="1200" dirty="0" err="1">
                <a:solidFill>
                  <a:schemeClr val="tx1"/>
                </a:solidFill>
                <a:effectLst/>
                <a:latin typeface="+mn-lt"/>
                <a:ea typeface="+mn-ea"/>
                <a:cs typeface="+mn-cs"/>
              </a:rPr>
              <a:t>units</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Another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major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milestone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predictive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layer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where</a:t>
            </a:r>
            <a:r>
              <a:rPr lang="de-DE" sz="1200" b="0" i="0" kern="1200" dirty="0">
                <a:solidFill>
                  <a:schemeClr val="tx1"/>
                </a:solidFill>
                <a:effectLst/>
                <a:latin typeface="+mn-lt"/>
                <a:ea typeface="+mn-ea"/>
                <a:cs typeface="+mn-cs"/>
              </a:rPr>
              <a:t> I will </a:t>
            </a:r>
            <a:r>
              <a:rPr lang="de-DE" sz="1200" b="0" i="0" kern="1200" dirty="0" err="1">
                <a:solidFill>
                  <a:schemeClr val="tx1"/>
                </a:solidFill>
                <a:effectLst/>
                <a:latin typeface="+mn-lt"/>
                <a:ea typeface="+mn-ea"/>
                <a:cs typeface="+mn-cs"/>
              </a:rPr>
              <a:t>apply</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machine-learning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workflow</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from</a:t>
            </a:r>
            <a:r>
              <a:rPr lang="de-DE" sz="1200" b="0" i="0" kern="1200" dirty="0">
                <a:solidFill>
                  <a:schemeClr val="tx1"/>
                </a:solidFill>
                <a:effectLst/>
                <a:latin typeface="+mn-lt"/>
                <a:ea typeface="+mn-ea"/>
                <a:cs typeface="+mn-cs"/>
              </a:rPr>
              <a:t> the </a:t>
            </a:r>
            <a:r>
              <a:rPr lang="de-DE" sz="1200" b="0" i="0" kern="1200" dirty="0" err="1">
                <a:solidFill>
                  <a:schemeClr val="tx1"/>
                </a:solidFill>
                <a:effectLst/>
                <a:latin typeface="+mn-lt"/>
                <a:ea typeface="+mn-ea"/>
                <a:cs typeface="+mn-cs"/>
              </a:rPr>
              <a:t>bootcamp</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including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train</a:t>
            </a:r>
            <a:r>
              <a:rPr lang="de-DE" sz="1200" b="0" i="0" kern="1200" dirty="0">
                <a:solidFill>
                  <a:schemeClr val="tx1"/>
                </a:solidFill>
                <a:effectLst/>
                <a:latin typeface="+mn-lt"/>
                <a:ea typeface="+mn-ea"/>
                <a:cs typeface="+mn-cs"/>
              </a:rPr>
              <a:t>-test </a:t>
            </a:r>
            <a:r>
              <a:rPr lang="de-DE" sz="1200" b="0" i="0" kern="1200" dirty="0" err="1">
                <a:solidFill>
                  <a:schemeClr val="tx1"/>
                </a:solidFill>
                <a:effectLst/>
                <a:latin typeface="+mn-lt"/>
                <a:ea typeface="+mn-ea"/>
                <a:cs typeface="+mn-cs"/>
              </a:rPr>
              <a:t>splitting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model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comparison</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evaluation</a:t>
            </a:r>
            <a:r>
              <a:rPr lang="de-DE" sz="1200" b="0" i="0" kern="1200" dirty="0">
                <a:solidFill>
                  <a:schemeClr val="tx1"/>
                </a:solidFill>
                <a:effectLst/>
                <a:latin typeface="+mn-lt"/>
                <a:ea typeface="+mn-ea"/>
                <a:cs typeface="+mn-cs"/>
              </a:rPr>
              <a:t>.</a:t>
            </a:r>
          </a:p>
          <a:p>
            <a:pPr fontAlgn="t"/>
            <a:r>
              <a:rPr lang="de-DE" sz="1200" b="0" i="0" kern="1200" dirty="0" err="1">
                <a:solidFill>
                  <a:schemeClr val="tx1"/>
                </a:solidFill>
                <a:effectLst/>
                <a:latin typeface="+mn-lt"/>
                <a:ea typeface="+mn-ea"/>
                <a:cs typeface="+mn-cs"/>
              </a:rPr>
              <a:t>Finally</a:t>
            </a:r>
            <a:r>
              <a:rPr lang="de-DE" sz="1200" b="0" i="0" kern="1200" dirty="0">
                <a:solidFill>
                  <a:schemeClr val="tx1"/>
                </a:solidFill>
                <a:effectLst/>
                <a:latin typeface="+mn-lt"/>
                <a:ea typeface="+mn-ea"/>
                <a:cs typeface="+mn-cs"/>
              </a:rPr>
              <a:t>, I will </a:t>
            </a:r>
            <a:r>
              <a:rPr lang="de-DE" sz="1200" b="0" i="0" kern="1200" dirty="0" err="1">
                <a:solidFill>
                  <a:schemeClr val="tx1"/>
                </a:solidFill>
                <a:effectLst/>
                <a:latin typeface="+mn-lt"/>
                <a:ea typeface="+mn-ea"/>
                <a:cs typeface="+mn-cs"/>
              </a:rPr>
              <a:t>integrate</a:t>
            </a:r>
            <a:r>
              <a:rPr lang="de-DE" sz="1200" b="0" i="0" kern="1200" dirty="0">
                <a:solidFill>
                  <a:schemeClr val="tx1"/>
                </a:solidFill>
                <a:effectLst/>
                <a:latin typeface="+mn-lt"/>
                <a:ea typeface="+mn-ea"/>
                <a:cs typeface="+mn-cs"/>
              </a:rPr>
              <a:t> all </a:t>
            </a:r>
            <a:r>
              <a:rPr lang="de-DE" sz="1200" b="0" i="0" kern="1200" dirty="0" err="1">
                <a:solidFill>
                  <a:schemeClr val="tx1"/>
                </a:solidFill>
                <a:effectLst/>
                <a:latin typeface="+mn-lt"/>
                <a:ea typeface="+mn-ea"/>
                <a:cs typeface="+mn-cs"/>
              </a:rPr>
              <a:t>analytical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layers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into</a:t>
            </a:r>
            <a:r>
              <a:rPr lang="de-DE" sz="1200" b="0" i="0" kern="1200" dirty="0">
                <a:solidFill>
                  <a:schemeClr val="tx1"/>
                </a:solidFill>
                <a:effectLst/>
                <a:latin typeface="+mn-lt"/>
                <a:ea typeface="+mn-ea"/>
                <a:cs typeface="+mn-cs"/>
              </a:rPr>
              <a:t> the Power BI </a:t>
            </a:r>
            <a:r>
              <a:rPr lang="de-DE" sz="1200" b="0" i="0" kern="1200" dirty="0" err="1">
                <a:solidFill>
                  <a:schemeClr val="tx1"/>
                </a:solidFill>
                <a:effectLst/>
                <a:latin typeface="+mn-lt"/>
                <a:ea typeface="+mn-ea"/>
                <a:cs typeface="+mn-cs"/>
              </a:rPr>
              <a:t>dashboard</a:t>
            </a:r>
            <a:r>
              <a:rPr lang="de-DE" sz="1200" b="0" i="0" kern="1200" dirty="0">
                <a:solidFill>
                  <a:schemeClr val="tx1"/>
                </a:solidFill>
                <a:effectLst/>
                <a:latin typeface="+mn-lt"/>
                <a:ea typeface="+mn-ea"/>
                <a:cs typeface="+mn-cs"/>
              </a:rPr>
              <a:t> and perform the final </a:t>
            </a:r>
            <a:r>
              <a:rPr lang="de-DE" sz="1200" b="0" i="0" kern="1200" dirty="0" err="1">
                <a:solidFill>
                  <a:schemeClr val="tx1"/>
                </a:solidFill>
                <a:effectLst/>
                <a:latin typeface="+mn-lt"/>
                <a:ea typeface="+mn-ea"/>
                <a:cs typeface="+mn-cs"/>
              </a:rPr>
              <a:t>evaluation</a:t>
            </a:r>
            <a:r>
              <a:rPr lang="de-DE" sz="1200" b="0" i="0" kern="1200" dirty="0">
                <a:solidFill>
                  <a:schemeClr val="tx1"/>
                </a:solidFill>
                <a:effectLst/>
                <a:latin typeface="+mn-lt"/>
                <a:ea typeface="+mn-ea"/>
                <a:cs typeface="+mn-cs"/>
              </a:rPr>
              <a:t> of the </a:t>
            </a:r>
            <a:r>
              <a:rPr lang="de-DE" sz="1200" b="0" i="0" kern="1200" dirty="0" err="1">
                <a:solidFill>
                  <a:schemeClr val="tx1"/>
                </a:solidFill>
                <a:effectLst/>
                <a:latin typeface="+mn-lt"/>
                <a:ea typeface="+mn-ea"/>
                <a:cs typeface="+mn-cs"/>
              </a:rPr>
              <a:t>complete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pipeline</a:t>
            </a:r>
            <a:r>
              <a:rPr lang="de-DE"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Jump here only if asked how something was done technically.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530D1-9E27-DAB6-CDC8-9DB82FEC9D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463A8-0321-B8BF-0824-78334D2ED37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34157DA-B690-FBA6-AFA2-521AA4B89210}"/>
              </a:ext>
            </a:extLst>
          </p:cNvPr>
          <p:cNvSpPr>
            <a:spLocks noGrp="1"/>
          </p:cNvSpPr>
          <p:nvPr>
            <p:ph type="body" sz="quarter" idx="3"/>
          </p:nvPr>
        </p:nvSpPr>
        <p:spPr/>
        <p:txBody>
          <a:bodyPr/>
          <a:lstStyle/>
          <a:p>
            <a:r>
              <a:t>Topic modelling needs a different evaluation logic than classic classification: there is no ground truth.</a:t>
            </a:r>
          </a:p>
          <a:p>
            <a:r>
              <a:t>I currently use C_v coherence. It measures how well the terms within a topic fit together. A good topic contains semantically related terms; a bad topic is a mix of unrelated terms. The higher the value, the more consistent and interpretable the topics.</a:t>
            </a:r>
          </a:p>
          <a:p>
            <a:r>
              <a:t>Alongside coherence I track the outlier rate as a coverage metric, and comment coverage for the pipeline itself. The predictive layer will add MAE, RMSE and R².</a:t>
            </a:r>
          </a:p>
        </p:txBody>
      </p:sp>
      <p:sp>
        <p:nvSpPr>
          <p:cNvPr id="4" name="Slide Number Placeholder 3">
            <a:extLst>
              <a:ext uri="{FF2B5EF4-FFF2-40B4-BE49-F238E27FC236}">
                <a16:creationId xmlns:a16="http://schemas.microsoft.com/office/drawing/2014/main" id="{7DE4EE2A-4C40-5D5C-E08B-601BCF647062}"/>
              </a:ext>
            </a:extLst>
          </p:cNvPr>
          <p:cNvSpPr>
            <a:spLocks noGrp="1"/>
          </p:cNvSpPr>
          <p:nvPr>
            <p:ph type="sldNum" sz="quarter" idx="5"/>
          </p:nvPr>
        </p:nvSpPr>
        <p:spPr/>
      </p:sp>
    </p:spTree>
    <p:extLst>
      <p:ext uri="{BB962C8B-B14F-4D97-AF65-F5344CB8AC3E}">
        <p14:creationId xmlns:p14="http://schemas.microsoft.com/office/powerpoint/2010/main" val="4158107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sentiment analysis I use German Sentiment BERT and turn its class probabilities into a continuous valence value.</a:t>
            </a:r>
          </a:p>
          <a:p>
            <a:r>
              <a:t>For the thematic analysis I use BERTopic, which relies on modern embeddings and works well for semantic analysis of German free text.</a:t>
            </a:r>
          </a:p>
          <a:p>
            <a:r>
              <a:t>Current state: EDA, cleaning, sentiment analysis, BERTopic and the dashboard concept are done. The two open pieces are the arousal axis and the predictive model.</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pipeline is deliberately notebook-based: every notebook answers one methodological question, and each one can be rerun independently.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technical detail to mention if asked: the reverse coding of the workload item, so that a higher score always means a more favourable assessment across all dimensions.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to use if someone challenges the topic-model numbers: part of the weakness is a property of the synthetic corpus, not of the method.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asked why not just keep zero-shot: it is 12 times slower, produces discrete classes instead of a continuous scale, and its arousal output shifts when the candidate labels are reworded — not defensible as a measurement.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modelling decision here: keeping the full probability vector instead of the predicted label. That is what makes a continuous axis possible, and it is what the Core Affect Map needs.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place to show method: each change was evaluated on its own before the next was added, and the BM25 result is reported even though it failed.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point to make: the metric alone would have selected the wrong model. min_dist = 0.3 gives a 0.4 % outlier rate and is useless. Metrics were read together with topic counts and manual inspection of the keyword lists.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Numbers come straight from the notebook quality check. If asked why the real-data run has a higher outlier rate: fewer documents, far more heterogeneous language.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likely question from the examiners: how do you get arousal? Answer with the mapping route, and be explicit that it is not implemented yet.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oversell this. It is currently under evaluation, and Parquet is the pragmatic choice for an analytical pandas workflow.</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Success is deliberately not defined by model performance alone — the project combines data engineering, NLP, psychology and dashboard design.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1051560"/>
            <a:ext cx="7772400" cy="1645920"/>
          </a:xfrm>
          <a:prstGeom prst="rect">
            <a:avLst/>
          </a:prstGeom>
          <a:noFill/>
        </p:spPr>
        <p:txBody>
          <a:bodyPr wrap="square" lIns="0" tIns="0" rIns="0" bIns="0">
            <a:spAutoFit/>
          </a:bodyPr>
          <a:lstStyle/>
          <a:p>
            <a:pPr>
              <a:lnSpc>
                <a:spcPct val="92000"/>
              </a:lnSpc>
              <a:spcBef>
                <a:spcPts val="0"/>
              </a:spcBef>
              <a:spcAft>
                <a:spcPts val="800"/>
              </a:spcAft>
            </a:pPr>
            <a:r>
              <a:rPr sz="8800" b="0" i="0" dirty="0">
                <a:solidFill>
                  <a:srgbClr val="0F1A1C"/>
                </a:solidFill>
                <a:latin typeface="Georgia"/>
              </a:rPr>
              <a:t>ELFI</a:t>
            </a:r>
          </a:p>
          <a:p>
            <a:pPr>
              <a:lnSpc>
                <a:spcPct val="110000"/>
              </a:lnSpc>
              <a:spcBef>
                <a:spcPts val="0"/>
              </a:spcBef>
              <a:spcAft>
                <a:spcPts val="0"/>
              </a:spcAft>
            </a:pPr>
            <a:r>
              <a:rPr sz="1700" b="0" i="0" dirty="0">
                <a:solidFill>
                  <a:srgbClr val="14636E"/>
                </a:solidFill>
                <a:latin typeface="Consolas"/>
              </a:rPr>
              <a:t>EMOTIONAL &amp; LATENT FEEDBACK INTERPRETATION</a:t>
            </a:r>
          </a:p>
        </p:txBody>
      </p:sp>
      <p:sp>
        <p:nvSpPr>
          <p:cNvPr id="4" name="Rectangle 3"/>
          <p:cNvSpPr/>
          <p:nvPr/>
        </p:nvSpPr>
        <p:spPr>
          <a:xfrm>
            <a:off x="749808" y="3310128"/>
            <a:ext cx="10692079" cy="9144"/>
          </a:xfrm>
          <a:prstGeom prst="rect">
            <a:avLst/>
          </a:prstGeom>
          <a:solidFill>
            <a:srgbClr val="D0DAD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749808" y="6035040"/>
            <a:ext cx="10692079" cy="171457"/>
          </a:xfrm>
          <a:prstGeom prst="rect">
            <a:avLst/>
          </a:prstGeom>
          <a:noFill/>
        </p:spPr>
        <p:txBody>
          <a:bodyPr wrap="square" lIns="0" tIns="0" rIns="0" bIns="0">
            <a:spAutoFit/>
          </a:bodyPr>
          <a:lstStyle/>
          <a:p>
            <a:pPr>
              <a:lnSpc>
                <a:spcPct val="120000"/>
              </a:lnSpc>
              <a:spcBef>
                <a:spcPts val="0"/>
              </a:spcBef>
              <a:spcAft>
                <a:spcPts val="0"/>
              </a:spcAft>
            </a:pPr>
            <a:r>
              <a:rPr sz="1000" b="0" i="0" dirty="0">
                <a:solidFill>
                  <a:srgbClr val="8A9B9E"/>
                </a:solidFill>
                <a:latin typeface="Consolas"/>
              </a:rPr>
              <a:t>CAPSTONE MIDTERM</a:t>
            </a:r>
            <a:r>
              <a:rPr lang="de-DE" sz="1000" b="0" i="0" dirty="0">
                <a:solidFill>
                  <a:srgbClr val="8A9B9E"/>
                </a:solidFill>
                <a:latin typeface="Consolas"/>
              </a:rPr>
              <a:t> by Iris Detemple</a:t>
            </a:r>
            <a:r>
              <a:rPr sz="1000" b="0" i="0" dirty="0">
                <a:solidFill>
                  <a:srgbClr val="8A9B9E"/>
                </a:solidFill>
                <a:latin typeface="Consolas"/>
              </a:rPr>
              <a:t>     ·     NLP · CORE AFFECT · POWER BI     ·     DATA: HIGH5 EMPLOYEE SURVEY</a:t>
            </a:r>
          </a:p>
        </p:txBody>
      </p:sp>
      <p:graphicFrame>
        <p:nvGraphicFramePr>
          <p:cNvPr id="8" name="TextBox 4">
            <a:extLst>
              <a:ext uri="{FF2B5EF4-FFF2-40B4-BE49-F238E27FC236}">
                <a16:creationId xmlns:a16="http://schemas.microsoft.com/office/drawing/2014/main" id="{3C3B045F-A5A2-CD7F-49BC-7BAB3B281B49}"/>
              </a:ext>
            </a:extLst>
          </p:cNvPr>
          <p:cNvGraphicFramePr/>
          <p:nvPr/>
        </p:nvGraphicFramePr>
        <p:xfrm>
          <a:off x="749808" y="3611880"/>
          <a:ext cx="8778240" cy="19202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PROBLEM</a:t>
            </a:r>
            <a:r>
              <a:rPr sz="1000">
                <a:solidFill>
                  <a:srgbClr val="8A9B9E"/>
                </a:solidFill>
                <a:latin typeface="Consolas"/>
              </a:rPr>
              <a:t>   ·   WHY THIS PROJECT EXISTS</a:t>
            </a:r>
          </a:p>
        </p:txBody>
      </p:sp>
      <p:sp>
        <p:nvSpPr>
          <p:cNvPr id="4" name="TextBox 3"/>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dirty="0">
                <a:solidFill>
                  <a:srgbClr val="0F1A1C"/>
                </a:solidFill>
                <a:latin typeface="Georgia"/>
              </a:rPr>
              <a:t>Thousands of comments are collected. Few of them are used.</a:t>
            </a: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1874519"/>
            <a:ext cx="3368954" cy="18288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9"/>
            <a:ext cx="32004" cy="18288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2893466" cy="712311"/>
          </a:xfrm>
          <a:prstGeom prst="rect">
            <a:avLst/>
          </a:prstGeom>
          <a:noFill/>
        </p:spPr>
        <p:txBody>
          <a:bodyPr wrap="square" lIns="0" tIns="0" rIns="0" bIns="0">
            <a:spAutoFit/>
          </a:bodyPr>
          <a:lstStyle/>
          <a:p>
            <a:pPr>
              <a:lnSpc>
                <a:spcPct val="120000"/>
              </a:lnSpc>
              <a:spcBef>
                <a:spcPts val="0"/>
              </a:spcBef>
              <a:spcAft>
                <a:spcPts val="600"/>
              </a:spcAft>
            </a:pPr>
            <a:r>
              <a:rPr lang="de-DE" sz="2000" b="1" i="0" dirty="0">
                <a:solidFill>
                  <a:srgbClr val="14636E"/>
                </a:solidFill>
                <a:latin typeface="Consolas"/>
              </a:rPr>
              <a:t>COMMENTS ARE </a:t>
            </a:r>
            <a:r>
              <a:rPr sz="2000" b="1" i="0" dirty="0">
                <a:solidFill>
                  <a:srgbClr val="14636E"/>
                </a:solidFill>
                <a:latin typeface="Consolas"/>
              </a:rPr>
              <a:t>READ, NOT ANALYSED</a:t>
            </a:r>
          </a:p>
        </p:txBody>
      </p:sp>
      <p:sp>
        <p:nvSpPr>
          <p:cNvPr id="9" name="Rectangle 8"/>
          <p:cNvSpPr/>
          <p:nvPr/>
        </p:nvSpPr>
        <p:spPr>
          <a:xfrm>
            <a:off x="4411370" y="1874519"/>
            <a:ext cx="3368954" cy="18288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4411370" y="1874519"/>
            <a:ext cx="32004" cy="18288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4667402" y="2075688"/>
            <a:ext cx="2893466" cy="712311"/>
          </a:xfrm>
          <a:prstGeom prst="rect">
            <a:avLst/>
          </a:prstGeom>
          <a:noFill/>
        </p:spPr>
        <p:txBody>
          <a:bodyPr wrap="square" lIns="0" tIns="0" rIns="0" bIns="0">
            <a:spAutoFit/>
          </a:bodyPr>
          <a:lstStyle>
            <a:defPPr>
              <a:defRPr lang="en-US"/>
            </a:defPPr>
            <a:lvl1pPr>
              <a:lnSpc>
                <a:spcPct val="120000"/>
              </a:lnSpc>
              <a:spcBef>
                <a:spcPts val="0"/>
              </a:spcBef>
              <a:spcAft>
                <a:spcPts val="600"/>
              </a:spcAft>
              <a:defRPr sz="2000" b="1" i="0">
                <a:solidFill>
                  <a:srgbClr val="14636E"/>
                </a:solidFill>
                <a:latin typeface="Consolas"/>
              </a:defRPr>
            </a:lvl1pPr>
          </a:lstStyle>
          <a:p>
            <a:r>
              <a:rPr dirty="0"/>
              <a:t>LOCAL VIEW,</a:t>
            </a:r>
            <a:br>
              <a:rPr lang="de-DE" dirty="0"/>
            </a:br>
            <a:r>
              <a:rPr dirty="0"/>
              <a:t>GLOBAL CLAIM</a:t>
            </a:r>
            <a:r>
              <a:rPr lang="de-DE" dirty="0"/>
              <a:t>S</a:t>
            </a:r>
            <a:endParaRPr dirty="0"/>
          </a:p>
        </p:txBody>
      </p:sp>
      <p:sp>
        <p:nvSpPr>
          <p:cNvPr id="12" name="Rectangle 11"/>
          <p:cNvSpPr/>
          <p:nvPr/>
        </p:nvSpPr>
        <p:spPr>
          <a:xfrm>
            <a:off x="8072932" y="1874519"/>
            <a:ext cx="3368954" cy="18288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8072932" y="1874519"/>
            <a:ext cx="32004" cy="18288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328964" y="2075688"/>
            <a:ext cx="2893466" cy="712311"/>
          </a:xfrm>
          <a:prstGeom prst="rect">
            <a:avLst/>
          </a:prstGeom>
          <a:noFill/>
        </p:spPr>
        <p:txBody>
          <a:bodyPr wrap="square" lIns="0" tIns="0" rIns="0" bIns="0">
            <a:spAutoFit/>
          </a:bodyPr>
          <a:lstStyle/>
          <a:p>
            <a:pPr>
              <a:lnSpc>
                <a:spcPct val="120000"/>
              </a:lnSpc>
              <a:spcBef>
                <a:spcPts val="0"/>
              </a:spcBef>
              <a:spcAft>
                <a:spcPts val="600"/>
              </a:spcAft>
            </a:pPr>
            <a:r>
              <a:rPr sz="2000" b="1" i="0" dirty="0">
                <a:solidFill>
                  <a:srgbClr val="14636E"/>
                </a:solidFill>
                <a:latin typeface="Consolas"/>
              </a:rPr>
              <a:t>SCORES </a:t>
            </a:r>
            <a:r>
              <a:rPr lang="de-DE" sz="2000" b="1" dirty="0">
                <a:solidFill>
                  <a:srgbClr val="14636E"/>
                </a:solidFill>
                <a:latin typeface="Consolas"/>
              </a:rPr>
              <a:t>TELL US WHAT CHANGED, NOT </a:t>
            </a:r>
            <a:r>
              <a:rPr sz="2000" b="1" i="0" dirty="0">
                <a:solidFill>
                  <a:srgbClr val="14636E"/>
                </a:solidFill>
                <a:latin typeface="Consolas"/>
              </a:rPr>
              <a:t>WH</a:t>
            </a:r>
            <a:r>
              <a:rPr lang="de-DE" sz="2000" b="1" i="0" dirty="0">
                <a:solidFill>
                  <a:srgbClr val="14636E"/>
                </a:solidFill>
                <a:latin typeface="Consolas"/>
              </a:rPr>
              <a:t>Y</a:t>
            </a:r>
            <a:endParaRPr sz="2000" b="1" i="0" dirty="0">
              <a:solidFill>
                <a:srgbClr val="14636E"/>
              </a:solidFill>
              <a:latin typeface="Consolas"/>
            </a:endParaRPr>
          </a:p>
        </p:txBody>
      </p:sp>
      <p:sp>
        <p:nvSpPr>
          <p:cNvPr id="15" name="Rectangle 14"/>
          <p:cNvSpPr/>
          <p:nvPr/>
        </p:nvSpPr>
        <p:spPr>
          <a:xfrm>
            <a:off x="749808" y="4023360"/>
            <a:ext cx="10692079" cy="1371600"/>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749808" y="4023360"/>
            <a:ext cx="32004" cy="13716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005840" y="4224528"/>
            <a:ext cx="10216591" cy="593496"/>
          </a:xfrm>
          <a:prstGeom prst="rect">
            <a:avLst/>
          </a:prstGeom>
          <a:noFill/>
        </p:spPr>
        <p:txBody>
          <a:bodyPr wrap="square" lIns="0" tIns="0" rIns="0" bIns="0">
            <a:spAutoFit/>
          </a:bodyPr>
          <a:lstStyle/>
          <a:p>
            <a:pPr>
              <a:lnSpc>
                <a:spcPct val="120000"/>
              </a:lnSpc>
              <a:spcBef>
                <a:spcPts val="0"/>
              </a:spcBef>
              <a:spcAft>
                <a:spcPts val="600"/>
              </a:spcAft>
            </a:pPr>
            <a:r>
              <a:rPr sz="950" b="1" i="0" dirty="0">
                <a:solidFill>
                  <a:srgbClr val="14636E"/>
                </a:solidFill>
                <a:latin typeface="Consolas"/>
              </a:rPr>
              <a:t>GUIDING QUESTION</a:t>
            </a:r>
          </a:p>
          <a:p>
            <a:pPr>
              <a:lnSpc>
                <a:spcPct val="115000"/>
              </a:lnSpc>
              <a:spcBef>
                <a:spcPts val="0"/>
              </a:spcBef>
              <a:spcAft>
                <a:spcPts val="0"/>
              </a:spcAft>
            </a:pPr>
            <a:r>
              <a:rPr lang="de-DE" sz="2100" b="0" i="0" dirty="0">
                <a:solidFill>
                  <a:srgbClr val="0F1A1C"/>
                </a:solidFill>
                <a:latin typeface="Georgia"/>
              </a:rPr>
              <a:t>ELFI </a:t>
            </a:r>
            <a:r>
              <a:rPr lang="de-DE" sz="2100" b="0" i="0" dirty="0" err="1">
                <a:solidFill>
                  <a:srgbClr val="0F1A1C"/>
                </a:solidFill>
                <a:latin typeface="Georgia"/>
              </a:rPr>
              <a:t>turns</a:t>
            </a:r>
            <a:r>
              <a:rPr lang="de-DE" sz="2100" b="0" i="0" dirty="0">
                <a:solidFill>
                  <a:srgbClr val="0F1A1C"/>
                </a:solidFill>
                <a:latin typeface="Georgia"/>
              </a:rPr>
              <a:t> </a:t>
            </a:r>
            <a:r>
              <a:rPr lang="de-DE" sz="2100" b="0" i="0" dirty="0" err="1">
                <a:solidFill>
                  <a:srgbClr val="0F1A1C"/>
                </a:solidFill>
                <a:latin typeface="Georgia"/>
              </a:rPr>
              <a:t>comments</a:t>
            </a:r>
            <a:r>
              <a:rPr lang="de-DE" sz="2100" b="0" i="0" dirty="0">
                <a:solidFill>
                  <a:srgbClr val="0F1A1C"/>
                </a:solidFill>
                <a:latin typeface="Georgia"/>
              </a:rPr>
              <a:t> </a:t>
            </a:r>
            <a:r>
              <a:rPr lang="de-DE" sz="2100" b="0" i="0" dirty="0" err="1">
                <a:solidFill>
                  <a:srgbClr val="0F1A1C"/>
                </a:solidFill>
                <a:latin typeface="Georgia"/>
              </a:rPr>
              <a:t>into</a:t>
            </a:r>
            <a:r>
              <a:rPr lang="de-DE" sz="2100" b="0" i="0" dirty="0">
                <a:solidFill>
                  <a:srgbClr val="0F1A1C"/>
                </a:solidFill>
                <a:latin typeface="Georgia"/>
              </a:rPr>
              <a:t> a </a:t>
            </a:r>
            <a:r>
              <a:rPr lang="de-DE" sz="2100" b="0" i="0" dirty="0" err="1">
                <a:solidFill>
                  <a:srgbClr val="0F1A1C"/>
                </a:solidFill>
                <a:latin typeface="Georgia"/>
              </a:rPr>
              <a:t>structured</a:t>
            </a:r>
            <a:r>
              <a:rPr lang="de-DE" sz="2100" b="0" i="0" dirty="0">
                <a:solidFill>
                  <a:srgbClr val="0F1A1C"/>
                </a:solidFill>
                <a:latin typeface="Georgia"/>
              </a:rPr>
              <a:t>, </a:t>
            </a:r>
            <a:r>
              <a:rPr lang="de-DE" sz="2100" b="0" i="0" dirty="0" err="1">
                <a:solidFill>
                  <a:srgbClr val="0F1A1C"/>
                </a:solidFill>
                <a:latin typeface="Georgia"/>
              </a:rPr>
              <a:t>comparable</a:t>
            </a:r>
            <a:r>
              <a:rPr lang="de-DE" sz="2100" b="0" i="0" dirty="0">
                <a:solidFill>
                  <a:srgbClr val="0F1A1C"/>
                </a:solidFill>
                <a:latin typeface="Georgia"/>
              </a:rPr>
              <a:t> </a:t>
            </a:r>
            <a:r>
              <a:rPr lang="de-DE" sz="2100" b="0" i="0" dirty="0" err="1">
                <a:solidFill>
                  <a:srgbClr val="0F1A1C"/>
                </a:solidFill>
                <a:latin typeface="Georgia"/>
              </a:rPr>
              <a:t>data</a:t>
            </a:r>
            <a:r>
              <a:rPr lang="de-DE" sz="2100" b="0" i="0" dirty="0">
                <a:solidFill>
                  <a:srgbClr val="0F1A1C"/>
                </a:solidFill>
                <a:latin typeface="Georgia"/>
              </a:rPr>
              <a:t> </a:t>
            </a:r>
            <a:r>
              <a:rPr lang="de-DE" sz="2100" b="0" i="0" dirty="0" err="1">
                <a:solidFill>
                  <a:srgbClr val="0F1A1C"/>
                </a:solidFill>
                <a:latin typeface="Georgia"/>
              </a:rPr>
              <a:t>layer</a:t>
            </a:r>
            <a:r>
              <a:rPr lang="de-DE" sz="2100" b="0" i="0" dirty="0">
                <a:solidFill>
                  <a:srgbClr val="0F1A1C"/>
                </a:solidFill>
                <a:latin typeface="Georgia"/>
              </a:rPr>
              <a:t>!</a:t>
            </a:r>
            <a:endParaRPr sz="2100" b="0" i="0" dirty="0">
              <a:solidFill>
                <a:srgbClr val="0F1A1C"/>
              </a:solidFill>
              <a:latin typeface="Georgia"/>
            </a:endParaRPr>
          </a:p>
        </p:txBody>
      </p:sp>
      <p:sp>
        <p:nvSpPr>
          <p:cNvPr id="18" name="TextBox 17"/>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2 / 21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FRAMEWORK</a:t>
            </a:r>
            <a:r>
              <a:rPr sz="1000">
                <a:solidFill>
                  <a:srgbClr val="8A9B9E"/>
                </a:solidFill>
                <a:latin typeface="Consolas"/>
              </a:rPr>
              <a:t>   ·   WHY EMOTIONS, NOT POLARITY</a:t>
            </a:r>
          </a:p>
        </p:txBody>
      </p:sp>
      <p:sp>
        <p:nvSpPr>
          <p:cNvPr id="4" name="TextBox 3"/>
          <p:cNvSpPr txBox="1"/>
          <p:nvPr/>
        </p:nvSpPr>
        <p:spPr>
          <a:xfrm>
            <a:off x="749808" y="786384"/>
            <a:ext cx="9195188" cy="1215717"/>
          </a:xfrm>
          <a:prstGeom prst="rect">
            <a:avLst/>
          </a:prstGeom>
          <a:noFill/>
        </p:spPr>
        <p:txBody>
          <a:bodyPr wrap="square" lIns="0" tIns="0" rIns="0" bIns="0">
            <a:spAutoFit/>
          </a:bodyPr>
          <a:lstStyle/>
          <a:p>
            <a:pPr>
              <a:lnSpc>
                <a:spcPct val="100000"/>
              </a:lnSpc>
              <a:spcBef>
                <a:spcPts val="0"/>
              </a:spcBef>
              <a:spcAft>
                <a:spcPts val="0"/>
              </a:spcAft>
            </a:pPr>
            <a:r>
              <a:rPr lang="de-DE" sz="3200" dirty="0" err="1"/>
              <a:t>Constructed</a:t>
            </a:r>
            <a:r>
              <a:rPr lang="de-DE" sz="3200" dirty="0"/>
              <a:t> </a:t>
            </a:r>
            <a:r>
              <a:rPr lang="de-DE" sz="3200" dirty="0" err="1"/>
              <a:t>Emotions</a:t>
            </a:r>
            <a:r>
              <a:rPr lang="de-DE" sz="3200" dirty="0"/>
              <a:t> </a:t>
            </a:r>
            <a:r>
              <a:rPr lang="de-DE" sz="3200" dirty="0" err="1"/>
              <a:t>instead</a:t>
            </a:r>
            <a:r>
              <a:rPr lang="de-DE" sz="3200" dirty="0"/>
              <a:t> of rigid </a:t>
            </a:r>
            <a:r>
              <a:rPr lang="de-DE" sz="3200" dirty="0" err="1"/>
              <a:t>boxes</a:t>
            </a:r>
            <a:endParaRPr lang="de-DE" sz="3200" dirty="0"/>
          </a:p>
          <a:p>
            <a:r>
              <a:rPr lang="de-DE" sz="1700" dirty="0">
                <a:solidFill>
                  <a:srgbClr val="14636E"/>
                </a:solidFill>
                <a:latin typeface="Consolas"/>
              </a:rPr>
              <a:t>The </a:t>
            </a:r>
            <a:r>
              <a:rPr lang="de-DE" sz="1700" dirty="0" err="1">
                <a:solidFill>
                  <a:srgbClr val="14636E"/>
                </a:solidFill>
                <a:latin typeface="Consolas"/>
              </a:rPr>
              <a:t>conceptional</a:t>
            </a:r>
            <a:r>
              <a:rPr lang="de-DE" sz="1700" dirty="0">
                <a:solidFill>
                  <a:srgbClr val="14636E"/>
                </a:solidFill>
                <a:latin typeface="Consolas"/>
              </a:rPr>
              <a:t> </a:t>
            </a:r>
            <a:r>
              <a:rPr lang="de-DE" sz="1700" dirty="0" err="1">
                <a:solidFill>
                  <a:srgbClr val="14636E"/>
                </a:solidFill>
                <a:latin typeface="Consolas"/>
              </a:rPr>
              <a:t>foundation</a:t>
            </a:r>
            <a:r>
              <a:rPr lang="de-DE" sz="1700" dirty="0">
                <a:solidFill>
                  <a:srgbClr val="14636E"/>
                </a:solidFill>
                <a:latin typeface="Consolas"/>
              </a:rPr>
              <a:t> of the ELFI </a:t>
            </a:r>
            <a:r>
              <a:rPr lang="de-DE" sz="1700" dirty="0" err="1">
                <a:solidFill>
                  <a:srgbClr val="14636E"/>
                </a:solidFill>
                <a:latin typeface="Consolas"/>
              </a:rPr>
              <a:t>dashboard</a:t>
            </a:r>
            <a:endParaRPr lang="de-DE" sz="1700" dirty="0">
              <a:solidFill>
                <a:srgbClr val="14636E"/>
              </a:solidFill>
              <a:latin typeface="Consolas"/>
            </a:endParaRPr>
          </a:p>
          <a:p>
            <a:pPr>
              <a:lnSpc>
                <a:spcPct val="100000"/>
              </a:lnSpc>
              <a:spcBef>
                <a:spcPts val="0"/>
              </a:spcBef>
              <a:spcAft>
                <a:spcPts val="0"/>
              </a:spcAft>
            </a:pPr>
            <a:endParaRPr sz="3000" b="0" i="0" dirty="0">
              <a:solidFill>
                <a:srgbClr val="0F1A1C"/>
              </a:solidFill>
              <a:latin typeface="Georgia"/>
            </a:endParaRP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1959583"/>
            <a:ext cx="5163159" cy="3537453"/>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959583"/>
            <a:ext cx="32004" cy="3537453"/>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160752"/>
            <a:ext cx="4687671" cy="1080873"/>
          </a:xfrm>
          <a:prstGeom prst="rect">
            <a:avLst/>
          </a:prstGeom>
          <a:noFill/>
        </p:spPr>
        <p:txBody>
          <a:bodyPr wrap="square" lIns="0" tIns="0" rIns="0" bIns="0">
            <a:spAutoFit/>
          </a:bodyPr>
          <a:lstStyle/>
          <a:p>
            <a:pPr>
              <a:lnSpc>
                <a:spcPct val="120000"/>
              </a:lnSpc>
              <a:spcBef>
                <a:spcPts val="0"/>
              </a:spcBef>
              <a:spcAft>
                <a:spcPts val="600"/>
              </a:spcAft>
            </a:pPr>
            <a:r>
              <a:rPr sz="950" b="1" i="0" dirty="0">
                <a:solidFill>
                  <a:srgbClr val="14636E"/>
                </a:solidFill>
                <a:latin typeface="Consolas"/>
              </a:rPr>
              <a:t>CLASSIC SENTIMENT</a:t>
            </a:r>
          </a:p>
          <a:p>
            <a:pPr>
              <a:lnSpc>
                <a:spcPct val="120000"/>
              </a:lnSpc>
              <a:spcBef>
                <a:spcPts val="0"/>
              </a:spcBef>
              <a:spcAft>
                <a:spcPts val="700"/>
              </a:spcAft>
            </a:pPr>
            <a:r>
              <a:rPr sz="1200" b="0" i="0" dirty="0">
                <a:solidFill>
                  <a:srgbClr val="5A6B6E"/>
                </a:solidFill>
                <a:latin typeface="Consolas"/>
              </a:rPr>
              <a:t>POSITIVE</a:t>
            </a:r>
          </a:p>
          <a:p>
            <a:pPr>
              <a:lnSpc>
                <a:spcPct val="120000"/>
              </a:lnSpc>
              <a:spcBef>
                <a:spcPts val="0"/>
              </a:spcBef>
              <a:spcAft>
                <a:spcPts val="700"/>
              </a:spcAft>
            </a:pPr>
            <a:r>
              <a:rPr sz="1200" b="0" i="0" dirty="0">
                <a:solidFill>
                  <a:srgbClr val="5A6B6E"/>
                </a:solidFill>
                <a:latin typeface="Consolas"/>
              </a:rPr>
              <a:t>NEUTRAL</a:t>
            </a:r>
          </a:p>
          <a:p>
            <a:pPr>
              <a:lnSpc>
                <a:spcPct val="120000"/>
              </a:lnSpc>
              <a:spcBef>
                <a:spcPts val="0"/>
              </a:spcBef>
              <a:spcAft>
                <a:spcPts val="700"/>
              </a:spcAft>
            </a:pPr>
            <a:r>
              <a:rPr sz="1200" b="0" i="0" dirty="0">
                <a:solidFill>
                  <a:srgbClr val="5A6B6E"/>
                </a:solidFill>
                <a:latin typeface="Consolas"/>
              </a:rPr>
              <a:t>NEGATIVE</a:t>
            </a:r>
          </a:p>
        </p:txBody>
      </p:sp>
      <p:sp>
        <p:nvSpPr>
          <p:cNvPr id="9" name="Rectangle 8"/>
          <p:cNvSpPr/>
          <p:nvPr/>
        </p:nvSpPr>
        <p:spPr>
          <a:xfrm>
            <a:off x="6278727" y="1959583"/>
            <a:ext cx="5163159" cy="3537453"/>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6278727" y="1959583"/>
            <a:ext cx="32004" cy="3537453"/>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34759" y="2160752"/>
            <a:ext cx="4687671" cy="347596"/>
          </a:xfrm>
          <a:prstGeom prst="rect">
            <a:avLst/>
          </a:prstGeom>
          <a:noFill/>
        </p:spPr>
        <p:txBody>
          <a:bodyPr wrap="square" lIns="0" tIns="0" rIns="0" bIns="0">
            <a:spAutoFit/>
          </a:bodyPr>
          <a:lstStyle/>
          <a:p>
            <a:pPr>
              <a:lnSpc>
                <a:spcPct val="120000"/>
              </a:lnSpc>
              <a:spcBef>
                <a:spcPts val="0"/>
              </a:spcBef>
              <a:spcAft>
                <a:spcPts val="600"/>
              </a:spcAft>
            </a:pPr>
            <a:r>
              <a:rPr sz="950" b="1" i="0" dirty="0">
                <a:solidFill>
                  <a:srgbClr val="14636E"/>
                </a:solidFill>
                <a:latin typeface="Consolas"/>
              </a:rPr>
              <a:t>CORE AFFECT — VALENCE × AROUSAL</a:t>
            </a:r>
            <a:br>
              <a:rPr lang="de-DE" sz="950" b="1" i="0" dirty="0">
                <a:solidFill>
                  <a:srgbClr val="14636E"/>
                </a:solidFill>
                <a:latin typeface="Consolas"/>
              </a:rPr>
            </a:br>
            <a:r>
              <a:rPr lang="de-DE" sz="1000" dirty="0">
                <a:solidFill>
                  <a:srgbClr val="5A6B6E"/>
                </a:solidFill>
              </a:rPr>
              <a:t>Lisa Feldman </a:t>
            </a:r>
            <a:r>
              <a:rPr lang="de-DE" sz="1000" dirty="0" err="1">
                <a:solidFill>
                  <a:srgbClr val="5A6B6E"/>
                </a:solidFill>
              </a:rPr>
              <a:t>Barrett's</a:t>
            </a:r>
            <a:r>
              <a:rPr lang="de-DE" sz="1000" dirty="0">
                <a:solidFill>
                  <a:srgbClr val="5A6B6E"/>
                </a:solidFill>
              </a:rPr>
              <a:t> Theory of </a:t>
            </a:r>
            <a:r>
              <a:rPr lang="de-DE" sz="1000" dirty="0" err="1">
                <a:solidFill>
                  <a:srgbClr val="5A6B6E"/>
                </a:solidFill>
              </a:rPr>
              <a:t>Constructed</a:t>
            </a:r>
            <a:r>
              <a:rPr lang="de-DE" sz="1000" dirty="0">
                <a:solidFill>
                  <a:srgbClr val="5A6B6E"/>
                </a:solidFill>
              </a:rPr>
              <a:t> Emotion</a:t>
            </a:r>
            <a:endParaRPr sz="950" b="1" i="0" dirty="0">
              <a:solidFill>
                <a:srgbClr val="14636E"/>
              </a:solidFill>
              <a:latin typeface="Consolas"/>
            </a:endParaRPr>
          </a:p>
        </p:txBody>
      </p:sp>
      <p:sp>
        <p:nvSpPr>
          <p:cNvPr id="12" name="Rectangle 11"/>
          <p:cNvSpPr/>
          <p:nvPr/>
        </p:nvSpPr>
        <p:spPr>
          <a:xfrm>
            <a:off x="6589623" y="2896101"/>
            <a:ext cx="2270683" cy="989645"/>
          </a:xfrm>
          <a:prstGeom prst="rect">
            <a:avLst/>
          </a:prstGeom>
          <a:solidFill>
            <a:srgbClr val="F7FA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8860307" y="2896101"/>
            <a:ext cx="2270683" cy="989645"/>
          </a:xfrm>
          <a:prstGeom prst="rect">
            <a:avLst/>
          </a:prstGeom>
          <a:solidFill>
            <a:srgbClr val="E9F3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6589623" y="3970521"/>
            <a:ext cx="2270683" cy="989645"/>
          </a:xfrm>
          <a:prstGeom prst="rect">
            <a:avLst/>
          </a:prstGeom>
          <a:solidFill>
            <a:srgbClr val="F7FAF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8860307" y="3970521"/>
            <a:ext cx="2270683" cy="989645"/>
          </a:xfrm>
          <a:prstGeom prst="rect">
            <a:avLst/>
          </a:prstGeom>
          <a:solidFill>
            <a:srgbClr val="F2F7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6589623" y="3965033"/>
            <a:ext cx="4541367" cy="45719"/>
          </a:xfrm>
          <a:prstGeom prst="rect">
            <a:avLst/>
          </a:prstGeom>
          <a:solidFill>
            <a:srgbClr val="D0DAD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8854821" y="2896101"/>
            <a:ext cx="10972" cy="1979289"/>
          </a:xfrm>
          <a:prstGeom prst="rect">
            <a:avLst/>
          </a:prstGeom>
          <a:solidFill>
            <a:srgbClr val="D0DAD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6699351" y="3005829"/>
            <a:ext cx="2051227" cy="548640"/>
          </a:xfrm>
          <a:prstGeom prst="rect">
            <a:avLst/>
          </a:prstGeom>
          <a:noFill/>
        </p:spPr>
        <p:txBody>
          <a:bodyPr wrap="square" lIns="0" tIns="0" rIns="0" bIns="0">
            <a:spAutoFit/>
          </a:bodyPr>
          <a:lstStyle/>
          <a:p>
            <a:pPr>
              <a:lnSpc>
                <a:spcPct val="120000"/>
              </a:lnSpc>
              <a:spcBef>
                <a:spcPts val="0"/>
              </a:spcBef>
              <a:spcAft>
                <a:spcPts val="100"/>
              </a:spcAft>
            </a:pPr>
            <a:r>
              <a:rPr sz="1150" b="1" i="0">
                <a:solidFill>
                  <a:srgbClr val="0F1A1C"/>
                </a:solidFill>
                <a:latin typeface="Calibri"/>
              </a:rPr>
              <a:t>Stress</a:t>
            </a:r>
          </a:p>
          <a:p>
            <a:pPr>
              <a:lnSpc>
                <a:spcPct val="110000"/>
              </a:lnSpc>
              <a:spcBef>
                <a:spcPts val="0"/>
              </a:spcBef>
              <a:spcAft>
                <a:spcPts val="0"/>
              </a:spcAft>
            </a:pPr>
            <a:r>
              <a:rPr sz="900" b="0" i="0">
                <a:solidFill>
                  <a:srgbClr val="5A6B6E"/>
                </a:solidFill>
                <a:latin typeface="Calibri"/>
              </a:rPr>
              <a:t>tension, anger, overload</a:t>
            </a:r>
          </a:p>
        </p:txBody>
      </p:sp>
      <p:sp>
        <p:nvSpPr>
          <p:cNvPr id="19" name="TextBox 18"/>
          <p:cNvSpPr txBox="1"/>
          <p:nvPr/>
        </p:nvSpPr>
        <p:spPr>
          <a:xfrm>
            <a:off x="8970035" y="3005829"/>
            <a:ext cx="2051227" cy="548640"/>
          </a:xfrm>
          <a:prstGeom prst="rect">
            <a:avLst/>
          </a:prstGeom>
          <a:noFill/>
        </p:spPr>
        <p:txBody>
          <a:bodyPr wrap="square" lIns="0" tIns="0" rIns="0" bIns="0">
            <a:spAutoFit/>
          </a:bodyPr>
          <a:lstStyle/>
          <a:p>
            <a:pPr>
              <a:lnSpc>
                <a:spcPct val="120000"/>
              </a:lnSpc>
              <a:spcBef>
                <a:spcPts val="0"/>
              </a:spcBef>
              <a:spcAft>
                <a:spcPts val="100"/>
              </a:spcAft>
            </a:pPr>
            <a:r>
              <a:rPr sz="1150" b="1" i="0">
                <a:solidFill>
                  <a:srgbClr val="0F1A1C"/>
                </a:solidFill>
                <a:latin typeface="Calibri"/>
              </a:rPr>
              <a:t>Enthusiasm</a:t>
            </a:r>
          </a:p>
          <a:p>
            <a:pPr>
              <a:lnSpc>
                <a:spcPct val="110000"/>
              </a:lnSpc>
              <a:spcBef>
                <a:spcPts val="0"/>
              </a:spcBef>
              <a:spcAft>
                <a:spcPts val="0"/>
              </a:spcAft>
            </a:pPr>
            <a:r>
              <a:rPr sz="900" b="0" i="0">
                <a:solidFill>
                  <a:srgbClr val="5A6B6E"/>
                </a:solidFill>
                <a:latin typeface="Calibri"/>
              </a:rPr>
              <a:t>energy, pride, momentum</a:t>
            </a:r>
          </a:p>
        </p:txBody>
      </p:sp>
      <p:sp>
        <p:nvSpPr>
          <p:cNvPr id="20" name="TextBox 19"/>
          <p:cNvSpPr txBox="1"/>
          <p:nvPr/>
        </p:nvSpPr>
        <p:spPr>
          <a:xfrm>
            <a:off x="6699351" y="4080249"/>
            <a:ext cx="2051227" cy="548640"/>
          </a:xfrm>
          <a:prstGeom prst="rect">
            <a:avLst/>
          </a:prstGeom>
          <a:noFill/>
        </p:spPr>
        <p:txBody>
          <a:bodyPr wrap="square" lIns="0" tIns="0" rIns="0" bIns="0">
            <a:spAutoFit/>
          </a:bodyPr>
          <a:lstStyle/>
          <a:p>
            <a:pPr>
              <a:lnSpc>
                <a:spcPct val="120000"/>
              </a:lnSpc>
              <a:spcBef>
                <a:spcPts val="0"/>
              </a:spcBef>
              <a:spcAft>
                <a:spcPts val="100"/>
              </a:spcAft>
            </a:pPr>
            <a:r>
              <a:rPr sz="1150" b="1" i="0">
                <a:solidFill>
                  <a:srgbClr val="0F1A1C"/>
                </a:solidFill>
                <a:latin typeface="Calibri"/>
              </a:rPr>
              <a:t>Resignation</a:t>
            </a:r>
          </a:p>
          <a:p>
            <a:pPr>
              <a:lnSpc>
                <a:spcPct val="110000"/>
              </a:lnSpc>
              <a:spcBef>
                <a:spcPts val="0"/>
              </a:spcBef>
              <a:spcAft>
                <a:spcPts val="0"/>
              </a:spcAft>
            </a:pPr>
            <a:r>
              <a:rPr sz="900" b="0" i="0">
                <a:solidFill>
                  <a:srgbClr val="5A6B6E"/>
                </a:solidFill>
                <a:latin typeface="Calibri"/>
              </a:rPr>
              <a:t>withdrawal, fatigue</a:t>
            </a:r>
          </a:p>
        </p:txBody>
      </p:sp>
      <p:sp>
        <p:nvSpPr>
          <p:cNvPr id="21" name="TextBox 20"/>
          <p:cNvSpPr txBox="1"/>
          <p:nvPr/>
        </p:nvSpPr>
        <p:spPr>
          <a:xfrm>
            <a:off x="8970035" y="4080249"/>
            <a:ext cx="2051227" cy="548640"/>
          </a:xfrm>
          <a:prstGeom prst="rect">
            <a:avLst/>
          </a:prstGeom>
          <a:noFill/>
        </p:spPr>
        <p:txBody>
          <a:bodyPr wrap="square" lIns="0" tIns="0" rIns="0" bIns="0">
            <a:spAutoFit/>
          </a:bodyPr>
          <a:lstStyle/>
          <a:p>
            <a:pPr>
              <a:lnSpc>
                <a:spcPct val="120000"/>
              </a:lnSpc>
              <a:spcBef>
                <a:spcPts val="0"/>
              </a:spcBef>
              <a:spcAft>
                <a:spcPts val="100"/>
              </a:spcAft>
            </a:pPr>
            <a:r>
              <a:rPr sz="1150" b="1" i="0">
                <a:solidFill>
                  <a:srgbClr val="0F1A1C"/>
                </a:solidFill>
                <a:latin typeface="Calibri"/>
              </a:rPr>
              <a:t>Satisfaction</a:t>
            </a:r>
          </a:p>
          <a:p>
            <a:pPr>
              <a:lnSpc>
                <a:spcPct val="110000"/>
              </a:lnSpc>
              <a:spcBef>
                <a:spcPts val="0"/>
              </a:spcBef>
              <a:spcAft>
                <a:spcPts val="0"/>
              </a:spcAft>
            </a:pPr>
            <a:r>
              <a:rPr sz="900" b="0" i="0">
                <a:solidFill>
                  <a:srgbClr val="5A6B6E"/>
                </a:solidFill>
                <a:latin typeface="Calibri"/>
              </a:rPr>
              <a:t>calm, trust, stability</a:t>
            </a:r>
          </a:p>
        </p:txBody>
      </p:sp>
      <p:sp>
        <p:nvSpPr>
          <p:cNvPr id="22" name="TextBox 21"/>
          <p:cNvSpPr txBox="1"/>
          <p:nvPr/>
        </p:nvSpPr>
        <p:spPr>
          <a:xfrm>
            <a:off x="6589623" y="5081517"/>
            <a:ext cx="2270683" cy="219456"/>
          </a:xfrm>
          <a:prstGeom prst="rect">
            <a:avLst/>
          </a:prstGeom>
          <a:noFill/>
        </p:spPr>
        <p:txBody>
          <a:bodyPr wrap="square" lIns="0" tIns="0" rIns="0" bIns="0">
            <a:spAutoFit/>
          </a:bodyPr>
          <a:lstStyle/>
          <a:p>
            <a:pPr>
              <a:lnSpc>
                <a:spcPct val="120000"/>
              </a:lnSpc>
              <a:spcBef>
                <a:spcPts val="0"/>
              </a:spcBef>
              <a:spcAft>
                <a:spcPts val="0"/>
              </a:spcAft>
            </a:pPr>
            <a:r>
              <a:rPr sz="850" b="0" i="0">
                <a:solidFill>
                  <a:srgbClr val="8A9B9E"/>
                </a:solidFill>
                <a:latin typeface="Consolas"/>
              </a:rPr>
              <a:t>← VALENCE −</a:t>
            </a:r>
          </a:p>
        </p:txBody>
      </p:sp>
      <p:sp>
        <p:nvSpPr>
          <p:cNvPr id="23" name="TextBox 22"/>
          <p:cNvSpPr txBox="1"/>
          <p:nvPr/>
        </p:nvSpPr>
        <p:spPr>
          <a:xfrm>
            <a:off x="8860307" y="5081517"/>
            <a:ext cx="2270683" cy="219456"/>
          </a:xfrm>
          <a:prstGeom prst="rect">
            <a:avLst/>
          </a:prstGeom>
          <a:noFill/>
        </p:spPr>
        <p:txBody>
          <a:bodyPr wrap="square" lIns="0" tIns="0" rIns="0" bIns="0">
            <a:spAutoFit/>
          </a:bodyPr>
          <a:lstStyle/>
          <a:p>
            <a:pPr algn="r">
              <a:lnSpc>
                <a:spcPct val="120000"/>
              </a:lnSpc>
              <a:spcBef>
                <a:spcPts val="0"/>
              </a:spcBef>
              <a:spcAft>
                <a:spcPts val="0"/>
              </a:spcAft>
            </a:pPr>
            <a:r>
              <a:rPr sz="850" b="0" i="0">
                <a:solidFill>
                  <a:srgbClr val="8A9B9E"/>
                </a:solidFill>
                <a:latin typeface="Consolas"/>
              </a:rPr>
              <a:t>VALENCE + →</a:t>
            </a:r>
          </a:p>
        </p:txBody>
      </p:sp>
      <p:sp>
        <p:nvSpPr>
          <p:cNvPr id="24" name="TextBox 23"/>
          <p:cNvSpPr txBox="1"/>
          <p:nvPr/>
        </p:nvSpPr>
        <p:spPr>
          <a:xfrm>
            <a:off x="6589623" y="2647726"/>
            <a:ext cx="4541367" cy="219456"/>
          </a:xfrm>
          <a:prstGeom prst="rect">
            <a:avLst/>
          </a:prstGeom>
          <a:noFill/>
        </p:spPr>
        <p:txBody>
          <a:bodyPr wrap="square" lIns="0" tIns="0" rIns="0" bIns="0">
            <a:spAutoFit/>
          </a:bodyPr>
          <a:lstStyle/>
          <a:p>
            <a:pPr>
              <a:lnSpc>
                <a:spcPct val="120000"/>
              </a:lnSpc>
              <a:spcBef>
                <a:spcPts val="0"/>
              </a:spcBef>
              <a:spcAft>
                <a:spcPts val="0"/>
              </a:spcAft>
            </a:pPr>
            <a:r>
              <a:rPr sz="850" b="0" i="0" dirty="0">
                <a:solidFill>
                  <a:srgbClr val="8A9B9E"/>
                </a:solidFill>
                <a:latin typeface="Consolas"/>
              </a:rPr>
              <a:t>↑ AROUSAL + (ACTIVATED)</a:t>
            </a:r>
          </a:p>
        </p:txBody>
      </p:sp>
      <p:sp>
        <p:nvSpPr>
          <p:cNvPr id="26" name="TextBox 25"/>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3 / 21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DATA</a:t>
            </a:r>
            <a:r>
              <a:rPr sz="1000">
                <a:solidFill>
                  <a:srgbClr val="8A9B9E"/>
                </a:solidFill>
                <a:latin typeface="Consolas"/>
              </a:rPr>
              <a:t>   ·   TWO DATASETS, ONE PIPELINE</a:t>
            </a:r>
          </a:p>
        </p:txBody>
      </p:sp>
      <p:sp>
        <p:nvSpPr>
          <p:cNvPr id="4" name="TextBox 3"/>
          <p:cNvSpPr txBox="1"/>
          <p:nvPr/>
        </p:nvSpPr>
        <p:spPr>
          <a:xfrm>
            <a:off x="749808" y="786384"/>
            <a:ext cx="9195188" cy="1184940"/>
          </a:xfrm>
          <a:prstGeom prst="rect">
            <a:avLst/>
          </a:prstGeom>
          <a:noFill/>
        </p:spPr>
        <p:txBody>
          <a:bodyPr wrap="square" lIns="0" tIns="0" rIns="0" bIns="0">
            <a:spAutoFit/>
          </a:bodyPr>
          <a:lstStyle/>
          <a:p>
            <a:pPr>
              <a:lnSpc>
                <a:spcPct val="100000"/>
              </a:lnSpc>
              <a:spcBef>
                <a:spcPts val="0"/>
              </a:spcBef>
              <a:spcAft>
                <a:spcPts val="0"/>
              </a:spcAft>
            </a:pPr>
            <a:r>
              <a:rPr lang="de-DE" sz="3000" b="0" i="0" dirty="0">
                <a:solidFill>
                  <a:srgbClr val="0F1A1C"/>
                </a:solidFill>
                <a:latin typeface="Georgia"/>
              </a:rPr>
              <a:t>Datasets</a:t>
            </a:r>
          </a:p>
          <a:p>
            <a:pPr>
              <a:lnSpc>
                <a:spcPct val="100000"/>
              </a:lnSpc>
              <a:spcBef>
                <a:spcPts val="0"/>
              </a:spcBef>
              <a:spcAft>
                <a:spcPts val="0"/>
              </a:spcAft>
            </a:pPr>
            <a:r>
              <a:rPr lang="de-DE" sz="1700" dirty="0" err="1">
                <a:solidFill>
                  <a:srgbClr val="14636E"/>
                </a:solidFill>
                <a:latin typeface="Consolas"/>
              </a:rPr>
              <a:t>Developed</a:t>
            </a:r>
            <a:r>
              <a:rPr lang="de-DE" sz="1700" dirty="0">
                <a:solidFill>
                  <a:srgbClr val="14636E"/>
                </a:solidFill>
                <a:latin typeface="Consolas"/>
              </a:rPr>
              <a:t> on real Data. </a:t>
            </a:r>
            <a:r>
              <a:rPr lang="de-DE" sz="1700" dirty="0" err="1">
                <a:solidFill>
                  <a:srgbClr val="14636E"/>
                </a:solidFill>
                <a:latin typeface="Consolas"/>
              </a:rPr>
              <a:t>Demonstrated</a:t>
            </a:r>
            <a:r>
              <a:rPr lang="de-DE" sz="1700" dirty="0">
                <a:solidFill>
                  <a:srgbClr val="14636E"/>
                </a:solidFill>
                <a:latin typeface="Consolas"/>
              </a:rPr>
              <a:t> on </a:t>
            </a:r>
            <a:r>
              <a:rPr lang="de-DE" sz="1700" dirty="0" err="1">
                <a:solidFill>
                  <a:srgbClr val="14636E"/>
                </a:solidFill>
                <a:latin typeface="Consolas"/>
              </a:rPr>
              <a:t>synthetic</a:t>
            </a:r>
            <a:r>
              <a:rPr lang="de-DE" sz="1700" dirty="0">
                <a:solidFill>
                  <a:srgbClr val="14636E"/>
                </a:solidFill>
                <a:latin typeface="Consolas"/>
              </a:rPr>
              <a:t> Data</a:t>
            </a:r>
          </a:p>
          <a:p>
            <a:pPr>
              <a:lnSpc>
                <a:spcPct val="100000"/>
              </a:lnSpc>
              <a:spcBef>
                <a:spcPts val="0"/>
              </a:spcBef>
              <a:spcAft>
                <a:spcPts val="0"/>
              </a:spcAft>
            </a:pPr>
            <a:endParaRPr sz="3000" b="0" i="0" dirty="0">
              <a:solidFill>
                <a:srgbClr val="0F1A1C"/>
              </a:solidFill>
              <a:latin typeface="Georgia"/>
            </a:endParaRP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1874519"/>
            <a:ext cx="5163159" cy="27889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9"/>
            <a:ext cx="32004" cy="278892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4687671" cy="162930"/>
          </a:xfrm>
          <a:prstGeom prst="rect">
            <a:avLst/>
          </a:prstGeom>
          <a:noFill/>
        </p:spPr>
        <p:txBody>
          <a:bodyPr wrap="square" lIns="0" tIns="0" rIns="0" bIns="0">
            <a:spAutoFit/>
          </a:bodyPr>
          <a:lstStyle/>
          <a:p>
            <a:pPr>
              <a:lnSpc>
                <a:spcPct val="120000"/>
              </a:lnSpc>
              <a:spcBef>
                <a:spcPts val="0"/>
              </a:spcBef>
              <a:spcAft>
                <a:spcPts val="600"/>
              </a:spcAft>
            </a:pPr>
            <a:r>
              <a:rPr sz="950" b="1" i="0" dirty="0">
                <a:solidFill>
                  <a:srgbClr val="14636E"/>
                </a:solidFill>
                <a:latin typeface="Consolas"/>
              </a:rPr>
              <a:t>REAL HIGH5 DAT</a:t>
            </a:r>
            <a:r>
              <a:rPr lang="de-DE" sz="950" b="1" i="0" dirty="0">
                <a:solidFill>
                  <a:srgbClr val="14636E"/>
                </a:solidFill>
                <a:latin typeface="Consolas"/>
              </a:rPr>
              <a:t>A</a:t>
            </a:r>
            <a:endParaRPr sz="950" b="1" i="0" dirty="0">
              <a:solidFill>
                <a:srgbClr val="14636E"/>
              </a:solidFill>
              <a:latin typeface="Consolas"/>
            </a:endParaRPr>
          </a:p>
        </p:txBody>
      </p:sp>
      <p:sp>
        <p:nvSpPr>
          <p:cNvPr id="10" name="TextBox 9"/>
          <p:cNvSpPr txBox="1"/>
          <p:nvPr/>
        </p:nvSpPr>
        <p:spPr>
          <a:xfrm>
            <a:off x="1037844" y="2529950"/>
            <a:ext cx="4651095" cy="1661993"/>
          </a:xfrm>
          <a:prstGeom prst="rect">
            <a:avLst/>
          </a:prstGeom>
          <a:noFill/>
        </p:spPr>
        <p:txBody>
          <a:bodyPr wrap="square" lIns="0" tIns="0" rIns="0" bIns="0">
            <a:spAutoFit/>
          </a:bodyPr>
          <a:lstStyle/>
          <a:p>
            <a:pPr marL="171450" indent="-171450">
              <a:buFont typeface="Arial" panose="020B0604020202020204" pitchFamily="34" charset="0"/>
              <a:buChar char="•"/>
            </a:pPr>
            <a:r>
              <a:rPr lang="de-DE" sz="1200" dirty="0"/>
              <a:t>46,000+ </a:t>
            </a:r>
            <a:r>
              <a:rPr lang="de-DE" sz="1200" dirty="0" err="1"/>
              <a:t>survey</a:t>
            </a:r>
            <a:r>
              <a:rPr lang="de-DE" sz="1200" dirty="0"/>
              <a:t> </a:t>
            </a:r>
            <a:r>
              <a:rPr lang="de-DE" sz="1200" dirty="0" err="1"/>
              <a:t>responses</a:t>
            </a:r>
            <a:br>
              <a:rPr lang="de-DE" sz="1200" dirty="0"/>
            </a:br>
            <a:endParaRPr lang="de-DE" sz="1200" dirty="0"/>
          </a:p>
          <a:p>
            <a:pPr marL="171450" indent="-171450">
              <a:buFont typeface="Arial" panose="020B0604020202020204" pitchFamily="34" charset="0"/>
              <a:buChar char="•"/>
            </a:pPr>
            <a:r>
              <a:rPr lang="de-DE" sz="1200" dirty="0"/>
              <a:t>4,297 </a:t>
            </a:r>
            <a:r>
              <a:rPr lang="de-DE" sz="1200" dirty="0" err="1"/>
              <a:t>free</a:t>
            </a:r>
            <a:r>
              <a:rPr lang="de-DE" sz="1200" dirty="0"/>
              <a:t>-text </a:t>
            </a:r>
            <a:r>
              <a:rPr lang="de-DE" sz="1200" dirty="0" err="1"/>
              <a:t>comments</a:t>
            </a:r>
            <a:br>
              <a:rPr lang="de-DE" sz="1200" dirty="0"/>
            </a:br>
            <a:endParaRPr lang="de-DE" sz="1200" dirty="0"/>
          </a:p>
          <a:p>
            <a:pPr marL="171450" indent="-171450">
              <a:buFont typeface="Arial" panose="020B0604020202020204" pitchFamily="34" charset="0"/>
              <a:buChar char="•"/>
            </a:pPr>
            <a:r>
              <a:rPr lang="de-DE" sz="1200" dirty="0"/>
              <a:t>17 </a:t>
            </a:r>
            <a:r>
              <a:rPr lang="de-DE" sz="1200" dirty="0" err="1"/>
              <a:t>survey</a:t>
            </a:r>
            <a:r>
              <a:rPr lang="de-DE" sz="1200" dirty="0"/>
              <a:t> </a:t>
            </a:r>
            <a:r>
              <a:rPr lang="de-DE" sz="1200" dirty="0" err="1"/>
              <a:t>exports</a:t>
            </a:r>
            <a:br>
              <a:rPr lang="de-DE" sz="1200" dirty="0"/>
            </a:br>
            <a:endParaRPr lang="de-DE" sz="1200" dirty="0"/>
          </a:p>
          <a:p>
            <a:pPr marL="171450" indent="-171450">
              <a:buFont typeface="Arial" panose="020B0604020202020204" pitchFamily="34" charset="0"/>
              <a:buChar char="•"/>
            </a:pPr>
            <a:r>
              <a:rPr lang="de-DE" sz="1200" dirty="0"/>
              <a:t>54 Likert </a:t>
            </a:r>
            <a:r>
              <a:rPr lang="de-DE" sz="1200" dirty="0" err="1"/>
              <a:t>items</a:t>
            </a:r>
            <a:br>
              <a:rPr lang="de-DE" sz="1200" dirty="0"/>
            </a:br>
            <a:endParaRPr lang="de-DE" sz="1200" dirty="0"/>
          </a:p>
          <a:p>
            <a:pPr marL="171450" indent="-171450">
              <a:buFont typeface="Arial" panose="020B0604020202020204" pitchFamily="34" charset="0"/>
              <a:buChar char="•"/>
            </a:pPr>
            <a:r>
              <a:rPr lang="de-DE" sz="1200" dirty="0"/>
              <a:t>Confidential</a:t>
            </a:r>
          </a:p>
        </p:txBody>
      </p:sp>
      <p:sp>
        <p:nvSpPr>
          <p:cNvPr id="11" name="Rectangle 10"/>
          <p:cNvSpPr/>
          <p:nvPr/>
        </p:nvSpPr>
        <p:spPr>
          <a:xfrm>
            <a:off x="6278727" y="1874519"/>
            <a:ext cx="5163159" cy="27889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278727" y="1874519"/>
            <a:ext cx="32004" cy="278892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534759" y="2075688"/>
            <a:ext cx="4687671" cy="162930"/>
          </a:xfrm>
          <a:prstGeom prst="rect">
            <a:avLst/>
          </a:prstGeom>
          <a:noFill/>
        </p:spPr>
        <p:txBody>
          <a:bodyPr wrap="square" lIns="0" tIns="0" rIns="0" bIns="0">
            <a:spAutoFit/>
          </a:bodyPr>
          <a:lstStyle/>
          <a:p>
            <a:pPr>
              <a:lnSpc>
                <a:spcPct val="120000"/>
              </a:lnSpc>
              <a:spcBef>
                <a:spcPts val="0"/>
              </a:spcBef>
              <a:spcAft>
                <a:spcPts val="600"/>
              </a:spcAft>
            </a:pPr>
            <a:r>
              <a:rPr sz="950" b="1" i="0" dirty="0">
                <a:solidFill>
                  <a:srgbClr val="14636E"/>
                </a:solidFill>
                <a:latin typeface="Consolas"/>
              </a:rPr>
              <a:t>SYNTHETIC DAT</a:t>
            </a:r>
          </a:p>
        </p:txBody>
      </p:sp>
      <p:sp>
        <p:nvSpPr>
          <p:cNvPr id="15" name="TextBox 14"/>
          <p:cNvSpPr txBox="1"/>
          <p:nvPr/>
        </p:nvSpPr>
        <p:spPr>
          <a:xfrm>
            <a:off x="6503061" y="2529950"/>
            <a:ext cx="4651095" cy="1661993"/>
          </a:xfrm>
          <a:prstGeom prst="rect">
            <a:avLst/>
          </a:prstGeom>
          <a:noFill/>
        </p:spPr>
        <p:txBody>
          <a:bodyPr wrap="square" lIns="0" tIns="0" rIns="0" bIns="0">
            <a:spAutoFit/>
          </a:bodyPr>
          <a:lstStyle/>
          <a:p>
            <a:pPr marL="171450" indent="-171450">
              <a:buFont typeface="Arial" panose="020B0604020202020204" pitchFamily="34" charset="0"/>
              <a:buChar char="•"/>
            </a:pPr>
            <a:r>
              <a:rPr lang="de-DE" sz="1200" dirty="0"/>
              <a:t>7,000 </a:t>
            </a:r>
            <a:r>
              <a:rPr lang="de-DE" sz="1200" dirty="0" err="1"/>
              <a:t>survey</a:t>
            </a:r>
            <a:r>
              <a:rPr lang="de-DE" sz="1200" dirty="0"/>
              <a:t> </a:t>
            </a:r>
            <a:r>
              <a:rPr lang="de-DE" sz="1200" dirty="0" err="1"/>
              <a:t>responses</a:t>
            </a:r>
            <a:br>
              <a:rPr lang="de-DE" sz="1200" dirty="0"/>
            </a:br>
            <a:endParaRPr lang="de-DE" sz="1200" dirty="0"/>
          </a:p>
          <a:p>
            <a:pPr marL="171450" indent="-171450">
              <a:buFont typeface="Arial" panose="020B0604020202020204" pitchFamily="34" charset="0"/>
              <a:buChar char="•"/>
            </a:pPr>
            <a:r>
              <a:rPr lang="de-DE" sz="1200" dirty="0"/>
              <a:t>5,000 </a:t>
            </a:r>
            <a:r>
              <a:rPr lang="de-DE" sz="1200" dirty="0" err="1"/>
              <a:t>comments</a:t>
            </a:r>
            <a:br>
              <a:rPr lang="de-DE" sz="1200" dirty="0"/>
            </a:br>
            <a:endParaRPr lang="de-DE" sz="1200" dirty="0"/>
          </a:p>
          <a:p>
            <a:pPr marL="171450" indent="-171450">
              <a:buFont typeface="Arial" panose="020B0604020202020204" pitchFamily="34" charset="0"/>
              <a:buChar char="•"/>
            </a:pPr>
            <a:r>
              <a:rPr lang="de-DE" sz="1200" dirty="0"/>
              <a:t>Same </a:t>
            </a:r>
            <a:r>
              <a:rPr lang="de-DE" sz="1200" dirty="0" err="1"/>
              <a:t>schema</a:t>
            </a:r>
            <a:br>
              <a:rPr lang="de-DE" sz="1200" dirty="0"/>
            </a:br>
            <a:endParaRPr lang="de-DE" sz="1200" dirty="0"/>
          </a:p>
          <a:p>
            <a:pPr marL="171450" indent="-171450">
              <a:buFont typeface="Arial" panose="020B0604020202020204" pitchFamily="34" charset="0"/>
              <a:buChar char="•"/>
            </a:pPr>
            <a:r>
              <a:rPr lang="de-DE" sz="1200" dirty="0" err="1"/>
              <a:t>Publicly</a:t>
            </a:r>
            <a:r>
              <a:rPr lang="de-DE" sz="1200" dirty="0"/>
              <a:t> </a:t>
            </a:r>
            <a:r>
              <a:rPr lang="de-DE" sz="1200" dirty="0" err="1"/>
              <a:t>shareable</a:t>
            </a:r>
            <a:br>
              <a:rPr lang="de-DE" sz="1200" dirty="0"/>
            </a:br>
            <a:endParaRPr lang="de-DE" sz="1200" dirty="0"/>
          </a:p>
          <a:p>
            <a:pPr marL="171450" indent="-171450">
              <a:buFont typeface="Arial" panose="020B0604020202020204" pitchFamily="34" charset="0"/>
              <a:buChar char="•"/>
            </a:pPr>
            <a:r>
              <a:rPr lang="de-DE" sz="1200" dirty="0" err="1"/>
              <a:t>Used</a:t>
            </a:r>
            <a:r>
              <a:rPr lang="de-DE" sz="1200" dirty="0"/>
              <a:t> for </a:t>
            </a:r>
            <a:r>
              <a:rPr lang="de-DE" sz="1200" dirty="0" err="1"/>
              <a:t>demos</a:t>
            </a:r>
            <a:endParaRPr lang="de-DE" sz="1200" dirty="0"/>
          </a:p>
        </p:txBody>
      </p:sp>
      <p:sp>
        <p:nvSpPr>
          <p:cNvPr id="16" name="Rectangle 15"/>
          <p:cNvSpPr/>
          <p:nvPr/>
        </p:nvSpPr>
        <p:spPr>
          <a:xfrm>
            <a:off x="749808" y="4937760"/>
            <a:ext cx="10692079" cy="11887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Rectangle 16"/>
          <p:cNvSpPr/>
          <p:nvPr/>
        </p:nvSpPr>
        <p:spPr>
          <a:xfrm>
            <a:off x="749808" y="4937760"/>
            <a:ext cx="32004" cy="118872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8" name="TextBox 17"/>
          <p:cNvSpPr txBox="1"/>
          <p:nvPr/>
        </p:nvSpPr>
        <p:spPr>
          <a:xfrm>
            <a:off x="1005840" y="5138928"/>
            <a:ext cx="10216591" cy="473015"/>
          </a:xfrm>
          <a:prstGeom prst="rect">
            <a:avLst/>
          </a:prstGeom>
          <a:noFill/>
        </p:spPr>
        <p:txBody>
          <a:bodyPr wrap="square" lIns="0" tIns="0" rIns="0" bIns="0">
            <a:spAutoFit/>
          </a:bodyPr>
          <a:lstStyle/>
          <a:p>
            <a:pPr>
              <a:lnSpc>
                <a:spcPct val="120000"/>
              </a:lnSpc>
              <a:spcBef>
                <a:spcPts val="0"/>
              </a:spcBef>
              <a:spcAft>
                <a:spcPts val="600"/>
              </a:spcAft>
            </a:pPr>
            <a:r>
              <a:rPr sz="950" b="1" i="0" dirty="0">
                <a:solidFill>
                  <a:srgbClr val="14636E"/>
                </a:solidFill>
                <a:latin typeface="Consolas"/>
              </a:rPr>
              <a:t>THE PRIVACY RULE</a:t>
            </a:r>
            <a:endParaRPr lang="de-DE" sz="950" b="1" i="0" dirty="0">
              <a:solidFill>
                <a:srgbClr val="14636E"/>
              </a:solidFill>
              <a:latin typeface="Consolas"/>
            </a:endParaRPr>
          </a:p>
          <a:p>
            <a:pPr>
              <a:lnSpc>
                <a:spcPct val="130000"/>
              </a:lnSpc>
              <a:spcBef>
                <a:spcPts val="0"/>
              </a:spcBef>
              <a:spcAft>
                <a:spcPts val="0"/>
              </a:spcAft>
            </a:pPr>
            <a:r>
              <a:rPr lang="de-DE" sz="1200" b="0" i="0" dirty="0">
                <a:solidFill>
                  <a:srgbClr val="0F1A1C"/>
                </a:solidFill>
                <a:latin typeface="Calibri"/>
              </a:rPr>
              <a:t>Every </a:t>
            </a:r>
            <a:r>
              <a:rPr lang="de-DE" sz="1200" b="0" i="0" dirty="0" err="1">
                <a:solidFill>
                  <a:srgbClr val="0F1A1C"/>
                </a:solidFill>
                <a:latin typeface="Calibri"/>
              </a:rPr>
              <a:t>model</a:t>
            </a:r>
            <a:r>
              <a:rPr lang="de-DE" sz="1200" b="0" i="0" dirty="0">
                <a:solidFill>
                  <a:srgbClr val="0F1A1C"/>
                </a:solidFill>
                <a:latin typeface="Calibri"/>
              </a:rPr>
              <a:t> </a:t>
            </a:r>
            <a:r>
              <a:rPr lang="de-DE" sz="1200" b="0" i="0" dirty="0" err="1">
                <a:solidFill>
                  <a:srgbClr val="0F1A1C"/>
                </a:solidFill>
                <a:latin typeface="Calibri"/>
              </a:rPr>
              <a:t>runs</a:t>
            </a:r>
            <a:r>
              <a:rPr lang="de-DE" sz="1200" b="0" i="0" dirty="0">
                <a:solidFill>
                  <a:srgbClr val="0F1A1C"/>
                </a:solidFill>
                <a:latin typeface="Calibri"/>
              </a:rPr>
              <a:t> on </a:t>
            </a:r>
            <a:r>
              <a:rPr lang="de-DE" sz="1200" b="0" i="0" dirty="0" err="1">
                <a:solidFill>
                  <a:srgbClr val="0F1A1C"/>
                </a:solidFill>
                <a:latin typeface="Calibri"/>
              </a:rPr>
              <a:t>both</a:t>
            </a:r>
            <a:r>
              <a:rPr lang="de-DE" sz="1200" b="0" i="0" dirty="0">
                <a:solidFill>
                  <a:srgbClr val="0F1A1C"/>
                </a:solidFill>
                <a:latin typeface="Calibri"/>
              </a:rPr>
              <a:t> </a:t>
            </a:r>
            <a:r>
              <a:rPr lang="de-DE" sz="1200" b="0" i="0" dirty="0" err="1">
                <a:solidFill>
                  <a:srgbClr val="0F1A1C"/>
                </a:solidFill>
                <a:latin typeface="Calibri"/>
              </a:rPr>
              <a:t>datasets</a:t>
            </a:r>
            <a:r>
              <a:rPr lang="de-DE" sz="1200" b="0" i="0" dirty="0">
                <a:solidFill>
                  <a:srgbClr val="0F1A1C"/>
                </a:solidFill>
                <a:latin typeface="Calibri"/>
              </a:rPr>
              <a:t>. Statistical </a:t>
            </a:r>
            <a:r>
              <a:rPr lang="de-DE" sz="1200" b="0" i="0" dirty="0" err="1">
                <a:solidFill>
                  <a:srgbClr val="0F1A1C"/>
                </a:solidFill>
                <a:latin typeface="Calibri"/>
              </a:rPr>
              <a:t>properties</a:t>
            </a:r>
            <a:r>
              <a:rPr lang="de-DE" sz="1200" b="0" i="0" dirty="0">
                <a:solidFill>
                  <a:srgbClr val="0F1A1C"/>
                </a:solidFill>
                <a:latin typeface="Calibri"/>
              </a:rPr>
              <a:t> </a:t>
            </a:r>
            <a:r>
              <a:rPr lang="de-DE" sz="1200" b="0" i="0" dirty="0" err="1">
                <a:solidFill>
                  <a:srgbClr val="0F1A1C"/>
                </a:solidFill>
                <a:latin typeface="Calibri"/>
              </a:rPr>
              <a:t>may</a:t>
            </a:r>
            <a:r>
              <a:rPr lang="de-DE" sz="1200" b="0" i="0" dirty="0">
                <a:solidFill>
                  <a:srgbClr val="0F1A1C"/>
                </a:solidFill>
                <a:latin typeface="Calibri"/>
              </a:rPr>
              <a:t> </a:t>
            </a:r>
            <a:r>
              <a:rPr lang="de-DE" sz="1200" b="0" i="0" dirty="0" err="1">
                <a:solidFill>
                  <a:srgbClr val="0F1A1C"/>
                </a:solidFill>
                <a:latin typeface="Calibri"/>
              </a:rPr>
              <a:t>be</a:t>
            </a:r>
            <a:r>
              <a:rPr lang="de-DE" sz="1200" b="0" i="0" dirty="0">
                <a:solidFill>
                  <a:srgbClr val="0F1A1C"/>
                </a:solidFill>
                <a:latin typeface="Calibri"/>
              </a:rPr>
              <a:t> </a:t>
            </a:r>
            <a:r>
              <a:rPr lang="de-DE" sz="1200" b="0" i="0" dirty="0" err="1">
                <a:solidFill>
                  <a:srgbClr val="0F1A1C"/>
                </a:solidFill>
                <a:latin typeface="Calibri"/>
              </a:rPr>
              <a:t>shown</a:t>
            </a:r>
            <a:r>
              <a:rPr lang="de-DE" sz="1200" b="0" i="0" dirty="0">
                <a:solidFill>
                  <a:srgbClr val="0F1A1C"/>
                </a:solidFill>
                <a:latin typeface="Calibri"/>
              </a:rPr>
              <a:t>. Original </a:t>
            </a:r>
            <a:r>
              <a:rPr lang="de-DE" sz="1200" b="0" i="0" dirty="0" err="1">
                <a:solidFill>
                  <a:srgbClr val="0F1A1C"/>
                </a:solidFill>
                <a:latin typeface="Calibri"/>
              </a:rPr>
              <a:t>comments</a:t>
            </a:r>
            <a:r>
              <a:rPr lang="de-DE" sz="1200" b="0" i="0" dirty="0">
                <a:solidFill>
                  <a:srgbClr val="0F1A1C"/>
                </a:solidFill>
                <a:latin typeface="Calibri"/>
              </a:rPr>
              <a:t> </a:t>
            </a:r>
            <a:r>
              <a:rPr lang="de-DE" sz="1200" b="0" i="0" dirty="0" err="1">
                <a:solidFill>
                  <a:srgbClr val="0F1A1C"/>
                </a:solidFill>
                <a:latin typeface="Calibri"/>
              </a:rPr>
              <a:t>may</a:t>
            </a:r>
            <a:r>
              <a:rPr lang="de-DE" sz="1200" b="0" i="0" dirty="0">
                <a:solidFill>
                  <a:srgbClr val="0F1A1C"/>
                </a:solidFill>
                <a:latin typeface="Calibri"/>
              </a:rPr>
              <a:t> not.</a:t>
            </a:r>
          </a:p>
        </p:txBody>
      </p:sp>
      <p:sp>
        <p:nvSpPr>
          <p:cNvPr id="19" name="TextBox 18"/>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4 / 21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ARCHITECTURE</a:t>
            </a:r>
            <a:r>
              <a:rPr sz="1000">
                <a:solidFill>
                  <a:srgbClr val="8A9B9E"/>
                </a:solidFill>
                <a:latin typeface="Consolas"/>
              </a:rPr>
              <a:t>   ·   SURVEY DATA TO DASHBOARD</a:t>
            </a:r>
          </a:p>
        </p:txBody>
      </p:sp>
      <p:sp>
        <p:nvSpPr>
          <p:cNvPr id="4" name="TextBox 3"/>
          <p:cNvSpPr txBox="1"/>
          <p:nvPr/>
        </p:nvSpPr>
        <p:spPr>
          <a:xfrm>
            <a:off x="749808" y="786384"/>
            <a:ext cx="9195188" cy="723275"/>
          </a:xfrm>
          <a:prstGeom prst="rect">
            <a:avLst/>
          </a:prstGeom>
          <a:noFill/>
        </p:spPr>
        <p:txBody>
          <a:bodyPr wrap="square" lIns="0" tIns="0" rIns="0" bIns="0">
            <a:spAutoFit/>
          </a:bodyPr>
          <a:lstStyle/>
          <a:p>
            <a:pPr>
              <a:lnSpc>
                <a:spcPct val="100000"/>
              </a:lnSpc>
              <a:spcBef>
                <a:spcPts val="0"/>
              </a:spcBef>
              <a:spcAft>
                <a:spcPts val="0"/>
              </a:spcAft>
            </a:pPr>
            <a:r>
              <a:rPr lang="de-DE" sz="3000" b="0" i="0" dirty="0">
                <a:solidFill>
                  <a:srgbClr val="0F1A1C"/>
                </a:solidFill>
                <a:latin typeface="Georgia"/>
              </a:rPr>
              <a:t>ELFI</a:t>
            </a:r>
            <a:r>
              <a:rPr sz="3000" b="0" i="0" dirty="0">
                <a:solidFill>
                  <a:srgbClr val="0F1A1C"/>
                </a:solidFill>
                <a:latin typeface="Georgia"/>
              </a:rPr>
              <a:t> pipeline</a:t>
            </a:r>
            <a:endParaRPr lang="de-DE" sz="3000" b="0" i="0" dirty="0">
              <a:solidFill>
                <a:srgbClr val="0F1A1C"/>
              </a:solidFill>
              <a:latin typeface="Georgia"/>
            </a:endParaRPr>
          </a:p>
          <a:p>
            <a:pPr>
              <a:lnSpc>
                <a:spcPct val="100000"/>
              </a:lnSpc>
              <a:spcBef>
                <a:spcPts val="0"/>
              </a:spcBef>
              <a:spcAft>
                <a:spcPts val="0"/>
              </a:spcAft>
            </a:pPr>
            <a:r>
              <a:rPr lang="de-DE" sz="1700" dirty="0">
                <a:solidFill>
                  <a:srgbClr val="14636E"/>
                </a:solidFill>
                <a:latin typeface="Consolas"/>
              </a:rPr>
              <a:t>From </a:t>
            </a:r>
            <a:r>
              <a:rPr lang="de-DE" sz="1700" dirty="0" err="1">
                <a:solidFill>
                  <a:srgbClr val="14636E"/>
                </a:solidFill>
                <a:latin typeface="Consolas"/>
              </a:rPr>
              <a:t>employee</a:t>
            </a:r>
            <a:r>
              <a:rPr lang="de-DE" sz="1700" dirty="0">
                <a:solidFill>
                  <a:srgbClr val="14636E"/>
                </a:solidFill>
                <a:latin typeface="Consolas"/>
              </a:rPr>
              <a:t> </a:t>
            </a:r>
            <a:r>
              <a:rPr lang="de-DE" sz="1700" dirty="0" err="1">
                <a:solidFill>
                  <a:srgbClr val="14636E"/>
                </a:solidFill>
                <a:latin typeface="Consolas"/>
              </a:rPr>
              <a:t>comments</a:t>
            </a:r>
            <a:r>
              <a:rPr lang="de-DE" sz="1700" dirty="0">
                <a:solidFill>
                  <a:srgbClr val="14636E"/>
                </a:solidFill>
                <a:latin typeface="Consolas"/>
              </a:rPr>
              <a:t> to </a:t>
            </a:r>
            <a:r>
              <a:rPr lang="de-DE" sz="1700" dirty="0" err="1">
                <a:solidFill>
                  <a:srgbClr val="14636E"/>
                </a:solidFill>
                <a:latin typeface="Consolas"/>
              </a:rPr>
              <a:t>actionable</a:t>
            </a:r>
            <a:r>
              <a:rPr lang="de-DE" sz="1700" dirty="0">
                <a:solidFill>
                  <a:srgbClr val="14636E"/>
                </a:solidFill>
                <a:latin typeface="Consolas"/>
              </a:rPr>
              <a:t> </a:t>
            </a:r>
            <a:r>
              <a:rPr lang="de-DE" sz="1700" dirty="0" err="1">
                <a:solidFill>
                  <a:srgbClr val="14636E"/>
                </a:solidFill>
                <a:latin typeface="Consolas"/>
              </a:rPr>
              <a:t>insights</a:t>
            </a:r>
            <a:endParaRPr sz="1700" dirty="0">
              <a:solidFill>
                <a:srgbClr val="14636E"/>
              </a:solidFill>
              <a:latin typeface="Consolas"/>
            </a:endParaRP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1874518"/>
            <a:ext cx="1225775" cy="1417321"/>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7" y="1874518"/>
            <a:ext cx="45719" cy="1417321"/>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914401" y="2011679"/>
            <a:ext cx="996216" cy="771493"/>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01</a:t>
            </a:r>
          </a:p>
          <a:p>
            <a:pPr>
              <a:lnSpc>
                <a:spcPct val="105000"/>
              </a:lnSpc>
              <a:spcBef>
                <a:spcPts val="0"/>
              </a:spcBef>
              <a:spcAft>
                <a:spcPts val="300"/>
              </a:spcAft>
            </a:pPr>
            <a:r>
              <a:rPr sz="1250" b="1" i="0" dirty="0">
                <a:solidFill>
                  <a:srgbClr val="0F1A1C"/>
                </a:solidFill>
                <a:latin typeface="Calibri"/>
              </a:rPr>
              <a:t>Survey data</a:t>
            </a:r>
          </a:p>
          <a:p>
            <a:pPr>
              <a:lnSpc>
                <a:spcPct val="115000"/>
              </a:lnSpc>
              <a:spcBef>
                <a:spcPts val="0"/>
              </a:spcBef>
              <a:spcAft>
                <a:spcPts val="0"/>
              </a:spcAft>
            </a:pPr>
            <a:r>
              <a:rPr lang="de-DE" sz="950" b="0" i="0" dirty="0">
                <a:solidFill>
                  <a:srgbClr val="5A6B6E"/>
                </a:solidFill>
                <a:latin typeface="Calibri"/>
              </a:rPr>
              <a:t>Comments and Scores</a:t>
            </a:r>
            <a:endParaRPr sz="950" b="0" i="0" dirty="0">
              <a:solidFill>
                <a:srgbClr val="5A6B6E"/>
              </a:solidFill>
              <a:latin typeface="Calibri"/>
            </a:endParaRPr>
          </a:p>
        </p:txBody>
      </p:sp>
      <p:sp>
        <p:nvSpPr>
          <p:cNvPr id="9" name="TextBox 8"/>
          <p:cNvSpPr txBox="1"/>
          <p:nvPr/>
        </p:nvSpPr>
        <p:spPr>
          <a:xfrm>
            <a:off x="1976940" y="2304287"/>
            <a:ext cx="135034" cy="240066"/>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10" name="Rectangle 9"/>
          <p:cNvSpPr/>
          <p:nvPr/>
        </p:nvSpPr>
        <p:spPr>
          <a:xfrm>
            <a:off x="2109633" y="1874518"/>
            <a:ext cx="1225775" cy="1417321"/>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Rectangle 10"/>
          <p:cNvSpPr/>
          <p:nvPr/>
        </p:nvSpPr>
        <p:spPr>
          <a:xfrm>
            <a:off x="2109632" y="1874518"/>
            <a:ext cx="45719" cy="1417321"/>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2274226" y="2011679"/>
            <a:ext cx="996216" cy="600485"/>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02</a:t>
            </a:r>
          </a:p>
          <a:p>
            <a:pPr>
              <a:lnSpc>
                <a:spcPct val="105000"/>
              </a:lnSpc>
              <a:spcBef>
                <a:spcPts val="0"/>
              </a:spcBef>
              <a:spcAft>
                <a:spcPts val="300"/>
              </a:spcAft>
            </a:pPr>
            <a:r>
              <a:rPr sz="1250" b="1" i="0" dirty="0">
                <a:solidFill>
                  <a:srgbClr val="0F1A1C"/>
                </a:solidFill>
                <a:latin typeface="Calibri"/>
              </a:rPr>
              <a:t>ED</a:t>
            </a:r>
            <a:r>
              <a:rPr lang="de-DE" sz="1250" b="1" i="0" dirty="0">
                <a:solidFill>
                  <a:srgbClr val="0F1A1C"/>
                </a:solidFill>
                <a:latin typeface="Calibri"/>
              </a:rPr>
              <a:t>A &amp; Data Quality</a:t>
            </a:r>
            <a:endParaRPr sz="1250" b="1" i="0" dirty="0">
              <a:solidFill>
                <a:srgbClr val="0F1A1C"/>
              </a:solidFill>
              <a:latin typeface="Calibri"/>
            </a:endParaRPr>
          </a:p>
        </p:txBody>
      </p:sp>
      <p:sp>
        <p:nvSpPr>
          <p:cNvPr id="13" name="TextBox 12"/>
          <p:cNvSpPr txBox="1"/>
          <p:nvPr/>
        </p:nvSpPr>
        <p:spPr>
          <a:xfrm>
            <a:off x="3347400" y="2304287"/>
            <a:ext cx="135034" cy="240066"/>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14" name="Rectangle 13"/>
          <p:cNvSpPr/>
          <p:nvPr/>
        </p:nvSpPr>
        <p:spPr>
          <a:xfrm>
            <a:off x="3480093" y="1874518"/>
            <a:ext cx="1225775" cy="1417321"/>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3480092" y="1874518"/>
            <a:ext cx="45719" cy="1417321"/>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3644686" y="2011679"/>
            <a:ext cx="996216" cy="973472"/>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03</a:t>
            </a:r>
          </a:p>
          <a:p>
            <a:pPr>
              <a:lnSpc>
                <a:spcPct val="105000"/>
              </a:lnSpc>
              <a:spcBef>
                <a:spcPts val="0"/>
              </a:spcBef>
              <a:spcAft>
                <a:spcPts val="300"/>
              </a:spcAft>
            </a:pPr>
            <a:r>
              <a:rPr lang="de-DE" sz="1250" b="1" i="0" dirty="0">
                <a:solidFill>
                  <a:srgbClr val="0F1A1C"/>
                </a:solidFill>
                <a:latin typeface="Calibri"/>
              </a:rPr>
              <a:t>Feature Engineering</a:t>
            </a:r>
            <a:endParaRPr sz="1250" b="1" i="0" dirty="0">
              <a:solidFill>
                <a:srgbClr val="0F1A1C"/>
              </a:solidFill>
              <a:latin typeface="Calibri"/>
            </a:endParaRPr>
          </a:p>
          <a:p>
            <a:pPr>
              <a:lnSpc>
                <a:spcPct val="115000"/>
              </a:lnSpc>
              <a:spcBef>
                <a:spcPts val="0"/>
              </a:spcBef>
              <a:spcAft>
                <a:spcPts val="0"/>
              </a:spcAft>
            </a:pPr>
            <a:r>
              <a:rPr lang="de-DE" sz="950" b="0" i="0" dirty="0" err="1">
                <a:solidFill>
                  <a:srgbClr val="5A6B6E"/>
                </a:solidFill>
                <a:latin typeface="Calibri"/>
              </a:rPr>
              <a:t>Recoding</a:t>
            </a:r>
            <a:r>
              <a:rPr lang="de-DE" sz="950" b="0" i="0" dirty="0">
                <a:solidFill>
                  <a:srgbClr val="5A6B6E"/>
                </a:solidFill>
                <a:latin typeface="Calibri"/>
              </a:rPr>
              <a:t>, reverse </a:t>
            </a:r>
            <a:r>
              <a:rPr lang="de-DE" sz="950" b="0" i="0" dirty="0" err="1">
                <a:solidFill>
                  <a:srgbClr val="5A6B6E"/>
                </a:solidFill>
                <a:latin typeface="Calibri"/>
              </a:rPr>
              <a:t>coding</a:t>
            </a:r>
            <a:r>
              <a:rPr lang="de-DE" sz="950" b="0" i="0" dirty="0">
                <a:solidFill>
                  <a:srgbClr val="5A6B6E"/>
                </a:solidFill>
                <a:latin typeface="Calibri"/>
              </a:rPr>
              <a:t>, </a:t>
            </a:r>
            <a:r>
              <a:rPr lang="de-DE" sz="950" b="0" i="0" dirty="0" err="1">
                <a:solidFill>
                  <a:srgbClr val="5A6B6E"/>
                </a:solidFill>
                <a:latin typeface="Calibri"/>
              </a:rPr>
              <a:t>scores</a:t>
            </a:r>
            <a:endParaRPr sz="950" b="0" i="0" dirty="0">
              <a:solidFill>
                <a:srgbClr val="5A6B6E"/>
              </a:solidFill>
              <a:latin typeface="Calibri"/>
            </a:endParaRPr>
          </a:p>
        </p:txBody>
      </p:sp>
      <p:sp>
        <p:nvSpPr>
          <p:cNvPr id="17" name="TextBox 16"/>
          <p:cNvSpPr txBox="1"/>
          <p:nvPr/>
        </p:nvSpPr>
        <p:spPr>
          <a:xfrm>
            <a:off x="4707223" y="2304287"/>
            <a:ext cx="135034" cy="240066"/>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18" name="Rectangle 17"/>
          <p:cNvSpPr/>
          <p:nvPr/>
        </p:nvSpPr>
        <p:spPr>
          <a:xfrm>
            <a:off x="4839916" y="1874518"/>
            <a:ext cx="1225775" cy="1417321"/>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4839915" y="1874518"/>
            <a:ext cx="45719" cy="1417321"/>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4961976" y="2011679"/>
            <a:ext cx="1116875" cy="1140633"/>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04</a:t>
            </a:r>
          </a:p>
          <a:p>
            <a:pPr>
              <a:lnSpc>
                <a:spcPct val="105000"/>
              </a:lnSpc>
              <a:spcBef>
                <a:spcPts val="0"/>
              </a:spcBef>
              <a:spcAft>
                <a:spcPts val="300"/>
              </a:spcAft>
            </a:pPr>
            <a:r>
              <a:rPr sz="1250" b="1" i="0" dirty="0">
                <a:solidFill>
                  <a:srgbClr val="0F1A1C"/>
                </a:solidFill>
                <a:latin typeface="Calibri"/>
              </a:rPr>
              <a:t>Sentiment</a:t>
            </a:r>
            <a:r>
              <a:rPr lang="de-DE" sz="1250" b="1" i="0" dirty="0">
                <a:solidFill>
                  <a:srgbClr val="0F1A1C"/>
                </a:solidFill>
                <a:latin typeface="Calibri"/>
              </a:rPr>
              <a:t> Analysis</a:t>
            </a:r>
            <a:endParaRPr sz="1250" b="1" i="0" dirty="0">
              <a:solidFill>
                <a:srgbClr val="0F1A1C"/>
              </a:solidFill>
              <a:latin typeface="Calibri"/>
            </a:endParaRPr>
          </a:p>
          <a:p>
            <a:pPr>
              <a:lnSpc>
                <a:spcPct val="115000"/>
              </a:lnSpc>
              <a:spcBef>
                <a:spcPts val="0"/>
              </a:spcBef>
              <a:spcAft>
                <a:spcPts val="0"/>
              </a:spcAft>
            </a:pPr>
            <a:r>
              <a:rPr sz="950" b="0" i="0" dirty="0">
                <a:solidFill>
                  <a:srgbClr val="5A6B6E"/>
                </a:solidFill>
                <a:latin typeface="Calibri"/>
              </a:rPr>
              <a:t>German Sentiment BER</a:t>
            </a:r>
            <a:r>
              <a:rPr lang="de-DE" sz="950" b="0" i="0" dirty="0">
                <a:solidFill>
                  <a:srgbClr val="5A6B6E"/>
                </a:solidFill>
                <a:latin typeface="Calibri"/>
              </a:rPr>
              <a:t>T</a:t>
            </a:r>
          </a:p>
          <a:p>
            <a:pPr>
              <a:lnSpc>
                <a:spcPct val="115000"/>
              </a:lnSpc>
              <a:spcBef>
                <a:spcPts val="0"/>
              </a:spcBef>
              <a:spcAft>
                <a:spcPts val="0"/>
              </a:spcAft>
            </a:pPr>
            <a:r>
              <a:rPr lang="de-DE" sz="950" dirty="0">
                <a:solidFill>
                  <a:srgbClr val="5A6B6E"/>
                </a:solidFill>
                <a:latin typeface="Calibri"/>
                <a:sym typeface="Wingdings" pitchFamily="2" charset="2"/>
              </a:rPr>
              <a:t> </a:t>
            </a:r>
            <a:r>
              <a:rPr lang="de-DE" sz="950" dirty="0" err="1">
                <a:solidFill>
                  <a:srgbClr val="5A6B6E"/>
                </a:solidFill>
                <a:latin typeface="Calibri"/>
                <a:sym typeface="Wingdings" pitchFamily="2" charset="2"/>
              </a:rPr>
              <a:t>Continous</a:t>
            </a:r>
            <a:r>
              <a:rPr lang="de-DE" sz="950" dirty="0">
                <a:solidFill>
                  <a:srgbClr val="5A6B6E"/>
                </a:solidFill>
                <a:latin typeface="Calibri"/>
                <a:sym typeface="Wingdings" pitchFamily="2" charset="2"/>
              </a:rPr>
              <a:t> Valence</a:t>
            </a:r>
            <a:endParaRPr sz="950" b="0" i="0" dirty="0">
              <a:solidFill>
                <a:srgbClr val="5A6B6E"/>
              </a:solidFill>
              <a:latin typeface="Calibri"/>
            </a:endParaRPr>
          </a:p>
        </p:txBody>
      </p:sp>
      <p:sp>
        <p:nvSpPr>
          <p:cNvPr id="21" name="TextBox 20"/>
          <p:cNvSpPr txBox="1"/>
          <p:nvPr/>
        </p:nvSpPr>
        <p:spPr>
          <a:xfrm>
            <a:off x="6045794" y="2304287"/>
            <a:ext cx="135034" cy="240066"/>
          </a:xfrm>
          <a:prstGeom prst="rect">
            <a:avLst/>
          </a:prstGeom>
          <a:noFill/>
        </p:spPr>
        <p:txBody>
          <a:bodyPr wrap="square" lIns="0" tIns="0" rIns="0" bIns="0">
            <a:spAutoFit/>
          </a:bodyPr>
          <a:lstStyle/>
          <a:p>
            <a:pPr algn="ctr">
              <a:lnSpc>
                <a:spcPct val="120000"/>
              </a:lnSpc>
              <a:spcBef>
                <a:spcPts val="0"/>
              </a:spcBef>
              <a:spcAft>
                <a:spcPts val="0"/>
              </a:spcAft>
            </a:pPr>
            <a:r>
              <a:rPr sz="1400" b="0" i="0" dirty="0">
                <a:solidFill>
                  <a:srgbClr val="8A9B9E"/>
                </a:solidFill>
                <a:latin typeface="Consolas"/>
              </a:rPr>
              <a:t>›</a:t>
            </a:r>
          </a:p>
        </p:txBody>
      </p:sp>
      <p:sp>
        <p:nvSpPr>
          <p:cNvPr id="22" name="Rectangle 21"/>
          <p:cNvSpPr/>
          <p:nvPr/>
        </p:nvSpPr>
        <p:spPr>
          <a:xfrm>
            <a:off x="6167854" y="1874518"/>
            <a:ext cx="1225775" cy="1417321"/>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Rectangle 22"/>
          <p:cNvSpPr/>
          <p:nvPr/>
        </p:nvSpPr>
        <p:spPr>
          <a:xfrm>
            <a:off x="6167853" y="1874518"/>
            <a:ext cx="45719" cy="1417321"/>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p:cNvSpPr txBox="1"/>
          <p:nvPr/>
        </p:nvSpPr>
        <p:spPr>
          <a:xfrm>
            <a:off x="6332447" y="2011679"/>
            <a:ext cx="996216" cy="973472"/>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05</a:t>
            </a:r>
          </a:p>
          <a:p>
            <a:pPr>
              <a:lnSpc>
                <a:spcPct val="105000"/>
              </a:lnSpc>
              <a:spcBef>
                <a:spcPts val="0"/>
              </a:spcBef>
              <a:spcAft>
                <a:spcPts val="300"/>
              </a:spcAft>
            </a:pPr>
            <a:r>
              <a:rPr lang="de-DE" sz="1250" b="1" i="0" dirty="0">
                <a:solidFill>
                  <a:srgbClr val="0F1A1C"/>
                </a:solidFill>
                <a:latin typeface="Calibri"/>
              </a:rPr>
              <a:t>Topic Modeling</a:t>
            </a:r>
            <a:endParaRPr sz="1250" b="1" i="0" dirty="0">
              <a:solidFill>
                <a:srgbClr val="0F1A1C"/>
              </a:solidFill>
              <a:latin typeface="Calibri"/>
            </a:endParaRPr>
          </a:p>
          <a:p>
            <a:pPr>
              <a:lnSpc>
                <a:spcPct val="115000"/>
              </a:lnSpc>
              <a:spcBef>
                <a:spcPts val="0"/>
              </a:spcBef>
              <a:spcAft>
                <a:spcPts val="0"/>
              </a:spcAft>
            </a:pPr>
            <a:r>
              <a:rPr lang="de-DE" sz="950" dirty="0" err="1">
                <a:solidFill>
                  <a:srgbClr val="5A6B6E"/>
                </a:solidFill>
                <a:latin typeface="Calibri"/>
              </a:rPr>
              <a:t>BERTopic</a:t>
            </a:r>
            <a:endParaRPr lang="de-DE" sz="950" dirty="0">
              <a:solidFill>
                <a:srgbClr val="5A6B6E"/>
              </a:solidFill>
              <a:latin typeface="Calibri"/>
            </a:endParaRPr>
          </a:p>
          <a:p>
            <a:pPr>
              <a:lnSpc>
                <a:spcPct val="115000"/>
              </a:lnSpc>
              <a:spcBef>
                <a:spcPts val="0"/>
              </a:spcBef>
              <a:spcAft>
                <a:spcPts val="0"/>
              </a:spcAft>
            </a:pPr>
            <a:r>
              <a:rPr lang="de-DE" sz="950" b="0" i="0" dirty="0">
                <a:solidFill>
                  <a:srgbClr val="5A6B6E"/>
                </a:solidFill>
                <a:latin typeface="Calibri"/>
                <a:sym typeface="Wingdings" pitchFamily="2" charset="2"/>
              </a:rPr>
              <a:t> Topics &amp; Trends</a:t>
            </a:r>
            <a:endParaRPr sz="950" b="0" i="0" dirty="0">
              <a:solidFill>
                <a:srgbClr val="5A6B6E"/>
              </a:solidFill>
              <a:latin typeface="Calibri"/>
            </a:endParaRPr>
          </a:p>
        </p:txBody>
      </p:sp>
      <p:sp>
        <p:nvSpPr>
          <p:cNvPr id="25" name="TextBox 24"/>
          <p:cNvSpPr txBox="1"/>
          <p:nvPr/>
        </p:nvSpPr>
        <p:spPr>
          <a:xfrm>
            <a:off x="7394988" y="2304287"/>
            <a:ext cx="135034" cy="240066"/>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26" name="Rectangle 25"/>
          <p:cNvSpPr/>
          <p:nvPr/>
        </p:nvSpPr>
        <p:spPr>
          <a:xfrm>
            <a:off x="7527681" y="1874518"/>
            <a:ext cx="1225775" cy="1417321"/>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7" name="Rectangle 26"/>
          <p:cNvSpPr/>
          <p:nvPr/>
        </p:nvSpPr>
        <p:spPr>
          <a:xfrm>
            <a:off x="7527680" y="1874518"/>
            <a:ext cx="45719" cy="1417321"/>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TextBox 27"/>
          <p:cNvSpPr txBox="1"/>
          <p:nvPr/>
        </p:nvSpPr>
        <p:spPr>
          <a:xfrm>
            <a:off x="7692274" y="2011679"/>
            <a:ext cx="996216" cy="805349"/>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06</a:t>
            </a:r>
          </a:p>
          <a:p>
            <a:pPr>
              <a:lnSpc>
                <a:spcPct val="105000"/>
              </a:lnSpc>
              <a:spcBef>
                <a:spcPts val="0"/>
              </a:spcBef>
              <a:spcAft>
                <a:spcPts val="300"/>
              </a:spcAft>
            </a:pPr>
            <a:r>
              <a:rPr lang="de-DE" sz="1250" b="1" i="0" dirty="0">
                <a:solidFill>
                  <a:srgbClr val="0F1A1C"/>
                </a:solidFill>
                <a:latin typeface="Calibri"/>
              </a:rPr>
              <a:t>Emotion Mapping</a:t>
            </a:r>
            <a:endParaRPr sz="1250" b="1" i="0" dirty="0">
              <a:solidFill>
                <a:srgbClr val="0F1A1C"/>
              </a:solidFill>
              <a:latin typeface="Calibri"/>
            </a:endParaRPr>
          </a:p>
          <a:p>
            <a:pPr>
              <a:lnSpc>
                <a:spcPct val="115000"/>
              </a:lnSpc>
              <a:spcBef>
                <a:spcPts val="0"/>
              </a:spcBef>
              <a:spcAft>
                <a:spcPts val="0"/>
              </a:spcAft>
            </a:pPr>
            <a:r>
              <a:rPr lang="de-DE" sz="950" dirty="0">
                <a:solidFill>
                  <a:srgbClr val="5A6B6E"/>
                </a:solidFill>
                <a:latin typeface="Calibri"/>
              </a:rPr>
              <a:t>Va</a:t>
            </a:r>
            <a:r>
              <a:rPr lang="de-DE" sz="950" b="0" i="0" dirty="0">
                <a:solidFill>
                  <a:srgbClr val="5A6B6E"/>
                </a:solidFill>
                <a:latin typeface="Calibri"/>
              </a:rPr>
              <a:t>lence &amp; Arousal</a:t>
            </a:r>
            <a:endParaRPr sz="950" b="0" i="0" dirty="0">
              <a:solidFill>
                <a:srgbClr val="5A6B6E"/>
              </a:solidFill>
              <a:latin typeface="Calibri"/>
            </a:endParaRPr>
          </a:p>
        </p:txBody>
      </p:sp>
      <p:sp>
        <p:nvSpPr>
          <p:cNvPr id="29" name="Rectangle 28"/>
          <p:cNvSpPr/>
          <p:nvPr/>
        </p:nvSpPr>
        <p:spPr>
          <a:xfrm>
            <a:off x="749808" y="3461963"/>
            <a:ext cx="5163159" cy="20574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Rectangle 29"/>
          <p:cNvSpPr/>
          <p:nvPr/>
        </p:nvSpPr>
        <p:spPr>
          <a:xfrm>
            <a:off x="749808" y="3461963"/>
            <a:ext cx="32004" cy="20574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1" name="TextBox 30"/>
          <p:cNvSpPr txBox="1"/>
          <p:nvPr/>
        </p:nvSpPr>
        <p:spPr>
          <a:xfrm>
            <a:off x="1005840" y="3663131"/>
            <a:ext cx="4687671" cy="165506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DESIGN DECISIONS</a:t>
            </a:r>
          </a:p>
          <a:p>
            <a:pPr>
              <a:lnSpc>
                <a:spcPct val="118000"/>
              </a:lnSpc>
              <a:spcAft>
                <a:spcPts val="400"/>
              </a:spcAft>
            </a:pPr>
            <a:r>
              <a:rPr sz="1150">
                <a:solidFill>
                  <a:srgbClr val="14636E"/>
                </a:solidFill>
                <a:latin typeface="Calibri"/>
              </a:rPr>
              <a:t>▪  </a:t>
            </a:r>
            <a:r>
              <a:rPr sz="1150" b="1">
                <a:solidFill>
                  <a:srgbClr val="0F1A1C"/>
                </a:solidFill>
                <a:latin typeface="Calibri"/>
              </a:rPr>
              <a:t>Two independent layers.  </a:t>
            </a:r>
            <a:r>
              <a:rPr sz="1150">
                <a:solidFill>
                  <a:srgbClr val="0F1A1C"/>
                </a:solidFill>
                <a:latin typeface="Calibri"/>
              </a:rPr>
              <a:t>Emotion and topic are modelled separately, then joined per comment — each layer stays interpretable on its own.</a:t>
            </a:r>
          </a:p>
          <a:p>
            <a:pPr>
              <a:lnSpc>
                <a:spcPct val="118000"/>
              </a:lnSpc>
              <a:spcAft>
                <a:spcPts val="400"/>
              </a:spcAft>
            </a:pPr>
            <a:r>
              <a:rPr sz="1150">
                <a:solidFill>
                  <a:srgbClr val="14636E"/>
                </a:solidFill>
                <a:latin typeface="Calibri"/>
              </a:rPr>
              <a:t>▪  </a:t>
            </a:r>
            <a:r>
              <a:rPr sz="1150" b="1">
                <a:solidFill>
                  <a:srgbClr val="0F1A1C"/>
                </a:solidFill>
                <a:latin typeface="Calibri"/>
              </a:rPr>
              <a:t>German-specific models.  </a:t>
            </a:r>
            <a:r>
              <a:rPr sz="1150">
                <a:solidFill>
                  <a:srgbClr val="0F1A1C"/>
                </a:solidFill>
                <a:latin typeface="Calibri"/>
              </a:rPr>
              <a:t>The comments are German; multilingual defaults lose nuance.</a:t>
            </a:r>
          </a:p>
          <a:p>
            <a:pPr>
              <a:lnSpc>
                <a:spcPct val="118000"/>
              </a:lnSpc>
              <a:spcAft>
                <a:spcPts val="0"/>
              </a:spcAft>
            </a:pPr>
            <a:r>
              <a:rPr sz="1150">
                <a:solidFill>
                  <a:srgbClr val="14636E"/>
                </a:solidFill>
                <a:latin typeface="Calibri"/>
              </a:rPr>
              <a:t>▪  </a:t>
            </a:r>
            <a:r>
              <a:rPr sz="1150" b="1">
                <a:solidFill>
                  <a:srgbClr val="0F1A1C"/>
                </a:solidFill>
                <a:latin typeface="Calibri"/>
              </a:rPr>
              <a:t>One analytical table.  </a:t>
            </a:r>
            <a:r>
              <a:rPr sz="1150">
                <a:solidFill>
                  <a:srgbClr val="0F1A1C"/>
                </a:solidFill>
                <a:latin typeface="Calibri"/>
              </a:rPr>
              <a:t>The pipeline ends in a flat, dashboard-ready dataset, not in a notebook.</a:t>
            </a:r>
          </a:p>
        </p:txBody>
      </p:sp>
      <p:sp>
        <p:nvSpPr>
          <p:cNvPr id="32" name="Rectangle 31"/>
          <p:cNvSpPr/>
          <p:nvPr/>
        </p:nvSpPr>
        <p:spPr>
          <a:xfrm>
            <a:off x="6278727" y="3461963"/>
            <a:ext cx="5163159" cy="20574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Rectangle 32"/>
          <p:cNvSpPr/>
          <p:nvPr/>
        </p:nvSpPr>
        <p:spPr>
          <a:xfrm>
            <a:off x="6278727" y="3461963"/>
            <a:ext cx="32004" cy="20574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4" name="TextBox 33"/>
          <p:cNvSpPr txBox="1"/>
          <p:nvPr/>
        </p:nvSpPr>
        <p:spPr>
          <a:xfrm>
            <a:off x="6534759" y="3663131"/>
            <a:ext cx="4687671" cy="1294650"/>
          </a:xfrm>
          <a:prstGeom prst="rect">
            <a:avLst/>
          </a:prstGeom>
          <a:noFill/>
        </p:spPr>
        <p:txBody>
          <a:bodyPr wrap="square" lIns="0" tIns="0" rIns="0" bIns="0">
            <a:spAutoFit/>
          </a:bodyPr>
          <a:lstStyle/>
          <a:p>
            <a:pPr>
              <a:lnSpc>
                <a:spcPct val="120000"/>
              </a:lnSpc>
              <a:spcBef>
                <a:spcPts val="0"/>
              </a:spcBef>
              <a:spcAft>
                <a:spcPts val="600"/>
              </a:spcAft>
            </a:pPr>
            <a:r>
              <a:rPr sz="950" b="1" i="0" dirty="0">
                <a:solidFill>
                  <a:srgbClr val="14636E"/>
                </a:solidFill>
                <a:latin typeface="Consolas"/>
              </a:rPr>
              <a:t>IN EVALUATION — CACHING</a:t>
            </a:r>
          </a:p>
          <a:p>
            <a:pPr>
              <a:lnSpc>
                <a:spcPct val="130000"/>
              </a:lnSpc>
              <a:spcBef>
                <a:spcPts val="0"/>
              </a:spcBef>
              <a:spcAft>
                <a:spcPts val="600"/>
              </a:spcAft>
            </a:pPr>
            <a:r>
              <a:rPr sz="1150" b="0" i="0" dirty="0">
                <a:solidFill>
                  <a:srgbClr val="0F1A1C"/>
                </a:solidFill>
                <a:latin typeface="Calibri"/>
              </a:rPr>
              <a:t>Embeddings, sentiment inference and </a:t>
            </a:r>
            <a:r>
              <a:rPr sz="1150" b="0" i="0" dirty="0" err="1">
                <a:solidFill>
                  <a:srgbClr val="0F1A1C"/>
                </a:solidFill>
                <a:latin typeface="Calibri"/>
              </a:rPr>
              <a:t>BERTopic</a:t>
            </a:r>
            <a:r>
              <a:rPr sz="1150" b="0" i="0" dirty="0">
                <a:solidFill>
                  <a:srgbClr val="0F1A1C"/>
                </a:solidFill>
                <a:latin typeface="Calibri"/>
              </a:rPr>
              <a:t> fits are the expensive steps.</a:t>
            </a:r>
            <a:endParaRPr lang="de-DE" sz="1150" b="0" i="0" dirty="0">
              <a:solidFill>
                <a:srgbClr val="0F1A1C"/>
              </a:solidFill>
              <a:latin typeface="Calibri"/>
            </a:endParaRPr>
          </a:p>
          <a:p>
            <a:pPr>
              <a:lnSpc>
                <a:spcPct val="130000"/>
              </a:lnSpc>
              <a:spcBef>
                <a:spcPts val="0"/>
              </a:spcBef>
              <a:spcAft>
                <a:spcPts val="600"/>
              </a:spcAft>
            </a:pPr>
            <a:r>
              <a:rPr sz="1150" b="0" i="0" dirty="0">
                <a:solidFill>
                  <a:srgbClr val="0F1A1C"/>
                </a:solidFill>
                <a:latin typeface="Calibri"/>
              </a:rPr>
              <a:t>I am currently evaluating persisting intermediate results as Parquet files so they are not recomputed on every run.</a:t>
            </a:r>
          </a:p>
          <a:p>
            <a:pPr>
              <a:lnSpc>
                <a:spcPct val="120000"/>
              </a:lnSpc>
              <a:spcBef>
                <a:spcPts val="0"/>
              </a:spcBef>
              <a:spcAft>
                <a:spcPts val="0"/>
              </a:spcAft>
            </a:pPr>
            <a:r>
              <a:rPr sz="1150" b="0" i="1" dirty="0">
                <a:solidFill>
                  <a:srgbClr val="5A6B6E"/>
                </a:solidFill>
                <a:latin typeface="Calibri"/>
              </a:rPr>
              <a:t>Evaluated, not yet implemented — details in the appendix.</a:t>
            </a:r>
          </a:p>
        </p:txBody>
      </p:sp>
      <p:sp>
        <p:nvSpPr>
          <p:cNvPr id="35" name="TextBox 34"/>
          <p:cNvSpPr txBox="1"/>
          <p:nvPr/>
        </p:nvSpPr>
        <p:spPr>
          <a:xfrm>
            <a:off x="749808" y="5702243"/>
            <a:ext cx="10692079" cy="365760"/>
          </a:xfrm>
          <a:prstGeom prst="rect">
            <a:avLst/>
          </a:prstGeom>
          <a:noFill/>
        </p:spPr>
        <p:txBody>
          <a:bodyPr wrap="square" lIns="0" tIns="0" rIns="0" bIns="0">
            <a:spAutoFit/>
          </a:bodyPr>
          <a:lstStyle/>
          <a:p>
            <a:pPr>
              <a:lnSpc>
                <a:spcPct val="125000"/>
              </a:lnSpc>
              <a:spcBef>
                <a:spcPts val="0"/>
              </a:spcBef>
              <a:spcAft>
                <a:spcPts val="0"/>
              </a:spcAft>
            </a:pPr>
            <a:r>
              <a:rPr sz="1150" b="0" i="1" dirty="0">
                <a:solidFill>
                  <a:srgbClr val="5A6B6E"/>
                </a:solidFill>
                <a:latin typeface="Calibri"/>
              </a:rPr>
              <a:t>One full pass over 5,000 comments takes about five minutes for the sentiment and topic layers together — the cost sits in tuning, not in production.</a:t>
            </a:r>
          </a:p>
        </p:txBody>
      </p:sp>
      <p:sp>
        <p:nvSpPr>
          <p:cNvPr id="36" name="TextBox 35"/>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5 / 21</a:t>
            </a:r>
          </a:p>
        </p:txBody>
      </p:sp>
      <p:sp>
        <p:nvSpPr>
          <p:cNvPr id="39" name="TextBox 20">
            <a:extLst>
              <a:ext uri="{FF2B5EF4-FFF2-40B4-BE49-F238E27FC236}">
                <a16:creationId xmlns:a16="http://schemas.microsoft.com/office/drawing/2014/main" id="{30AC8537-2996-7071-DE97-6528147F7514}"/>
              </a:ext>
            </a:extLst>
          </p:cNvPr>
          <p:cNvSpPr txBox="1"/>
          <p:nvPr/>
        </p:nvSpPr>
        <p:spPr>
          <a:xfrm>
            <a:off x="8758541" y="2339965"/>
            <a:ext cx="135034" cy="240066"/>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40" name="Rectangle 21">
            <a:extLst>
              <a:ext uri="{FF2B5EF4-FFF2-40B4-BE49-F238E27FC236}">
                <a16:creationId xmlns:a16="http://schemas.microsoft.com/office/drawing/2014/main" id="{1AD7DE31-4913-B615-8C5A-42460A518780}"/>
              </a:ext>
            </a:extLst>
          </p:cNvPr>
          <p:cNvSpPr/>
          <p:nvPr/>
        </p:nvSpPr>
        <p:spPr>
          <a:xfrm>
            <a:off x="8880601" y="1910196"/>
            <a:ext cx="1225775" cy="1417321"/>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23">
            <a:extLst>
              <a:ext uri="{FF2B5EF4-FFF2-40B4-BE49-F238E27FC236}">
                <a16:creationId xmlns:a16="http://schemas.microsoft.com/office/drawing/2014/main" id="{3B743874-C755-9EB4-AE85-934B79D37B5F}"/>
              </a:ext>
            </a:extLst>
          </p:cNvPr>
          <p:cNvSpPr txBox="1"/>
          <p:nvPr/>
        </p:nvSpPr>
        <p:spPr>
          <a:xfrm>
            <a:off x="9045194" y="2047357"/>
            <a:ext cx="996216" cy="939616"/>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a:t>
            </a:r>
            <a:r>
              <a:rPr lang="de-DE" sz="900" b="0" i="0" dirty="0">
                <a:solidFill>
                  <a:srgbClr val="8A9B9E"/>
                </a:solidFill>
                <a:latin typeface="Consolas"/>
              </a:rPr>
              <a:t>7</a:t>
            </a:r>
            <a:endParaRPr sz="900" b="0" i="0" dirty="0">
              <a:solidFill>
                <a:srgbClr val="8A9B9E"/>
              </a:solidFill>
              <a:latin typeface="Consolas"/>
            </a:endParaRPr>
          </a:p>
          <a:p>
            <a:pPr>
              <a:lnSpc>
                <a:spcPct val="105000"/>
              </a:lnSpc>
              <a:spcBef>
                <a:spcPts val="0"/>
              </a:spcBef>
              <a:spcAft>
                <a:spcPts val="300"/>
              </a:spcAft>
            </a:pPr>
            <a:r>
              <a:rPr lang="de-DE" sz="1250" b="1" i="0" dirty="0">
                <a:solidFill>
                  <a:srgbClr val="0F1A1C"/>
                </a:solidFill>
                <a:latin typeface="Calibri"/>
              </a:rPr>
              <a:t>Analytics Layer</a:t>
            </a:r>
            <a:endParaRPr sz="1250" b="1" i="0" dirty="0">
              <a:solidFill>
                <a:srgbClr val="0F1A1C"/>
              </a:solidFill>
              <a:latin typeface="Calibri"/>
            </a:endParaRPr>
          </a:p>
          <a:p>
            <a:pPr>
              <a:lnSpc>
                <a:spcPct val="115000"/>
              </a:lnSpc>
              <a:spcBef>
                <a:spcPts val="0"/>
              </a:spcBef>
              <a:spcAft>
                <a:spcPts val="0"/>
              </a:spcAft>
            </a:pPr>
            <a:r>
              <a:rPr lang="de-DE" sz="950" b="0" i="0" dirty="0" err="1">
                <a:solidFill>
                  <a:srgbClr val="5A6B6E"/>
                </a:solidFill>
                <a:latin typeface="Calibri"/>
              </a:rPr>
              <a:t>Prediction</a:t>
            </a:r>
            <a:r>
              <a:rPr lang="de-DE" sz="950" b="0" i="0" dirty="0">
                <a:solidFill>
                  <a:srgbClr val="5A6B6E"/>
                </a:solidFill>
                <a:latin typeface="Calibri"/>
              </a:rPr>
              <a:t> Models, Relationships &amp; </a:t>
            </a:r>
            <a:r>
              <a:rPr lang="de-DE" sz="950" b="0" i="0" dirty="0" err="1">
                <a:solidFill>
                  <a:srgbClr val="5A6B6E"/>
                </a:solidFill>
                <a:latin typeface="Calibri"/>
              </a:rPr>
              <a:t>Correlations</a:t>
            </a:r>
            <a:endParaRPr sz="950" b="0" i="0" dirty="0">
              <a:solidFill>
                <a:srgbClr val="5A6B6E"/>
              </a:solidFill>
              <a:latin typeface="Calibri"/>
            </a:endParaRPr>
          </a:p>
        </p:txBody>
      </p:sp>
      <p:sp>
        <p:nvSpPr>
          <p:cNvPr id="42" name="TextBox 24">
            <a:extLst>
              <a:ext uri="{FF2B5EF4-FFF2-40B4-BE49-F238E27FC236}">
                <a16:creationId xmlns:a16="http://schemas.microsoft.com/office/drawing/2014/main" id="{18AC7635-5958-72F5-1D0B-1EC445A8CD50}"/>
              </a:ext>
            </a:extLst>
          </p:cNvPr>
          <p:cNvSpPr txBox="1"/>
          <p:nvPr/>
        </p:nvSpPr>
        <p:spPr>
          <a:xfrm>
            <a:off x="10097103" y="2339965"/>
            <a:ext cx="135034" cy="240066"/>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43" name="Rectangle 25">
            <a:extLst>
              <a:ext uri="{FF2B5EF4-FFF2-40B4-BE49-F238E27FC236}">
                <a16:creationId xmlns:a16="http://schemas.microsoft.com/office/drawing/2014/main" id="{B936BCC5-B2E6-9F6F-4B20-2FD621CAC411}"/>
              </a:ext>
            </a:extLst>
          </p:cNvPr>
          <p:cNvSpPr/>
          <p:nvPr/>
        </p:nvSpPr>
        <p:spPr>
          <a:xfrm>
            <a:off x="10219163" y="1910196"/>
            <a:ext cx="1225775" cy="1417321"/>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Rectangle 26">
            <a:extLst>
              <a:ext uri="{FF2B5EF4-FFF2-40B4-BE49-F238E27FC236}">
                <a16:creationId xmlns:a16="http://schemas.microsoft.com/office/drawing/2014/main" id="{CE6FE4A4-2D91-89B6-1133-7442E94B2730}"/>
              </a:ext>
            </a:extLst>
          </p:cNvPr>
          <p:cNvSpPr/>
          <p:nvPr/>
        </p:nvSpPr>
        <p:spPr>
          <a:xfrm>
            <a:off x="10219162" y="1910196"/>
            <a:ext cx="45719" cy="1417321"/>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5" name="TextBox 27">
            <a:extLst>
              <a:ext uri="{FF2B5EF4-FFF2-40B4-BE49-F238E27FC236}">
                <a16:creationId xmlns:a16="http://schemas.microsoft.com/office/drawing/2014/main" id="{6A7FC801-C81B-5E16-E981-7B538478E12D}"/>
              </a:ext>
            </a:extLst>
          </p:cNvPr>
          <p:cNvSpPr txBox="1"/>
          <p:nvPr/>
        </p:nvSpPr>
        <p:spPr>
          <a:xfrm>
            <a:off x="10383756" y="2047357"/>
            <a:ext cx="996216" cy="600485"/>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a:t>
            </a:r>
            <a:r>
              <a:rPr lang="de-DE" sz="900" b="0" i="0" dirty="0">
                <a:solidFill>
                  <a:srgbClr val="8A9B9E"/>
                </a:solidFill>
                <a:latin typeface="Consolas"/>
              </a:rPr>
              <a:t>8</a:t>
            </a:r>
            <a:endParaRPr sz="900" b="0" i="0" dirty="0">
              <a:solidFill>
                <a:srgbClr val="8A9B9E"/>
              </a:solidFill>
              <a:latin typeface="Consolas"/>
            </a:endParaRPr>
          </a:p>
          <a:p>
            <a:pPr>
              <a:lnSpc>
                <a:spcPct val="105000"/>
              </a:lnSpc>
              <a:spcBef>
                <a:spcPts val="0"/>
              </a:spcBef>
              <a:spcAft>
                <a:spcPts val="300"/>
              </a:spcAft>
            </a:pPr>
            <a:r>
              <a:rPr lang="de-DE" sz="1250" b="1" i="0" dirty="0">
                <a:solidFill>
                  <a:srgbClr val="0F1A1C"/>
                </a:solidFill>
                <a:latin typeface="Calibri"/>
              </a:rPr>
              <a:t>Power BI </a:t>
            </a:r>
            <a:r>
              <a:rPr sz="1250" b="1" i="0" dirty="0" err="1">
                <a:solidFill>
                  <a:srgbClr val="0F1A1C"/>
                </a:solidFill>
                <a:latin typeface="Calibri"/>
              </a:rPr>
              <a:t>Dashboar</a:t>
            </a:r>
            <a:r>
              <a:rPr lang="de-DE" sz="1250" b="1" i="0" dirty="0">
                <a:solidFill>
                  <a:srgbClr val="0F1A1C"/>
                </a:solidFill>
                <a:latin typeface="Calibri"/>
              </a:rPr>
              <a:t>d</a:t>
            </a:r>
            <a:endParaRPr sz="1250" b="1" i="0" dirty="0">
              <a:solidFill>
                <a:srgbClr val="0F1A1C"/>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METRICS</a:t>
            </a:r>
            <a:r>
              <a:rPr sz="1000">
                <a:solidFill>
                  <a:srgbClr val="8A9B9E"/>
                </a:solidFill>
                <a:latin typeface="Consolas"/>
              </a:rPr>
              <a:t>   ·   HOW SUCCESS IS MEASURED</a:t>
            </a:r>
          </a:p>
        </p:txBody>
      </p:sp>
      <p:sp>
        <p:nvSpPr>
          <p:cNvPr id="4" name="TextBox 3"/>
          <p:cNvSpPr txBox="1"/>
          <p:nvPr/>
        </p:nvSpPr>
        <p:spPr>
          <a:xfrm>
            <a:off x="749808" y="786384"/>
            <a:ext cx="9195188" cy="923330"/>
          </a:xfrm>
          <a:prstGeom prst="rect">
            <a:avLst/>
          </a:prstGeom>
          <a:noFill/>
        </p:spPr>
        <p:txBody>
          <a:bodyPr wrap="square" lIns="0" tIns="0" rIns="0" bIns="0">
            <a:spAutoFit/>
          </a:bodyPr>
          <a:lstStyle/>
          <a:p>
            <a:pPr>
              <a:lnSpc>
                <a:spcPct val="100000"/>
              </a:lnSpc>
              <a:spcBef>
                <a:spcPts val="0"/>
              </a:spcBef>
              <a:spcAft>
                <a:spcPts val="0"/>
              </a:spcAft>
            </a:pPr>
            <a:r>
              <a:rPr lang="de-DE" sz="3000" b="0" i="0" dirty="0">
                <a:solidFill>
                  <a:srgbClr val="0F1A1C"/>
                </a:solidFill>
                <a:latin typeface="Georgia"/>
              </a:rPr>
              <a:t>Model Evaluation &amp; Validation</a:t>
            </a:r>
            <a:br>
              <a:rPr lang="de-DE" sz="3000" b="0" i="0" dirty="0">
                <a:solidFill>
                  <a:srgbClr val="0F1A1C"/>
                </a:solidFill>
                <a:latin typeface="Georgia"/>
              </a:rPr>
            </a:br>
            <a:r>
              <a:rPr lang="de-DE" sz="3000" b="0" i="0" dirty="0">
                <a:solidFill>
                  <a:srgbClr val="0F1A1C"/>
                </a:solidFill>
                <a:latin typeface="Georgia"/>
              </a:rPr>
              <a:t>How </a:t>
            </a:r>
            <a:r>
              <a:rPr lang="de-DE" sz="3000" b="0" i="0" dirty="0" err="1">
                <a:solidFill>
                  <a:srgbClr val="0F1A1C"/>
                </a:solidFill>
                <a:latin typeface="Georgia"/>
              </a:rPr>
              <a:t>model</a:t>
            </a:r>
            <a:r>
              <a:rPr lang="de-DE" sz="3000" b="0" i="0" dirty="0">
                <a:solidFill>
                  <a:srgbClr val="0F1A1C"/>
                </a:solidFill>
                <a:latin typeface="Georgia"/>
              </a:rPr>
              <a:t> </a:t>
            </a:r>
            <a:r>
              <a:rPr lang="de-DE" sz="3000" b="0" i="0" dirty="0" err="1">
                <a:solidFill>
                  <a:srgbClr val="0F1A1C"/>
                </a:solidFill>
                <a:latin typeface="Georgia"/>
              </a:rPr>
              <a:t>quality</a:t>
            </a:r>
            <a:r>
              <a:rPr lang="de-DE" sz="3000" b="0" i="0" dirty="0">
                <a:solidFill>
                  <a:srgbClr val="0F1A1C"/>
                </a:solidFill>
                <a:latin typeface="Georgia"/>
              </a:rPr>
              <a:t> </a:t>
            </a:r>
            <a:r>
              <a:rPr lang="de-DE" sz="3000" b="0" i="0" dirty="0" err="1">
                <a:solidFill>
                  <a:srgbClr val="0F1A1C"/>
                </a:solidFill>
                <a:latin typeface="Georgia"/>
              </a:rPr>
              <a:t>is</a:t>
            </a:r>
            <a:r>
              <a:rPr lang="de-DE" sz="3000" b="0" i="0" dirty="0">
                <a:solidFill>
                  <a:srgbClr val="0F1A1C"/>
                </a:solidFill>
                <a:latin typeface="Georgia"/>
              </a:rPr>
              <a:t> </a:t>
            </a:r>
            <a:r>
              <a:rPr lang="de-DE" sz="3000" b="0" i="0" dirty="0" err="1">
                <a:solidFill>
                  <a:srgbClr val="0F1A1C"/>
                </a:solidFill>
                <a:latin typeface="Georgia"/>
              </a:rPr>
              <a:t>assessed</a:t>
            </a:r>
            <a:endParaRPr sz="3000" b="0" i="0" dirty="0">
              <a:solidFill>
                <a:srgbClr val="0F1A1C"/>
              </a:solidFill>
              <a:latin typeface="Georgia"/>
            </a:endParaRP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TextBox 5"/>
          <p:cNvSpPr txBox="1"/>
          <p:nvPr/>
        </p:nvSpPr>
        <p:spPr>
          <a:xfrm>
            <a:off x="749808" y="1755648"/>
            <a:ext cx="9258300" cy="291490"/>
          </a:xfrm>
          <a:prstGeom prst="rect">
            <a:avLst/>
          </a:prstGeom>
          <a:noFill/>
        </p:spPr>
        <p:txBody>
          <a:bodyPr wrap="square" lIns="0" tIns="0" rIns="0" bIns="0">
            <a:spAutoFit/>
          </a:bodyPr>
          <a:lstStyle/>
          <a:p>
            <a:pPr>
              <a:lnSpc>
                <a:spcPct val="120000"/>
              </a:lnSpc>
              <a:spcBef>
                <a:spcPts val="0"/>
              </a:spcBef>
              <a:spcAft>
                <a:spcPts val="0"/>
              </a:spcAft>
            </a:pPr>
            <a:r>
              <a:rPr lang="de-DE" sz="1700" dirty="0">
                <a:solidFill>
                  <a:srgbClr val="14636E"/>
                </a:solidFill>
                <a:latin typeface="Consolas"/>
              </a:rPr>
              <a:t>Measures </a:t>
            </a:r>
            <a:r>
              <a:rPr lang="de-DE" sz="1700" dirty="0" err="1">
                <a:solidFill>
                  <a:srgbClr val="14636E"/>
                </a:solidFill>
                <a:latin typeface="Consolas"/>
              </a:rPr>
              <a:t>how</a:t>
            </a:r>
            <a:r>
              <a:rPr lang="de-DE" sz="1700" dirty="0">
                <a:solidFill>
                  <a:srgbClr val="14636E"/>
                </a:solidFill>
                <a:latin typeface="Consolas"/>
              </a:rPr>
              <a:t> </a:t>
            </a:r>
            <a:r>
              <a:rPr lang="de-DE" sz="1700" dirty="0" err="1">
                <a:solidFill>
                  <a:srgbClr val="14636E"/>
                </a:solidFill>
                <a:latin typeface="Consolas"/>
              </a:rPr>
              <a:t>well</a:t>
            </a:r>
            <a:r>
              <a:rPr lang="de-DE" sz="1700" dirty="0">
                <a:solidFill>
                  <a:srgbClr val="14636E"/>
                </a:solidFill>
                <a:latin typeface="Consolas"/>
              </a:rPr>
              <a:t> the </a:t>
            </a:r>
            <a:r>
              <a:rPr lang="de-DE" sz="1700" dirty="0" err="1">
                <a:solidFill>
                  <a:srgbClr val="14636E"/>
                </a:solidFill>
                <a:latin typeface="Consolas"/>
              </a:rPr>
              <a:t>terms</a:t>
            </a:r>
            <a:r>
              <a:rPr lang="de-DE" sz="1700" dirty="0">
                <a:solidFill>
                  <a:srgbClr val="14636E"/>
                </a:solidFill>
                <a:latin typeface="Consolas"/>
              </a:rPr>
              <a:t> </a:t>
            </a:r>
            <a:r>
              <a:rPr lang="de-DE" sz="1700" dirty="0" err="1">
                <a:solidFill>
                  <a:srgbClr val="14636E"/>
                </a:solidFill>
                <a:latin typeface="Consolas"/>
              </a:rPr>
              <a:t>inside</a:t>
            </a:r>
            <a:r>
              <a:rPr lang="de-DE" sz="1700" dirty="0">
                <a:solidFill>
                  <a:srgbClr val="14636E"/>
                </a:solidFill>
                <a:latin typeface="Consolas"/>
              </a:rPr>
              <a:t> </a:t>
            </a:r>
            <a:r>
              <a:rPr lang="de-DE" sz="1700" dirty="0" err="1">
                <a:solidFill>
                  <a:srgbClr val="14636E"/>
                </a:solidFill>
                <a:latin typeface="Consolas"/>
              </a:rPr>
              <a:t>one</a:t>
            </a:r>
            <a:r>
              <a:rPr lang="de-DE" sz="1700" dirty="0">
                <a:solidFill>
                  <a:srgbClr val="14636E"/>
                </a:solidFill>
                <a:latin typeface="Consolas"/>
              </a:rPr>
              <a:t> </a:t>
            </a:r>
            <a:r>
              <a:rPr lang="de-DE" sz="1700" dirty="0" err="1">
                <a:solidFill>
                  <a:srgbClr val="14636E"/>
                </a:solidFill>
                <a:latin typeface="Consolas"/>
              </a:rPr>
              <a:t>topic</a:t>
            </a:r>
            <a:r>
              <a:rPr lang="de-DE" sz="1700" dirty="0">
                <a:solidFill>
                  <a:srgbClr val="14636E"/>
                </a:solidFill>
                <a:latin typeface="Consolas"/>
              </a:rPr>
              <a:t> </a:t>
            </a:r>
            <a:r>
              <a:rPr lang="de-DE" sz="1700" dirty="0" err="1">
                <a:solidFill>
                  <a:srgbClr val="14636E"/>
                </a:solidFill>
                <a:latin typeface="Consolas"/>
              </a:rPr>
              <a:t>belong</a:t>
            </a:r>
            <a:r>
              <a:rPr lang="de-DE" sz="1700" dirty="0">
                <a:solidFill>
                  <a:srgbClr val="14636E"/>
                </a:solidFill>
                <a:latin typeface="Consolas"/>
              </a:rPr>
              <a:t> </a:t>
            </a:r>
            <a:r>
              <a:rPr lang="de-DE" sz="1700" dirty="0" err="1">
                <a:solidFill>
                  <a:srgbClr val="14636E"/>
                </a:solidFill>
                <a:latin typeface="Consolas"/>
              </a:rPr>
              <a:t>together</a:t>
            </a:r>
            <a:r>
              <a:rPr lang="de-DE" sz="1700" dirty="0">
                <a:solidFill>
                  <a:srgbClr val="14636E"/>
                </a:solidFill>
                <a:latin typeface="Consolas"/>
              </a:rPr>
              <a:t> </a:t>
            </a:r>
            <a:r>
              <a:rPr lang="de-DE" sz="1700" dirty="0" err="1">
                <a:solidFill>
                  <a:srgbClr val="14636E"/>
                </a:solidFill>
                <a:latin typeface="Consolas"/>
              </a:rPr>
              <a:t>semantically</a:t>
            </a:r>
            <a:r>
              <a:rPr lang="de-DE" sz="1700" dirty="0">
                <a:solidFill>
                  <a:srgbClr val="14636E"/>
                </a:solidFill>
                <a:latin typeface="Consolas"/>
              </a:rPr>
              <a:t>.</a:t>
            </a:r>
            <a:endParaRPr sz="1700" dirty="0">
              <a:solidFill>
                <a:srgbClr val="14636E"/>
              </a:solidFill>
              <a:latin typeface="Consolas"/>
            </a:endParaRPr>
          </a:p>
        </p:txBody>
      </p:sp>
      <p:sp>
        <p:nvSpPr>
          <p:cNvPr id="22" name="TextBox 21"/>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7 / 21</a:t>
            </a:r>
          </a:p>
        </p:txBody>
      </p:sp>
      <p:sp>
        <p:nvSpPr>
          <p:cNvPr id="24" name="Rectangle 5">
            <a:extLst>
              <a:ext uri="{FF2B5EF4-FFF2-40B4-BE49-F238E27FC236}">
                <a16:creationId xmlns:a16="http://schemas.microsoft.com/office/drawing/2014/main" id="{1FABD327-92AD-DEAA-C572-C22514D0DA05}"/>
              </a:ext>
            </a:extLst>
          </p:cNvPr>
          <p:cNvSpPr/>
          <p:nvPr/>
        </p:nvSpPr>
        <p:spPr>
          <a:xfrm>
            <a:off x="749808" y="2501836"/>
            <a:ext cx="5163159" cy="27889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Rectangle 6">
            <a:extLst>
              <a:ext uri="{FF2B5EF4-FFF2-40B4-BE49-F238E27FC236}">
                <a16:creationId xmlns:a16="http://schemas.microsoft.com/office/drawing/2014/main" id="{63B6B6B0-0C78-3E24-7A5C-7E91CA1CC51A}"/>
              </a:ext>
            </a:extLst>
          </p:cNvPr>
          <p:cNvSpPr/>
          <p:nvPr/>
        </p:nvSpPr>
        <p:spPr>
          <a:xfrm>
            <a:off x="749808" y="2501836"/>
            <a:ext cx="32004" cy="278892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6" name="TextBox 7">
            <a:extLst>
              <a:ext uri="{FF2B5EF4-FFF2-40B4-BE49-F238E27FC236}">
                <a16:creationId xmlns:a16="http://schemas.microsoft.com/office/drawing/2014/main" id="{C0B01F67-81C2-9646-9F80-3527520F2A2A}"/>
              </a:ext>
            </a:extLst>
          </p:cNvPr>
          <p:cNvSpPr txBox="1"/>
          <p:nvPr/>
        </p:nvSpPr>
        <p:spPr>
          <a:xfrm>
            <a:off x="1005840" y="2703005"/>
            <a:ext cx="4687671" cy="162930"/>
          </a:xfrm>
          <a:prstGeom prst="rect">
            <a:avLst/>
          </a:prstGeom>
          <a:noFill/>
        </p:spPr>
        <p:txBody>
          <a:bodyPr wrap="square" lIns="0" tIns="0" rIns="0" bIns="0">
            <a:spAutoFit/>
          </a:bodyPr>
          <a:lstStyle/>
          <a:p>
            <a:pPr>
              <a:lnSpc>
                <a:spcPct val="120000"/>
              </a:lnSpc>
              <a:spcBef>
                <a:spcPts val="0"/>
              </a:spcBef>
              <a:spcAft>
                <a:spcPts val="600"/>
              </a:spcAft>
            </a:pPr>
            <a:r>
              <a:rPr lang="de-DE" sz="950" b="1" i="0" dirty="0">
                <a:solidFill>
                  <a:srgbClr val="14636E"/>
                </a:solidFill>
                <a:latin typeface="Consolas"/>
              </a:rPr>
              <a:t>Topic Modeling</a:t>
            </a:r>
            <a:endParaRPr sz="950" b="1" i="0" dirty="0">
              <a:solidFill>
                <a:srgbClr val="14636E"/>
              </a:solidFill>
              <a:latin typeface="Consolas"/>
            </a:endParaRPr>
          </a:p>
        </p:txBody>
      </p:sp>
      <p:sp>
        <p:nvSpPr>
          <p:cNvPr id="27" name="TextBox 9">
            <a:extLst>
              <a:ext uri="{FF2B5EF4-FFF2-40B4-BE49-F238E27FC236}">
                <a16:creationId xmlns:a16="http://schemas.microsoft.com/office/drawing/2014/main" id="{2A2A1543-489A-BA87-B0E0-C18725FA7194}"/>
              </a:ext>
            </a:extLst>
          </p:cNvPr>
          <p:cNvSpPr txBox="1"/>
          <p:nvPr/>
        </p:nvSpPr>
        <p:spPr>
          <a:xfrm>
            <a:off x="1037844" y="3157267"/>
            <a:ext cx="4651095" cy="2215991"/>
          </a:xfrm>
          <a:prstGeom prst="rect">
            <a:avLst/>
          </a:prstGeom>
          <a:noFill/>
        </p:spPr>
        <p:txBody>
          <a:bodyPr wrap="square" lIns="0" tIns="0" rIns="0" bIns="0">
            <a:spAutoFit/>
          </a:bodyPr>
          <a:lstStyle/>
          <a:p>
            <a:pPr marL="171450" indent="-171450">
              <a:buFont typeface="Arial" panose="020B0604020202020204" pitchFamily="34" charset="0"/>
              <a:buChar char="•"/>
            </a:pPr>
            <a:r>
              <a:rPr lang="de-DE" sz="1200" dirty="0"/>
              <a:t>Model: </a:t>
            </a:r>
            <a:r>
              <a:rPr lang="de-DE" sz="1200" dirty="0" err="1"/>
              <a:t>BERTopic</a:t>
            </a:r>
            <a:endParaRPr lang="de-DE" sz="1200" dirty="0"/>
          </a:p>
          <a:p>
            <a:endParaRPr lang="de-DE" sz="1200" dirty="0"/>
          </a:p>
          <a:p>
            <a:pPr marL="171450" indent="-171450">
              <a:buFont typeface="Arial" panose="020B0604020202020204" pitchFamily="34" charset="0"/>
              <a:buChar char="•"/>
            </a:pPr>
            <a:r>
              <a:rPr lang="de-DE" sz="1200" dirty="0"/>
              <a:t>Topic </a:t>
            </a:r>
            <a:r>
              <a:rPr lang="de-DE" sz="1200" dirty="0" err="1"/>
              <a:t>Coherence</a:t>
            </a:r>
            <a:r>
              <a:rPr lang="de-DE" sz="1200" dirty="0"/>
              <a:t> (</a:t>
            </a:r>
            <a:r>
              <a:rPr lang="de-DE" sz="1200" dirty="0" err="1"/>
              <a:t>C_v</a:t>
            </a:r>
            <a:r>
              <a:rPr lang="de-DE" sz="1200" dirty="0"/>
              <a:t>): 0.350</a:t>
            </a:r>
            <a:br>
              <a:rPr lang="de-DE" sz="1200" dirty="0"/>
            </a:br>
            <a:r>
              <a:rPr lang="de-DE" sz="1200" dirty="0">
                <a:solidFill>
                  <a:srgbClr val="5A6B6E"/>
                </a:solidFill>
              </a:rPr>
              <a:t>Current </a:t>
            </a:r>
            <a:r>
              <a:rPr lang="de-DE" sz="1200" dirty="0" err="1">
                <a:solidFill>
                  <a:srgbClr val="5A6B6E"/>
                </a:solidFill>
              </a:rPr>
              <a:t>best</a:t>
            </a:r>
            <a:r>
              <a:rPr lang="de-DE" sz="1200" dirty="0">
                <a:solidFill>
                  <a:srgbClr val="5A6B6E"/>
                </a:solidFill>
              </a:rPr>
              <a:t> </a:t>
            </a:r>
            <a:r>
              <a:rPr lang="de-DE" sz="1200" dirty="0" err="1">
                <a:solidFill>
                  <a:srgbClr val="5A6B6E"/>
                </a:solidFill>
              </a:rPr>
              <a:t>configuration</a:t>
            </a:r>
            <a:r>
              <a:rPr lang="de-DE" sz="1200" dirty="0">
                <a:solidFill>
                  <a:srgbClr val="5A6B6E"/>
                </a:solidFill>
              </a:rPr>
              <a:t>. Higher = </a:t>
            </a:r>
            <a:r>
              <a:rPr lang="de-DE" sz="1200" dirty="0" err="1">
                <a:solidFill>
                  <a:srgbClr val="5A6B6E"/>
                </a:solidFill>
              </a:rPr>
              <a:t>more</a:t>
            </a:r>
            <a:r>
              <a:rPr lang="de-DE" sz="1200" dirty="0">
                <a:solidFill>
                  <a:srgbClr val="5A6B6E"/>
                </a:solidFill>
              </a:rPr>
              <a:t> </a:t>
            </a:r>
            <a:r>
              <a:rPr lang="de-DE" sz="1200" dirty="0" err="1">
                <a:solidFill>
                  <a:srgbClr val="5A6B6E"/>
                </a:solidFill>
              </a:rPr>
              <a:t>consistent</a:t>
            </a:r>
            <a:r>
              <a:rPr lang="de-DE" sz="1200" dirty="0">
                <a:solidFill>
                  <a:srgbClr val="5A6B6E"/>
                </a:solidFill>
              </a:rPr>
              <a:t>, </a:t>
            </a:r>
            <a:r>
              <a:rPr lang="de-DE" sz="1200" dirty="0" err="1">
                <a:solidFill>
                  <a:srgbClr val="5A6B6E"/>
                </a:solidFill>
              </a:rPr>
              <a:t>more</a:t>
            </a:r>
            <a:r>
              <a:rPr lang="de-DE" sz="1200" dirty="0">
                <a:solidFill>
                  <a:srgbClr val="5A6B6E"/>
                </a:solidFill>
              </a:rPr>
              <a:t> </a:t>
            </a:r>
            <a:r>
              <a:rPr lang="de-DE" sz="1200" dirty="0" err="1">
                <a:solidFill>
                  <a:srgbClr val="5A6B6E"/>
                </a:solidFill>
              </a:rPr>
              <a:t>interpretable</a:t>
            </a:r>
            <a:r>
              <a:rPr lang="de-DE" sz="1200" dirty="0">
                <a:solidFill>
                  <a:srgbClr val="5A6B6E"/>
                </a:solidFill>
              </a:rPr>
              <a:t> </a:t>
            </a:r>
            <a:r>
              <a:rPr lang="de-DE" sz="1200" dirty="0" err="1">
                <a:solidFill>
                  <a:srgbClr val="5A6B6E"/>
                </a:solidFill>
              </a:rPr>
              <a:t>topics</a:t>
            </a:r>
            <a:r>
              <a:rPr lang="de-DE" sz="1200" dirty="0">
                <a:solidFill>
                  <a:srgbClr val="5A6B6E"/>
                </a:solidFill>
              </a:rPr>
              <a:t>.</a:t>
            </a:r>
            <a:br>
              <a:rPr lang="de-DE" sz="1200" dirty="0">
                <a:solidFill>
                  <a:srgbClr val="5A6B6E"/>
                </a:solidFill>
              </a:rPr>
            </a:br>
            <a:endParaRPr lang="de-DE" sz="1200" dirty="0">
              <a:solidFill>
                <a:srgbClr val="5A6B6E"/>
              </a:solidFill>
            </a:endParaRPr>
          </a:p>
          <a:p>
            <a:pPr marL="171450" indent="-171450">
              <a:buFont typeface="Arial" panose="020B0604020202020204" pitchFamily="34" charset="0"/>
              <a:buChar char="•"/>
            </a:pPr>
            <a:r>
              <a:rPr lang="de-DE" sz="1200" dirty="0" err="1"/>
              <a:t>Outlier</a:t>
            </a:r>
            <a:r>
              <a:rPr lang="de-DE" sz="1200" dirty="0"/>
              <a:t> Rate: 18,1 %</a:t>
            </a:r>
            <a:br>
              <a:rPr lang="de-DE" sz="1200" dirty="0"/>
            </a:br>
            <a:r>
              <a:rPr lang="de-DE" sz="1200" dirty="0">
                <a:solidFill>
                  <a:srgbClr val="5A6B6E"/>
                </a:solidFill>
              </a:rPr>
              <a:t>Share of </a:t>
            </a:r>
            <a:r>
              <a:rPr lang="de-DE" sz="1200" dirty="0" err="1">
                <a:solidFill>
                  <a:srgbClr val="5A6B6E"/>
                </a:solidFill>
              </a:rPr>
              <a:t>comments</a:t>
            </a:r>
            <a:r>
              <a:rPr lang="de-DE" sz="1200" dirty="0">
                <a:solidFill>
                  <a:srgbClr val="5A6B6E"/>
                </a:solidFill>
              </a:rPr>
              <a:t> in the </a:t>
            </a:r>
            <a:r>
              <a:rPr lang="de-DE" sz="1200" dirty="0" err="1">
                <a:solidFill>
                  <a:srgbClr val="5A6B6E"/>
                </a:solidFill>
              </a:rPr>
              <a:t>noise</a:t>
            </a:r>
            <a:r>
              <a:rPr lang="de-DE" sz="1200" dirty="0">
                <a:solidFill>
                  <a:srgbClr val="5A6B6E"/>
                </a:solidFill>
              </a:rPr>
              <a:t> </a:t>
            </a:r>
            <a:r>
              <a:rPr lang="de-DE" sz="1200" dirty="0" err="1">
                <a:solidFill>
                  <a:srgbClr val="5A6B6E"/>
                </a:solidFill>
              </a:rPr>
              <a:t>cluster</a:t>
            </a:r>
            <a:r>
              <a:rPr lang="de-DE" sz="1200" dirty="0">
                <a:solidFill>
                  <a:srgbClr val="5A6B6E"/>
                </a:solidFill>
              </a:rPr>
              <a:t> (−1). Coverage </a:t>
            </a:r>
            <a:r>
              <a:rPr lang="de-DE" sz="1200" dirty="0" err="1">
                <a:solidFill>
                  <a:srgbClr val="5A6B6E"/>
                </a:solidFill>
              </a:rPr>
              <a:t>metric</a:t>
            </a:r>
            <a:r>
              <a:rPr lang="de-DE" sz="1200" dirty="0">
                <a:solidFill>
                  <a:srgbClr val="5A6B6E"/>
                </a:solidFill>
              </a:rPr>
              <a:t>.</a:t>
            </a:r>
            <a:br>
              <a:rPr lang="de-DE" sz="1200" dirty="0">
                <a:solidFill>
                  <a:srgbClr val="5A6B6E"/>
                </a:solidFill>
              </a:rPr>
            </a:br>
            <a:endParaRPr lang="de-DE" sz="1200" dirty="0">
              <a:solidFill>
                <a:srgbClr val="5A6B6E"/>
              </a:solidFill>
            </a:endParaRPr>
          </a:p>
          <a:p>
            <a:pPr marL="171450" indent="-171450">
              <a:buFont typeface="Arial" panose="020B0604020202020204" pitchFamily="34" charset="0"/>
              <a:buChar char="•"/>
            </a:pPr>
            <a:r>
              <a:rPr lang="de-DE" sz="1200" dirty="0"/>
              <a:t>Manual Topic Review</a:t>
            </a:r>
          </a:p>
          <a:p>
            <a:pPr marL="171450" indent="-171450">
              <a:buFont typeface="Arial" panose="020B0604020202020204" pitchFamily="34" charset="0"/>
              <a:buChar char="•"/>
            </a:pPr>
            <a:endParaRPr lang="de-DE" sz="1200" dirty="0">
              <a:solidFill>
                <a:srgbClr val="5A6B6E"/>
              </a:solidFill>
            </a:endParaRPr>
          </a:p>
          <a:p>
            <a:pPr marL="171450" indent="-171450">
              <a:buFont typeface="Arial" panose="020B0604020202020204" pitchFamily="34" charset="0"/>
              <a:buChar char="•"/>
            </a:pPr>
            <a:endParaRPr lang="de-DE" sz="1200" dirty="0"/>
          </a:p>
        </p:txBody>
      </p:sp>
      <p:sp>
        <p:nvSpPr>
          <p:cNvPr id="28" name="Rectangle 10">
            <a:extLst>
              <a:ext uri="{FF2B5EF4-FFF2-40B4-BE49-F238E27FC236}">
                <a16:creationId xmlns:a16="http://schemas.microsoft.com/office/drawing/2014/main" id="{DEA071F8-0F5B-93C7-56D4-062D43A900DC}"/>
              </a:ext>
            </a:extLst>
          </p:cNvPr>
          <p:cNvSpPr/>
          <p:nvPr/>
        </p:nvSpPr>
        <p:spPr>
          <a:xfrm>
            <a:off x="6278727" y="2501836"/>
            <a:ext cx="5163159" cy="27889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dirty="0"/>
          </a:p>
        </p:txBody>
      </p:sp>
      <p:sp>
        <p:nvSpPr>
          <p:cNvPr id="29" name="Rectangle 11">
            <a:extLst>
              <a:ext uri="{FF2B5EF4-FFF2-40B4-BE49-F238E27FC236}">
                <a16:creationId xmlns:a16="http://schemas.microsoft.com/office/drawing/2014/main" id="{3A2DF3D4-3C21-FAF6-D740-3C21DE9C2F60}"/>
              </a:ext>
            </a:extLst>
          </p:cNvPr>
          <p:cNvSpPr/>
          <p:nvPr/>
        </p:nvSpPr>
        <p:spPr>
          <a:xfrm>
            <a:off x="6278727" y="2501836"/>
            <a:ext cx="32004" cy="278892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0" name="TextBox 12">
            <a:extLst>
              <a:ext uri="{FF2B5EF4-FFF2-40B4-BE49-F238E27FC236}">
                <a16:creationId xmlns:a16="http://schemas.microsoft.com/office/drawing/2014/main" id="{876CC251-7507-5BF8-77F3-25ABD375C141}"/>
              </a:ext>
            </a:extLst>
          </p:cNvPr>
          <p:cNvSpPr txBox="1"/>
          <p:nvPr/>
        </p:nvSpPr>
        <p:spPr>
          <a:xfrm>
            <a:off x="6534759" y="2703005"/>
            <a:ext cx="4687671" cy="162930"/>
          </a:xfrm>
          <a:prstGeom prst="rect">
            <a:avLst/>
          </a:prstGeom>
          <a:noFill/>
        </p:spPr>
        <p:txBody>
          <a:bodyPr wrap="square" lIns="0" tIns="0" rIns="0" bIns="0">
            <a:spAutoFit/>
          </a:bodyPr>
          <a:lstStyle/>
          <a:p>
            <a:pPr>
              <a:lnSpc>
                <a:spcPct val="120000"/>
              </a:lnSpc>
              <a:spcBef>
                <a:spcPts val="0"/>
              </a:spcBef>
              <a:spcAft>
                <a:spcPts val="600"/>
              </a:spcAft>
            </a:pPr>
            <a:r>
              <a:rPr lang="de-DE" sz="950" b="1" i="0" dirty="0" err="1">
                <a:solidFill>
                  <a:srgbClr val="14636E"/>
                </a:solidFill>
                <a:latin typeface="Consolas"/>
              </a:rPr>
              <a:t>Predictive</a:t>
            </a:r>
            <a:r>
              <a:rPr lang="de-DE" sz="950" b="1" i="0" dirty="0">
                <a:solidFill>
                  <a:srgbClr val="14636E"/>
                </a:solidFill>
                <a:latin typeface="Consolas"/>
              </a:rPr>
              <a:t> Layer</a:t>
            </a:r>
            <a:endParaRPr sz="950" b="1" i="0" dirty="0">
              <a:solidFill>
                <a:srgbClr val="14636E"/>
              </a:solidFill>
              <a:latin typeface="Consolas"/>
            </a:endParaRPr>
          </a:p>
        </p:txBody>
      </p:sp>
      <p:sp>
        <p:nvSpPr>
          <p:cNvPr id="31" name="TextBox 14">
            <a:extLst>
              <a:ext uri="{FF2B5EF4-FFF2-40B4-BE49-F238E27FC236}">
                <a16:creationId xmlns:a16="http://schemas.microsoft.com/office/drawing/2014/main" id="{B5AA5024-6157-7045-4385-1930BACF0931}"/>
              </a:ext>
            </a:extLst>
          </p:cNvPr>
          <p:cNvSpPr txBox="1"/>
          <p:nvPr/>
        </p:nvSpPr>
        <p:spPr>
          <a:xfrm>
            <a:off x="6503061" y="3157267"/>
            <a:ext cx="4651095" cy="553998"/>
          </a:xfrm>
          <a:prstGeom prst="rect">
            <a:avLst/>
          </a:prstGeom>
          <a:noFill/>
        </p:spPr>
        <p:txBody>
          <a:bodyPr wrap="square" lIns="0" tIns="0" rIns="0" bIns="0">
            <a:spAutoFit/>
          </a:bodyPr>
          <a:lstStyle/>
          <a:p>
            <a:pPr marL="171450" indent="-171450">
              <a:buFont typeface="Arial" panose="020B0604020202020204" pitchFamily="34" charset="0"/>
              <a:buChar char="•"/>
            </a:pPr>
            <a:r>
              <a:rPr lang="de-DE" sz="1200" dirty="0"/>
              <a:t>Planned Models: </a:t>
            </a:r>
            <a:r>
              <a:rPr lang="de-DE" sz="1200" dirty="0" err="1"/>
              <a:t>Liear</a:t>
            </a:r>
            <a:r>
              <a:rPr lang="de-DE" sz="1200" dirty="0"/>
              <a:t> Regression, Random Forest, </a:t>
            </a:r>
            <a:r>
              <a:rPr lang="de-DE" sz="1200" dirty="0" err="1"/>
              <a:t>XGBoost</a:t>
            </a:r>
            <a:endParaRPr lang="de-DE" sz="1200" dirty="0"/>
          </a:p>
          <a:p>
            <a:pPr marL="171450" indent="-171450">
              <a:buFont typeface="Arial" panose="020B0604020202020204" pitchFamily="34" charset="0"/>
              <a:buChar char="•"/>
            </a:pPr>
            <a:endParaRPr lang="de-DE" sz="1200" dirty="0"/>
          </a:p>
          <a:p>
            <a:pPr marL="171450" indent="-171450">
              <a:buFont typeface="Arial" panose="020B0604020202020204" pitchFamily="34" charset="0"/>
              <a:buChar char="•"/>
            </a:pPr>
            <a:r>
              <a:rPr lang="de-DE" sz="1200" dirty="0"/>
              <a:t>Evaluation: MAE, RMSE, R</a:t>
            </a:r>
            <a:r>
              <a:rPr lang="de-DE" sz="1200" baseline="30000" dirty="0"/>
              <a:t>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PRODUCT</a:t>
            </a:r>
            <a:r>
              <a:rPr sz="1000">
                <a:solidFill>
                  <a:srgbClr val="8A9B9E"/>
                </a:solidFill>
                <a:latin typeface="Consolas"/>
              </a:rPr>
              <a:t>   ·   TARGET DASHBOARD &amp; ROADMAP</a:t>
            </a:r>
          </a:p>
        </p:txBody>
      </p:sp>
      <p:sp>
        <p:nvSpPr>
          <p:cNvPr id="4" name="TextBox 3"/>
          <p:cNvSpPr txBox="1"/>
          <p:nvPr/>
        </p:nvSpPr>
        <p:spPr>
          <a:xfrm>
            <a:off x="749808" y="786384"/>
            <a:ext cx="9195188" cy="1184940"/>
          </a:xfrm>
          <a:prstGeom prst="rect">
            <a:avLst/>
          </a:prstGeom>
          <a:noFill/>
        </p:spPr>
        <p:txBody>
          <a:bodyPr wrap="square" lIns="0" tIns="0" rIns="0" bIns="0">
            <a:spAutoFit/>
          </a:bodyPr>
          <a:lstStyle/>
          <a:p>
            <a:pPr>
              <a:lnSpc>
                <a:spcPct val="100000"/>
              </a:lnSpc>
              <a:spcBef>
                <a:spcPts val="0"/>
              </a:spcBef>
              <a:spcAft>
                <a:spcPts val="0"/>
              </a:spcAft>
            </a:pPr>
            <a:r>
              <a:rPr lang="de-DE" sz="3000" b="0" i="0" dirty="0">
                <a:solidFill>
                  <a:srgbClr val="0F1A1C"/>
                </a:solidFill>
                <a:latin typeface="Georgia"/>
              </a:rPr>
              <a:t>Target </a:t>
            </a:r>
            <a:r>
              <a:rPr lang="de-DE" sz="3000" b="0" i="0" dirty="0" err="1">
                <a:solidFill>
                  <a:srgbClr val="0F1A1C"/>
                </a:solidFill>
                <a:latin typeface="Georgia"/>
              </a:rPr>
              <a:t>Product</a:t>
            </a:r>
            <a:br>
              <a:rPr lang="de-DE" sz="3000" b="0" i="0" dirty="0">
                <a:solidFill>
                  <a:srgbClr val="0F1A1C"/>
                </a:solidFill>
                <a:latin typeface="Georgia"/>
              </a:rPr>
            </a:br>
            <a:r>
              <a:rPr lang="de-DE" sz="1700" dirty="0">
                <a:solidFill>
                  <a:srgbClr val="14636E"/>
                </a:solidFill>
                <a:latin typeface="Consolas"/>
              </a:rPr>
              <a:t>How ELFI </a:t>
            </a:r>
            <a:r>
              <a:rPr lang="de-DE" sz="1700" dirty="0" err="1">
                <a:solidFill>
                  <a:srgbClr val="14636E"/>
                </a:solidFill>
                <a:latin typeface="Consolas"/>
              </a:rPr>
              <a:t>creates</a:t>
            </a:r>
            <a:r>
              <a:rPr lang="de-DE" sz="1700" dirty="0">
                <a:solidFill>
                  <a:srgbClr val="14636E"/>
                </a:solidFill>
                <a:latin typeface="Consolas"/>
              </a:rPr>
              <a:t> </a:t>
            </a:r>
            <a:r>
              <a:rPr lang="de-DE" sz="1700" dirty="0" err="1">
                <a:solidFill>
                  <a:srgbClr val="14636E"/>
                </a:solidFill>
                <a:latin typeface="Consolas"/>
              </a:rPr>
              <a:t>actionable</a:t>
            </a:r>
            <a:r>
              <a:rPr lang="de-DE" sz="1700" dirty="0">
                <a:solidFill>
                  <a:srgbClr val="14636E"/>
                </a:solidFill>
                <a:latin typeface="Consolas"/>
              </a:rPr>
              <a:t> </a:t>
            </a:r>
            <a:r>
              <a:rPr lang="de-DE" sz="1700" dirty="0" err="1">
                <a:solidFill>
                  <a:srgbClr val="14636E"/>
                </a:solidFill>
                <a:latin typeface="Consolas"/>
              </a:rPr>
              <a:t>insights</a:t>
            </a:r>
            <a:endParaRPr lang="de-DE" sz="1700" dirty="0">
              <a:solidFill>
                <a:srgbClr val="14636E"/>
              </a:solidFill>
              <a:latin typeface="Consolas"/>
            </a:endParaRPr>
          </a:p>
          <a:p>
            <a:pPr>
              <a:lnSpc>
                <a:spcPct val="100000"/>
              </a:lnSpc>
              <a:spcBef>
                <a:spcPts val="0"/>
              </a:spcBef>
              <a:spcAft>
                <a:spcPts val="0"/>
              </a:spcAft>
            </a:pPr>
            <a:endParaRPr sz="3000" b="0" i="0" dirty="0">
              <a:solidFill>
                <a:srgbClr val="0F1A1C"/>
              </a:solidFill>
              <a:latin typeface="Georgia"/>
            </a:endParaRP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1874518"/>
            <a:ext cx="2480995" cy="2846337"/>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8"/>
            <a:ext cx="32004" cy="2846337"/>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2005507" cy="1790683"/>
          </a:xfrm>
          <a:prstGeom prst="rect">
            <a:avLst/>
          </a:prstGeom>
          <a:noFill/>
        </p:spPr>
        <p:txBody>
          <a:bodyPr wrap="square" lIns="0" tIns="0" rIns="0" bIns="0">
            <a:spAutoFit/>
          </a:bodyPr>
          <a:lstStyle/>
          <a:p>
            <a:pPr>
              <a:lnSpc>
                <a:spcPct val="120000"/>
              </a:lnSpc>
              <a:spcBef>
                <a:spcPts val="0"/>
              </a:spcBef>
              <a:spcAft>
                <a:spcPts val="400"/>
              </a:spcAft>
            </a:pPr>
            <a:r>
              <a:rPr sz="900" b="0" i="0" dirty="0">
                <a:solidFill>
                  <a:srgbClr val="8A9B9E"/>
                </a:solidFill>
                <a:latin typeface="Consolas"/>
              </a:rPr>
              <a:t>PAGE 1</a:t>
            </a:r>
          </a:p>
          <a:p>
            <a:pPr>
              <a:lnSpc>
                <a:spcPct val="105000"/>
              </a:lnSpc>
              <a:spcBef>
                <a:spcPts val="0"/>
              </a:spcBef>
              <a:spcAft>
                <a:spcPts val="600"/>
              </a:spcAft>
            </a:pPr>
            <a:r>
              <a:rPr sz="1500" b="0" i="0" dirty="0">
                <a:solidFill>
                  <a:srgbClr val="0F1A1C"/>
                </a:solidFill>
                <a:latin typeface="Georgia"/>
              </a:rPr>
              <a:t>Overview</a:t>
            </a:r>
          </a:p>
          <a:p>
            <a:pPr>
              <a:lnSpc>
                <a:spcPct val="125000"/>
              </a:lnSpc>
              <a:spcBef>
                <a:spcPts val="0"/>
              </a:spcBef>
              <a:spcAft>
                <a:spcPts val="0"/>
              </a:spcAft>
            </a:pPr>
            <a:r>
              <a:rPr lang="de-DE" sz="1100" b="0" i="0" dirty="0">
                <a:solidFill>
                  <a:srgbClr val="5A6B6E"/>
                </a:solidFill>
                <a:latin typeface="Calibri"/>
              </a:rPr>
              <a:t>Comment </a:t>
            </a:r>
            <a:r>
              <a:rPr lang="de-DE" sz="1100" b="0" i="0" dirty="0" err="1">
                <a:solidFill>
                  <a:srgbClr val="5A6B6E"/>
                </a:solidFill>
                <a:latin typeface="Calibri"/>
              </a:rPr>
              <a:t>volume</a:t>
            </a:r>
            <a:r>
              <a:rPr lang="de-DE" sz="1100" b="0" i="0" dirty="0">
                <a:solidFill>
                  <a:srgbClr val="5A6B6E"/>
                </a:solidFill>
                <a:latin typeface="Calibri"/>
              </a:rPr>
              <a:t>, </a:t>
            </a:r>
            <a:r>
              <a:rPr lang="de-DE" sz="1100" b="0" i="0" dirty="0" err="1">
                <a:solidFill>
                  <a:srgbClr val="5A6B6E"/>
                </a:solidFill>
                <a:latin typeface="Calibri"/>
              </a:rPr>
              <a:t>average</a:t>
            </a:r>
            <a:r>
              <a:rPr lang="de-DE" sz="1100" b="0" i="0" dirty="0">
                <a:solidFill>
                  <a:srgbClr val="5A6B6E"/>
                </a:solidFill>
                <a:latin typeface="Calibri"/>
              </a:rPr>
              <a:t> </a:t>
            </a:r>
            <a:r>
              <a:rPr lang="de-DE" sz="1100" b="0" i="0" dirty="0" err="1">
                <a:solidFill>
                  <a:srgbClr val="5A6B6E"/>
                </a:solidFill>
                <a:latin typeface="Calibri"/>
              </a:rPr>
              <a:t>valence</a:t>
            </a:r>
            <a:r>
              <a:rPr lang="de-DE" sz="1100" b="0" i="0" dirty="0">
                <a:solidFill>
                  <a:srgbClr val="5A6B6E"/>
                </a:solidFill>
                <a:latin typeface="Calibri"/>
              </a:rPr>
              <a:t>, </a:t>
            </a:r>
            <a:r>
              <a:rPr lang="de-DE" sz="1100" b="0" i="0" dirty="0" err="1">
                <a:solidFill>
                  <a:srgbClr val="5A6B6E"/>
                </a:solidFill>
                <a:latin typeface="Calibri"/>
              </a:rPr>
              <a:t>participation</a:t>
            </a:r>
            <a:r>
              <a:rPr lang="de-DE" sz="1100" b="0" i="0" dirty="0">
                <a:solidFill>
                  <a:srgbClr val="5A6B6E"/>
                </a:solidFill>
                <a:latin typeface="Calibri"/>
              </a:rPr>
              <a:t>, </a:t>
            </a:r>
            <a:r>
              <a:rPr lang="de-DE" sz="1100" b="0" i="0" dirty="0" err="1">
                <a:solidFill>
                  <a:srgbClr val="5A6B6E"/>
                </a:solidFill>
                <a:latin typeface="Calibri"/>
              </a:rPr>
              <a:t>iteration</a:t>
            </a:r>
            <a:r>
              <a:rPr lang="de-DE" sz="1100" b="0" i="0" dirty="0">
                <a:solidFill>
                  <a:srgbClr val="5A6B6E"/>
                </a:solidFill>
                <a:latin typeface="Calibri"/>
              </a:rPr>
              <a:t> </a:t>
            </a:r>
            <a:r>
              <a:rPr lang="de-DE" sz="1100" b="0" i="0" dirty="0" err="1">
                <a:solidFill>
                  <a:srgbClr val="5A6B6E"/>
                </a:solidFill>
                <a:latin typeface="Calibri"/>
              </a:rPr>
              <a:t>filter</a:t>
            </a:r>
            <a:r>
              <a:rPr lang="de-DE" sz="1100" b="0" i="0" dirty="0">
                <a:solidFill>
                  <a:srgbClr val="5A6B6E"/>
                </a:solidFill>
                <a:latin typeface="Calibri"/>
              </a:rPr>
              <a:t>.</a:t>
            </a:r>
          </a:p>
          <a:p>
            <a:pPr>
              <a:lnSpc>
                <a:spcPct val="125000"/>
              </a:lnSpc>
              <a:spcBef>
                <a:spcPts val="0"/>
              </a:spcBef>
              <a:spcAft>
                <a:spcPts val="0"/>
              </a:spcAft>
            </a:pPr>
            <a:endParaRPr lang="de-DE" sz="1100" dirty="0">
              <a:solidFill>
                <a:srgbClr val="5A6B6E"/>
              </a:solidFill>
              <a:latin typeface="Calibri"/>
            </a:endParaRPr>
          </a:p>
          <a:p>
            <a:pPr>
              <a:lnSpc>
                <a:spcPct val="125000"/>
              </a:lnSpc>
            </a:pPr>
            <a:r>
              <a:rPr lang="de-DE" sz="1100" b="1" dirty="0" err="1">
                <a:solidFill>
                  <a:srgbClr val="5A6B6E"/>
                </a:solidFill>
                <a:latin typeface="Calibri"/>
              </a:rPr>
              <a:t>What</a:t>
            </a:r>
            <a:r>
              <a:rPr lang="de-DE" sz="1100" b="1" dirty="0">
                <a:solidFill>
                  <a:srgbClr val="5A6B6E"/>
                </a:solidFill>
                <a:latin typeface="Calibri"/>
              </a:rPr>
              <a:t> </a:t>
            </a:r>
            <a:r>
              <a:rPr lang="de-DE" sz="1100" b="1" dirty="0" err="1">
                <a:solidFill>
                  <a:srgbClr val="5A6B6E"/>
                </a:solidFill>
                <a:latin typeface="Calibri"/>
              </a:rPr>
              <a:t>is</a:t>
            </a:r>
            <a:r>
              <a:rPr lang="de-DE" sz="1100" b="1" dirty="0">
                <a:solidFill>
                  <a:srgbClr val="5A6B6E"/>
                </a:solidFill>
                <a:latin typeface="Calibri"/>
              </a:rPr>
              <a:t> the </a:t>
            </a:r>
            <a:r>
              <a:rPr lang="de-DE" sz="1100" b="1" dirty="0" err="1">
                <a:solidFill>
                  <a:srgbClr val="5A6B6E"/>
                </a:solidFill>
                <a:latin typeface="Calibri"/>
              </a:rPr>
              <a:t>current</a:t>
            </a:r>
            <a:r>
              <a:rPr lang="de-DE" sz="1100" b="1" dirty="0">
                <a:solidFill>
                  <a:srgbClr val="5A6B6E"/>
                </a:solidFill>
                <a:latin typeface="Calibri"/>
              </a:rPr>
              <a:t> emotional and </a:t>
            </a:r>
            <a:r>
              <a:rPr lang="de-DE" sz="1100" b="1" dirty="0" err="1">
                <a:solidFill>
                  <a:srgbClr val="5A6B6E"/>
                </a:solidFill>
                <a:latin typeface="Calibri"/>
              </a:rPr>
              <a:t>thematic</a:t>
            </a:r>
            <a:r>
              <a:rPr lang="de-DE" sz="1100" b="1" dirty="0">
                <a:solidFill>
                  <a:srgbClr val="5A6B6E"/>
                </a:solidFill>
                <a:latin typeface="Calibri"/>
              </a:rPr>
              <a:t> </a:t>
            </a:r>
            <a:r>
              <a:rPr lang="de-DE" sz="1100" b="1" dirty="0" err="1">
                <a:solidFill>
                  <a:srgbClr val="5A6B6E"/>
                </a:solidFill>
                <a:latin typeface="Calibri"/>
              </a:rPr>
              <a:t>state</a:t>
            </a:r>
            <a:r>
              <a:rPr lang="de-DE" sz="1100" b="1" dirty="0">
                <a:solidFill>
                  <a:srgbClr val="5A6B6E"/>
                </a:solidFill>
                <a:latin typeface="Calibri"/>
              </a:rPr>
              <a:t>?</a:t>
            </a:r>
            <a:endParaRPr sz="1100" b="1" dirty="0">
              <a:solidFill>
                <a:srgbClr val="5A6B6E"/>
              </a:solidFill>
              <a:latin typeface="Calibri"/>
            </a:endParaRPr>
          </a:p>
        </p:txBody>
      </p:sp>
      <p:sp>
        <p:nvSpPr>
          <p:cNvPr id="9" name="Rectangle 8"/>
          <p:cNvSpPr/>
          <p:nvPr/>
        </p:nvSpPr>
        <p:spPr>
          <a:xfrm>
            <a:off x="3486835" y="1874518"/>
            <a:ext cx="2480995" cy="2846337"/>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3486835" y="1874518"/>
            <a:ext cx="32004" cy="2846337"/>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742867" y="2075688"/>
            <a:ext cx="2005507" cy="1790683"/>
          </a:xfrm>
          <a:prstGeom prst="rect">
            <a:avLst/>
          </a:prstGeom>
          <a:noFill/>
        </p:spPr>
        <p:txBody>
          <a:bodyPr wrap="square" lIns="0" tIns="0" rIns="0" bIns="0">
            <a:spAutoFit/>
          </a:bodyPr>
          <a:lstStyle/>
          <a:p>
            <a:pPr>
              <a:lnSpc>
                <a:spcPct val="120000"/>
              </a:lnSpc>
              <a:spcBef>
                <a:spcPts val="0"/>
              </a:spcBef>
              <a:spcAft>
                <a:spcPts val="400"/>
              </a:spcAft>
            </a:pPr>
            <a:r>
              <a:rPr sz="900" b="0" i="0" dirty="0">
                <a:solidFill>
                  <a:srgbClr val="8A9B9E"/>
                </a:solidFill>
                <a:latin typeface="Consolas"/>
              </a:rPr>
              <a:t>PAGE 2</a:t>
            </a:r>
          </a:p>
          <a:p>
            <a:pPr>
              <a:lnSpc>
                <a:spcPct val="105000"/>
              </a:lnSpc>
              <a:spcBef>
                <a:spcPts val="0"/>
              </a:spcBef>
              <a:spcAft>
                <a:spcPts val="600"/>
              </a:spcAft>
            </a:pPr>
            <a:r>
              <a:rPr sz="1500" b="0" i="0" dirty="0">
                <a:solidFill>
                  <a:srgbClr val="14636E"/>
                </a:solidFill>
                <a:latin typeface="Georgia"/>
              </a:rPr>
              <a:t>Core Affect Map</a:t>
            </a:r>
          </a:p>
          <a:p>
            <a:pPr>
              <a:lnSpc>
                <a:spcPct val="125000"/>
              </a:lnSpc>
              <a:spcBef>
                <a:spcPts val="0"/>
              </a:spcBef>
              <a:spcAft>
                <a:spcPts val="0"/>
              </a:spcAft>
            </a:pPr>
            <a:r>
              <a:rPr sz="1100" b="0" i="0" dirty="0">
                <a:solidFill>
                  <a:srgbClr val="5A6B6E"/>
                </a:solidFill>
                <a:latin typeface="Calibri"/>
              </a:rPr>
              <a:t>Comments and topic clusters positioned on valence × arousal. The </a:t>
            </a:r>
            <a:r>
              <a:rPr sz="1100" b="0" i="0" dirty="0" err="1">
                <a:solidFill>
                  <a:srgbClr val="5A6B6E"/>
                </a:solidFill>
                <a:latin typeface="Calibri"/>
              </a:rPr>
              <a:t>centrepiece</a:t>
            </a:r>
            <a:r>
              <a:rPr sz="1100" b="0" i="0" dirty="0">
                <a:solidFill>
                  <a:srgbClr val="5A6B6E"/>
                </a:solidFill>
                <a:latin typeface="Calibri"/>
              </a:rPr>
              <a:t>.</a:t>
            </a:r>
            <a:endParaRPr lang="de-DE" sz="1100" b="0" i="0" dirty="0">
              <a:solidFill>
                <a:srgbClr val="5A6B6E"/>
              </a:solidFill>
              <a:latin typeface="Calibri"/>
            </a:endParaRPr>
          </a:p>
          <a:p>
            <a:pPr>
              <a:lnSpc>
                <a:spcPct val="125000"/>
              </a:lnSpc>
              <a:spcBef>
                <a:spcPts val="0"/>
              </a:spcBef>
              <a:spcAft>
                <a:spcPts val="0"/>
              </a:spcAft>
            </a:pPr>
            <a:endParaRPr lang="de-DE" sz="1100" b="1" dirty="0">
              <a:solidFill>
                <a:srgbClr val="5A6B6E"/>
              </a:solidFill>
              <a:latin typeface="Calibri"/>
            </a:endParaRPr>
          </a:p>
          <a:p>
            <a:pPr>
              <a:lnSpc>
                <a:spcPct val="125000"/>
              </a:lnSpc>
              <a:spcBef>
                <a:spcPts val="0"/>
              </a:spcBef>
              <a:spcAft>
                <a:spcPts val="0"/>
              </a:spcAft>
            </a:pPr>
            <a:r>
              <a:rPr lang="de-DE" sz="1100" b="1" dirty="0">
                <a:solidFill>
                  <a:srgbClr val="5A6B6E"/>
                </a:solidFill>
                <a:latin typeface="Calibri"/>
              </a:rPr>
              <a:t>How do </a:t>
            </a:r>
            <a:r>
              <a:rPr lang="de-DE" sz="1100" b="1" dirty="0" err="1">
                <a:solidFill>
                  <a:srgbClr val="5A6B6E"/>
                </a:solidFill>
                <a:latin typeface="Calibri"/>
              </a:rPr>
              <a:t>employees</a:t>
            </a:r>
            <a:r>
              <a:rPr lang="de-DE" sz="1100" b="1" dirty="0">
                <a:solidFill>
                  <a:srgbClr val="5A6B6E"/>
                </a:solidFill>
                <a:latin typeface="Calibri"/>
              </a:rPr>
              <a:t> </a:t>
            </a:r>
            <a:r>
              <a:rPr lang="de-DE" sz="1100" b="1" dirty="0" err="1">
                <a:solidFill>
                  <a:srgbClr val="5A6B6E"/>
                </a:solidFill>
                <a:latin typeface="Calibri"/>
              </a:rPr>
              <a:t>feel</a:t>
            </a:r>
            <a:r>
              <a:rPr lang="de-DE" sz="1100" b="1" dirty="0">
                <a:solidFill>
                  <a:srgbClr val="5A6B6E"/>
                </a:solidFill>
                <a:latin typeface="Calibri"/>
              </a:rPr>
              <a:t>?</a:t>
            </a:r>
          </a:p>
          <a:p>
            <a:pPr>
              <a:lnSpc>
                <a:spcPct val="125000"/>
              </a:lnSpc>
              <a:spcBef>
                <a:spcPts val="0"/>
              </a:spcBef>
              <a:spcAft>
                <a:spcPts val="0"/>
              </a:spcAft>
            </a:pPr>
            <a:endParaRPr sz="1100" b="0" i="0" dirty="0">
              <a:solidFill>
                <a:srgbClr val="5A6B6E"/>
              </a:solidFill>
              <a:latin typeface="Calibri"/>
            </a:endParaRPr>
          </a:p>
        </p:txBody>
      </p:sp>
      <p:sp>
        <p:nvSpPr>
          <p:cNvPr id="12" name="Rectangle 11"/>
          <p:cNvSpPr/>
          <p:nvPr/>
        </p:nvSpPr>
        <p:spPr>
          <a:xfrm>
            <a:off x="6223863" y="1874518"/>
            <a:ext cx="2480995" cy="2846337"/>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6223863" y="1874518"/>
            <a:ext cx="32004" cy="2846337"/>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479895" y="2075688"/>
            <a:ext cx="2005507" cy="1790683"/>
          </a:xfrm>
          <a:prstGeom prst="rect">
            <a:avLst/>
          </a:prstGeom>
          <a:noFill/>
        </p:spPr>
        <p:txBody>
          <a:bodyPr wrap="square" lIns="0" tIns="0" rIns="0" bIns="0">
            <a:spAutoFit/>
          </a:bodyPr>
          <a:lstStyle/>
          <a:p>
            <a:pPr>
              <a:lnSpc>
                <a:spcPct val="120000"/>
              </a:lnSpc>
              <a:spcBef>
                <a:spcPts val="0"/>
              </a:spcBef>
              <a:spcAft>
                <a:spcPts val="400"/>
              </a:spcAft>
            </a:pPr>
            <a:r>
              <a:rPr sz="900" b="0" i="0" dirty="0">
                <a:solidFill>
                  <a:srgbClr val="8A9B9E"/>
                </a:solidFill>
                <a:latin typeface="Consolas"/>
              </a:rPr>
              <a:t>PAGE 3</a:t>
            </a:r>
          </a:p>
          <a:p>
            <a:pPr>
              <a:lnSpc>
                <a:spcPct val="105000"/>
              </a:lnSpc>
              <a:spcBef>
                <a:spcPts val="0"/>
              </a:spcBef>
              <a:spcAft>
                <a:spcPts val="600"/>
              </a:spcAft>
            </a:pPr>
            <a:r>
              <a:rPr sz="1500" b="0" i="0" dirty="0">
                <a:solidFill>
                  <a:srgbClr val="0F1A1C"/>
                </a:solidFill>
                <a:latin typeface="Georgia"/>
              </a:rPr>
              <a:t>Topics &amp; Trends</a:t>
            </a:r>
          </a:p>
          <a:p>
            <a:pPr>
              <a:lnSpc>
                <a:spcPct val="125000"/>
              </a:lnSpc>
              <a:spcBef>
                <a:spcPts val="0"/>
              </a:spcBef>
              <a:spcAft>
                <a:spcPts val="0"/>
              </a:spcAft>
            </a:pPr>
            <a:r>
              <a:rPr sz="1100" b="0" i="0" dirty="0">
                <a:solidFill>
                  <a:srgbClr val="5A6B6E"/>
                </a:solidFill>
                <a:latin typeface="Calibri"/>
              </a:rPr>
              <a:t>Topic frequency, movement across iterations, emotion per topic.</a:t>
            </a:r>
            <a:endParaRPr lang="de-DE" sz="1100" b="0" i="0" dirty="0">
              <a:solidFill>
                <a:srgbClr val="5A6B6E"/>
              </a:solidFill>
              <a:latin typeface="Calibri"/>
            </a:endParaRPr>
          </a:p>
          <a:p>
            <a:pPr>
              <a:lnSpc>
                <a:spcPct val="125000"/>
              </a:lnSpc>
              <a:spcBef>
                <a:spcPts val="0"/>
              </a:spcBef>
              <a:spcAft>
                <a:spcPts val="0"/>
              </a:spcAft>
            </a:pPr>
            <a:endParaRPr lang="de-DE" sz="1100" dirty="0">
              <a:solidFill>
                <a:srgbClr val="5A6B6E"/>
              </a:solidFill>
              <a:latin typeface="Calibri"/>
            </a:endParaRPr>
          </a:p>
          <a:p>
            <a:pPr>
              <a:lnSpc>
                <a:spcPct val="125000"/>
              </a:lnSpc>
              <a:spcBef>
                <a:spcPts val="0"/>
              </a:spcBef>
              <a:spcAft>
                <a:spcPts val="0"/>
              </a:spcAft>
            </a:pPr>
            <a:endParaRPr lang="de-DE" sz="1100" b="0" i="0" dirty="0">
              <a:solidFill>
                <a:srgbClr val="5A6B6E"/>
              </a:solidFill>
              <a:latin typeface="Calibri"/>
            </a:endParaRPr>
          </a:p>
          <a:p>
            <a:pPr>
              <a:lnSpc>
                <a:spcPct val="125000"/>
              </a:lnSpc>
              <a:spcBef>
                <a:spcPts val="0"/>
              </a:spcBef>
              <a:spcAft>
                <a:spcPts val="0"/>
              </a:spcAft>
            </a:pPr>
            <a:r>
              <a:rPr lang="de-DE" sz="1100" b="1" i="0" dirty="0" err="1">
                <a:solidFill>
                  <a:srgbClr val="5A6B6E"/>
                </a:solidFill>
                <a:latin typeface="Calibri"/>
              </a:rPr>
              <a:t>What</a:t>
            </a:r>
            <a:r>
              <a:rPr lang="de-DE" sz="1100" b="1" i="0" dirty="0">
                <a:solidFill>
                  <a:srgbClr val="5A6B6E"/>
                </a:solidFill>
                <a:latin typeface="Calibri"/>
              </a:rPr>
              <a:t> </a:t>
            </a:r>
            <a:r>
              <a:rPr lang="de-DE" sz="1100" b="1" i="0" dirty="0" err="1">
                <a:solidFill>
                  <a:srgbClr val="5A6B6E"/>
                </a:solidFill>
                <a:latin typeface="Calibri"/>
              </a:rPr>
              <a:t>are</a:t>
            </a:r>
            <a:r>
              <a:rPr lang="de-DE" sz="1100" b="1" i="0" dirty="0">
                <a:solidFill>
                  <a:srgbClr val="5A6B6E"/>
                </a:solidFill>
                <a:latin typeface="Calibri"/>
              </a:rPr>
              <a:t> </a:t>
            </a:r>
            <a:r>
              <a:rPr lang="de-DE" sz="1100" b="1" i="0" dirty="0" err="1">
                <a:solidFill>
                  <a:srgbClr val="5A6B6E"/>
                </a:solidFill>
                <a:latin typeface="Calibri"/>
              </a:rPr>
              <a:t>employees</a:t>
            </a:r>
            <a:r>
              <a:rPr lang="de-DE" sz="1100" b="1" i="0" dirty="0">
                <a:solidFill>
                  <a:srgbClr val="5A6B6E"/>
                </a:solidFill>
                <a:latin typeface="Calibri"/>
              </a:rPr>
              <a:t> </a:t>
            </a:r>
            <a:r>
              <a:rPr lang="de-DE" sz="1100" b="1" i="0" dirty="0" err="1">
                <a:solidFill>
                  <a:srgbClr val="5A6B6E"/>
                </a:solidFill>
                <a:latin typeface="Calibri"/>
              </a:rPr>
              <a:t>talking</a:t>
            </a:r>
            <a:r>
              <a:rPr lang="de-DE" sz="1100" b="1" i="0" dirty="0">
                <a:solidFill>
                  <a:srgbClr val="5A6B6E"/>
                </a:solidFill>
                <a:latin typeface="Calibri"/>
              </a:rPr>
              <a:t> </a:t>
            </a:r>
            <a:r>
              <a:rPr lang="de-DE" sz="1100" b="1" i="0" dirty="0" err="1">
                <a:solidFill>
                  <a:srgbClr val="5A6B6E"/>
                </a:solidFill>
                <a:latin typeface="Calibri"/>
              </a:rPr>
              <a:t>about</a:t>
            </a:r>
            <a:r>
              <a:rPr lang="de-DE" sz="1100" b="1" i="0" dirty="0">
                <a:solidFill>
                  <a:srgbClr val="5A6B6E"/>
                </a:solidFill>
                <a:latin typeface="Calibri"/>
              </a:rPr>
              <a:t>?</a:t>
            </a:r>
            <a:endParaRPr sz="1100" b="1" i="0" dirty="0">
              <a:solidFill>
                <a:srgbClr val="5A6B6E"/>
              </a:solidFill>
              <a:latin typeface="Calibri"/>
            </a:endParaRPr>
          </a:p>
        </p:txBody>
      </p:sp>
      <p:sp>
        <p:nvSpPr>
          <p:cNvPr id="15" name="Rectangle 14"/>
          <p:cNvSpPr/>
          <p:nvPr/>
        </p:nvSpPr>
        <p:spPr>
          <a:xfrm>
            <a:off x="8960891" y="1874518"/>
            <a:ext cx="2480995" cy="2846337"/>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8960891" y="1874518"/>
            <a:ext cx="32004" cy="2846337"/>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9216923" y="2075688"/>
            <a:ext cx="2005507" cy="1609864"/>
          </a:xfrm>
          <a:prstGeom prst="rect">
            <a:avLst/>
          </a:prstGeom>
          <a:noFill/>
        </p:spPr>
        <p:txBody>
          <a:bodyPr wrap="square" lIns="0" tIns="0" rIns="0" bIns="0">
            <a:spAutoFit/>
          </a:bodyPr>
          <a:lstStyle/>
          <a:p>
            <a:pPr>
              <a:lnSpc>
                <a:spcPct val="120000"/>
              </a:lnSpc>
              <a:spcBef>
                <a:spcPts val="0"/>
              </a:spcBef>
              <a:spcAft>
                <a:spcPts val="400"/>
              </a:spcAft>
            </a:pPr>
            <a:r>
              <a:rPr sz="900" b="0" i="0" dirty="0">
                <a:solidFill>
                  <a:srgbClr val="8A9B9E"/>
                </a:solidFill>
                <a:latin typeface="Consolas"/>
              </a:rPr>
              <a:t>PAGE 4</a:t>
            </a:r>
          </a:p>
          <a:p>
            <a:pPr>
              <a:lnSpc>
                <a:spcPct val="105000"/>
              </a:lnSpc>
              <a:spcBef>
                <a:spcPts val="0"/>
              </a:spcBef>
              <a:spcAft>
                <a:spcPts val="600"/>
              </a:spcAft>
            </a:pPr>
            <a:r>
              <a:rPr sz="1500" b="0" i="0" dirty="0" err="1">
                <a:solidFill>
                  <a:srgbClr val="0F1A1C"/>
                </a:solidFill>
                <a:latin typeface="Georgia"/>
              </a:rPr>
              <a:t>Organisational</a:t>
            </a:r>
            <a:r>
              <a:rPr sz="1500" b="0" i="0" dirty="0">
                <a:solidFill>
                  <a:srgbClr val="0F1A1C"/>
                </a:solidFill>
                <a:latin typeface="Georgia"/>
              </a:rPr>
              <a:t> Comparison</a:t>
            </a:r>
          </a:p>
          <a:p>
            <a:pPr>
              <a:lnSpc>
                <a:spcPct val="125000"/>
              </a:lnSpc>
              <a:spcBef>
                <a:spcPts val="0"/>
              </a:spcBef>
              <a:spcAft>
                <a:spcPts val="0"/>
              </a:spcAft>
            </a:pPr>
            <a:r>
              <a:rPr sz="1100" b="0" i="0" dirty="0">
                <a:solidFill>
                  <a:srgbClr val="5A6B6E"/>
                </a:solidFill>
                <a:latin typeface="Calibri"/>
              </a:rPr>
              <a:t>Business units side by side, valence against survey scores.</a:t>
            </a:r>
            <a:endParaRPr lang="de-DE" sz="1100" b="0" i="0" dirty="0">
              <a:solidFill>
                <a:srgbClr val="5A6B6E"/>
              </a:solidFill>
              <a:latin typeface="Calibri"/>
            </a:endParaRPr>
          </a:p>
          <a:p>
            <a:pPr>
              <a:lnSpc>
                <a:spcPct val="125000"/>
              </a:lnSpc>
              <a:spcBef>
                <a:spcPts val="0"/>
              </a:spcBef>
              <a:spcAft>
                <a:spcPts val="0"/>
              </a:spcAft>
            </a:pPr>
            <a:endParaRPr lang="de-DE" sz="1100" b="1" dirty="0">
              <a:solidFill>
                <a:srgbClr val="5A6B6E"/>
              </a:solidFill>
              <a:latin typeface="Calibri"/>
            </a:endParaRPr>
          </a:p>
          <a:p>
            <a:pPr>
              <a:lnSpc>
                <a:spcPct val="125000"/>
              </a:lnSpc>
              <a:spcBef>
                <a:spcPts val="0"/>
              </a:spcBef>
              <a:spcAft>
                <a:spcPts val="0"/>
              </a:spcAft>
            </a:pPr>
            <a:r>
              <a:rPr lang="de-DE" sz="1100" b="1" i="0" dirty="0" err="1">
                <a:solidFill>
                  <a:srgbClr val="5A6B6E"/>
                </a:solidFill>
                <a:latin typeface="Calibri"/>
              </a:rPr>
              <a:t>Where</a:t>
            </a:r>
            <a:r>
              <a:rPr lang="de-DE" sz="1100" b="1" i="0" dirty="0">
                <a:solidFill>
                  <a:srgbClr val="5A6B6E"/>
                </a:solidFill>
                <a:latin typeface="Calibri"/>
              </a:rPr>
              <a:t> </a:t>
            </a:r>
            <a:r>
              <a:rPr lang="de-DE" sz="1100" b="1" i="0" dirty="0" err="1">
                <a:solidFill>
                  <a:srgbClr val="5A6B6E"/>
                </a:solidFill>
                <a:latin typeface="Calibri"/>
              </a:rPr>
              <a:t>should</a:t>
            </a:r>
            <a:r>
              <a:rPr lang="de-DE" sz="1100" b="1" i="0" dirty="0">
                <a:solidFill>
                  <a:srgbClr val="5A6B6E"/>
                </a:solidFill>
                <a:latin typeface="Calibri"/>
              </a:rPr>
              <a:t> </a:t>
            </a:r>
            <a:r>
              <a:rPr lang="de-DE" sz="1100" b="1" i="0" dirty="0" err="1">
                <a:solidFill>
                  <a:srgbClr val="5A6B6E"/>
                </a:solidFill>
                <a:latin typeface="Calibri"/>
              </a:rPr>
              <a:t>action</a:t>
            </a:r>
            <a:r>
              <a:rPr lang="de-DE" sz="1100" b="1" i="0" dirty="0">
                <a:solidFill>
                  <a:srgbClr val="5A6B6E"/>
                </a:solidFill>
                <a:latin typeface="Calibri"/>
              </a:rPr>
              <a:t> </a:t>
            </a:r>
            <a:r>
              <a:rPr lang="de-DE" sz="1100" b="1" i="0" dirty="0" err="1">
                <a:solidFill>
                  <a:srgbClr val="5A6B6E"/>
                </a:solidFill>
                <a:latin typeface="Calibri"/>
              </a:rPr>
              <a:t>be</a:t>
            </a:r>
            <a:r>
              <a:rPr lang="de-DE" sz="1100" b="1" i="0" dirty="0">
                <a:solidFill>
                  <a:srgbClr val="5A6B6E"/>
                </a:solidFill>
                <a:latin typeface="Calibri"/>
              </a:rPr>
              <a:t> </a:t>
            </a:r>
            <a:r>
              <a:rPr lang="de-DE" sz="1100" b="1" i="0" dirty="0" err="1">
                <a:solidFill>
                  <a:srgbClr val="5A6B6E"/>
                </a:solidFill>
                <a:latin typeface="Calibri"/>
              </a:rPr>
              <a:t>taken</a:t>
            </a:r>
            <a:r>
              <a:rPr lang="de-DE" sz="1100" b="1" i="0" dirty="0">
                <a:solidFill>
                  <a:srgbClr val="5A6B6E"/>
                </a:solidFill>
                <a:latin typeface="Calibri"/>
              </a:rPr>
              <a:t>?</a:t>
            </a:r>
            <a:endParaRPr sz="1100" b="1" i="0" dirty="0">
              <a:solidFill>
                <a:srgbClr val="5A6B6E"/>
              </a:solidFill>
              <a:latin typeface="Calibri"/>
            </a:endParaRPr>
          </a:p>
        </p:txBody>
      </p:sp>
      <p:sp>
        <p:nvSpPr>
          <p:cNvPr id="18" name="Rectangle 17"/>
          <p:cNvSpPr/>
          <p:nvPr/>
        </p:nvSpPr>
        <p:spPr>
          <a:xfrm>
            <a:off x="749808" y="5115325"/>
            <a:ext cx="10692079" cy="962504"/>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p:cNvSpPr/>
          <p:nvPr/>
        </p:nvSpPr>
        <p:spPr>
          <a:xfrm>
            <a:off x="749808" y="5115325"/>
            <a:ext cx="32004" cy="962504"/>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1005840" y="5316492"/>
            <a:ext cx="10216591" cy="482248"/>
          </a:xfrm>
          <a:prstGeom prst="rect">
            <a:avLst/>
          </a:prstGeom>
          <a:noFill/>
        </p:spPr>
        <p:txBody>
          <a:bodyPr wrap="square" lIns="0" tIns="0" rIns="0" bIns="0">
            <a:spAutoFit/>
          </a:bodyPr>
          <a:lstStyle/>
          <a:p>
            <a:pPr>
              <a:lnSpc>
                <a:spcPct val="120000"/>
              </a:lnSpc>
              <a:spcBef>
                <a:spcPts val="0"/>
              </a:spcBef>
              <a:spcAft>
                <a:spcPts val="600"/>
              </a:spcAft>
            </a:pPr>
            <a:r>
              <a:rPr lang="de-DE" sz="950" b="1" i="0" dirty="0">
                <a:solidFill>
                  <a:srgbClr val="14636E"/>
                </a:solidFill>
                <a:latin typeface="Consolas"/>
              </a:rPr>
              <a:t>Comments </a:t>
            </a:r>
            <a:r>
              <a:rPr lang="de-DE" sz="950" b="1" i="0" dirty="0">
                <a:solidFill>
                  <a:srgbClr val="14636E"/>
                </a:solidFill>
                <a:latin typeface="Consolas"/>
                <a:sym typeface="Wingdings" pitchFamily="2" charset="2"/>
              </a:rPr>
              <a:t> </a:t>
            </a:r>
            <a:r>
              <a:rPr lang="de-DE" sz="950" b="1" dirty="0" err="1">
                <a:solidFill>
                  <a:srgbClr val="14636E"/>
                </a:solidFill>
                <a:latin typeface="Consolas"/>
                <a:sym typeface="Wingdings" pitchFamily="2" charset="2"/>
              </a:rPr>
              <a:t>Emotions</a:t>
            </a:r>
            <a:r>
              <a:rPr lang="de-DE" sz="950" b="1" dirty="0">
                <a:solidFill>
                  <a:srgbClr val="14636E"/>
                </a:solidFill>
                <a:latin typeface="Consolas"/>
                <a:sym typeface="Wingdings" pitchFamily="2" charset="2"/>
              </a:rPr>
              <a:t>  Topics  </a:t>
            </a:r>
            <a:r>
              <a:rPr lang="de-DE" sz="950" b="1" dirty="0" err="1">
                <a:solidFill>
                  <a:srgbClr val="14636E"/>
                </a:solidFill>
                <a:latin typeface="Consolas"/>
                <a:sym typeface="Wingdings" pitchFamily="2" charset="2"/>
              </a:rPr>
              <a:t>Insights</a:t>
            </a:r>
            <a:r>
              <a:rPr lang="de-DE" sz="950" b="1" dirty="0">
                <a:solidFill>
                  <a:srgbClr val="14636E"/>
                </a:solidFill>
                <a:latin typeface="Consolas"/>
                <a:sym typeface="Wingdings" pitchFamily="2" charset="2"/>
              </a:rPr>
              <a:t>  Actions</a:t>
            </a:r>
            <a:endParaRPr lang="de-DE" sz="950" b="1" i="0" dirty="0">
              <a:solidFill>
                <a:srgbClr val="14636E"/>
              </a:solidFill>
              <a:latin typeface="Consolas"/>
            </a:endParaRPr>
          </a:p>
          <a:p>
            <a:pPr>
              <a:lnSpc>
                <a:spcPct val="130000"/>
              </a:lnSpc>
              <a:spcBef>
                <a:spcPts val="0"/>
              </a:spcBef>
              <a:spcAft>
                <a:spcPts val="0"/>
              </a:spcAft>
            </a:pPr>
            <a:r>
              <a:rPr lang="de-DE" sz="1250" b="0" i="0" dirty="0" err="1">
                <a:solidFill>
                  <a:srgbClr val="0F1A1C"/>
                </a:solidFill>
                <a:latin typeface="Calibri"/>
              </a:rPr>
              <a:t>Turning</a:t>
            </a:r>
            <a:r>
              <a:rPr lang="de-DE" sz="1250" b="0" i="0" dirty="0">
                <a:solidFill>
                  <a:srgbClr val="0F1A1C"/>
                </a:solidFill>
                <a:latin typeface="Calibri"/>
              </a:rPr>
              <a:t> </a:t>
            </a:r>
            <a:r>
              <a:rPr lang="de-DE" sz="1250" b="0" i="0" dirty="0" err="1">
                <a:solidFill>
                  <a:srgbClr val="0F1A1C"/>
                </a:solidFill>
                <a:latin typeface="Calibri"/>
              </a:rPr>
              <a:t>employee</a:t>
            </a:r>
            <a:r>
              <a:rPr lang="de-DE" sz="1250" b="0" i="0" dirty="0">
                <a:solidFill>
                  <a:srgbClr val="0F1A1C"/>
                </a:solidFill>
                <a:latin typeface="Calibri"/>
              </a:rPr>
              <a:t> </a:t>
            </a:r>
            <a:r>
              <a:rPr lang="de-DE" sz="1250" b="0" i="0" dirty="0" err="1">
                <a:solidFill>
                  <a:srgbClr val="0F1A1C"/>
                </a:solidFill>
                <a:latin typeface="Calibri"/>
              </a:rPr>
              <a:t>feedback</a:t>
            </a:r>
            <a:r>
              <a:rPr lang="de-DE" sz="1250" b="0" i="0" dirty="0">
                <a:solidFill>
                  <a:srgbClr val="0F1A1C"/>
                </a:solidFill>
                <a:latin typeface="Calibri"/>
              </a:rPr>
              <a:t> </a:t>
            </a:r>
            <a:r>
              <a:rPr lang="de-DE" sz="1250" b="0" i="0" dirty="0" err="1">
                <a:solidFill>
                  <a:srgbClr val="0F1A1C"/>
                </a:solidFill>
                <a:latin typeface="Calibri"/>
              </a:rPr>
              <a:t>into</a:t>
            </a:r>
            <a:r>
              <a:rPr lang="de-DE" sz="1250" b="0" i="0" dirty="0">
                <a:solidFill>
                  <a:srgbClr val="0F1A1C"/>
                </a:solidFill>
                <a:latin typeface="Calibri"/>
              </a:rPr>
              <a:t> organizational </a:t>
            </a:r>
            <a:r>
              <a:rPr lang="de-DE" sz="1250" b="0" i="0" dirty="0" err="1">
                <a:solidFill>
                  <a:srgbClr val="0F1A1C"/>
                </a:solidFill>
                <a:latin typeface="Calibri"/>
              </a:rPr>
              <a:t>descisions</a:t>
            </a:r>
            <a:r>
              <a:rPr lang="de-DE" sz="1250" b="0" i="0" dirty="0">
                <a:solidFill>
                  <a:srgbClr val="0F1A1C"/>
                </a:solidFill>
                <a:latin typeface="Calibri"/>
              </a:rPr>
              <a:t>!</a:t>
            </a:r>
          </a:p>
        </p:txBody>
      </p:sp>
      <p:sp>
        <p:nvSpPr>
          <p:cNvPr id="21" name="TextBox 20"/>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8 / 21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OUTLOOK</a:t>
            </a:r>
            <a:r>
              <a:rPr sz="1000">
                <a:solidFill>
                  <a:srgbClr val="8A9B9E"/>
                </a:solidFill>
                <a:latin typeface="Consolas"/>
              </a:rPr>
              <a:t>   ·   RISKS &amp; NEXT STEPS</a:t>
            </a:r>
          </a:p>
        </p:txBody>
      </p:sp>
      <p:sp>
        <p:nvSpPr>
          <p:cNvPr id="4" name="TextBox 3"/>
          <p:cNvSpPr txBox="1"/>
          <p:nvPr/>
        </p:nvSpPr>
        <p:spPr>
          <a:xfrm>
            <a:off x="749808" y="786384"/>
            <a:ext cx="9195188" cy="723275"/>
          </a:xfrm>
          <a:prstGeom prst="rect">
            <a:avLst/>
          </a:prstGeom>
          <a:noFill/>
        </p:spPr>
        <p:txBody>
          <a:bodyPr wrap="square" lIns="0" tIns="0" rIns="0" bIns="0">
            <a:spAutoFit/>
          </a:bodyPr>
          <a:lstStyle/>
          <a:p>
            <a:pPr>
              <a:lnSpc>
                <a:spcPct val="100000"/>
              </a:lnSpc>
              <a:spcBef>
                <a:spcPts val="0"/>
              </a:spcBef>
              <a:spcAft>
                <a:spcPts val="0"/>
              </a:spcAft>
            </a:pPr>
            <a:r>
              <a:rPr lang="de-DE" sz="3000" b="0" i="0" dirty="0">
                <a:solidFill>
                  <a:srgbClr val="0F1A1C"/>
                </a:solidFill>
                <a:latin typeface="Georgia"/>
              </a:rPr>
              <a:t>Roadmap, </a:t>
            </a:r>
            <a:r>
              <a:rPr lang="de-DE" sz="3000" b="0" i="0" dirty="0" err="1">
                <a:solidFill>
                  <a:srgbClr val="0F1A1C"/>
                </a:solidFill>
                <a:latin typeface="Georgia"/>
              </a:rPr>
              <a:t>Risks</a:t>
            </a:r>
            <a:r>
              <a:rPr lang="de-DE" sz="3000" b="0" i="0" dirty="0">
                <a:solidFill>
                  <a:srgbClr val="0F1A1C"/>
                </a:solidFill>
                <a:latin typeface="Georgia"/>
              </a:rPr>
              <a:t> &amp; Next </a:t>
            </a:r>
            <a:r>
              <a:rPr lang="de-DE" sz="3000" b="0" i="0" dirty="0" err="1">
                <a:solidFill>
                  <a:srgbClr val="0F1A1C"/>
                </a:solidFill>
                <a:latin typeface="Georgia"/>
              </a:rPr>
              <a:t>Steps</a:t>
            </a:r>
            <a:endParaRPr lang="de-DE" sz="3000" b="0" i="0" dirty="0">
              <a:solidFill>
                <a:srgbClr val="0F1A1C"/>
              </a:solidFill>
              <a:latin typeface="Georgia"/>
            </a:endParaRPr>
          </a:p>
          <a:p>
            <a:pPr>
              <a:lnSpc>
                <a:spcPct val="100000"/>
              </a:lnSpc>
              <a:spcBef>
                <a:spcPts val="0"/>
              </a:spcBef>
              <a:spcAft>
                <a:spcPts val="0"/>
              </a:spcAft>
            </a:pPr>
            <a:r>
              <a:rPr lang="de-DE" sz="1700" dirty="0">
                <a:solidFill>
                  <a:srgbClr val="14636E"/>
                </a:solidFill>
                <a:latin typeface="Consolas"/>
              </a:rPr>
              <a:t>Current </a:t>
            </a:r>
            <a:r>
              <a:rPr lang="de-DE" sz="1700" dirty="0" err="1">
                <a:solidFill>
                  <a:srgbClr val="14636E"/>
                </a:solidFill>
                <a:latin typeface="Consolas"/>
              </a:rPr>
              <a:t>status</a:t>
            </a:r>
            <a:r>
              <a:rPr lang="de-DE" sz="1700" dirty="0">
                <a:solidFill>
                  <a:srgbClr val="14636E"/>
                </a:solidFill>
                <a:latin typeface="Consolas"/>
              </a:rPr>
              <a:t> and </a:t>
            </a:r>
            <a:r>
              <a:rPr lang="de-DE" sz="1700" dirty="0" err="1">
                <a:solidFill>
                  <a:srgbClr val="14636E"/>
                </a:solidFill>
                <a:latin typeface="Consolas"/>
              </a:rPr>
              <a:t>path</a:t>
            </a:r>
            <a:r>
              <a:rPr lang="de-DE" sz="1700" dirty="0">
                <a:solidFill>
                  <a:srgbClr val="14636E"/>
                </a:solidFill>
                <a:latin typeface="Consolas"/>
              </a:rPr>
              <a:t> to the final </a:t>
            </a:r>
            <a:r>
              <a:rPr lang="de-DE" sz="1700" dirty="0" err="1">
                <a:solidFill>
                  <a:srgbClr val="14636E"/>
                </a:solidFill>
                <a:latin typeface="Consolas"/>
              </a:rPr>
              <a:t>product</a:t>
            </a:r>
            <a:endParaRPr sz="1700" dirty="0">
              <a:solidFill>
                <a:srgbClr val="14636E"/>
              </a:solidFill>
              <a:latin typeface="Consolas"/>
            </a:endParaRP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3182325"/>
            <a:ext cx="5163159"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3182325"/>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3383494"/>
            <a:ext cx="4687671" cy="1029193"/>
          </a:xfrm>
          <a:prstGeom prst="rect">
            <a:avLst/>
          </a:prstGeom>
          <a:noFill/>
        </p:spPr>
        <p:txBody>
          <a:bodyPr wrap="square" lIns="0" tIns="0" rIns="0" bIns="0">
            <a:spAutoFit/>
          </a:bodyPr>
          <a:lstStyle/>
          <a:p>
            <a:pPr>
              <a:lnSpc>
                <a:spcPct val="120000"/>
              </a:lnSpc>
              <a:spcBef>
                <a:spcPts val="0"/>
              </a:spcBef>
              <a:spcAft>
                <a:spcPts val="600"/>
              </a:spcAft>
            </a:pPr>
            <a:r>
              <a:rPr sz="950" b="1" i="0" dirty="0">
                <a:solidFill>
                  <a:srgbClr val="9A4037"/>
                </a:solidFill>
                <a:latin typeface="Consolas"/>
              </a:rPr>
              <a:t>RISKS</a:t>
            </a:r>
          </a:p>
          <a:p>
            <a:pPr marL="171450" indent="-171450">
              <a:lnSpc>
                <a:spcPct val="120000"/>
              </a:lnSpc>
              <a:spcAft>
                <a:spcPts val="600"/>
              </a:spcAft>
              <a:buFont typeface="Arial" panose="020B0604020202020204" pitchFamily="34" charset="0"/>
              <a:buChar char="•"/>
            </a:pPr>
            <a:r>
              <a:rPr sz="1150" b="1" dirty="0"/>
              <a:t>Synthetic text quality.</a:t>
            </a:r>
            <a:r>
              <a:rPr lang="de-DE" sz="1150" b="1" dirty="0"/>
              <a:t> </a:t>
            </a:r>
          </a:p>
          <a:p>
            <a:pPr marL="171450" indent="-171450">
              <a:lnSpc>
                <a:spcPct val="120000"/>
              </a:lnSpc>
              <a:spcAft>
                <a:spcPts val="600"/>
              </a:spcAft>
              <a:buFont typeface="Arial" panose="020B0604020202020204" pitchFamily="34" charset="0"/>
              <a:buChar char="•"/>
            </a:pPr>
            <a:r>
              <a:rPr sz="1150" b="1" dirty="0"/>
              <a:t>Arousal still </a:t>
            </a:r>
            <a:r>
              <a:rPr sz="1150" b="1" dirty="0" err="1"/>
              <a:t>ope</a:t>
            </a:r>
            <a:r>
              <a:rPr lang="de-DE" sz="1150" b="1" dirty="0"/>
              <a:t>n.</a:t>
            </a:r>
            <a:endParaRPr sz="1150" b="1" dirty="0"/>
          </a:p>
          <a:p>
            <a:pPr marL="171450" indent="-171450">
              <a:lnSpc>
                <a:spcPct val="120000"/>
              </a:lnSpc>
              <a:spcAft>
                <a:spcPts val="600"/>
              </a:spcAft>
              <a:buFont typeface="Arial" panose="020B0604020202020204" pitchFamily="34" charset="0"/>
              <a:buChar char="•"/>
            </a:pPr>
            <a:r>
              <a:rPr sz="1150" b="1" dirty="0"/>
              <a:t>Topic granularity.</a:t>
            </a:r>
            <a:endParaRPr lang="de-DE" sz="1150" b="1" dirty="0"/>
          </a:p>
        </p:txBody>
      </p:sp>
      <p:sp>
        <p:nvSpPr>
          <p:cNvPr id="9" name="Rectangle 8"/>
          <p:cNvSpPr/>
          <p:nvPr/>
        </p:nvSpPr>
        <p:spPr>
          <a:xfrm>
            <a:off x="6278727" y="3182325"/>
            <a:ext cx="5163159"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6278727" y="3182325"/>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34759" y="3340965"/>
            <a:ext cx="4687671" cy="2221506"/>
          </a:xfrm>
          <a:prstGeom prst="rect">
            <a:avLst/>
          </a:prstGeom>
          <a:noFill/>
        </p:spPr>
        <p:txBody>
          <a:bodyPr wrap="square" lIns="0" tIns="0" rIns="0" bIns="0">
            <a:spAutoFit/>
          </a:bodyPr>
          <a:lstStyle/>
          <a:p>
            <a:pPr>
              <a:lnSpc>
                <a:spcPct val="120000"/>
              </a:lnSpc>
              <a:spcBef>
                <a:spcPts val="0"/>
              </a:spcBef>
              <a:spcAft>
                <a:spcPts val="600"/>
              </a:spcAft>
            </a:pPr>
            <a:r>
              <a:rPr sz="950" b="1" i="0" dirty="0">
                <a:solidFill>
                  <a:srgbClr val="14636E"/>
                </a:solidFill>
                <a:latin typeface="Consolas"/>
              </a:rPr>
              <a:t>NEXT STEPS</a:t>
            </a:r>
            <a:endParaRPr lang="de-DE" sz="950" b="1" i="0" dirty="0">
              <a:solidFill>
                <a:srgbClr val="14636E"/>
              </a:solidFill>
              <a:latin typeface="Consolas"/>
            </a:endParaRPr>
          </a:p>
          <a:p>
            <a:pPr marL="171450" indent="-171450">
              <a:lnSpc>
                <a:spcPct val="120000"/>
              </a:lnSpc>
              <a:spcBef>
                <a:spcPts val="0"/>
              </a:spcBef>
              <a:spcAft>
                <a:spcPts val="600"/>
              </a:spcAft>
              <a:buFont typeface="Arial" panose="020B0604020202020204" pitchFamily="34" charset="0"/>
              <a:buChar char="•"/>
            </a:pPr>
            <a:r>
              <a:rPr lang="de-DE" sz="1150" b="1" dirty="0"/>
              <a:t>Emotion </a:t>
            </a:r>
            <a:r>
              <a:rPr lang="de-DE" sz="1150" b="1" dirty="0" err="1"/>
              <a:t>mapping</a:t>
            </a:r>
            <a:r>
              <a:rPr lang="de-DE" sz="1150" b="1" dirty="0"/>
              <a:t> </a:t>
            </a:r>
          </a:p>
          <a:p>
            <a:pPr marL="171450" indent="-171450">
              <a:lnSpc>
                <a:spcPct val="120000"/>
              </a:lnSpc>
              <a:spcBef>
                <a:spcPts val="0"/>
              </a:spcBef>
              <a:spcAft>
                <a:spcPts val="600"/>
              </a:spcAft>
              <a:buFont typeface="Arial" panose="020B0604020202020204" pitchFamily="34" charset="0"/>
              <a:buChar char="•"/>
            </a:pPr>
            <a:r>
              <a:rPr lang="de-DE" sz="1150" b="1" dirty="0"/>
              <a:t>Topic </a:t>
            </a:r>
            <a:r>
              <a:rPr lang="de-DE" sz="1150" b="1" dirty="0" err="1"/>
              <a:t>consolidation</a:t>
            </a:r>
            <a:endParaRPr lang="de-DE" sz="1150" b="1" dirty="0"/>
          </a:p>
          <a:p>
            <a:pPr marL="171450" indent="-171450">
              <a:lnSpc>
                <a:spcPct val="120000"/>
              </a:lnSpc>
              <a:spcBef>
                <a:spcPts val="0"/>
              </a:spcBef>
              <a:spcAft>
                <a:spcPts val="600"/>
              </a:spcAft>
              <a:buFont typeface="Arial" panose="020B0604020202020204" pitchFamily="34" charset="0"/>
              <a:buChar char="•"/>
            </a:pPr>
            <a:r>
              <a:rPr lang="de-DE" sz="1150" b="1" dirty="0"/>
              <a:t>Topic </a:t>
            </a:r>
            <a:r>
              <a:rPr lang="de-DE" sz="1150" b="1" dirty="0" err="1"/>
              <a:t>trends</a:t>
            </a:r>
            <a:r>
              <a:rPr lang="de-DE" sz="1150" b="1" dirty="0"/>
              <a:t> &amp; organisational </a:t>
            </a:r>
            <a:r>
              <a:rPr lang="de-DE" sz="1150" b="1" dirty="0" err="1"/>
              <a:t>comparison</a:t>
            </a:r>
            <a:endParaRPr lang="de-DE" sz="1150" b="1" dirty="0"/>
          </a:p>
          <a:p>
            <a:pPr marL="171450" indent="-171450">
              <a:lnSpc>
                <a:spcPct val="120000"/>
              </a:lnSpc>
              <a:spcBef>
                <a:spcPts val="0"/>
              </a:spcBef>
              <a:spcAft>
                <a:spcPts val="600"/>
              </a:spcAft>
              <a:buFont typeface="Arial" panose="020B0604020202020204" pitchFamily="34" charset="0"/>
              <a:buChar char="•"/>
            </a:pPr>
            <a:r>
              <a:rPr lang="de-DE" sz="1150" b="1" dirty="0" err="1"/>
              <a:t>Predictive</a:t>
            </a:r>
            <a:r>
              <a:rPr lang="de-DE" sz="1150" b="1" dirty="0"/>
              <a:t> </a:t>
            </a:r>
            <a:r>
              <a:rPr lang="de-DE" sz="1150" b="1" dirty="0" err="1"/>
              <a:t>modelling</a:t>
            </a:r>
            <a:endParaRPr lang="de-DE" sz="1150" b="1" dirty="0"/>
          </a:p>
          <a:p>
            <a:pPr marL="171450" indent="-171450">
              <a:lnSpc>
                <a:spcPct val="120000"/>
              </a:lnSpc>
              <a:spcBef>
                <a:spcPts val="0"/>
              </a:spcBef>
              <a:spcAft>
                <a:spcPts val="600"/>
              </a:spcAft>
              <a:buFont typeface="Arial" panose="020B0604020202020204" pitchFamily="34" charset="0"/>
              <a:buChar char="•"/>
            </a:pPr>
            <a:r>
              <a:rPr lang="de-DE" sz="1150" b="1" dirty="0"/>
              <a:t>Dashboard </a:t>
            </a:r>
            <a:r>
              <a:rPr lang="de-DE" sz="1150" b="1" dirty="0" err="1"/>
              <a:t>finalisation</a:t>
            </a:r>
            <a:r>
              <a:rPr lang="de-DE" sz="1150" b="1" dirty="0"/>
              <a:t> </a:t>
            </a:r>
          </a:p>
          <a:p>
            <a:pPr marL="171450" indent="-171450">
              <a:lnSpc>
                <a:spcPct val="120000"/>
              </a:lnSpc>
              <a:spcBef>
                <a:spcPts val="0"/>
              </a:spcBef>
              <a:spcAft>
                <a:spcPts val="600"/>
              </a:spcAft>
              <a:buFont typeface="Arial" panose="020B0604020202020204" pitchFamily="34" charset="0"/>
              <a:buChar char="•"/>
            </a:pPr>
            <a:r>
              <a:rPr lang="de-DE" sz="1150" b="1" dirty="0"/>
              <a:t>Evaluation &amp; </a:t>
            </a:r>
            <a:r>
              <a:rPr lang="de-DE" sz="1150" b="1" dirty="0" err="1"/>
              <a:t>validation</a:t>
            </a:r>
            <a:br>
              <a:rPr lang="de-DE" dirty="0"/>
            </a:br>
            <a:endParaRPr lang="de-DE" dirty="0"/>
          </a:p>
        </p:txBody>
      </p:sp>
      <p:sp>
        <p:nvSpPr>
          <p:cNvPr id="14" name="TextBox 13"/>
          <p:cNvSpPr txBox="1"/>
          <p:nvPr/>
        </p:nvSpPr>
        <p:spPr>
          <a:xfrm>
            <a:off x="9613087" y="562143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9 / 21</a:t>
            </a:r>
          </a:p>
        </p:txBody>
      </p:sp>
      <p:sp>
        <p:nvSpPr>
          <p:cNvPr id="19" name="Rectangle 5">
            <a:extLst>
              <a:ext uri="{FF2B5EF4-FFF2-40B4-BE49-F238E27FC236}">
                <a16:creationId xmlns:a16="http://schemas.microsoft.com/office/drawing/2014/main" id="{41831035-789E-0909-BD40-52CD1F6CD6A6}"/>
              </a:ext>
            </a:extLst>
          </p:cNvPr>
          <p:cNvSpPr/>
          <p:nvPr/>
        </p:nvSpPr>
        <p:spPr>
          <a:xfrm>
            <a:off x="746757" y="1707592"/>
            <a:ext cx="952401" cy="1321628"/>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Rectangle 6">
            <a:extLst>
              <a:ext uri="{FF2B5EF4-FFF2-40B4-BE49-F238E27FC236}">
                <a16:creationId xmlns:a16="http://schemas.microsoft.com/office/drawing/2014/main" id="{39BEC29D-CAAA-8D51-6E35-55CF5F2B8690}"/>
              </a:ext>
            </a:extLst>
          </p:cNvPr>
          <p:cNvSpPr/>
          <p:nvPr/>
        </p:nvSpPr>
        <p:spPr>
          <a:xfrm>
            <a:off x="746755" y="1707592"/>
            <a:ext cx="45719" cy="1321628"/>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7">
            <a:extLst>
              <a:ext uri="{FF2B5EF4-FFF2-40B4-BE49-F238E27FC236}">
                <a16:creationId xmlns:a16="http://schemas.microsoft.com/office/drawing/2014/main" id="{25E554C3-3563-0DF9-9654-41C7618A92AC}"/>
              </a:ext>
            </a:extLst>
          </p:cNvPr>
          <p:cNvSpPr txBox="1"/>
          <p:nvPr/>
        </p:nvSpPr>
        <p:spPr>
          <a:xfrm>
            <a:off x="868817" y="1844753"/>
            <a:ext cx="764573" cy="840936"/>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01</a:t>
            </a:r>
          </a:p>
          <a:p>
            <a:pPr>
              <a:lnSpc>
                <a:spcPct val="105000"/>
              </a:lnSpc>
              <a:spcBef>
                <a:spcPts val="0"/>
              </a:spcBef>
              <a:spcAft>
                <a:spcPts val="300"/>
              </a:spcAft>
            </a:pPr>
            <a:r>
              <a:rPr lang="de-DE" sz="1250" b="1" dirty="0">
                <a:solidFill>
                  <a:srgbClr val="0F1A1C"/>
                </a:solidFill>
                <a:latin typeface="Calibri"/>
              </a:rPr>
              <a:t>EDA &amp;</a:t>
            </a:r>
          </a:p>
          <a:p>
            <a:pPr>
              <a:lnSpc>
                <a:spcPct val="105000"/>
              </a:lnSpc>
              <a:spcBef>
                <a:spcPts val="0"/>
              </a:spcBef>
              <a:spcAft>
                <a:spcPts val="300"/>
              </a:spcAft>
            </a:pPr>
            <a:r>
              <a:rPr lang="de-DE" sz="1250" b="1" i="0" dirty="0">
                <a:solidFill>
                  <a:srgbClr val="0F1A1C"/>
                </a:solidFill>
                <a:latin typeface="Calibri"/>
              </a:rPr>
              <a:t>Data Quali</a:t>
            </a:r>
            <a:r>
              <a:rPr lang="de-DE" sz="1250" b="1" dirty="0">
                <a:solidFill>
                  <a:srgbClr val="0F1A1C"/>
                </a:solidFill>
                <a:latin typeface="Calibri"/>
              </a:rPr>
              <a:t>ty</a:t>
            </a:r>
            <a:endParaRPr sz="1250" b="1" i="0" dirty="0">
              <a:solidFill>
                <a:srgbClr val="0F1A1C"/>
              </a:solidFill>
              <a:latin typeface="Calibri"/>
            </a:endParaRPr>
          </a:p>
        </p:txBody>
      </p:sp>
      <p:sp>
        <p:nvSpPr>
          <p:cNvPr id="22" name="TextBox 8">
            <a:extLst>
              <a:ext uri="{FF2B5EF4-FFF2-40B4-BE49-F238E27FC236}">
                <a16:creationId xmlns:a16="http://schemas.microsoft.com/office/drawing/2014/main" id="{E4112313-C85B-0A6F-D904-2C333A38DA01}"/>
              </a:ext>
            </a:extLst>
          </p:cNvPr>
          <p:cNvSpPr txBox="1"/>
          <p:nvPr/>
        </p:nvSpPr>
        <p:spPr>
          <a:xfrm>
            <a:off x="1718700" y="2137361"/>
            <a:ext cx="103635" cy="240066"/>
          </a:xfrm>
          <a:prstGeom prst="rect">
            <a:avLst/>
          </a:prstGeom>
          <a:noFill/>
        </p:spPr>
        <p:txBody>
          <a:bodyPr wrap="square" lIns="0" tIns="0" rIns="0" bIns="0">
            <a:spAutoFit/>
          </a:bodyPr>
          <a:lstStyle/>
          <a:p>
            <a:pPr algn="ctr">
              <a:lnSpc>
                <a:spcPct val="120000"/>
              </a:lnSpc>
              <a:spcBef>
                <a:spcPts val="0"/>
              </a:spcBef>
              <a:spcAft>
                <a:spcPts val="0"/>
              </a:spcAft>
            </a:pPr>
            <a:r>
              <a:rPr sz="1400" b="0" i="0" dirty="0">
                <a:solidFill>
                  <a:srgbClr val="8A9B9E"/>
                </a:solidFill>
                <a:latin typeface="Consolas"/>
              </a:rPr>
              <a:t>›</a:t>
            </a:r>
          </a:p>
        </p:txBody>
      </p:sp>
      <p:sp>
        <p:nvSpPr>
          <p:cNvPr id="23" name="Rectangle 9">
            <a:extLst>
              <a:ext uri="{FF2B5EF4-FFF2-40B4-BE49-F238E27FC236}">
                <a16:creationId xmlns:a16="http://schemas.microsoft.com/office/drawing/2014/main" id="{4018D630-4909-C235-BCDD-1387036C3BCB}"/>
              </a:ext>
            </a:extLst>
          </p:cNvPr>
          <p:cNvSpPr/>
          <p:nvPr/>
        </p:nvSpPr>
        <p:spPr>
          <a:xfrm>
            <a:off x="1851393" y="1707592"/>
            <a:ext cx="940755" cy="1321628"/>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Rectangle 10">
            <a:extLst>
              <a:ext uri="{FF2B5EF4-FFF2-40B4-BE49-F238E27FC236}">
                <a16:creationId xmlns:a16="http://schemas.microsoft.com/office/drawing/2014/main" id="{D1689CBD-D2FA-5273-2EB6-5D4CD5576D8C}"/>
              </a:ext>
            </a:extLst>
          </p:cNvPr>
          <p:cNvSpPr/>
          <p:nvPr/>
        </p:nvSpPr>
        <p:spPr>
          <a:xfrm>
            <a:off x="1851392" y="1707592"/>
            <a:ext cx="45719" cy="1321628"/>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5" name="TextBox 11">
            <a:extLst>
              <a:ext uri="{FF2B5EF4-FFF2-40B4-BE49-F238E27FC236}">
                <a16:creationId xmlns:a16="http://schemas.microsoft.com/office/drawing/2014/main" id="{0E76D51F-B1D5-6CE3-693F-833E04AD15C7}"/>
              </a:ext>
            </a:extLst>
          </p:cNvPr>
          <p:cNvSpPr txBox="1"/>
          <p:nvPr/>
        </p:nvSpPr>
        <p:spPr>
          <a:xfrm>
            <a:off x="1973454" y="1844753"/>
            <a:ext cx="764573" cy="638957"/>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02</a:t>
            </a:r>
          </a:p>
          <a:p>
            <a:pPr>
              <a:lnSpc>
                <a:spcPct val="105000"/>
              </a:lnSpc>
              <a:spcBef>
                <a:spcPts val="0"/>
              </a:spcBef>
              <a:spcAft>
                <a:spcPts val="300"/>
              </a:spcAft>
            </a:pPr>
            <a:r>
              <a:rPr lang="de-DE" sz="1250" b="1" i="0" dirty="0">
                <a:solidFill>
                  <a:srgbClr val="0F1A1C"/>
                </a:solidFill>
                <a:latin typeface="Calibri"/>
              </a:rPr>
              <a:t>Survey</a:t>
            </a:r>
          </a:p>
          <a:p>
            <a:pPr>
              <a:lnSpc>
                <a:spcPct val="105000"/>
              </a:lnSpc>
              <a:spcBef>
                <a:spcPts val="0"/>
              </a:spcBef>
              <a:spcAft>
                <a:spcPts val="300"/>
              </a:spcAft>
            </a:pPr>
            <a:r>
              <a:rPr lang="de-DE" sz="1250" b="1" i="0" dirty="0">
                <a:solidFill>
                  <a:srgbClr val="0F1A1C"/>
                </a:solidFill>
                <a:latin typeface="Calibri"/>
              </a:rPr>
              <a:t>Scoring</a:t>
            </a:r>
            <a:endParaRPr sz="1250" b="1" i="0" dirty="0">
              <a:solidFill>
                <a:srgbClr val="0F1A1C"/>
              </a:solidFill>
              <a:latin typeface="Calibri"/>
            </a:endParaRPr>
          </a:p>
        </p:txBody>
      </p:sp>
      <p:sp>
        <p:nvSpPr>
          <p:cNvPr id="26" name="TextBox 12">
            <a:extLst>
              <a:ext uri="{FF2B5EF4-FFF2-40B4-BE49-F238E27FC236}">
                <a16:creationId xmlns:a16="http://schemas.microsoft.com/office/drawing/2014/main" id="{B16679A0-4A54-F212-E90D-DDCB532F3512}"/>
              </a:ext>
            </a:extLst>
          </p:cNvPr>
          <p:cNvSpPr txBox="1"/>
          <p:nvPr/>
        </p:nvSpPr>
        <p:spPr>
          <a:xfrm>
            <a:off x="2823347" y="2137361"/>
            <a:ext cx="103635" cy="240066"/>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27" name="Rectangle 13">
            <a:extLst>
              <a:ext uri="{FF2B5EF4-FFF2-40B4-BE49-F238E27FC236}">
                <a16:creationId xmlns:a16="http://schemas.microsoft.com/office/drawing/2014/main" id="{8DA68816-6C6B-18CB-73ED-D0F095753185}"/>
              </a:ext>
            </a:extLst>
          </p:cNvPr>
          <p:cNvSpPr/>
          <p:nvPr/>
        </p:nvSpPr>
        <p:spPr>
          <a:xfrm>
            <a:off x="2956040" y="1707592"/>
            <a:ext cx="940755" cy="1321628"/>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8" name="Rectangle 14">
            <a:extLst>
              <a:ext uri="{FF2B5EF4-FFF2-40B4-BE49-F238E27FC236}">
                <a16:creationId xmlns:a16="http://schemas.microsoft.com/office/drawing/2014/main" id="{4B15CBCC-EFAF-6B48-A3A7-C3F4F8BE76D6}"/>
              </a:ext>
            </a:extLst>
          </p:cNvPr>
          <p:cNvSpPr/>
          <p:nvPr/>
        </p:nvSpPr>
        <p:spPr>
          <a:xfrm>
            <a:off x="2956039" y="1707592"/>
            <a:ext cx="45719" cy="1321628"/>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9" name="TextBox 15">
            <a:extLst>
              <a:ext uri="{FF2B5EF4-FFF2-40B4-BE49-F238E27FC236}">
                <a16:creationId xmlns:a16="http://schemas.microsoft.com/office/drawing/2014/main" id="{91FA5CD8-72CF-B7F3-5D73-7A05A67C7340}"/>
              </a:ext>
            </a:extLst>
          </p:cNvPr>
          <p:cNvSpPr txBox="1"/>
          <p:nvPr/>
        </p:nvSpPr>
        <p:spPr>
          <a:xfrm>
            <a:off x="3078101" y="1844753"/>
            <a:ext cx="764573" cy="638957"/>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03</a:t>
            </a:r>
          </a:p>
          <a:p>
            <a:pPr>
              <a:lnSpc>
                <a:spcPct val="105000"/>
              </a:lnSpc>
              <a:spcBef>
                <a:spcPts val="0"/>
              </a:spcBef>
              <a:spcAft>
                <a:spcPts val="300"/>
              </a:spcAft>
            </a:pPr>
            <a:r>
              <a:rPr lang="de-DE" sz="1250" b="1" i="0" dirty="0" err="1">
                <a:solidFill>
                  <a:srgbClr val="0F1A1C"/>
                </a:solidFill>
                <a:latin typeface="Calibri"/>
              </a:rPr>
              <a:t>Synthetic</a:t>
            </a:r>
            <a:endParaRPr lang="de-DE" sz="1250" b="1" dirty="0">
              <a:solidFill>
                <a:srgbClr val="0F1A1C"/>
              </a:solidFill>
              <a:latin typeface="Calibri"/>
            </a:endParaRPr>
          </a:p>
          <a:p>
            <a:pPr>
              <a:lnSpc>
                <a:spcPct val="105000"/>
              </a:lnSpc>
              <a:spcBef>
                <a:spcPts val="0"/>
              </a:spcBef>
              <a:spcAft>
                <a:spcPts val="300"/>
              </a:spcAft>
            </a:pPr>
            <a:r>
              <a:rPr lang="de-DE" sz="1250" b="1" i="0" dirty="0">
                <a:solidFill>
                  <a:srgbClr val="0F1A1C"/>
                </a:solidFill>
                <a:latin typeface="Calibri"/>
              </a:rPr>
              <a:t>Da</a:t>
            </a:r>
            <a:r>
              <a:rPr lang="de-DE" sz="1250" b="1" dirty="0">
                <a:solidFill>
                  <a:srgbClr val="0F1A1C"/>
                </a:solidFill>
                <a:latin typeface="Calibri"/>
              </a:rPr>
              <a:t>taset</a:t>
            </a:r>
            <a:endParaRPr sz="1250" b="1" i="0" dirty="0">
              <a:solidFill>
                <a:srgbClr val="0F1A1C"/>
              </a:solidFill>
              <a:latin typeface="Calibri"/>
            </a:endParaRPr>
          </a:p>
        </p:txBody>
      </p:sp>
      <p:sp>
        <p:nvSpPr>
          <p:cNvPr id="30" name="TextBox 16">
            <a:extLst>
              <a:ext uri="{FF2B5EF4-FFF2-40B4-BE49-F238E27FC236}">
                <a16:creationId xmlns:a16="http://schemas.microsoft.com/office/drawing/2014/main" id="{FE673AF5-DBA1-1BBA-EE64-295CC9B8AE4C}"/>
              </a:ext>
            </a:extLst>
          </p:cNvPr>
          <p:cNvSpPr txBox="1"/>
          <p:nvPr/>
        </p:nvSpPr>
        <p:spPr>
          <a:xfrm>
            <a:off x="3896091" y="2137361"/>
            <a:ext cx="103635" cy="240066"/>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31" name="Rectangle 17">
            <a:extLst>
              <a:ext uri="{FF2B5EF4-FFF2-40B4-BE49-F238E27FC236}">
                <a16:creationId xmlns:a16="http://schemas.microsoft.com/office/drawing/2014/main" id="{D566BA41-9949-8D20-9773-3192A4D78F3E}"/>
              </a:ext>
            </a:extLst>
          </p:cNvPr>
          <p:cNvSpPr/>
          <p:nvPr/>
        </p:nvSpPr>
        <p:spPr>
          <a:xfrm>
            <a:off x="4028784" y="1707592"/>
            <a:ext cx="940755" cy="1321628"/>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2" name="Rectangle 18">
            <a:extLst>
              <a:ext uri="{FF2B5EF4-FFF2-40B4-BE49-F238E27FC236}">
                <a16:creationId xmlns:a16="http://schemas.microsoft.com/office/drawing/2014/main" id="{2F81D46E-648A-4203-4E63-FC1DE6474DF7}"/>
              </a:ext>
            </a:extLst>
          </p:cNvPr>
          <p:cNvSpPr/>
          <p:nvPr/>
        </p:nvSpPr>
        <p:spPr>
          <a:xfrm>
            <a:off x="4028783" y="1707592"/>
            <a:ext cx="45719" cy="1321628"/>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3" name="TextBox 19">
            <a:extLst>
              <a:ext uri="{FF2B5EF4-FFF2-40B4-BE49-F238E27FC236}">
                <a16:creationId xmlns:a16="http://schemas.microsoft.com/office/drawing/2014/main" id="{5A07241A-EF23-7C77-BA55-022614B1D2BC}"/>
              </a:ext>
            </a:extLst>
          </p:cNvPr>
          <p:cNvSpPr txBox="1"/>
          <p:nvPr/>
        </p:nvSpPr>
        <p:spPr>
          <a:xfrm>
            <a:off x="4108313" y="1844753"/>
            <a:ext cx="857177" cy="638957"/>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04</a:t>
            </a:r>
            <a:endParaRPr lang="de-DE" sz="900" b="0" i="0" dirty="0">
              <a:solidFill>
                <a:srgbClr val="8A9B9E"/>
              </a:solidFill>
              <a:latin typeface="Consolas"/>
            </a:endParaRPr>
          </a:p>
          <a:p>
            <a:pPr>
              <a:lnSpc>
                <a:spcPct val="105000"/>
              </a:lnSpc>
              <a:spcBef>
                <a:spcPts val="0"/>
              </a:spcBef>
              <a:spcAft>
                <a:spcPts val="300"/>
              </a:spcAft>
            </a:pPr>
            <a:r>
              <a:rPr lang="de-DE" sz="1250" b="1" i="0" dirty="0">
                <a:solidFill>
                  <a:srgbClr val="0F1A1C"/>
                </a:solidFill>
                <a:latin typeface="Calibri"/>
              </a:rPr>
              <a:t>Zero Shot</a:t>
            </a:r>
          </a:p>
          <a:p>
            <a:pPr>
              <a:lnSpc>
                <a:spcPct val="105000"/>
              </a:lnSpc>
              <a:spcBef>
                <a:spcPts val="0"/>
              </a:spcBef>
              <a:spcAft>
                <a:spcPts val="300"/>
              </a:spcAft>
            </a:pPr>
            <a:r>
              <a:rPr lang="de-DE" sz="1250" b="1" dirty="0">
                <a:solidFill>
                  <a:srgbClr val="0F1A1C"/>
                </a:solidFill>
                <a:latin typeface="Calibri"/>
              </a:rPr>
              <a:t>Baseline</a:t>
            </a:r>
            <a:endParaRPr lang="de-DE" sz="1250" b="1" i="0" dirty="0">
              <a:solidFill>
                <a:srgbClr val="0F1A1C"/>
              </a:solidFill>
              <a:latin typeface="Calibri"/>
            </a:endParaRPr>
          </a:p>
        </p:txBody>
      </p:sp>
      <p:sp>
        <p:nvSpPr>
          <p:cNvPr id="34" name="TextBox 20">
            <a:extLst>
              <a:ext uri="{FF2B5EF4-FFF2-40B4-BE49-F238E27FC236}">
                <a16:creationId xmlns:a16="http://schemas.microsoft.com/office/drawing/2014/main" id="{151A4CB5-322F-44A0-5995-B933C8825134}"/>
              </a:ext>
            </a:extLst>
          </p:cNvPr>
          <p:cNvSpPr txBox="1"/>
          <p:nvPr/>
        </p:nvSpPr>
        <p:spPr>
          <a:xfrm>
            <a:off x="4990114" y="2137361"/>
            <a:ext cx="103635" cy="240066"/>
          </a:xfrm>
          <a:prstGeom prst="rect">
            <a:avLst/>
          </a:prstGeom>
          <a:noFill/>
        </p:spPr>
        <p:txBody>
          <a:bodyPr wrap="square" lIns="0" tIns="0" rIns="0" bIns="0">
            <a:spAutoFit/>
          </a:bodyPr>
          <a:lstStyle/>
          <a:p>
            <a:pPr algn="ctr">
              <a:lnSpc>
                <a:spcPct val="120000"/>
              </a:lnSpc>
              <a:spcBef>
                <a:spcPts val="0"/>
              </a:spcBef>
              <a:spcAft>
                <a:spcPts val="0"/>
              </a:spcAft>
            </a:pPr>
            <a:r>
              <a:rPr sz="1400" b="0" i="0" dirty="0">
                <a:solidFill>
                  <a:srgbClr val="8A9B9E"/>
                </a:solidFill>
                <a:latin typeface="Consolas"/>
              </a:rPr>
              <a:t>›</a:t>
            </a:r>
          </a:p>
        </p:txBody>
      </p:sp>
      <p:sp>
        <p:nvSpPr>
          <p:cNvPr id="35" name="Rectangle 21">
            <a:extLst>
              <a:ext uri="{FF2B5EF4-FFF2-40B4-BE49-F238E27FC236}">
                <a16:creationId xmlns:a16="http://schemas.microsoft.com/office/drawing/2014/main" id="{D55367CD-3584-280A-AE74-A13EEED93BBB}"/>
              </a:ext>
            </a:extLst>
          </p:cNvPr>
          <p:cNvSpPr/>
          <p:nvPr/>
        </p:nvSpPr>
        <p:spPr>
          <a:xfrm>
            <a:off x="5112174" y="1707592"/>
            <a:ext cx="940755" cy="1321628"/>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6" name="Rectangle 22">
            <a:extLst>
              <a:ext uri="{FF2B5EF4-FFF2-40B4-BE49-F238E27FC236}">
                <a16:creationId xmlns:a16="http://schemas.microsoft.com/office/drawing/2014/main" id="{B9E6F71E-B3C7-763B-3AC6-95ACF68304C0}"/>
              </a:ext>
            </a:extLst>
          </p:cNvPr>
          <p:cNvSpPr/>
          <p:nvPr/>
        </p:nvSpPr>
        <p:spPr>
          <a:xfrm>
            <a:off x="5112173" y="1707592"/>
            <a:ext cx="45719" cy="1321628"/>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7" name="TextBox 23">
            <a:extLst>
              <a:ext uri="{FF2B5EF4-FFF2-40B4-BE49-F238E27FC236}">
                <a16:creationId xmlns:a16="http://schemas.microsoft.com/office/drawing/2014/main" id="{3F8D11B1-C569-2A56-FAF4-49C47915E369}"/>
              </a:ext>
            </a:extLst>
          </p:cNvPr>
          <p:cNvSpPr txBox="1"/>
          <p:nvPr/>
        </p:nvSpPr>
        <p:spPr>
          <a:xfrm>
            <a:off x="5234235" y="1844753"/>
            <a:ext cx="764573" cy="879408"/>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05</a:t>
            </a:r>
          </a:p>
          <a:p>
            <a:pPr>
              <a:lnSpc>
                <a:spcPct val="105000"/>
              </a:lnSpc>
              <a:spcBef>
                <a:spcPts val="0"/>
              </a:spcBef>
              <a:spcAft>
                <a:spcPts val="300"/>
              </a:spcAft>
            </a:pPr>
            <a:r>
              <a:rPr lang="de-DE" sz="1250" b="1" i="0" dirty="0">
                <a:solidFill>
                  <a:srgbClr val="0F1A1C"/>
                </a:solidFill>
                <a:latin typeface="Calibri"/>
              </a:rPr>
              <a:t>German</a:t>
            </a:r>
          </a:p>
          <a:p>
            <a:pPr>
              <a:lnSpc>
                <a:spcPct val="105000"/>
              </a:lnSpc>
              <a:spcBef>
                <a:spcPts val="0"/>
              </a:spcBef>
              <a:spcAft>
                <a:spcPts val="300"/>
              </a:spcAft>
            </a:pPr>
            <a:r>
              <a:rPr lang="de-DE" sz="1250" b="1" dirty="0">
                <a:solidFill>
                  <a:srgbClr val="0F1A1C"/>
                </a:solidFill>
                <a:latin typeface="Calibri"/>
              </a:rPr>
              <a:t>Sentiment </a:t>
            </a:r>
          </a:p>
          <a:p>
            <a:pPr>
              <a:lnSpc>
                <a:spcPct val="105000"/>
              </a:lnSpc>
              <a:spcBef>
                <a:spcPts val="0"/>
              </a:spcBef>
              <a:spcAft>
                <a:spcPts val="300"/>
              </a:spcAft>
            </a:pPr>
            <a:r>
              <a:rPr lang="de-DE" sz="1250" b="1" i="0" dirty="0">
                <a:solidFill>
                  <a:srgbClr val="0F1A1C"/>
                </a:solidFill>
                <a:latin typeface="Calibri"/>
              </a:rPr>
              <a:t>BERT</a:t>
            </a:r>
            <a:endParaRPr sz="1250" b="1" i="0" dirty="0">
              <a:solidFill>
                <a:srgbClr val="0F1A1C"/>
              </a:solidFill>
              <a:latin typeface="Calibri"/>
            </a:endParaRPr>
          </a:p>
        </p:txBody>
      </p:sp>
      <p:sp>
        <p:nvSpPr>
          <p:cNvPr id="38" name="TextBox 24">
            <a:extLst>
              <a:ext uri="{FF2B5EF4-FFF2-40B4-BE49-F238E27FC236}">
                <a16:creationId xmlns:a16="http://schemas.microsoft.com/office/drawing/2014/main" id="{990E0946-D6A9-12C1-007C-E7271F9B466C}"/>
              </a:ext>
            </a:extLst>
          </p:cNvPr>
          <p:cNvSpPr txBox="1"/>
          <p:nvPr/>
        </p:nvSpPr>
        <p:spPr>
          <a:xfrm>
            <a:off x="6062865" y="2137361"/>
            <a:ext cx="103635" cy="240066"/>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39" name="Rectangle 25">
            <a:extLst>
              <a:ext uri="{FF2B5EF4-FFF2-40B4-BE49-F238E27FC236}">
                <a16:creationId xmlns:a16="http://schemas.microsoft.com/office/drawing/2014/main" id="{E6927BD7-32BB-6A28-77CE-EEB896CB3370}"/>
              </a:ext>
            </a:extLst>
          </p:cNvPr>
          <p:cNvSpPr/>
          <p:nvPr/>
        </p:nvSpPr>
        <p:spPr>
          <a:xfrm>
            <a:off x="6195558" y="1707592"/>
            <a:ext cx="940755" cy="1321628"/>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0" name="Rectangle 26">
            <a:extLst>
              <a:ext uri="{FF2B5EF4-FFF2-40B4-BE49-F238E27FC236}">
                <a16:creationId xmlns:a16="http://schemas.microsoft.com/office/drawing/2014/main" id="{35B1313A-8074-FE5E-0F00-A66EBCAD3415}"/>
              </a:ext>
            </a:extLst>
          </p:cNvPr>
          <p:cNvSpPr/>
          <p:nvPr/>
        </p:nvSpPr>
        <p:spPr>
          <a:xfrm>
            <a:off x="6195557" y="1707592"/>
            <a:ext cx="45719" cy="1321628"/>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1" name="TextBox 27">
            <a:extLst>
              <a:ext uri="{FF2B5EF4-FFF2-40B4-BE49-F238E27FC236}">
                <a16:creationId xmlns:a16="http://schemas.microsoft.com/office/drawing/2014/main" id="{280C9EFE-27E1-E5F8-5B8B-51D1AFFC5D5A}"/>
              </a:ext>
            </a:extLst>
          </p:cNvPr>
          <p:cNvSpPr txBox="1"/>
          <p:nvPr/>
        </p:nvSpPr>
        <p:spPr>
          <a:xfrm>
            <a:off x="6317619" y="1844753"/>
            <a:ext cx="764573" cy="840936"/>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06</a:t>
            </a:r>
          </a:p>
          <a:p>
            <a:pPr>
              <a:lnSpc>
                <a:spcPct val="105000"/>
              </a:lnSpc>
              <a:spcBef>
                <a:spcPts val="0"/>
              </a:spcBef>
              <a:spcAft>
                <a:spcPts val="300"/>
              </a:spcAft>
            </a:pPr>
            <a:r>
              <a:rPr lang="de-DE" sz="1250" b="1" dirty="0">
                <a:solidFill>
                  <a:srgbClr val="0F1A1C"/>
                </a:solidFill>
                <a:latin typeface="Calibri"/>
              </a:rPr>
              <a:t>BERT Topics</a:t>
            </a:r>
          </a:p>
          <a:p>
            <a:pPr>
              <a:lnSpc>
                <a:spcPct val="105000"/>
              </a:lnSpc>
              <a:spcBef>
                <a:spcPts val="0"/>
              </a:spcBef>
              <a:spcAft>
                <a:spcPts val="300"/>
              </a:spcAft>
            </a:pPr>
            <a:r>
              <a:rPr lang="de-DE" sz="1250" b="1" i="0" dirty="0">
                <a:solidFill>
                  <a:srgbClr val="0F1A1C"/>
                </a:solidFill>
                <a:latin typeface="Calibri"/>
              </a:rPr>
              <a:t>&amp; Trends</a:t>
            </a:r>
          </a:p>
        </p:txBody>
      </p:sp>
      <p:sp>
        <p:nvSpPr>
          <p:cNvPr id="42" name="TextBox 20">
            <a:extLst>
              <a:ext uri="{FF2B5EF4-FFF2-40B4-BE49-F238E27FC236}">
                <a16:creationId xmlns:a16="http://schemas.microsoft.com/office/drawing/2014/main" id="{9293866A-A295-D947-6CDD-5EA97640A9BD}"/>
              </a:ext>
            </a:extLst>
          </p:cNvPr>
          <p:cNvSpPr txBox="1"/>
          <p:nvPr/>
        </p:nvSpPr>
        <p:spPr>
          <a:xfrm>
            <a:off x="7160593" y="2173039"/>
            <a:ext cx="103635" cy="240066"/>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43" name="Rectangle 21">
            <a:extLst>
              <a:ext uri="{FF2B5EF4-FFF2-40B4-BE49-F238E27FC236}">
                <a16:creationId xmlns:a16="http://schemas.microsoft.com/office/drawing/2014/main" id="{A05669B0-5904-9AD2-DEE8-A79CA0D1C099}"/>
              </a:ext>
            </a:extLst>
          </p:cNvPr>
          <p:cNvSpPr/>
          <p:nvPr/>
        </p:nvSpPr>
        <p:spPr>
          <a:xfrm>
            <a:off x="7282653" y="1711371"/>
            <a:ext cx="940755" cy="1321628"/>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4" name="TextBox 23">
            <a:extLst>
              <a:ext uri="{FF2B5EF4-FFF2-40B4-BE49-F238E27FC236}">
                <a16:creationId xmlns:a16="http://schemas.microsoft.com/office/drawing/2014/main" id="{9C64BCC3-9BE2-FFD3-69B5-E4A06D509305}"/>
              </a:ext>
            </a:extLst>
          </p:cNvPr>
          <p:cNvSpPr txBox="1"/>
          <p:nvPr/>
        </p:nvSpPr>
        <p:spPr>
          <a:xfrm>
            <a:off x="7404714" y="1848532"/>
            <a:ext cx="764573" cy="638957"/>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a:t>
            </a:r>
            <a:r>
              <a:rPr lang="de-DE" sz="900" b="0" i="0" dirty="0">
                <a:solidFill>
                  <a:srgbClr val="8A9B9E"/>
                </a:solidFill>
                <a:latin typeface="Consolas"/>
              </a:rPr>
              <a:t>7</a:t>
            </a:r>
            <a:endParaRPr sz="900" b="0" i="0" dirty="0">
              <a:solidFill>
                <a:srgbClr val="8A9B9E"/>
              </a:solidFill>
              <a:latin typeface="Consolas"/>
            </a:endParaRPr>
          </a:p>
          <a:p>
            <a:pPr>
              <a:lnSpc>
                <a:spcPct val="105000"/>
              </a:lnSpc>
              <a:spcBef>
                <a:spcPts val="0"/>
              </a:spcBef>
              <a:spcAft>
                <a:spcPts val="300"/>
              </a:spcAft>
            </a:pPr>
            <a:r>
              <a:rPr lang="de-DE" sz="1250" b="1" i="0" dirty="0">
                <a:solidFill>
                  <a:srgbClr val="0F1A1C"/>
                </a:solidFill>
                <a:latin typeface="Calibri"/>
              </a:rPr>
              <a:t>Dashboard</a:t>
            </a:r>
          </a:p>
          <a:p>
            <a:pPr>
              <a:lnSpc>
                <a:spcPct val="105000"/>
              </a:lnSpc>
              <a:spcBef>
                <a:spcPts val="0"/>
              </a:spcBef>
              <a:spcAft>
                <a:spcPts val="300"/>
              </a:spcAft>
            </a:pPr>
            <a:r>
              <a:rPr lang="de-DE" sz="1250" b="1" dirty="0">
                <a:solidFill>
                  <a:srgbClr val="0F1A1C"/>
                </a:solidFill>
                <a:latin typeface="Calibri"/>
              </a:rPr>
              <a:t>Concept</a:t>
            </a:r>
            <a:endParaRPr sz="1250" b="1" i="0" dirty="0">
              <a:solidFill>
                <a:srgbClr val="0F1A1C"/>
              </a:solidFill>
              <a:latin typeface="Calibri"/>
            </a:endParaRPr>
          </a:p>
        </p:txBody>
      </p:sp>
      <p:sp>
        <p:nvSpPr>
          <p:cNvPr id="45" name="TextBox 24">
            <a:extLst>
              <a:ext uri="{FF2B5EF4-FFF2-40B4-BE49-F238E27FC236}">
                <a16:creationId xmlns:a16="http://schemas.microsoft.com/office/drawing/2014/main" id="{3CB661BE-37A9-BB93-E970-DAC8970B2D80}"/>
              </a:ext>
            </a:extLst>
          </p:cNvPr>
          <p:cNvSpPr txBox="1"/>
          <p:nvPr/>
        </p:nvSpPr>
        <p:spPr>
          <a:xfrm>
            <a:off x="8233340" y="2141140"/>
            <a:ext cx="120492" cy="240066"/>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46" name="Rectangle 25">
            <a:extLst>
              <a:ext uri="{FF2B5EF4-FFF2-40B4-BE49-F238E27FC236}">
                <a16:creationId xmlns:a16="http://schemas.microsoft.com/office/drawing/2014/main" id="{1AEF3C39-0934-5D1E-C655-A4DD5CC87403}"/>
              </a:ext>
            </a:extLst>
          </p:cNvPr>
          <p:cNvSpPr/>
          <p:nvPr/>
        </p:nvSpPr>
        <p:spPr>
          <a:xfrm>
            <a:off x="8355400" y="1711371"/>
            <a:ext cx="940755" cy="1321628"/>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7" name="Rectangle 26">
            <a:extLst>
              <a:ext uri="{FF2B5EF4-FFF2-40B4-BE49-F238E27FC236}">
                <a16:creationId xmlns:a16="http://schemas.microsoft.com/office/drawing/2014/main" id="{ED44ADAD-D8BD-F446-0050-932B2EBEC14C}"/>
              </a:ext>
            </a:extLst>
          </p:cNvPr>
          <p:cNvSpPr/>
          <p:nvPr/>
        </p:nvSpPr>
        <p:spPr>
          <a:xfrm>
            <a:off x="8355399" y="1711371"/>
            <a:ext cx="45719" cy="1321628"/>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8" name="TextBox 27">
            <a:extLst>
              <a:ext uri="{FF2B5EF4-FFF2-40B4-BE49-F238E27FC236}">
                <a16:creationId xmlns:a16="http://schemas.microsoft.com/office/drawing/2014/main" id="{260BC32A-DCF9-22A2-AF40-757874073461}"/>
              </a:ext>
            </a:extLst>
          </p:cNvPr>
          <p:cNvSpPr txBox="1"/>
          <p:nvPr/>
        </p:nvSpPr>
        <p:spPr>
          <a:xfrm>
            <a:off x="8477461" y="1848532"/>
            <a:ext cx="764573" cy="600485"/>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a:t>
            </a:r>
            <a:r>
              <a:rPr lang="de-DE" sz="900" b="0" i="0" dirty="0">
                <a:solidFill>
                  <a:srgbClr val="8A9B9E"/>
                </a:solidFill>
                <a:latin typeface="Consolas"/>
              </a:rPr>
              <a:t>8</a:t>
            </a:r>
            <a:endParaRPr sz="900" b="0" i="0" dirty="0">
              <a:solidFill>
                <a:srgbClr val="8A9B9E"/>
              </a:solidFill>
              <a:latin typeface="Consolas"/>
            </a:endParaRPr>
          </a:p>
          <a:p>
            <a:pPr>
              <a:lnSpc>
                <a:spcPct val="105000"/>
              </a:lnSpc>
              <a:spcBef>
                <a:spcPts val="0"/>
              </a:spcBef>
              <a:spcAft>
                <a:spcPts val="300"/>
              </a:spcAft>
            </a:pPr>
            <a:r>
              <a:rPr lang="de-DE" sz="1250" b="1" dirty="0">
                <a:solidFill>
                  <a:srgbClr val="0F1A1C"/>
                </a:solidFill>
                <a:latin typeface="Calibri"/>
              </a:rPr>
              <a:t>Arousal Dimension</a:t>
            </a:r>
            <a:endParaRPr sz="1250" b="1" i="0" dirty="0">
              <a:solidFill>
                <a:srgbClr val="0F1A1C"/>
              </a:solidFill>
              <a:latin typeface="Calibri"/>
            </a:endParaRPr>
          </a:p>
        </p:txBody>
      </p:sp>
      <p:sp>
        <p:nvSpPr>
          <p:cNvPr id="50" name="Rectangle 26">
            <a:extLst>
              <a:ext uri="{FF2B5EF4-FFF2-40B4-BE49-F238E27FC236}">
                <a16:creationId xmlns:a16="http://schemas.microsoft.com/office/drawing/2014/main" id="{D99CE316-6911-F505-20CA-7E229E6C40AE}"/>
              </a:ext>
            </a:extLst>
          </p:cNvPr>
          <p:cNvSpPr/>
          <p:nvPr/>
        </p:nvSpPr>
        <p:spPr>
          <a:xfrm>
            <a:off x="7284245" y="1711295"/>
            <a:ext cx="45719" cy="1321628"/>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1" name="TextBox 20">
            <a:extLst>
              <a:ext uri="{FF2B5EF4-FFF2-40B4-BE49-F238E27FC236}">
                <a16:creationId xmlns:a16="http://schemas.microsoft.com/office/drawing/2014/main" id="{09CF4017-B4B4-1CB7-36D3-53DE9E8CBECA}"/>
              </a:ext>
            </a:extLst>
          </p:cNvPr>
          <p:cNvSpPr txBox="1"/>
          <p:nvPr/>
        </p:nvSpPr>
        <p:spPr>
          <a:xfrm>
            <a:off x="9315691" y="2173039"/>
            <a:ext cx="103635" cy="240066"/>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52" name="Rectangle 21">
            <a:extLst>
              <a:ext uri="{FF2B5EF4-FFF2-40B4-BE49-F238E27FC236}">
                <a16:creationId xmlns:a16="http://schemas.microsoft.com/office/drawing/2014/main" id="{D510DD18-5A58-95A6-4989-C2D95674AEF6}"/>
              </a:ext>
            </a:extLst>
          </p:cNvPr>
          <p:cNvSpPr/>
          <p:nvPr/>
        </p:nvSpPr>
        <p:spPr>
          <a:xfrm>
            <a:off x="9437751" y="1711371"/>
            <a:ext cx="940755" cy="1321628"/>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3" name="TextBox 23">
            <a:extLst>
              <a:ext uri="{FF2B5EF4-FFF2-40B4-BE49-F238E27FC236}">
                <a16:creationId xmlns:a16="http://schemas.microsoft.com/office/drawing/2014/main" id="{ADF4FA5F-CDE2-421A-85DD-72098A0CD24A}"/>
              </a:ext>
            </a:extLst>
          </p:cNvPr>
          <p:cNvSpPr txBox="1"/>
          <p:nvPr/>
        </p:nvSpPr>
        <p:spPr>
          <a:xfrm>
            <a:off x="9549179" y="1848532"/>
            <a:ext cx="764573" cy="600485"/>
          </a:xfrm>
          <a:prstGeom prst="rect">
            <a:avLst/>
          </a:prstGeom>
          <a:noFill/>
        </p:spPr>
        <p:txBody>
          <a:bodyPr wrap="square" lIns="0" tIns="0" rIns="0" bIns="0">
            <a:spAutoFit/>
          </a:bodyPr>
          <a:lstStyle/>
          <a:p>
            <a:pPr>
              <a:lnSpc>
                <a:spcPct val="120000"/>
              </a:lnSpc>
              <a:spcBef>
                <a:spcPts val="0"/>
              </a:spcBef>
              <a:spcAft>
                <a:spcPts val="300"/>
              </a:spcAft>
            </a:pPr>
            <a:r>
              <a:rPr sz="900" b="0" i="0" dirty="0">
                <a:solidFill>
                  <a:srgbClr val="8A9B9E"/>
                </a:solidFill>
                <a:latin typeface="Consolas"/>
              </a:rPr>
              <a:t>0</a:t>
            </a:r>
            <a:r>
              <a:rPr lang="de-DE" sz="900" dirty="0">
                <a:solidFill>
                  <a:srgbClr val="8A9B9E"/>
                </a:solidFill>
                <a:latin typeface="Consolas"/>
              </a:rPr>
              <a:t>9</a:t>
            </a:r>
            <a:endParaRPr sz="900" b="0" i="0" dirty="0">
              <a:solidFill>
                <a:srgbClr val="8A9B9E"/>
              </a:solidFill>
              <a:latin typeface="Consolas"/>
            </a:endParaRPr>
          </a:p>
          <a:p>
            <a:pPr>
              <a:lnSpc>
                <a:spcPct val="105000"/>
              </a:lnSpc>
              <a:spcBef>
                <a:spcPts val="0"/>
              </a:spcBef>
              <a:spcAft>
                <a:spcPts val="300"/>
              </a:spcAft>
            </a:pPr>
            <a:r>
              <a:rPr lang="de-DE" sz="1250" b="1" i="0" dirty="0" err="1">
                <a:solidFill>
                  <a:srgbClr val="0F1A1C"/>
                </a:solidFill>
                <a:latin typeface="Calibri"/>
              </a:rPr>
              <a:t>Predictive</a:t>
            </a:r>
            <a:r>
              <a:rPr lang="de-DE" sz="1250" b="1" i="0" dirty="0">
                <a:solidFill>
                  <a:srgbClr val="0F1A1C"/>
                </a:solidFill>
                <a:latin typeface="Calibri"/>
              </a:rPr>
              <a:t> Modelling</a:t>
            </a:r>
            <a:endParaRPr sz="1250" b="1" i="0" dirty="0">
              <a:solidFill>
                <a:srgbClr val="0F1A1C"/>
              </a:solidFill>
              <a:latin typeface="Calibri"/>
            </a:endParaRPr>
          </a:p>
        </p:txBody>
      </p:sp>
      <p:sp>
        <p:nvSpPr>
          <p:cNvPr id="54" name="TextBox 24">
            <a:extLst>
              <a:ext uri="{FF2B5EF4-FFF2-40B4-BE49-F238E27FC236}">
                <a16:creationId xmlns:a16="http://schemas.microsoft.com/office/drawing/2014/main" id="{3100C28E-6290-0FA7-89CD-728FEF6B8FF0}"/>
              </a:ext>
            </a:extLst>
          </p:cNvPr>
          <p:cNvSpPr txBox="1"/>
          <p:nvPr/>
        </p:nvSpPr>
        <p:spPr>
          <a:xfrm>
            <a:off x="10399067" y="2141140"/>
            <a:ext cx="120492" cy="240066"/>
          </a:xfrm>
          <a:prstGeom prst="rect">
            <a:avLst/>
          </a:prstGeom>
          <a:noFill/>
        </p:spPr>
        <p:txBody>
          <a:bodyPr wrap="square" lIns="0" tIns="0" rIns="0" bIns="0">
            <a:spAutoFit/>
          </a:bodyPr>
          <a:lstStyle/>
          <a:p>
            <a:pPr algn="ctr">
              <a:lnSpc>
                <a:spcPct val="120000"/>
              </a:lnSpc>
              <a:spcBef>
                <a:spcPts val="0"/>
              </a:spcBef>
              <a:spcAft>
                <a:spcPts val="0"/>
              </a:spcAft>
            </a:pPr>
            <a:r>
              <a:rPr sz="1400" b="0" i="0">
                <a:solidFill>
                  <a:srgbClr val="8A9B9E"/>
                </a:solidFill>
                <a:latin typeface="Consolas"/>
              </a:rPr>
              <a:t>›</a:t>
            </a:r>
          </a:p>
        </p:txBody>
      </p:sp>
      <p:sp>
        <p:nvSpPr>
          <p:cNvPr id="55" name="Rectangle 25">
            <a:extLst>
              <a:ext uri="{FF2B5EF4-FFF2-40B4-BE49-F238E27FC236}">
                <a16:creationId xmlns:a16="http://schemas.microsoft.com/office/drawing/2014/main" id="{A4F671EE-DEA2-ED21-B974-B39F4491AC9F}"/>
              </a:ext>
            </a:extLst>
          </p:cNvPr>
          <p:cNvSpPr/>
          <p:nvPr/>
        </p:nvSpPr>
        <p:spPr>
          <a:xfrm>
            <a:off x="10521127" y="1711371"/>
            <a:ext cx="940755" cy="1321628"/>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6" name="Rectangle 26">
            <a:extLst>
              <a:ext uri="{FF2B5EF4-FFF2-40B4-BE49-F238E27FC236}">
                <a16:creationId xmlns:a16="http://schemas.microsoft.com/office/drawing/2014/main" id="{A35FAF60-7DDB-B0C7-4F89-142C695F61E2}"/>
              </a:ext>
            </a:extLst>
          </p:cNvPr>
          <p:cNvSpPr/>
          <p:nvPr/>
        </p:nvSpPr>
        <p:spPr>
          <a:xfrm>
            <a:off x="10521126" y="1711371"/>
            <a:ext cx="45719" cy="1321628"/>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7" name="TextBox 27">
            <a:extLst>
              <a:ext uri="{FF2B5EF4-FFF2-40B4-BE49-F238E27FC236}">
                <a16:creationId xmlns:a16="http://schemas.microsoft.com/office/drawing/2014/main" id="{5227C582-0E00-FE21-3D81-9C8C850C2A3B}"/>
              </a:ext>
            </a:extLst>
          </p:cNvPr>
          <p:cNvSpPr txBox="1"/>
          <p:nvPr/>
        </p:nvSpPr>
        <p:spPr>
          <a:xfrm>
            <a:off x="10632555" y="1848532"/>
            <a:ext cx="764573" cy="638957"/>
          </a:xfrm>
          <a:prstGeom prst="rect">
            <a:avLst/>
          </a:prstGeom>
          <a:noFill/>
        </p:spPr>
        <p:txBody>
          <a:bodyPr wrap="square" lIns="0" tIns="0" rIns="0" bIns="0">
            <a:spAutoFit/>
          </a:bodyPr>
          <a:lstStyle/>
          <a:p>
            <a:pPr>
              <a:lnSpc>
                <a:spcPct val="120000"/>
              </a:lnSpc>
              <a:spcBef>
                <a:spcPts val="0"/>
              </a:spcBef>
              <a:spcAft>
                <a:spcPts val="300"/>
              </a:spcAft>
            </a:pPr>
            <a:r>
              <a:rPr lang="de-DE" sz="900" dirty="0">
                <a:solidFill>
                  <a:srgbClr val="8A9B9E"/>
                </a:solidFill>
                <a:latin typeface="Consolas"/>
              </a:rPr>
              <a:t>10</a:t>
            </a:r>
            <a:endParaRPr sz="900" b="0" i="0" dirty="0">
              <a:solidFill>
                <a:srgbClr val="8A9B9E"/>
              </a:solidFill>
              <a:latin typeface="Consolas"/>
            </a:endParaRPr>
          </a:p>
          <a:p>
            <a:pPr>
              <a:lnSpc>
                <a:spcPct val="105000"/>
              </a:lnSpc>
              <a:spcBef>
                <a:spcPts val="0"/>
              </a:spcBef>
              <a:spcAft>
                <a:spcPts val="300"/>
              </a:spcAft>
            </a:pPr>
            <a:r>
              <a:rPr lang="de-DE" sz="1250" b="1" dirty="0">
                <a:solidFill>
                  <a:srgbClr val="0F1A1C"/>
                </a:solidFill>
                <a:latin typeface="Calibri"/>
              </a:rPr>
              <a:t>Dashboard</a:t>
            </a:r>
          </a:p>
          <a:p>
            <a:pPr>
              <a:lnSpc>
                <a:spcPct val="105000"/>
              </a:lnSpc>
              <a:spcBef>
                <a:spcPts val="0"/>
              </a:spcBef>
              <a:spcAft>
                <a:spcPts val="300"/>
              </a:spcAft>
            </a:pPr>
            <a:r>
              <a:rPr lang="de-DE" sz="1250" b="1" i="0" dirty="0" err="1">
                <a:solidFill>
                  <a:srgbClr val="0F1A1C"/>
                </a:solidFill>
                <a:latin typeface="Calibri"/>
              </a:rPr>
              <a:t>Finalisation</a:t>
            </a:r>
            <a:endParaRPr sz="1250" b="1" i="0" dirty="0">
              <a:solidFill>
                <a:srgbClr val="0F1A1C"/>
              </a:solidFill>
              <a:latin typeface="Calibri"/>
            </a:endParaRPr>
          </a:p>
        </p:txBody>
      </p:sp>
      <p:sp>
        <p:nvSpPr>
          <p:cNvPr id="58" name="Rectangle 26">
            <a:extLst>
              <a:ext uri="{FF2B5EF4-FFF2-40B4-BE49-F238E27FC236}">
                <a16:creationId xmlns:a16="http://schemas.microsoft.com/office/drawing/2014/main" id="{CFE49770-8D7D-BB24-D2BD-E1C9EA45BD96}"/>
              </a:ext>
            </a:extLst>
          </p:cNvPr>
          <p:cNvSpPr/>
          <p:nvPr/>
        </p:nvSpPr>
        <p:spPr>
          <a:xfrm>
            <a:off x="9439343" y="1711295"/>
            <a:ext cx="45719" cy="1321628"/>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0" name="Textfeld 59">
            <a:extLst>
              <a:ext uri="{FF2B5EF4-FFF2-40B4-BE49-F238E27FC236}">
                <a16:creationId xmlns:a16="http://schemas.microsoft.com/office/drawing/2014/main" id="{2ED7A982-9722-8330-B082-1B2D72860DED}"/>
              </a:ext>
            </a:extLst>
          </p:cNvPr>
          <p:cNvSpPr txBox="1"/>
          <p:nvPr/>
        </p:nvSpPr>
        <p:spPr>
          <a:xfrm>
            <a:off x="1304559" y="2752361"/>
            <a:ext cx="481123" cy="369332"/>
          </a:xfrm>
          <a:prstGeom prst="rect">
            <a:avLst/>
          </a:prstGeom>
          <a:noFill/>
        </p:spPr>
        <p:txBody>
          <a:bodyPr wrap="square">
            <a:spAutoFit/>
          </a:bodyPr>
          <a:lstStyle/>
          <a:p>
            <a:r>
              <a:rPr lang="de-DE" dirty="0"/>
              <a:t>✅</a:t>
            </a:r>
          </a:p>
        </p:txBody>
      </p:sp>
      <p:sp>
        <p:nvSpPr>
          <p:cNvPr id="61" name="Textfeld 60">
            <a:extLst>
              <a:ext uri="{FF2B5EF4-FFF2-40B4-BE49-F238E27FC236}">
                <a16:creationId xmlns:a16="http://schemas.microsoft.com/office/drawing/2014/main" id="{DCA2B62E-5302-5CCE-CEAE-F7D0C831FE12}"/>
              </a:ext>
            </a:extLst>
          </p:cNvPr>
          <p:cNvSpPr txBox="1"/>
          <p:nvPr/>
        </p:nvSpPr>
        <p:spPr>
          <a:xfrm>
            <a:off x="2402741" y="2724161"/>
            <a:ext cx="481123" cy="369332"/>
          </a:xfrm>
          <a:prstGeom prst="rect">
            <a:avLst/>
          </a:prstGeom>
          <a:noFill/>
        </p:spPr>
        <p:txBody>
          <a:bodyPr wrap="square">
            <a:spAutoFit/>
          </a:bodyPr>
          <a:lstStyle/>
          <a:p>
            <a:r>
              <a:rPr lang="de-DE" dirty="0"/>
              <a:t>✅</a:t>
            </a:r>
          </a:p>
        </p:txBody>
      </p:sp>
      <p:sp>
        <p:nvSpPr>
          <p:cNvPr id="62" name="Textfeld 61">
            <a:extLst>
              <a:ext uri="{FF2B5EF4-FFF2-40B4-BE49-F238E27FC236}">
                <a16:creationId xmlns:a16="http://schemas.microsoft.com/office/drawing/2014/main" id="{A1CE0799-958D-1483-38D0-E917F924A4E8}"/>
              </a:ext>
            </a:extLst>
          </p:cNvPr>
          <p:cNvSpPr txBox="1"/>
          <p:nvPr/>
        </p:nvSpPr>
        <p:spPr>
          <a:xfrm>
            <a:off x="3488842" y="2712852"/>
            <a:ext cx="481123" cy="369332"/>
          </a:xfrm>
          <a:prstGeom prst="rect">
            <a:avLst/>
          </a:prstGeom>
          <a:noFill/>
        </p:spPr>
        <p:txBody>
          <a:bodyPr wrap="square">
            <a:spAutoFit/>
          </a:bodyPr>
          <a:lstStyle/>
          <a:p>
            <a:r>
              <a:rPr lang="de-DE" dirty="0"/>
              <a:t>✅</a:t>
            </a:r>
          </a:p>
        </p:txBody>
      </p:sp>
      <p:sp>
        <p:nvSpPr>
          <p:cNvPr id="63" name="Textfeld 62">
            <a:extLst>
              <a:ext uri="{FF2B5EF4-FFF2-40B4-BE49-F238E27FC236}">
                <a16:creationId xmlns:a16="http://schemas.microsoft.com/office/drawing/2014/main" id="{585B5071-0C15-12A7-2AA3-99D206DF37E5}"/>
              </a:ext>
            </a:extLst>
          </p:cNvPr>
          <p:cNvSpPr txBox="1"/>
          <p:nvPr/>
        </p:nvSpPr>
        <p:spPr>
          <a:xfrm>
            <a:off x="4541069" y="2713795"/>
            <a:ext cx="481123" cy="369332"/>
          </a:xfrm>
          <a:prstGeom prst="rect">
            <a:avLst/>
          </a:prstGeom>
          <a:noFill/>
        </p:spPr>
        <p:txBody>
          <a:bodyPr wrap="square">
            <a:spAutoFit/>
          </a:bodyPr>
          <a:lstStyle/>
          <a:p>
            <a:r>
              <a:rPr lang="de-DE" dirty="0"/>
              <a:t>✅</a:t>
            </a:r>
          </a:p>
        </p:txBody>
      </p:sp>
      <p:sp>
        <p:nvSpPr>
          <p:cNvPr id="64" name="Textfeld 63">
            <a:extLst>
              <a:ext uri="{FF2B5EF4-FFF2-40B4-BE49-F238E27FC236}">
                <a16:creationId xmlns:a16="http://schemas.microsoft.com/office/drawing/2014/main" id="{93B5A1FB-39CA-6476-A5DB-225FA1A67546}"/>
              </a:ext>
            </a:extLst>
          </p:cNvPr>
          <p:cNvSpPr txBox="1"/>
          <p:nvPr/>
        </p:nvSpPr>
        <p:spPr>
          <a:xfrm>
            <a:off x="5644976" y="2712852"/>
            <a:ext cx="481123" cy="369332"/>
          </a:xfrm>
          <a:prstGeom prst="rect">
            <a:avLst/>
          </a:prstGeom>
          <a:noFill/>
        </p:spPr>
        <p:txBody>
          <a:bodyPr wrap="square">
            <a:spAutoFit/>
          </a:bodyPr>
          <a:lstStyle/>
          <a:p>
            <a:r>
              <a:rPr lang="de-DE" dirty="0"/>
              <a:t>✅</a:t>
            </a:r>
          </a:p>
        </p:txBody>
      </p:sp>
      <p:sp>
        <p:nvSpPr>
          <p:cNvPr id="65" name="Textfeld 64">
            <a:extLst>
              <a:ext uri="{FF2B5EF4-FFF2-40B4-BE49-F238E27FC236}">
                <a16:creationId xmlns:a16="http://schemas.microsoft.com/office/drawing/2014/main" id="{E7695236-89DB-B1F1-C650-3F9E3B923F5D}"/>
              </a:ext>
            </a:extLst>
          </p:cNvPr>
          <p:cNvSpPr txBox="1"/>
          <p:nvPr/>
        </p:nvSpPr>
        <p:spPr>
          <a:xfrm>
            <a:off x="6733620" y="2685689"/>
            <a:ext cx="481123" cy="369332"/>
          </a:xfrm>
          <a:prstGeom prst="rect">
            <a:avLst/>
          </a:prstGeom>
          <a:noFill/>
        </p:spPr>
        <p:txBody>
          <a:bodyPr wrap="square">
            <a:spAutoFit/>
          </a:bodyPr>
          <a:lstStyle/>
          <a:p>
            <a:r>
              <a:rPr lang="de-DE" dirty="0"/>
              <a:t>✅</a:t>
            </a:r>
          </a:p>
        </p:txBody>
      </p:sp>
      <p:sp>
        <p:nvSpPr>
          <p:cNvPr id="66" name="Textfeld 65">
            <a:extLst>
              <a:ext uri="{FF2B5EF4-FFF2-40B4-BE49-F238E27FC236}">
                <a16:creationId xmlns:a16="http://schemas.microsoft.com/office/drawing/2014/main" id="{EB3083A6-F402-18A2-D013-ECF33698AE66}"/>
              </a:ext>
            </a:extLst>
          </p:cNvPr>
          <p:cNvSpPr txBox="1"/>
          <p:nvPr/>
        </p:nvSpPr>
        <p:spPr>
          <a:xfrm>
            <a:off x="7842699" y="2705550"/>
            <a:ext cx="481123" cy="369332"/>
          </a:xfrm>
          <a:prstGeom prst="rect">
            <a:avLst/>
          </a:prstGeom>
          <a:noFill/>
        </p:spPr>
        <p:txBody>
          <a:bodyPr wrap="square">
            <a:spAutoFit/>
          </a:bodyPr>
          <a:lstStyle/>
          <a:p>
            <a:r>
              <a:rPr lang="de-DE"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EEF2F2"/>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Rectangle 2"/>
          <p:cNvSpPr/>
          <p:nvPr/>
        </p:nvSpPr>
        <p:spPr>
          <a:xfrm>
            <a:off x="0" y="0"/>
            <a:ext cx="12191695" cy="100584"/>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4" name="TextBox 3"/>
          <p:cNvSpPr txBox="1"/>
          <p:nvPr/>
        </p:nvSpPr>
        <p:spPr>
          <a:xfrm>
            <a:off x="749808" y="2468880"/>
            <a:ext cx="8686800" cy="1828800"/>
          </a:xfrm>
          <a:prstGeom prst="rect">
            <a:avLst/>
          </a:prstGeom>
          <a:noFill/>
        </p:spPr>
        <p:txBody>
          <a:bodyPr wrap="square" lIns="0" tIns="0" rIns="0" bIns="0">
            <a:spAutoFit/>
          </a:bodyPr>
          <a:lstStyle/>
          <a:p>
            <a:pPr>
              <a:lnSpc>
                <a:spcPct val="100000"/>
              </a:lnSpc>
              <a:spcBef>
                <a:spcPts val="0"/>
              </a:spcBef>
              <a:spcAft>
                <a:spcPts val="1000"/>
              </a:spcAft>
            </a:pPr>
            <a:r>
              <a:rPr sz="5400" b="0" i="0">
                <a:solidFill>
                  <a:srgbClr val="0F1A1C"/>
                </a:solidFill>
                <a:latin typeface="Georgia"/>
              </a:rPr>
              <a:t>Appendix</a:t>
            </a:r>
          </a:p>
          <a:p>
            <a:pPr>
              <a:lnSpc>
                <a:spcPct val="120000"/>
              </a:lnSpc>
              <a:spcBef>
                <a:spcPts val="0"/>
              </a:spcBef>
              <a:spcAft>
                <a:spcPts val="1200"/>
              </a:spcAft>
            </a:pPr>
            <a:r>
              <a:rPr sz="1400" b="0" i="0">
                <a:solidFill>
                  <a:srgbClr val="14636E"/>
                </a:solidFill>
                <a:latin typeface="Consolas"/>
              </a:rPr>
              <a:t>TECHNICAL DEEP DIVE — BACKUP SLIDES, NOT PRESENTED</a:t>
            </a:r>
          </a:p>
          <a:p>
            <a:pPr>
              <a:lnSpc>
                <a:spcPct val="135000"/>
              </a:lnSpc>
              <a:spcBef>
                <a:spcPts val="0"/>
              </a:spcBef>
              <a:spcAft>
                <a:spcPts val="0"/>
              </a:spcAft>
            </a:pPr>
            <a:r>
              <a:rPr sz="1300" b="0" i="0">
                <a:solidFill>
                  <a:srgbClr val="5A6B6E"/>
                </a:solidFill>
                <a:latin typeface="Calibri"/>
              </a:rPr>
              <a:t>One slide per pipeline stage: what was analysed, which technical steps were taken, why, and what came out. Written to be read, not shown.</a:t>
            </a:r>
          </a:p>
        </p:txBody>
      </p:sp>
      <p:sp>
        <p:nvSpPr>
          <p:cNvPr id="5" name="TextBox 4"/>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10 / 21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63D4C-FE83-9295-D12D-28819E3D5BA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BB0F6D1-3A7D-15F6-1271-EC721D1CD4F6}"/>
              </a:ext>
            </a:extLst>
          </p:cNvPr>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a:extLst>
              <a:ext uri="{FF2B5EF4-FFF2-40B4-BE49-F238E27FC236}">
                <a16:creationId xmlns:a16="http://schemas.microsoft.com/office/drawing/2014/main" id="{7F7C609A-E959-7276-4597-BBE20D5CFB75}"/>
              </a:ext>
            </a:extLst>
          </p:cNvPr>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METRICS</a:t>
            </a:r>
            <a:r>
              <a:rPr sz="1000">
                <a:solidFill>
                  <a:srgbClr val="8A9B9E"/>
                </a:solidFill>
                <a:latin typeface="Consolas"/>
              </a:rPr>
              <a:t>   ·   HOW SUCCESS IS MEASURED</a:t>
            </a:r>
          </a:p>
        </p:txBody>
      </p:sp>
      <p:sp>
        <p:nvSpPr>
          <p:cNvPr id="4" name="TextBox 3">
            <a:extLst>
              <a:ext uri="{FF2B5EF4-FFF2-40B4-BE49-F238E27FC236}">
                <a16:creationId xmlns:a16="http://schemas.microsoft.com/office/drawing/2014/main" id="{9FE4B673-44D6-0786-27C4-0B73A286DD84}"/>
              </a:ext>
            </a:extLst>
          </p:cNvPr>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a:solidFill>
                  <a:srgbClr val="0F1A1C"/>
                </a:solidFill>
                <a:latin typeface="Georgia"/>
              </a:rPr>
              <a:t>Topic Coherence (C_v)</a:t>
            </a:r>
          </a:p>
        </p:txBody>
      </p:sp>
      <p:sp>
        <p:nvSpPr>
          <p:cNvPr id="5" name="TextBox 4">
            <a:extLst>
              <a:ext uri="{FF2B5EF4-FFF2-40B4-BE49-F238E27FC236}">
                <a16:creationId xmlns:a16="http://schemas.microsoft.com/office/drawing/2014/main" id="{B96D9522-5547-8D87-81DA-E277F8BBBDD7}"/>
              </a:ext>
            </a:extLst>
          </p:cNvPr>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TextBox 5">
            <a:extLst>
              <a:ext uri="{FF2B5EF4-FFF2-40B4-BE49-F238E27FC236}">
                <a16:creationId xmlns:a16="http://schemas.microsoft.com/office/drawing/2014/main" id="{B8B858BF-87EF-5418-DA98-FEF40E50836A}"/>
              </a:ext>
            </a:extLst>
          </p:cNvPr>
          <p:cNvSpPr txBox="1"/>
          <p:nvPr/>
        </p:nvSpPr>
        <p:spPr>
          <a:xfrm>
            <a:off x="749808" y="1755648"/>
            <a:ext cx="7484455" cy="457200"/>
          </a:xfrm>
          <a:prstGeom prst="rect">
            <a:avLst/>
          </a:prstGeom>
          <a:noFill/>
        </p:spPr>
        <p:txBody>
          <a:bodyPr wrap="square" lIns="0" tIns="0" rIns="0" bIns="0">
            <a:spAutoFit/>
          </a:bodyPr>
          <a:lstStyle/>
          <a:p>
            <a:pPr>
              <a:lnSpc>
                <a:spcPct val="120000"/>
              </a:lnSpc>
              <a:spcBef>
                <a:spcPts val="0"/>
              </a:spcBef>
              <a:spcAft>
                <a:spcPts val="0"/>
              </a:spcAft>
            </a:pPr>
            <a:r>
              <a:rPr sz="1600" b="0" i="0">
                <a:solidFill>
                  <a:srgbClr val="5A6B6E"/>
                </a:solidFill>
                <a:latin typeface="Georgia"/>
              </a:rPr>
              <a:t>Measures how well the terms inside one topic belong together semantically.</a:t>
            </a:r>
          </a:p>
        </p:txBody>
      </p:sp>
      <p:sp>
        <p:nvSpPr>
          <p:cNvPr id="7" name="Rectangle 6">
            <a:extLst>
              <a:ext uri="{FF2B5EF4-FFF2-40B4-BE49-F238E27FC236}">
                <a16:creationId xmlns:a16="http://schemas.microsoft.com/office/drawing/2014/main" id="{C971F322-B56D-9370-B943-76424B7DD57F}"/>
              </a:ext>
            </a:extLst>
          </p:cNvPr>
          <p:cNvSpPr/>
          <p:nvPr/>
        </p:nvSpPr>
        <p:spPr>
          <a:xfrm>
            <a:off x="749808" y="2377440"/>
            <a:ext cx="2480995" cy="1417320"/>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a:extLst>
              <a:ext uri="{FF2B5EF4-FFF2-40B4-BE49-F238E27FC236}">
                <a16:creationId xmlns:a16="http://schemas.microsoft.com/office/drawing/2014/main" id="{11B3F6AD-A40B-DFCB-FD28-36D630FF381B}"/>
              </a:ext>
            </a:extLst>
          </p:cNvPr>
          <p:cNvSpPr txBox="1"/>
          <p:nvPr/>
        </p:nvSpPr>
        <p:spPr>
          <a:xfrm>
            <a:off x="969264" y="2560320"/>
            <a:ext cx="2042083" cy="1106424"/>
          </a:xfrm>
          <a:prstGeom prst="rect">
            <a:avLst/>
          </a:prstGeom>
          <a:noFill/>
        </p:spPr>
        <p:txBody>
          <a:bodyPr wrap="square" lIns="0" tIns="0" rIns="0" bIns="0">
            <a:spAutoFit/>
          </a:bodyPr>
          <a:lstStyle/>
          <a:p>
            <a:pPr>
              <a:lnSpc>
                <a:spcPct val="100000"/>
              </a:lnSpc>
              <a:spcBef>
                <a:spcPts val="0"/>
              </a:spcBef>
              <a:spcAft>
                <a:spcPts val="200"/>
              </a:spcAft>
            </a:pPr>
            <a:r>
              <a:rPr sz="2600" b="0" i="0" dirty="0">
                <a:solidFill>
                  <a:srgbClr val="14636E"/>
                </a:solidFill>
                <a:latin typeface="Georgia"/>
              </a:rPr>
              <a:t>0.350</a:t>
            </a:r>
          </a:p>
          <a:p>
            <a:pPr>
              <a:lnSpc>
                <a:spcPct val="120000"/>
              </a:lnSpc>
              <a:spcBef>
                <a:spcPts val="0"/>
              </a:spcBef>
              <a:spcAft>
                <a:spcPts val="400"/>
              </a:spcAft>
            </a:pPr>
            <a:r>
              <a:rPr sz="900" b="0" i="0" dirty="0">
                <a:solidFill>
                  <a:srgbClr val="5A6B6E"/>
                </a:solidFill>
                <a:latin typeface="Consolas"/>
              </a:rPr>
              <a:t>C_V COHERENCE</a:t>
            </a:r>
          </a:p>
          <a:p>
            <a:pPr>
              <a:lnSpc>
                <a:spcPct val="115000"/>
              </a:lnSpc>
              <a:spcBef>
                <a:spcPts val="0"/>
              </a:spcBef>
              <a:spcAft>
                <a:spcPts val="0"/>
              </a:spcAft>
            </a:pPr>
            <a:r>
              <a:rPr sz="1000" b="0" i="0" dirty="0">
                <a:solidFill>
                  <a:srgbClr val="5A6B6E"/>
                </a:solidFill>
                <a:latin typeface="Calibri"/>
              </a:rPr>
              <a:t>Current best configuration. Higher = more consistent, more interpretable topics.</a:t>
            </a:r>
          </a:p>
        </p:txBody>
      </p:sp>
      <p:sp>
        <p:nvSpPr>
          <p:cNvPr id="9" name="Rectangle 8">
            <a:extLst>
              <a:ext uri="{FF2B5EF4-FFF2-40B4-BE49-F238E27FC236}">
                <a16:creationId xmlns:a16="http://schemas.microsoft.com/office/drawing/2014/main" id="{8DA09234-316C-452D-F4E5-6DC18B84ED0F}"/>
              </a:ext>
            </a:extLst>
          </p:cNvPr>
          <p:cNvSpPr/>
          <p:nvPr/>
        </p:nvSpPr>
        <p:spPr>
          <a:xfrm>
            <a:off x="3486835" y="2377440"/>
            <a:ext cx="2480995" cy="14173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a:extLst>
              <a:ext uri="{FF2B5EF4-FFF2-40B4-BE49-F238E27FC236}">
                <a16:creationId xmlns:a16="http://schemas.microsoft.com/office/drawing/2014/main" id="{C9C4C543-4F39-9B5C-EBDE-F2130A47F087}"/>
              </a:ext>
            </a:extLst>
          </p:cNvPr>
          <p:cNvSpPr txBox="1"/>
          <p:nvPr/>
        </p:nvSpPr>
        <p:spPr>
          <a:xfrm>
            <a:off x="3706291" y="2560320"/>
            <a:ext cx="2042083" cy="1106424"/>
          </a:xfrm>
          <a:prstGeom prst="rect">
            <a:avLst/>
          </a:prstGeom>
          <a:noFill/>
        </p:spPr>
        <p:txBody>
          <a:bodyPr wrap="square" lIns="0" tIns="0" rIns="0" bIns="0">
            <a:spAutoFit/>
          </a:bodyPr>
          <a:lstStyle/>
          <a:p>
            <a:pPr>
              <a:lnSpc>
                <a:spcPct val="100000"/>
              </a:lnSpc>
              <a:spcBef>
                <a:spcPts val="0"/>
              </a:spcBef>
              <a:spcAft>
                <a:spcPts val="200"/>
              </a:spcAft>
            </a:pPr>
            <a:r>
              <a:rPr sz="2600" b="0" i="0" dirty="0">
                <a:solidFill>
                  <a:srgbClr val="0F1A1C"/>
                </a:solidFill>
                <a:latin typeface="Georgia"/>
              </a:rPr>
              <a:t>18.1 %</a:t>
            </a:r>
          </a:p>
          <a:p>
            <a:pPr>
              <a:lnSpc>
                <a:spcPct val="120000"/>
              </a:lnSpc>
              <a:spcBef>
                <a:spcPts val="0"/>
              </a:spcBef>
              <a:spcAft>
                <a:spcPts val="400"/>
              </a:spcAft>
            </a:pPr>
            <a:r>
              <a:rPr sz="900" b="0" i="0" dirty="0">
                <a:solidFill>
                  <a:srgbClr val="5A6B6E"/>
                </a:solidFill>
                <a:latin typeface="Consolas"/>
              </a:rPr>
              <a:t>OUTLIER RATE</a:t>
            </a:r>
          </a:p>
          <a:p>
            <a:pPr>
              <a:lnSpc>
                <a:spcPct val="115000"/>
              </a:lnSpc>
              <a:spcBef>
                <a:spcPts val="0"/>
              </a:spcBef>
              <a:spcAft>
                <a:spcPts val="0"/>
              </a:spcAft>
            </a:pPr>
            <a:r>
              <a:rPr sz="1000" b="0" i="0" dirty="0">
                <a:solidFill>
                  <a:srgbClr val="5A6B6E"/>
                </a:solidFill>
                <a:latin typeface="Calibri"/>
              </a:rPr>
              <a:t>Share of comments in the noise cluster (−1). Coverage metric.</a:t>
            </a:r>
          </a:p>
        </p:txBody>
      </p:sp>
      <p:sp>
        <p:nvSpPr>
          <p:cNvPr id="11" name="Rectangle 10">
            <a:extLst>
              <a:ext uri="{FF2B5EF4-FFF2-40B4-BE49-F238E27FC236}">
                <a16:creationId xmlns:a16="http://schemas.microsoft.com/office/drawing/2014/main" id="{1BA3A632-2149-DE88-EDE3-994B16BDEB24}"/>
              </a:ext>
            </a:extLst>
          </p:cNvPr>
          <p:cNvSpPr/>
          <p:nvPr/>
        </p:nvSpPr>
        <p:spPr>
          <a:xfrm>
            <a:off x="6223863" y="2377440"/>
            <a:ext cx="2480995" cy="14173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a:extLst>
              <a:ext uri="{FF2B5EF4-FFF2-40B4-BE49-F238E27FC236}">
                <a16:creationId xmlns:a16="http://schemas.microsoft.com/office/drawing/2014/main" id="{9A15E6CE-5D3B-8FB3-A1D1-AF35C2DB081A}"/>
              </a:ext>
            </a:extLst>
          </p:cNvPr>
          <p:cNvSpPr txBox="1"/>
          <p:nvPr/>
        </p:nvSpPr>
        <p:spPr>
          <a:xfrm>
            <a:off x="6443319" y="2560320"/>
            <a:ext cx="2042083" cy="1106424"/>
          </a:xfrm>
          <a:prstGeom prst="rect">
            <a:avLst/>
          </a:prstGeom>
          <a:noFill/>
        </p:spPr>
        <p:txBody>
          <a:bodyPr wrap="square" lIns="0" tIns="0" rIns="0" bIns="0">
            <a:spAutoFit/>
          </a:bodyPr>
          <a:lstStyle/>
          <a:p>
            <a:pPr>
              <a:lnSpc>
                <a:spcPct val="100000"/>
              </a:lnSpc>
              <a:spcBef>
                <a:spcPts val="0"/>
              </a:spcBef>
              <a:spcAft>
                <a:spcPts val="200"/>
              </a:spcAft>
            </a:pPr>
            <a:r>
              <a:rPr sz="2600" b="0" i="0">
                <a:solidFill>
                  <a:srgbClr val="0F1A1C"/>
                </a:solidFill>
                <a:latin typeface="Georgia"/>
              </a:rPr>
              <a:t>100 %</a:t>
            </a:r>
          </a:p>
          <a:p>
            <a:pPr>
              <a:lnSpc>
                <a:spcPct val="120000"/>
              </a:lnSpc>
              <a:spcBef>
                <a:spcPts val="0"/>
              </a:spcBef>
              <a:spcAft>
                <a:spcPts val="400"/>
              </a:spcAft>
            </a:pPr>
            <a:r>
              <a:rPr sz="900" b="0" i="0">
                <a:solidFill>
                  <a:srgbClr val="5A6B6E"/>
                </a:solidFill>
                <a:latin typeface="Consolas"/>
              </a:rPr>
              <a:t>COMMENT COVERAGE</a:t>
            </a:r>
          </a:p>
          <a:p>
            <a:pPr>
              <a:lnSpc>
                <a:spcPct val="115000"/>
              </a:lnSpc>
              <a:spcBef>
                <a:spcPts val="0"/>
              </a:spcBef>
              <a:spcAft>
                <a:spcPts val="0"/>
              </a:spcAft>
            </a:pPr>
            <a:r>
              <a:rPr sz="1000" b="0" i="0">
                <a:solidFill>
                  <a:srgbClr val="5A6B6E"/>
                </a:solidFill>
                <a:latin typeface="Calibri"/>
              </a:rPr>
              <a:t>All 5,000 valid comments received a valence score. Target ≥ 95 %.</a:t>
            </a:r>
          </a:p>
        </p:txBody>
      </p:sp>
      <p:sp>
        <p:nvSpPr>
          <p:cNvPr id="13" name="Rectangle 12">
            <a:extLst>
              <a:ext uri="{FF2B5EF4-FFF2-40B4-BE49-F238E27FC236}">
                <a16:creationId xmlns:a16="http://schemas.microsoft.com/office/drawing/2014/main" id="{9DCFD59B-417D-8622-3953-9DF44D01334B}"/>
              </a:ext>
            </a:extLst>
          </p:cNvPr>
          <p:cNvSpPr/>
          <p:nvPr/>
        </p:nvSpPr>
        <p:spPr>
          <a:xfrm>
            <a:off x="8960891" y="2377440"/>
            <a:ext cx="2480995" cy="14173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a:extLst>
              <a:ext uri="{FF2B5EF4-FFF2-40B4-BE49-F238E27FC236}">
                <a16:creationId xmlns:a16="http://schemas.microsoft.com/office/drawing/2014/main" id="{2B22D090-B800-3B55-F5A5-966E8385614F}"/>
              </a:ext>
            </a:extLst>
          </p:cNvPr>
          <p:cNvSpPr txBox="1"/>
          <p:nvPr/>
        </p:nvSpPr>
        <p:spPr>
          <a:xfrm>
            <a:off x="9180347" y="2560320"/>
            <a:ext cx="2042083" cy="1106424"/>
          </a:xfrm>
          <a:prstGeom prst="rect">
            <a:avLst/>
          </a:prstGeom>
          <a:noFill/>
        </p:spPr>
        <p:txBody>
          <a:bodyPr wrap="square" lIns="0" tIns="0" rIns="0" bIns="0">
            <a:spAutoFit/>
          </a:bodyPr>
          <a:lstStyle/>
          <a:p>
            <a:pPr>
              <a:lnSpc>
                <a:spcPct val="100000"/>
              </a:lnSpc>
              <a:spcBef>
                <a:spcPts val="0"/>
              </a:spcBef>
              <a:spcAft>
                <a:spcPts val="200"/>
              </a:spcAft>
            </a:pPr>
            <a:r>
              <a:rPr sz="2600" b="0" i="0">
                <a:solidFill>
                  <a:srgbClr val="0F1A1C"/>
                </a:solidFill>
                <a:latin typeface="Georgia"/>
              </a:rPr>
              <a:t>MAE · R²</a:t>
            </a:r>
          </a:p>
          <a:p>
            <a:pPr>
              <a:lnSpc>
                <a:spcPct val="120000"/>
              </a:lnSpc>
              <a:spcBef>
                <a:spcPts val="0"/>
              </a:spcBef>
              <a:spcAft>
                <a:spcPts val="400"/>
              </a:spcAft>
            </a:pPr>
            <a:r>
              <a:rPr sz="900" b="0" i="0">
                <a:solidFill>
                  <a:srgbClr val="5A6B6E"/>
                </a:solidFill>
                <a:latin typeface="Consolas"/>
              </a:rPr>
              <a:t>PREDICTIVE LAYER</a:t>
            </a:r>
          </a:p>
          <a:p>
            <a:pPr>
              <a:lnSpc>
                <a:spcPct val="115000"/>
              </a:lnSpc>
              <a:spcBef>
                <a:spcPts val="0"/>
              </a:spcBef>
              <a:spcAft>
                <a:spcPts val="0"/>
              </a:spcAft>
            </a:pPr>
            <a:r>
              <a:rPr sz="1000" b="0" i="0">
                <a:solidFill>
                  <a:srgbClr val="5A6B6E"/>
                </a:solidFill>
                <a:latin typeface="Calibri"/>
              </a:rPr>
              <a:t>Planned for engagement prediction. Targets MAE &lt; 0.60, R² &gt; 0.30.</a:t>
            </a:r>
          </a:p>
        </p:txBody>
      </p:sp>
      <p:sp>
        <p:nvSpPr>
          <p:cNvPr id="15" name="Rectangle 14">
            <a:extLst>
              <a:ext uri="{FF2B5EF4-FFF2-40B4-BE49-F238E27FC236}">
                <a16:creationId xmlns:a16="http://schemas.microsoft.com/office/drawing/2014/main" id="{EE98C253-C4A3-FE28-8886-990652FF0703}"/>
              </a:ext>
            </a:extLst>
          </p:cNvPr>
          <p:cNvSpPr/>
          <p:nvPr/>
        </p:nvSpPr>
        <p:spPr>
          <a:xfrm>
            <a:off x="749808" y="4069080"/>
            <a:ext cx="5163159" cy="10515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a:extLst>
              <a:ext uri="{FF2B5EF4-FFF2-40B4-BE49-F238E27FC236}">
                <a16:creationId xmlns:a16="http://schemas.microsoft.com/office/drawing/2014/main" id="{589B2D21-9233-95B5-BDEC-E21969FC2CCB}"/>
              </a:ext>
            </a:extLst>
          </p:cNvPr>
          <p:cNvSpPr/>
          <p:nvPr/>
        </p:nvSpPr>
        <p:spPr>
          <a:xfrm>
            <a:off x="749808" y="4069080"/>
            <a:ext cx="32004" cy="10515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a:extLst>
              <a:ext uri="{FF2B5EF4-FFF2-40B4-BE49-F238E27FC236}">
                <a16:creationId xmlns:a16="http://schemas.microsoft.com/office/drawing/2014/main" id="{090079E3-BA92-7ECF-0B35-5BE7072C9062}"/>
              </a:ext>
            </a:extLst>
          </p:cNvPr>
          <p:cNvSpPr txBox="1"/>
          <p:nvPr/>
        </p:nvSpPr>
        <p:spPr>
          <a:xfrm>
            <a:off x="1005840" y="4270248"/>
            <a:ext cx="4687671" cy="649224"/>
          </a:xfrm>
          <a:prstGeom prst="rect">
            <a:avLst/>
          </a:prstGeom>
          <a:noFill/>
        </p:spPr>
        <p:txBody>
          <a:bodyPr wrap="square" lIns="0" tIns="0" rIns="0" bIns="0">
            <a:spAutoFit/>
          </a:bodyPr>
          <a:lstStyle/>
          <a:p>
            <a:pPr>
              <a:lnSpc>
                <a:spcPct val="120000"/>
              </a:lnSpc>
              <a:spcBef>
                <a:spcPts val="0"/>
              </a:spcBef>
              <a:spcAft>
                <a:spcPts val="400"/>
              </a:spcAft>
            </a:pPr>
            <a:r>
              <a:rPr sz="950" b="1" i="0">
                <a:solidFill>
                  <a:srgbClr val="14636E"/>
                </a:solidFill>
                <a:latin typeface="Consolas"/>
              </a:rPr>
              <a:t>COHERENT TOPIC</a:t>
            </a:r>
          </a:p>
          <a:p>
            <a:pPr>
              <a:lnSpc>
                <a:spcPct val="120000"/>
              </a:lnSpc>
              <a:spcBef>
                <a:spcPts val="0"/>
              </a:spcBef>
              <a:spcAft>
                <a:spcPts val="0"/>
              </a:spcAft>
            </a:pPr>
            <a:r>
              <a:rPr sz="1200" b="0" i="0">
                <a:solidFill>
                  <a:srgbClr val="2A664C"/>
                </a:solidFill>
                <a:latin typeface="Consolas"/>
              </a:rPr>
              <a:t>communication · feedback · transparency · information</a:t>
            </a:r>
          </a:p>
        </p:txBody>
      </p:sp>
      <p:sp>
        <p:nvSpPr>
          <p:cNvPr id="18" name="Rectangle 17">
            <a:extLst>
              <a:ext uri="{FF2B5EF4-FFF2-40B4-BE49-F238E27FC236}">
                <a16:creationId xmlns:a16="http://schemas.microsoft.com/office/drawing/2014/main" id="{FD889C3E-7E4D-851D-5173-4AE9143E85B5}"/>
              </a:ext>
            </a:extLst>
          </p:cNvPr>
          <p:cNvSpPr/>
          <p:nvPr/>
        </p:nvSpPr>
        <p:spPr>
          <a:xfrm>
            <a:off x="6278727" y="4069080"/>
            <a:ext cx="5163159" cy="10515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Rectangle 18">
            <a:extLst>
              <a:ext uri="{FF2B5EF4-FFF2-40B4-BE49-F238E27FC236}">
                <a16:creationId xmlns:a16="http://schemas.microsoft.com/office/drawing/2014/main" id="{9F5C60B9-DF78-FBF6-68DE-5C6F224B8532}"/>
              </a:ext>
            </a:extLst>
          </p:cNvPr>
          <p:cNvSpPr/>
          <p:nvPr/>
        </p:nvSpPr>
        <p:spPr>
          <a:xfrm>
            <a:off x="6278727" y="4069080"/>
            <a:ext cx="32004" cy="10515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a:extLst>
              <a:ext uri="{FF2B5EF4-FFF2-40B4-BE49-F238E27FC236}">
                <a16:creationId xmlns:a16="http://schemas.microsoft.com/office/drawing/2014/main" id="{71CA4888-14EB-0CE9-6BB1-94864F424520}"/>
              </a:ext>
            </a:extLst>
          </p:cNvPr>
          <p:cNvSpPr txBox="1"/>
          <p:nvPr/>
        </p:nvSpPr>
        <p:spPr>
          <a:xfrm>
            <a:off x="6534759" y="4270248"/>
            <a:ext cx="4687671" cy="649224"/>
          </a:xfrm>
          <a:prstGeom prst="rect">
            <a:avLst/>
          </a:prstGeom>
          <a:noFill/>
        </p:spPr>
        <p:txBody>
          <a:bodyPr wrap="square" lIns="0" tIns="0" rIns="0" bIns="0">
            <a:spAutoFit/>
          </a:bodyPr>
          <a:lstStyle/>
          <a:p>
            <a:pPr>
              <a:lnSpc>
                <a:spcPct val="120000"/>
              </a:lnSpc>
              <a:spcBef>
                <a:spcPts val="0"/>
              </a:spcBef>
              <a:spcAft>
                <a:spcPts val="400"/>
              </a:spcAft>
            </a:pPr>
            <a:r>
              <a:rPr sz="950" b="1" i="0">
                <a:solidFill>
                  <a:srgbClr val="14636E"/>
                </a:solidFill>
                <a:latin typeface="Consolas"/>
              </a:rPr>
              <a:t>INCOHERENT TOPIC</a:t>
            </a:r>
          </a:p>
          <a:p>
            <a:pPr>
              <a:lnSpc>
                <a:spcPct val="120000"/>
              </a:lnSpc>
              <a:spcBef>
                <a:spcPts val="0"/>
              </a:spcBef>
              <a:spcAft>
                <a:spcPts val="0"/>
              </a:spcAft>
            </a:pPr>
            <a:r>
              <a:rPr sz="1200" b="0" i="0">
                <a:solidFill>
                  <a:srgbClr val="9A4037"/>
                </a:solidFill>
                <a:latin typeface="Consolas"/>
              </a:rPr>
              <a:t>feedback · summer · dog · finance</a:t>
            </a:r>
          </a:p>
        </p:txBody>
      </p:sp>
      <p:sp>
        <p:nvSpPr>
          <p:cNvPr id="21" name="TextBox 20">
            <a:extLst>
              <a:ext uri="{FF2B5EF4-FFF2-40B4-BE49-F238E27FC236}">
                <a16:creationId xmlns:a16="http://schemas.microsoft.com/office/drawing/2014/main" id="{53027E75-0E29-6AB4-F448-01ADB4AFB777}"/>
              </a:ext>
            </a:extLst>
          </p:cNvPr>
          <p:cNvSpPr txBox="1"/>
          <p:nvPr/>
        </p:nvSpPr>
        <p:spPr>
          <a:xfrm>
            <a:off x="749808" y="5349240"/>
            <a:ext cx="10692079" cy="640080"/>
          </a:xfrm>
          <a:prstGeom prst="rect">
            <a:avLst/>
          </a:prstGeom>
          <a:noFill/>
        </p:spPr>
        <p:txBody>
          <a:bodyPr wrap="square" lIns="0" tIns="0" rIns="0" bIns="0">
            <a:spAutoFit/>
          </a:bodyPr>
          <a:lstStyle/>
          <a:p>
            <a:pPr>
              <a:lnSpc>
                <a:spcPct val="125000"/>
              </a:lnSpc>
              <a:spcBef>
                <a:spcPts val="0"/>
              </a:spcBef>
              <a:spcAft>
                <a:spcPts val="0"/>
              </a:spcAft>
            </a:pPr>
            <a:r>
              <a:rPr sz="1150" b="0" i="0">
                <a:solidFill>
                  <a:srgbClr val="5A6B6E"/>
                </a:solidFill>
                <a:latin typeface="Calibri"/>
              </a:rPr>
              <a:t>Topic modelling has no ground-truth labels, so classification metrics do not apply. Coherence, outlier rate and coverage are reported together — each one alone can be gamed.</a:t>
            </a:r>
          </a:p>
        </p:txBody>
      </p:sp>
      <p:sp>
        <p:nvSpPr>
          <p:cNvPr id="22" name="TextBox 21">
            <a:extLst>
              <a:ext uri="{FF2B5EF4-FFF2-40B4-BE49-F238E27FC236}">
                <a16:creationId xmlns:a16="http://schemas.microsoft.com/office/drawing/2014/main" id="{A5496216-C2A4-2CCF-3C29-3E08416FC6C8}"/>
              </a:ext>
            </a:extLst>
          </p:cNvPr>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7 / 21</a:t>
            </a:r>
          </a:p>
        </p:txBody>
      </p:sp>
    </p:spTree>
    <p:extLst>
      <p:ext uri="{BB962C8B-B14F-4D97-AF65-F5344CB8AC3E}">
        <p14:creationId xmlns:p14="http://schemas.microsoft.com/office/powerpoint/2010/main" val="525707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MODELS &amp; STATUS</a:t>
            </a:r>
            <a:r>
              <a:rPr sz="1000">
                <a:solidFill>
                  <a:srgbClr val="8A9B9E"/>
                </a:solidFill>
                <a:latin typeface="Consolas"/>
              </a:rPr>
              <a:t>   ·   WHAT IS BUILT</a:t>
            </a:r>
          </a:p>
        </p:txBody>
      </p:sp>
      <p:sp>
        <p:nvSpPr>
          <p:cNvPr id="4" name="TextBox 3"/>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a:solidFill>
                  <a:srgbClr val="0F1A1C"/>
                </a:solidFill>
                <a:latin typeface="Georgia"/>
              </a:rPr>
              <a:t>Three layers, one dataset</a:t>
            </a: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MIDTERM</a:t>
            </a:r>
          </a:p>
        </p:txBody>
      </p:sp>
      <p:sp>
        <p:nvSpPr>
          <p:cNvPr id="6" name="Rectangle 5"/>
          <p:cNvSpPr/>
          <p:nvPr/>
        </p:nvSpPr>
        <p:spPr>
          <a:xfrm>
            <a:off x="749808" y="1874519"/>
            <a:ext cx="5163159" cy="38404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9"/>
            <a:ext cx="32004" cy="38404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4687671" cy="343814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MODEL STACK</a:t>
            </a:r>
          </a:p>
        </p:txBody>
      </p:sp>
      <p:graphicFrame>
        <p:nvGraphicFramePr>
          <p:cNvPr id="9" name="Table 8"/>
          <p:cNvGraphicFramePr>
            <a:graphicFrameLocks noGrp="1"/>
          </p:cNvGraphicFramePr>
          <p:nvPr/>
        </p:nvGraphicFramePr>
        <p:xfrm>
          <a:off x="1005840" y="2441448"/>
          <a:ext cx="4651095" cy="1335024"/>
        </p:xfrm>
        <a:graphic>
          <a:graphicData uri="http://schemas.openxmlformats.org/drawingml/2006/table">
            <a:tbl>
              <a:tblPr firstRow="1">
                <a:tableStyleId>{5C22544A-7EE6-4342-B048-85BDC9FD1C3A}</a:tableStyleId>
              </a:tblPr>
              <a:tblGrid>
                <a:gridCol w="1023241">
                  <a:extLst>
                    <a:ext uri="{9D8B030D-6E8A-4147-A177-3AD203B41FA5}">
                      <a16:colId xmlns:a16="http://schemas.microsoft.com/office/drawing/2014/main" val="20000"/>
                    </a:ext>
                  </a:extLst>
                </a:gridCol>
                <a:gridCol w="2046482">
                  <a:extLst>
                    <a:ext uri="{9D8B030D-6E8A-4147-A177-3AD203B41FA5}">
                      <a16:colId xmlns:a16="http://schemas.microsoft.com/office/drawing/2014/main" val="20001"/>
                    </a:ext>
                  </a:extLst>
                </a:gridCol>
                <a:gridCol w="1581372">
                  <a:extLst>
                    <a:ext uri="{9D8B030D-6E8A-4147-A177-3AD203B41FA5}">
                      <a16:colId xmlns:a16="http://schemas.microsoft.com/office/drawing/2014/main" val="20002"/>
                    </a:ext>
                  </a:extLst>
                </a:gridCol>
              </a:tblGrid>
              <a:tr h="274320">
                <a:tc>
                  <a:txBody>
                    <a:bodyPr/>
                    <a:lstStyle/>
                    <a:p>
                      <a:pPr>
                        <a:lnSpc>
                          <a:spcPct val="100000"/>
                        </a:lnSpc>
                      </a:pPr>
                      <a:r>
                        <a:rPr sz="900" b="1">
                          <a:solidFill>
                            <a:srgbClr val="5A6B6E"/>
                          </a:solidFill>
                          <a:latin typeface="Consolas"/>
                        </a:rPr>
                        <a:t>Layer</a:t>
                      </a:r>
                    </a:p>
                  </a:txBody>
                  <a:tcPr marL="64008" marR="64008" marT="18288" marB="18288" anchor="ctr">
                    <a:solidFill>
                      <a:srgbClr val="E2F0F1"/>
                    </a:solidFill>
                  </a:tcPr>
                </a:tc>
                <a:tc>
                  <a:txBody>
                    <a:bodyPr/>
                    <a:lstStyle/>
                    <a:p>
                      <a:pPr>
                        <a:lnSpc>
                          <a:spcPct val="100000"/>
                        </a:lnSpc>
                      </a:pPr>
                      <a:r>
                        <a:rPr sz="900" b="1">
                          <a:solidFill>
                            <a:srgbClr val="5A6B6E"/>
                          </a:solidFill>
                          <a:latin typeface="Consolas"/>
                        </a:rPr>
                        <a:t>Model</a:t>
                      </a:r>
                    </a:p>
                  </a:txBody>
                  <a:tcPr marL="64008" marR="64008" marT="18288" marB="18288" anchor="ctr">
                    <a:solidFill>
                      <a:srgbClr val="E2F0F1"/>
                    </a:solidFill>
                  </a:tcPr>
                </a:tc>
                <a:tc>
                  <a:txBody>
                    <a:bodyPr/>
                    <a:lstStyle/>
                    <a:p>
                      <a:pPr>
                        <a:lnSpc>
                          <a:spcPct val="100000"/>
                        </a:lnSpc>
                      </a:pPr>
                      <a:r>
                        <a:rPr sz="900" b="1">
                          <a:solidFill>
                            <a:srgbClr val="5A6B6E"/>
                          </a:solidFill>
                          <a:latin typeface="Consolas"/>
                        </a:rPr>
                        <a:t>Output</a:t>
                      </a:r>
                    </a:p>
                  </a:txBody>
                  <a:tcPr marL="64008" marR="64008" marT="18288" marB="18288" anchor="ctr">
                    <a:solidFill>
                      <a:srgbClr val="E2F0F1"/>
                    </a:solidFill>
                  </a:tcPr>
                </a:tc>
                <a:extLst>
                  <a:ext uri="{0D108BD9-81ED-4DB2-BD59-A6C34878D82A}">
                    <a16:rowId xmlns:a16="http://schemas.microsoft.com/office/drawing/2014/main" val="10000"/>
                  </a:ext>
                </a:extLst>
              </a:tr>
              <a:tr h="265176">
                <a:tc>
                  <a:txBody>
                    <a:bodyPr/>
                    <a:lstStyle/>
                    <a:p>
                      <a:pPr>
                        <a:lnSpc>
                          <a:spcPct val="100000"/>
                        </a:lnSpc>
                      </a:pPr>
                      <a:r>
                        <a:rPr sz="1000" b="0">
                          <a:solidFill>
                            <a:srgbClr val="0F1A1C"/>
                          </a:solidFill>
                          <a:latin typeface="Calibri"/>
                        </a:rPr>
                        <a:t>Sentiment</a:t>
                      </a:r>
                    </a:p>
                  </a:txBody>
                  <a:tcPr marL="64008" marR="64008" marT="18288" marB="18288" anchor="ctr">
                    <a:solidFill>
                      <a:srgbClr val="FFFFFF"/>
                    </a:solidFill>
                  </a:tcPr>
                </a:tc>
                <a:tc>
                  <a:txBody>
                    <a:bodyPr/>
                    <a:lstStyle/>
                    <a:p>
                      <a:pPr>
                        <a:lnSpc>
                          <a:spcPct val="100000"/>
                        </a:lnSpc>
                      </a:pPr>
                      <a:r>
                        <a:rPr sz="1000" b="0">
                          <a:solidFill>
                            <a:srgbClr val="0F1A1C"/>
                          </a:solidFill>
                          <a:latin typeface="Consolas"/>
                        </a:rPr>
                        <a:t>german-sentiment-bert</a:t>
                      </a:r>
                    </a:p>
                  </a:txBody>
                  <a:tcPr marL="64008" marR="64008" marT="18288" marB="18288" anchor="ctr">
                    <a:solidFill>
                      <a:srgbClr val="FFFFFF"/>
                    </a:solidFill>
                  </a:tcPr>
                </a:tc>
                <a:tc>
                  <a:txBody>
                    <a:bodyPr/>
                    <a:lstStyle/>
                    <a:p>
                      <a:pPr>
                        <a:lnSpc>
                          <a:spcPct val="100000"/>
                        </a:lnSpc>
                      </a:pPr>
                      <a:r>
                        <a:rPr sz="1000" b="0">
                          <a:solidFill>
                            <a:srgbClr val="0F1A1C"/>
                          </a:solidFill>
                          <a:latin typeface="Calibri"/>
                        </a:rPr>
                        <a:t>continuous valence</a:t>
                      </a:r>
                    </a:p>
                  </a:txBody>
                  <a:tcPr marL="64008" marR="64008" marT="18288" marB="18288" anchor="ctr">
                    <a:solidFill>
                      <a:srgbClr val="FFFFFF"/>
                    </a:solidFill>
                  </a:tcPr>
                </a:tc>
                <a:extLst>
                  <a:ext uri="{0D108BD9-81ED-4DB2-BD59-A6C34878D82A}">
                    <a16:rowId xmlns:a16="http://schemas.microsoft.com/office/drawing/2014/main" val="10001"/>
                  </a:ext>
                </a:extLst>
              </a:tr>
              <a:tr h="265176">
                <a:tc>
                  <a:txBody>
                    <a:bodyPr/>
                    <a:lstStyle/>
                    <a:p>
                      <a:pPr>
                        <a:lnSpc>
                          <a:spcPct val="100000"/>
                        </a:lnSpc>
                      </a:pPr>
                      <a:r>
                        <a:rPr sz="1000" b="0">
                          <a:solidFill>
                            <a:srgbClr val="0F1A1C"/>
                          </a:solidFill>
                          <a:latin typeface="Calibri"/>
                        </a:rPr>
                        <a:t>Topics</a:t>
                      </a:r>
                    </a:p>
                  </a:txBody>
                  <a:tcPr marL="64008" marR="64008" marT="18288" marB="18288" anchor="ctr">
                    <a:solidFill>
                      <a:srgbClr val="EEF2F2"/>
                    </a:solidFill>
                  </a:tcPr>
                </a:tc>
                <a:tc>
                  <a:txBody>
                    <a:bodyPr/>
                    <a:lstStyle/>
                    <a:p>
                      <a:pPr>
                        <a:lnSpc>
                          <a:spcPct val="100000"/>
                        </a:lnSpc>
                      </a:pPr>
                      <a:r>
                        <a:rPr sz="1000" b="0">
                          <a:solidFill>
                            <a:srgbClr val="0F1A1C"/>
                          </a:solidFill>
                          <a:latin typeface="Consolas"/>
                        </a:rPr>
                        <a:t>BERTopic + MiniLM</a:t>
                      </a:r>
                    </a:p>
                  </a:txBody>
                  <a:tcPr marL="64008" marR="64008" marT="18288" marB="18288" anchor="ctr">
                    <a:solidFill>
                      <a:srgbClr val="EEF2F2"/>
                    </a:solidFill>
                  </a:tcPr>
                </a:tc>
                <a:tc>
                  <a:txBody>
                    <a:bodyPr/>
                    <a:lstStyle/>
                    <a:p>
                      <a:pPr>
                        <a:lnSpc>
                          <a:spcPct val="100000"/>
                        </a:lnSpc>
                      </a:pPr>
                      <a:r>
                        <a:rPr sz="1000" b="0">
                          <a:solidFill>
                            <a:srgbClr val="0F1A1C"/>
                          </a:solidFill>
                          <a:latin typeface="Calibri"/>
                        </a:rPr>
                        <a:t>topic id, label, prob.</a:t>
                      </a:r>
                    </a:p>
                  </a:txBody>
                  <a:tcPr marL="64008" marR="64008" marT="18288" marB="18288" anchor="ctr">
                    <a:solidFill>
                      <a:srgbClr val="EEF2F2"/>
                    </a:solidFill>
                  </a:tcPr>
                </a:tc>
                <a:extLst>
                  <a:ext uri="{0D108BD9-81ED-4DB2-BD59-A6C34878D82A}">
                    <a16:rowId xmlns:a16="http://schemas.microsoft.com/office/drawing/2014/main" val="10002"/>
                  </a:ext>
                </a:extLst>
              </a:tr>
              <a:tr h="265176">
                <a:tc>
                  <a:txBody>
                    <a:bodyPr/>
                    <a:lstStyle/>
                    <a:p>
                      <a:pPr>
                        <a:lnSpc>
                          <a:spcPct val="100000"/>
                        </a:lnSpc>
                      </a:pPr>
                      <a:r>
                        <a:rPr sz="1000" b="0">
                          <a:solidFill>
                            <a:srgbClr val="0F1A1C"/>
                          </a:solidFill>
                          <a:latin typeface="Calibri"/>
                        </a:rPr>
                        <a:t>Baseline</a:t>
                      </a:r>
                    </a:p>
                  </a:txBody>
                  <a:tcPr marL="64008" marR="64008" marT="18288" marB="18288" anchor="ctr">
                    <a:solidFill>
                      <a:srgbClr val="FFFFFF"/>
                    </a:solidFill>
                  </a:tcPr>
                </a:tc>
                <a:tc>
                  <a:txBody>
                    <a:bodyPr/>
                    <a:lstStyle/>
                    <a:p>
                      <a:pPr>
                        <a:lnSpc>
                          <a:spcPct val="100000"/>
                        </a:lnSpc>
                      </a:pPr>
                      <a:r>
                        <a:rPr sz="1000" b="0">
                          <a:solidFill>
                            <a:srgbClr val="0F1A1C"/>
                          </a:solidFill>
                          <a:latin typeface="Consolas"/>
                        </a:rPr>
                        <a:t>mDeBERTa zero-shot</a:t>
                      </a:r>
                    </a:p>
                  </a:txBody>
                  <a:tcPr marL="64008" marR="64008" marT="18288" marB="18288" anchor="ctr">
                    <a:solidFill>
                      <a:srgbClr val="FFFFFF"/>
                    </a:solidFill>
                  </a:tcPr>
                </a:tc>
                <a:tc>
                  <a:txBody>
                    <a:bodyPr/>
                    <a:lstStyle/>
                    <a:p>
                      <a:pPr>
                        <a:lnSpc>
                          <a:spcPct val="100000"/>
                        </a:lnSpc>
                      </a:pPr>
                      <a:r>
                        <a:rPr sz="1000" b="0">
                          <a:solidFill>
                            <a:srgbClr val="0F1A1C"/>
                          </a:solidFill>
                          <a:latin typeface="Calibri"/>
                        </a:rPr>
                        <a:t>valence / arousal class</a:t>
                      </a:r>
                    </a:p>
                  </a:txBody>
                  <a:tcPr marL="64008" marR="64008" marT="18288" marB="18288" anchor="ctr">
                    <a:solidFill>
                      <a:srgbClr val="FFFFFF"/>
                    </a:solidFill>
                  </a:tcPr>
                </a:tc>
                <a:extLst>
                  <a:ext uri="{0D108BD9-81ED-4DB2-BD59-A6C34878D82A}">
                    <a16:rowId xmlns:a16="http://schemas.microsoft.com/office/drawing/2014/main" val="10003"/>
                  </a:ext>
                </a:extLst>
              </a:tr>
              <a:tr h="265176">
                <a:tc>
                  <a:txBody>
                    <a:bodyPr/>
                    <a:lstStyle/>
                    <a:p>
                      <a:pPr>
                        <a:lnSpc>
                          <a:spcPct val="100000"/>
                        </a:lnSpc>
                      </a:pPr>
                      <a:r>
                        <a:rPr sz="1000" b="0">
                          <a:solidFill>
                            <a:srgbClr val="0F1A1C"/>
                          </a:solidFill>
                          <a:latin typeface="Calibri"/>
                        </a:rPr>
                        <a:t>Dashboard</a:t>
                      </a:r>
                    </a:p>
                  </a:txBody>
                  <a:tcPr marL="64008" marR="64008" marT="18288" marB="18288" anchor="ctr">
                    <a:solidFill>
                      <a:srgbClr val="EEF2F2"/>
                    </a:solidFill>
                  </a:tcPr>
                </a:tc>
                <a:tc>
                  <a:txBody>
                    <a:bodyPr/>
                    <a:lstStyle/>
                    <a:p>
                      <a:pPr>
                        <a:lnSpc>
                          <a:spcPct val="100000"/>
                        </a:lnSpc>
                      </a:pPr>
                      <a:r>
                        <a:rPr sz="1000" b="0">
                          <a:solidFill>
                            <a:srgbClr val="0F1A1C"/>
                          </a:solidFill>
                          <a:latin typeface="Consolas"/>
                        </a:rPr>
                        <a:t>Power BI</a:t>
                      </a:r>
                    </a:p>
                  </a:txBody>
                  <a:tcPr marL="64008" marR="64008" marT="18288" marB="18288" anchor="ctr">
                    <a:solidFill>
                      <a:srgbClr val="EEF2F2"/>
                    </a:solidFill>
                  </a:tcPr>
                </a:tc>
                <a:tc>
                  <a:txBody>
                    <a:bodyPr/>
                    <a:lstStyle/>
                    <a:p>
                      <a:pPr>
                        <a:lnSpc>
                          <a:spcPct val="100000"/>
                        </a:lnSpc>
                      </a:pPr>
                      <a:r>
                        <a:rPr sz="1000" b="0">
                          <a:solidFill>
                            <a:srgbClr val="0F1A1C"/>
                          </a:solidFill>
                          <a:latin typeface="Calibri"/>
                        </a:rPr>
                        <a:t>4 report pages</a:t>
                      </a:r>
                    </a:p>
                  </a:txBody>
                  <a:tcPr marL="64008" marR="64008" marT="18288" marB="18288" anchor="ctr">
                    <a:solidFill>
                      <a:srgbClr val="EEF2F2"/>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1005840" y="4023360"/>
            <a:ext cx="4651095" cy="1280160"/>
          </a:xfrm>
          <a:prstGeom prst="rect">
            <a:avLst/>
          </a:prstGeom>
          <a:noFill/>
        </p:spPr>
        <p:txBody>
          <a:bodyPr wrap="square" lIns="0" tIns="0" rIns="0" bIns="0">
            <a:spAutoFit/>
          </a:bodyPr>
          <a:lstStyle/>
          <a:p>
            <a:pPr>
              <a:lnSpc>
                <a:spcPct val="120000"/>
              </a:lnSpc>
              <a:spcBef>
                <a:spcPts val="0"/>
              </a:spcBef>
              <a:spcAft>
                <a:spcPts val="600"/>
              </a:spcAft>
            </a:pPr>
            <a:r>
              <a:rPr sz="1150" b="0" i="0">
                <a:solidFill>
                  <a:srgbClr val="14636E"/>
                </a:solidFill>
                <a:latin typeface="Consolas"/>
              </a:rPr>
              <a:t>Valence = P(positive) − P(negative), continuous on −1 … +1.</a:t>
            </a:r>
          </a:p>
          <a:p>
            <a:pPr>
              <a:lnSpc>
                <a:spcPct val="125000"/>
              </a:lnSpc>
              <a:spcBef>
                <a:spcPts val="0"/>
              </a:spcBef>
              <a:spcAft>
                <a:spcPts val="0"/>
              </a:spcAft>
            </a:pPr>
            <a:r>
              <a:rPr sz="1150" b="0" i="0">
                <a:solidFill>
                  <a:srgbClr val="5A6B6E"/>
                </a:solidFill>
                <a:latin typeface="Calibri"/>
              </a:rPr>
              <a:t>BERTopic uses sentence embeddings, so semantically similar comments cluster even when they share no keywords.</a:t>
            </a:r>
          </a:p>
        </p:txBody>
      </p:sp>
      <p:sp>
        <p:nvSpPr>
          <p:cNvPr id="11" name="Rectangle 10"/>
          <p:cNvSpPr/>
          <p:nvPr/>
        </p:nvSpPr>
        <p:spPr>
          <a:xfrm>
            <a:off x="6278727" y="1874519"/>
            <a:ext cx="5163159" cy="38404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278727" y="1874519"/>
            <a:ext cx="32004" cy="38404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534759" y="2075688"/>
            <a:ext cx="4687671" cy="343814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PROGRESS</a:t>
            </a:r>
          </a:p>
        </p:txBody>
      </p:sp>
      <p:graphicFrame>
        <p:nvGraphicFramePr>
          <p:cNvPr id="14" name="Table 13"/>
          <p:cNvGraphicFramePr>
            <a:graphicFrameLocks noGrp="1"/>
          </p:cNvGraphicFramePr>
          <p:nvPr/>
        </p:nvGraphicFramePr>
        <p:xfrm>
          <a:off x="6534759" y="2441448"/>
          <a:ext cx="4651094" cy="2121408"/>
        </p:xfrm>
        <a:graphic>
          <a:graphicData uri="http://schemas.openxmlformats.org/drawingml/2006/table">
            <a:tbl>
              <a:tblPr>
                <a:tableStyleId>{5C22544A-7EE6-4342-B048-85BDC9FD1C3A}</a:tableStyleId>
              </a:tblPr>
              <a:tblGrid>
                <a:gridCol w="3348788">
                  <a:extLst>
                    <a:ext uri="{9D8B030D-6E8A-4147-A177-3AD203B41FA5}">
                      <a16:colId xmlns:a16="http://schemas.microsoft.com/office/drawing/2014/main" val="20000"/>
                    </a:ext>
                  </a:extLst>
                </a:gridCol>
                <a:gridCol w="1302306">
                  <a:extLst>
                    <a:ext uri="{9D8B030D-6E8A-4147-A177-3AD203B41FA5}">
                      <a16:colId xmlns:a16="http://schemas.microsoft.com/office/drawing/2014/main" val="20001"/>
                    </a:ext>
                  </a:extLst>
                </a:gridCol>
              </a:tblGrid>
              <a:tr h="265176">
                <a:tc>
                  <a:txBody>
                    <a:bodyPr/>
                    <a:lstStyle/>
                    <a:p>
                      <a:pPr>
                        <a:lnSpc>
                          <a:spcPct val="100000"/>
                        </a:lnSpc>
                      </a:pPr>
                      <a:r>
                        <a:rPr sz="1050" b="0">
                          <a:solidFill>
                            <a:srgbClr val="0F1A1C"/>
                          </a:solidFill>
                          <a:latin typeface="Calibri"/>
                        </a:rPr>
                        <a:t>EDA — real &amp; synthetic</a:t>
                      </a:r>
                    </a:p>
                  </a:txBody>
                  <a:tcPr marL="64008" marR="64008" marT="18288" marB="18288" anchor="ctr">
                    <a:solidFill>
                      <a:srgbClr val="EEF2F2"/>
                    </a:solidFill>
                  </a:tcPr>
                </a:tc>
                <a:tc>
                  <a:txBody>
                    <a:bodyPr/>
                    <a:lstStyle/>
                    <a:p>
                      <a:pPr algn="r">
                        <a:lnSpc>
                          <a:spcPct val="100000"/>
                        </a:lnSpc>
                      </a:pPr>
                      <a:r>
                        <a:rPr sz="1050" b="1">
                          <a:solidFill>
                            <a:srgbClr val="2A664C"/>
                          </a:solidFill>
                          <a:latin typeface="Consolas"/>
                        </a:rPr>
                        <a:t>DONE</a:t>
                      </a:r>
                    </a:p>
                  </a:txBody>
                  <a:tcPr marL="64008" marR="64008" marT="18288" marB="18288" anchor="ctr">
                    <a:solidFill>
                      <a:srgbClr val="EEF2F2"/>
                    </a:solidFill>
                  </a:tcPr>
                </a:tc>
                <a:extLst>
                  <a:ext uri="{0D108BD9-81ED-4DB2-BD59-A6C34878D82A}">
                    <a16:rowId xmlns:a16="http://schemas.microsoft.com/office/drawing/2014/main" val="10000"/>
                  </a:ext>
                </a:extLst>
              </a:tr>
              <a:tr h="265176">
                <a:tc>
                  <a:txBody>
                    <a:bodyPr/>
                    <a:lstStyle/>
                    <a:p>
                      <a:pPr>
                        <a:lnSpc>
                          <a:spcPct val="100000"/>
                        </a:lnSpc>
                      </a:pPr>
                      <a:r>
                        <a:rPr sz="1050" b="0">
                          <a:solidFill>
                            <a:srgbClr val="0F1A1C"/>
                          </a:solidFill>
                          <a:latin typeface="Calibri"/>
                        </a:rPr>
                        <a:t>Cleaning &amp; survey scores</a:t>
                      </a:r>
                    </a:p>
                  </a:txBody>
                  <a:tcPr marL="64008" marR="64008" marT="18288" marB="18288" anchor="ctr">
                    <a:solidFill>
                      <a:srgbClr val="FFFFFF"/>
                    </a:solidFill>
                  </a:tcPr>
                </a:tc>
                <a:tc>
                  <a:txBody>
                    <a:bodyPr/>
                    <a:lstStyle/>
                    <a:p>
                      <a:pPr algn="r">
                        <a:lnSpc>
                          <a:spcPct val="100000"/>
                        </a:lnSpc>
                      </a:pPr>
                      <a:r>
                        <a:rPr sz="1050" b="1">
                          <a:solidFill>
                            <a:srgbClr val="2A664C"/>
                          </a:solidFill>
                          <a:latin typeface="Consolas"/>
                        </a:rPr>
                        <a:t>DONE</a:t>
                      </a:r>
                    </a:p>
                  </a:txBody>
                  <a:tcPr marL="64008" marR="64008" marT="18288" marB="18288" anchor="ctr">
                    <a:solidFill>
                      <a:srgbClr val="FFFFFF"/>
                    </a:solidFill>
                  </a:tcPr>
                </a:tc>
                <a:extLst>
                  <a:ext uri="{0D108BD9-81ED-4DB2-BD59-A6C34878D82A}">
                    <a16:rowId xmlns:a16="http://schemas.microsoft.com/office/drawing/2014/main" val="10001"/>
                  </a:ext>
                </a:extLst>
              </a:tr>
              <a:tr h="265176">
                <a:tc>
                  <a:txBody>
                    <a:bodyPr/>
                    <a:lstStyle/>
                    <a:p>
                      <a:pPr>
                        <a:lnSpc>
                          <a:spcPct val="100000"/>
                        </a:lnSpc>
                      </a:pPr>
                      <a:r>
                        <a:rPr sz="1050" b="0">
                          <a:solidFill>
                            <a:srgbClr val="0F1A1C"/>
                          </a:solidFill>
                          <a:latin typeface="Calibri"/>
                        </a:rPr>
                        <a:t>Zero-shot proof of concept</a:t>
                      </a:r>
                    </a:p>
                  </a:txBody>
                  <a:tcPr marL="64008" marR="64008" marT="18288" marB="18288" anchor="ctr">
                    <a:solidFill>
                      <a:srgbClr val="EEF2F2"/>
                    </a:solidFill>
                  </a:tcPr>
                </a:tc>
                <a:tc>
                  <a:txBody>
                    <a:bodyPr/>
                    <a:lstStyle/>
                    <a:p>
                      <a:pPr algn="r">
                        <a:lnSpc>
                          <a:spcPct val="100000"/>
                        </a:lnSpc>
                      </a:pPr>
                      <a:r>
                        <a:rPr sz="1050" b="1">
                          <a:solidFill>
                            <a:srgbClr val="2A664C"/>
                          </a:solidFill>
                          <a:latin typeface="Consolas"/>
                        </a:rPr>
                        <a:t>DONE</a:t>
                      </a:r>
                    </a:p>
                  </a:txBody>
                  <a:tcPr marL="64008" marR="64008" marT="18288" marB="18288" anchor="ctr">
                    <a:solidFill>
                      <a:srgbClr val="EEF2F2"/>
                    </a:solidFill>
                  </a:tcPr>
                </a:tc>
                <a:extLst>
                  <a:ext uri="{0D108BD9-81ED-4DB2-BD59-A6C34878D82A}">
                    <a16:rowId xmlns:a16="http://schemas.microsoft.com/office/drawing/2014/main" val="10002"/>
                  </a:ext>
                </a:extLst>
              </a:tr>
              <a:tr h="265176">
                <a:tc>
                  <a:txBody>
                    <a:bodyPr/>
                    <a:lstStyle/>
                    <a:p>
                      <a:pPr>
                        <a:lnSpc>
                          <a:spcPct val="100000"/>
                        </a:lnSpc>
                      </a:pPr>
                      <a:r>
                        <a:rPr sz="1050" b="0">
                          <a:solidFill>
                            <a:srgbClr val="0F1A1C"/>
                          </a:solidFill>
                          <a:latin typeface="Calibri"/>
                        </a:rPr>
                        <a:t>Sentiment — continuous valence</a:t>
                      </a:r>
                    </a:p>
                  </a:txBody>
                  <a:tcPr marL="64008" marR="64008" marT="18288" marB="18288" anchor="ctr">
                    <a:solidFill>
                      <a:srgbClr val="FFFFFF"/>
                    </a:solidFill>
                  </a:tcPr>
                </a:tc>
                <a:tc>
                  <a:txBody>
                    <a:bodyPr/>
                    <a:lstStyle/>
                    <a:p>
                      <a:pPr algn="r">
                        <a:lnSpc>
                          <a:spcPct val="100000"/>
                        </a:lnSpc>
                      </a:pPr>
                      <a:r>
                        <a:rPr sz="1050" b="1">
                          <a:solidFill>
                            <a:srgbClr val="2A664C"/>
                          </a:solidFill>
                          <a:latin typeface="Consolas"/>
                        </a:rPr>
                        <a:t>DONE</a:t>
                      </a:r>
                    </a:p>
                  </a:txBody>
                  <a:tcPr marL="64008" marR="64008" marT="18288" marB="18288" anchor="ctr">
                    <a:solidFill>
                      <a:srgbClr val="FFFFFF"/>
                    </a:solidFill>
                  </a:tcPr>
                </a:tc>
                <a:extLst>
                  <a:ext uri="{0D108BD9-81ED-4DB2-BD59-A6C34878D82A}">
                    <a16:rowId xmlns:a16="http://schemas.microsoft.com/office/drawing/2014/main" val="10003"/>
                  </a:ext>
                </a:extLst>
              </a:tr>
              <a:tr h="265176">
                <a:tc>
                  <a:txBody>
                    <a:bodyPr/>
                    <a:lstStyle/>
                    <a:p>
                      <a:pPr>
                        <a:lnSpc>
                          <a:spcPct val="100000"/>
                        </a:lnSpc>
                      </a:pPr>
                      <a:r>
                        <a:rPr sz="1050" b="0">
                          <a:solidFill>
                            <a:srgbClr val="0F1A1C"/>
                          </a:solidFill>
                          <a:latin typeface="Calibri"/>
                        </a:rPr>
                        <a:t>BERTopic incl. grid searches</a:t>
                      </a:r>
                    </a:p>
                  </a:txBody>
                  <a:tcPr marL="64008" marR="64008" marT="18288" marB="18288" anchor="ctr">
                    <a:solidFill>
                      <a:srgbClr val="EEF2F2"/>
                    </a:solidFill>
                  </a:tcPr>
                </a:tc>
                <a:tc>
                  <a:txBody>
                    <a:bodyPr/>
                    <a:lstStyle/>
                    <a:p>
                      <a:pPr algn="r">
                        <a:lnSpc>
                          <a:spcPct val="100000"/>
                        </a:lnSpc>
                      </a:pPr>
                      <a:r>
                        <a:rPr sz="1050" b="1">
                          <a:solidFill>
                            <a:srgbClr val="2A664C"/>
                          </a:solidFill>
                          <a:latin typeface="Consolas"/>
                        </a:rPr>
                        <a:t>DONE</a:t>
                      </a:r>
                    </a:p>
                  </a:txBody>
                  <a:tcPr marL="64008" marR="64008" marT="18288" marB="18288" anchor="ctr">
                    <a:solidFill>
                      <a:srgbClr val="EEF2F2"/>
                    </a:solidFill>
                  </a:tcPr>
                </a:tc>
                <a:extLst>
                  <a:ext uri="{0D108BD9-81ED-4DB2-BD59-A6C34878D82A}">
                    <a16:rowId xmlns:a16="http://schemas.microsoft.com/office/drawing/2014/main" val="10004"/>
                  </a:ext>
                </a:extLst>
              </a:tr>
              <a:tr h="265176">
                <a:tc>
                  <a:txBody>
                    <a:bodyPr/>
                    <a:lstStyle/>
                    <a:p>
                      <a:pPr>
                        <a:lnSpc>
                          <a:spcPct val="100000"/>
                        </a:lnSpc>
                      </a:pPr>
                      <a:r>
                        <a:rPr sz="1050" b="0">
                          <a:solidFill>
                            <a:srgbClr val="0F1A1C"/>
                          </a:solidFill>
                          <a:latin typeface="Calibri"/>
                        </a:rPr>
                        <a:t>Dashboard concept</a:t>
                      </a:r>
                    </a:p>
                  </a:txBody>
                  <a:tcPr marL="64008" marR="64008" marT="18288" marB="18288" anchor="ctr">
                    <a:solidFill>
                      <a:srgbClr val="FFFFFF"/>
                    </a:solidFill>
                  </a:tcPr>
                </a:tc>
                <a:tc>
                  <a:txBody>
                    <a:bodyPr/>
                    <a:lstStyle/>
                    <a:p>
                      <a:pPr algn="r">
                        <a:lnSpc>
                          <a:spcPct val="100000"/>
                        </a:lnSpc>
                      </a:pPr>
                      <a:r>
                        <a:rPr sz="1050" b="1">
                          <a:solidFill>
                            <a:srgbClr val="2A664C"/>
                          </a:solidFill>
                          <a:latin typeface="Consolas"/>
                        </a:rPr>
                        <a:t>DONE</a:t>
                      </a:r>
                    </a:p>
                  </a:txBody>
                  <a:tcPr marL="64008" marR="64008" marT="18288" marB="18288" anchor="ctr">
                    <a:solidFill>
                      <a:srgbClr val="FFFFFF"/>
                    </a:solidFill>
                  </a:tcPr>
                </a:tc>
                <a:extLst>
                  <a:ext uri="{0D108BD9-81ED-4DB2-BD59-A6C34878D82A}">
                    <a16:rowId xmlns:a16="http://schemas.microsoft.com/office/drawing/2014/main" val="10005"/>
                  </a:ext>
                </a:extLst>
              </a:tr>
              <a:tr h="265176">
                <a:tc>
                  <a:txBody>
                    <a:bodyPr/>
                    <a:lstStyle/>
                    <a:p>
                      <a:pPr>
                        <a:lnSpc>
                          <a:spcPct val="100000"/>
                        </a:lnSpc>
                      </a:pPr>
                      <a:r>
                        <a:rPr sz="1050" b="0">
                          <a:solidFill>
                            <a:srgbClr val="0F1A1C"/>
                          </a:solidFill>
                          <a:latin typeface="Calibri"/>
                        </a:rPr>
                        <a:t>Arousal dimension</a:t>
                      </a:r>
                    </a:p>
                  </a:txBody>
                  <a:tcPr marL="64008" marR="64008" marT="18288" marB="18288" anchor="ctr">
                    <a:solidFill>
                      <a:srgbClr val="EEF2F2"/>
                    </a:solidFill>
                  </a:tcPr>
                </a:tc>
                <a:tc>
                  <a:txBody>
                    <a:bodyPr/>
                    <a:lstStyle/>
                    <a:p>
                      <a:pPr algn="r">
                        <a:lnSpc>
                          <a:spcPct val="100000"/>
                        </a:lnSpc>
                      </a:pPr>
                      <a:r>
                        <a:rPr sz="1050" b="1">
                          <a:solidFill>
                            <a:srgbClr val="8F6414"/>
                          </a:solidFill>
                          <a:latin typeface="Consolas"/>
                        </a:rPr>
                        <a:t>OPEN</a:t>
                      </a:r>
                    </a:p>
                  </a:txBody>
                  <a:tcPr marL="64008" marR="64008" marT="18288" marB="18288" anchor="ctr">
                    <a:solidFill>
                      <a:srgbClr val="EEF2F2"/>
                    </a:solidFill>
                  </a:tcPr>
                </a:tc>
                <a:extLst>
                  <a:ext uri="{0D108BD9-81ED-4DB2-BD59-A6C34878D82A}">
                    <a16:rowId xmlns:a16="http://schemas.microsoft.com/office/drawing/2014/main" val="10006"/>
                  </a:ext>
                </a:extLst>
              </a:tr>
              <a:tr h="265176">
                <a:tc>
                  <a:txBody>
                    <a:bodyPr/>
                    <a:lstStyle/>
                    <a:p>
                      <a:pPr>
                        <a:lnSpc>
                          <a:spcPct val="100000"/>
                        </a:lnSpc>
                      </a:pPr>
                      <a:r>
                        <a:rPr sz="1050" b="0">
                          <a:solidFill>
                            <a:srgbClr val="0F1A1C"/>
                          </a:solidFill>
                          <a:latin typeface="Calibri"/>
                        </a:rPr>
                        <a:t>Engagement prediction model</a:t>
                      </a:r>
                    </a:p>
                  </a:txBody>
                  <a:tcPr marL="64008" marR="64008" marT="18288" marB="18288" anchor="ctr">
                    <a:solidFill>
                      <a:srgbClr val="FFFFFF"/>
                    </a:solidFill>
                  </a:tcPr>
                </a:tc>
                <a:tc>
                  <a:txBody>
                    <a:bodyPr/>
                    <a:lstStyle/>
                    <a:p>
                      <a:pPr algn="r">
                        <a:lnSpc>
                          <a:spcPct val="100000"/>
                        </a:lnSpc>
                      </a:pPr>
                      <a:r>
                        <a:rPr sz="1050" b="1">
                          <a:solidFill>
                            <a:srgbClr val="8F6414"/>
                          </a:solidFill>
                          <a:latin typeface="Consolas"/>
                        </a:rPr>
                        <a:t>OPEN</a:t>
                      </a:r>
                    </a:p>
                  </a:txBody>
                  <a:tcPr marL="64008" marR="64008" marT="18288" marB="18288" anchor="ctr">
                    <a:solidFill>
                      <a:srgbClr val="FFFFFF"/>
                    </a:solidFill>
                  </a:tcPr>
                </a:tc>
                <a:extLst>
                  <a:ext uri="{0D108BD9-81ED-4DB2-BD59-A6C34878D82A}">
                    <a16:rowId xmlns:a16="http://schemas.microsoft.com/office/drawing/2014/main" val="10007"/>
                  </a:ext>
                </a:extLst>
              </a:tr>
            </a:tbl>
          </a:graphicData>
        </a:graphic>
      </p:graphicFrame>
      <p:sp>
        <p:nvSpPr>
          <p:cNvPr id="15" name="TextBox 14"/>
          <p:cNvSpPr txBox="1"/>
          <p:nvPr/>
        </p:nvSpPr>
        <p:spPr>
          <a:xfrm>
            <a:off x="6534759" y="4663440"/>
            <a:ext cx="4651095" cy="822960"/>
          </a:xfrm>
          <a:prstGeom prst="rect">
            <a:avLst/>
          </a:prstGeom>
          <a:noFill/>
        </p:spPr>
        <p:txBody>
          <a:bodyPr wrap="square" lIns="0" tIns="0" rIns="0" bIns="0">
            <a:spAutoFit/>
          </a:bodyPr>
          <a:lstStyle/>
          <a:p>
            <a:pPr>
              <a:lnSpc>
                <a:spcPct val="130000"/>
              </a:lnSpc>
              <a:spcBef>
                <a:spcPts val="0"/>
              </a:spcBef>
              <a:spcAft>
                <a:spcPts val="0"/>
              </a:spcAft>
            </a:pPr>
            <a:r>
              <a:rPr sz="1150" b="0" i="0">
                <a:solidFill>
                  <a:srgbClr val="0F1A1C"/>
                </a:solidFill>
                <a:latin typeface="Calibri"/>
              </a:rPr>
              <a:t>The core building blocks of the MVP are implemented. What remains is the second emotional axis and the predictive layer.</a:t>
            </a:r>
          </a:p>
        </p:txBody>
      </p:sp>
      <p:sp>
        <p:nvSpPr>
          <p:cNvPr id="16" name="TextBox 15"/>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6 / 21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APPENDIX A1</a:t>
            </a:r>
            <a:r>
              <a:rPr sz="1000">
                <a:solidFill>
                  <a:srgbClr val="8A9B9E"/>
                </a:solidFill>
                <a:latin typeface="Consolas"/>
              </a:rPr>
              <a:t>   ·   NOTEBOOK MAP</a:t>
            </a:r>
          </a:p>
        </p:txBody>
      </p:sp>
      <p:sp>
        <p:nvSpPr>
          <p:cNvPr id="4" name="TextBox 3"/>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a:solidFill>
                  <a:srgbClr val="0F1A1C"/>
                </a:solidFill>
                <a:latin typeface="Georgia"/>
              </a:rPr>
              <a:t>From survey export to analytical dataset</a:t>
            </a: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APPENDIX</a:t>
            </a:r>
          </a:p>
        </p:txBody>
      </p:sp>
      <p:graphicFrame>
        <p:nvGraphicFramePr>
          <p:cNvPr id="6" name="Table 5"/>
          <p:cNvGraphicFramePr>
            <a:graphicFrameLocks noGrp="1"/>
          </p:cNvGraphicFramePr>
          <p:nvPr/>
        </p:nvGraphicFramePr>
        <p:xfrm>
          <a:off x="749808" y="1874519"/>
          <a:ext cx="10692077" cy="2194560"/>
        </p:xfrm>
        <a:graphic>
          <a:graphicData uri="http://schemas.openxmlformats.org/drawingml/2006/table">
            <a:tbl>
              <a:tblPr firstRow="1">
                <a:tableStyleId>{5C22544A-7EE6-4342-B048-85BDC9FD1C3A}</a:tableStyleId>
              </a:tblPr>
              <a:tblGrid>
                <a:gridCol w="641524">
                  <a:extLst>
                    <a:ext uri="{9D8B030D-6E8A-4147-A177-3AD203B41FA5}">
                      <a16:colId xmlns:a16="http://schemas.microsoft.com/office/drawing/2014/main" val="20000"/>
                    </a:ext>
                  </a:extLst>
                </a:gridCol>
                <a:gridCol w="2779940">
                  <a:extLst>
                    <a:ext uri="{9D8B030D-6E8A-4147-A177-3AD203B41FA5}">
                      <a16:colId xmlns:a16="http://schemas.microsoft.com/office/drawing/2014/main" val="20001"/>
                    </a:ext>
                  </a:extLst>
                </a:gridCol>
                <a:gridCol w="4276831">
                  <a:extLst>
                    <a:ext uri="{9D8B030D-6E8A-4147-A177-3AD203B41FA5}">
                      <a16:colId xmlns:a16="http://schemas.microsoft.com/office/drawing/2014/main" val="20002"/>
                    </a:ext>
                  </a:extLst>
                </a:gridCol>
                <a:gridCol w="2993782">
                  <a:extLst>
                    <a:ext uri="{9D8B030D-6E8A-4147-A177-3AD203B41FA5}">
                      <a16:colId xmlns:a16="http://schemas.microsoft.com/office/drawing/2014/main" val="20003"/>
                    </a:ext>
                  </a:extLst>
                </a:gridCol>
              </a:tblGrid>
              <a:tr h="274320">
                <a:tc>
                  <a:txBody>
                    <a:bodyPr/>
                    <a:lstStyle/>
                    <a:p>
                      <a:pPr>
                        <a:lnSpc>
                          <a:spcPct val="100000"/>
                        </a:lnSpc>
                      </a:pPr>
                      <a:r>
                        <a:rPr sz="1000" b="1">
                          <a:solidFill>
                            <a:srgbClr val="5A6B6E"/>
                          </a:solidFill>
                          <a:latin typeface="Consolas"/>
                        </a:rPr>
                        <a:t>#</a:t>
                      </a:r>
                    </a:p>
                  </a:txBody>
                  <a:tcPr marL="64008" marR="64008" marT="18288" marB="18288" anchor="ctr">
                    <a:solidFill>
                      <a:srgbClr val="E2F0F1"/>
                    </a:solidFill>
                  </a:tcPr>
                </a:tc>
                <a:tc>
                  <a:txBody>
                    <a:bodyPr/>
                    <a:lstStyle/>
                    <a:p>
                      <a:pPr>
                        <a:lnSpc>
                          <a:spcPct val="100000"/>
                        </a:lnSpc>
                      </a:pPr>
                      <a:r>
                        <a:rPr sz="1000" b="1">
                          <a:solidFill>
                            <a:srgbClr val="5A6B6E"/>
                          </a:solidFill>
                          <a:latin typeface="Consolas"/>
                        </a:rPr>
                        <a:t>Notebook</a:t>
                      </a:r>
                    </a:p>
                  </a:txBody>
                  <a:tcPr marL="64008" marR="64008" marT="18288" marB="18288" anchor="ctr">
                    <a:solidFill>
                      <a:srgbClr val="E2F0F1"/>
                    </a:solidFill>
                  </a:tcPr>
                </a:tc>
                <a:tc>
                  <a:txBody>
                    <a:bodyPr/>
                    <a:lstStyle/>
                    <a:p>
                      <a:pPr>
                        <a:lnSpc>
                          <a:spcPct val="100000"/>
                        </a:lnSpc>
                      </a:pPr>
                      <a:r>
                        <a:rPr sz="1000" b="1">
                          <a:solidFill>
                            <a:srgbClr val="5A6B6E"/>
                          </a:solidFill>
                          <a:latin typeface="Consolas"/>
                        </a:rPr>
                        <a:t>Question it answers</a:t>
                      </a:r>
                    </a:p>
                  </a:txBody>
                  <a:tcPr marL="64008" marR="64008" marT="18288" marB="18288" anchor="ctr">
                    <a:solidFill>
                      <a:srgbClr val="E2F0F1"/>
                    </a:solidFill>
                  </a:tcPr>
                </a:tc>
                <a:tc>
                  <a:txBody>
                    <a:bodyPr/>
                    <a:lstStyle/>
                    <a:p>
                      <a:pPr>
                        <a:lnSpc>
                          <a:spcPct val="100000"/>
                        </a:lnSpc>
                      </a:pPr>
                      <a:r>
                        <a:rPr sz="1000" b="1">
                          <a:solidFill>
                            <a:srgbClr val="5A6B6E"/>
                          </a:solidFill>
                          <a:latin typeface="Consolas"/>
                        </a:rPr>
                        <a:t>Output</a:t>
                      </a:r>
                    </a:p>
                  </a:txBody>
                  <a:tcPr marL="64008" marR="64008" marT="18288" marB="18288" anchor="ctr">
                    <a:solidFill>
                      <a:srgbClr val="E2F0F1"/>
                    </a:solidFill>
                  </a:tcPr>
                </a:tc>
                <a:extLst>
                  <a:ext uri="{0D108BD9-81ED-4DB2-BD59-A6C34878D82A}">
                    <a16:rowId xmlns:a16="http://schemas.microsoft.com/office/drawing/2014/main" val="10000"/>
                  </a:ext>
                </a:extLst>
              </a:tr>
              <a:tr h="384048">
                <a:tc>
                  <a:txBody>
                    <a:bodyPr/>
                    <a:lstStyle/>
                    <a:p>
                      <a:pPr>
                        <a:lnSpc>
                          <a:spcPct val="100000"/>
                        </a:lnSpc>
                      </a:pPr>
                      <a:r>
                        <a:rPr sz="1100" b="0">
                          <a:solidFill>
                            <a:srgbClr val="0F1A1C"/>
                          </a:solidFill>
                          <a:latin typeface="Consolas"/>
                        </a:rPr>
                        <a:t>01</a:t>
                      </a:r>
                    </a:p>
                  </a:txBody>
                  <a:tcPr marL="64008" marR="64008" marT="18288" marB="18288" anchor="ctr">
                    <a:solidFill>
                      <a:srgbClr val="FFFFFF"/>
                    </a:solidFill>
                  </a:tcPr>
                </a:tc>
                <a:tc>
                  <a:txBody>
                    <a:bodyPr/>
                    <a:lstStyle/>
                    <a:p>
                      <a:pPr>
                        <a:lnSpc>
                          <a:spcPct val="100000"/>
                        </a:lnSpc>
                      </a:pPr>
                      <a:r>
                        <a:rPr sz="1100" b="0">
                          <a:solidFill>
                            <a:srgbClr val="0F1A1C"/>
                          </a:solidFill>
                          <a:latin typeface="Calibri"/>
                        </a:rPr>
                        <a:t>Synthetic data generation</a:t>
                      </a:r>
                    </a:p>
                  </a:txBody>
                  <a:tcPr marL="64008" marR="64008" marT="18288" marB="18288" anchor="ctr">
                    <a:solidFill>
                      <a:srgbClr val="FFFFFF"/>
                    </a:solidFill>
                  </a:tcPr>
                </a:tc>
                <a:tc>
                  <a:txBody>
                    <a:bodyPr/>
                    <a:lstStyle/>
                    <a:p>
                      <a:pPr>
                        <a:lnSpc>
                          <a:spcPct val="100000"/>
                        </a:lnSpc>
                      </a:pPr>
                      <a:r>
                        <a:rPr sz="1100" b="0">
                          <a:solidFill>
                            <a:srgbClr val="0F1A1C"/>
                          </a:solidFill>
                          <a:latin typeface="Calibri"/>
                        </a:rPr>
                        <a:t>Can I build a publishable twin of the real data?</a:t>
                      </a:r>
                    </a:p>
                  </a:txBody>
                  <a:tcPr marL="64008" marR="64008" marT="18288" marB="18288" anchor="ctr">
                    <a:solidFill>
                      <a:srgbClr val="FFFFFF"/>
                    </a:solidFill>
                  </a:tcPr>
                </a:tc>
                <a:tc>
                  <a:txBody>
                    <a:bodyPr/>
                    <a:lstStyle/>
                    <a:p>
                      <a:pPr>
                        <a:lnSpc>
                          <a:spcPct val="100000"/>
                        </a:lnSpc>
                      </a:pPr>
                      <a:r>
                        <a:rPr sz="1100" b="0">
                          <a:solidFill>
                            <a:srgbClr val="0F1A1C"/>
                          </a:solidFill>
                          <a:latin typeface="Calibri"/>
                        </a:rPr>
                        <a:t>synthetic survey dataset</a:t>
                      </a:r>
                    </a:p>
                  </a:txBody>
                  <a:tcPr marL="64008" marR="64008" marT="18288" marB="18288" anchor="ctr">
                    <a:solidFill>
                      <a:srgbClr val="FFFFFF"/>
                    </a:solidFill>
                  </a:tcPr>
                </a:tc>
                <a:extLst>
                  <a:ext uri="{0D108BD9-81ED-4DB2-BD59-A6C34878D82A}">
                    <a16:rowId xmlns:a16="http://schemas.microsoft.com/office/drawing/2014/main" val="10001"/>
                  </a:ext>
                </a:extLst>
              </a:tr>
              <a:tr h="384048">
                <a:tc>
                  <a:txBody>
                    <a:bodyPr/>
                    <a:lstStyle/>
                    <a:p>
                      <a:pPr>
                        <a:lnSpc>
                          <a:spcPct val="100000"/>
                        </a:lnSpc>
                      </a:pPr>
                      <a:r>
                        <a:rPr sz="1100" b="0">
                          <a:solidFill>
                            <a:srgbClr val="0F1A1C"/>
                          </a:solidFill>
                          <a:latin typeface="Consolas"/>
                        </a:rPr>
                        <a:t>02</a:t>
                      </a:r>
                    </a:p>
                  </a:txBody>
                  <a:tcPr marL="64008" marR="64008" marT="18288" marB="18288" anchor="ctr">
                    <a:solidFill>
                      <a:srgbClr val="EEF2F2"/>
                    </a:solidFill>
                  </a:tcPr>
                </a:tc>
                <a:tc>
                  <a:txBody>
                    <a:bodyPr/>
                    <a:lstStyle/>
                    <a:p>
                      <a:pPr>
                        <a:lnSpc>
                          <a:spcPct val="100000"/>
                        </a:lnSpc>
                      </a:pPr>
                      <a:r>
                        <a:rPr sz="1100" b="0">
                          <a:solidFill>
                            <a:srgbClr val="0F1A1C"/>
                          </a:solidFill>
                          <a:latin typeface="Calibri"/>
                        </a:rPr>
                        <a:t>Exploratory data analysis</a:t>
                      </a:r>
                    </a:p>
                  </a:txBody>
                  <a:tcPr marL="64008" marR="64008" marT="18288" marB="18288" anchor="ctr">
                    <a:solidFill>
                      <a:srgbClr val="EEF2F2"/>
                    </a:solidFill>
                  </a:tcPr>
                </a:tc>
                <a:tc>
                  <a:txBody>
                    <a:bodyPr/>
                    <a:lstStyle/>
                    <a:p>
                      <a:pPr>
                        <a:lnSpc>
                          <a:spcPct val="100000"/>
                        </a:lnSpc>
                      </a:pPr>
                      <a:r>
                        <a:rPr sz="1100" b="0">
                          <a:solidFill>
                            <a:srgbClr val="0F1A1C"/>
                          </a:solidFill>
                          <a:latin typeface="Calibri"/>
                        </a:rPr>
                        <a:t>Are the data usable for NLP at all?</a:t>
                      </a:r>
                    </a:p>
                  </a:txBody>
                  <a:tcPr marL="64008" marR="64008" marT="18288" marB="18288" anchor="ctr">
                    <a:solidFill>
                      <a:srgbClr val="EEF2F2"/>
                    </a:solidFill>
                  </a:tcPr>
                </a:tc>
                <a:tc>
                  <a:txBody>
                    <a:bodyPr/>
                    <a:lstStyle/>
                    <a:p>
                      <a:pPr>
                        <a:lnSpc>
                          <a:spcPct val="100000"/>
                        </a:lnSpc>
                      </a:pPr>
                      <a:r>
                        <a:rPr sz="1100" b="0">
                          <a:solidFill>
                            <a:srgbClr val="0F1A1C"/>
                          </a:solidFill>
                          <a:latin typeface="Calibri"/>
                        </a:rPr>
                        <a:t>cleaned, scored dataset</a:t>
                      </a:r>
                    </a:p>
                  </a:txBody>
                  <a:tcPr marL="64008" marR="64008" marT="18288" marB="18288" anchor="ctr">
                    <a:solidFill>
                      <a:srgbClr val="EEF2F2"/>
                    </a:solidFill>
                  </a:tcPr>
                </a:tc>
                <a:extLst>
                  <a:ext uri="{0D108BD9-81ED-4DB2-BD59-A6C34878D82A}">
                    <a16:rowId xmlns:a16="http://schemas.microsoft.com/office/drawing/2014/main" val="10002"/>
                  </a:ext>
                </a:extLst>
              </a:tr>
              <a:tr h="384048">
                <a:tc>
                  <a:txBody>
                    <a:bodyPr/>
                    <a:lstStyle/>
                    <a:p>
                      <a:pPr>
                        <a:lnSpc>
                          <a:spcPct val="100000"/>
                        </a:lnSpc>
                      </a:pPr>
                      <a:r>
                        <a:rPr sz="1100" b="0">
                          <a:solidFill>
                            <a:srgbClr val="0F1A1C"/>
                          </a:solidFill>
                          <a:latin typeface="Consolas"/>
                        </a:rPr>
                        <a:t>03</a:t>
                      </a:r>
                    </a:p>
                  </a:txBody>
                  <a:tcPr marL="64008" marR="64008" marT="18288" marB="18288" anchor="ctr">
                    <a:solidFill>
                      <a:srgbClr val="FFFFFF"/>
                    </a:solidFill>
                  </a:tcPr>
                </a:tc>
                <a:tc>
                  <a:txBody>
                    <a:bodyPr/>
                    <a:lstStyle/>
                    <a:p>
                      <a:pPr>
                        <a:lnSpc>
                          <a:spcPct val="100000"/>
                        </a:lnSpc>
                      </a:pPr>
                      <a:r>
                        <a:rPr sz="1100" b="0">
                          <a:solidFill>
                            <a:srgbClr val="0F1A1C"/>
                          </a:solidFill>
                          <a:latin typeface="Calibri"/>
                        </a:rPr>
                        <a:t>Zero-shot text analysis</a:t>
                      </a:r>
                    </a:p>
                  </a:txBody>
                  <a:tcPr marL="64008" marR="64008" marT="18288" marB="18288" anchor="ctr">
                    <a:solidFill>
                      <a:srgbClr val="FFFFFF"/>
                    </a:solidFill>
                  </a:tcPr>
                </a:tc>
                <a:tc>
                  <a:txBody>
                    <a:bodyPr/>
                    <a:lstStyle/>
                    <a:p>
                      <a:pPr>
                        <a:lnSpc>
                          <a:spcPct val="100000"/>
                        </a:lnSpc>
                      </a:pPr>
                      <a:r>
                        <a:rPr sz="1100" b="0">
                          <a:solidFill>
                            <a:srgbClr val="0F1A1C"/>
                          </a:solidFill>
                          <a:latin typeface="Calibri"/>
                        </a:rPr>
                        <a:t>Is Core Affect feasible without training data?</a:t>
                      </a:r>
                    </a:p>
                  </a:txBody>
                  <a:tcPr marL="64008" marR="64008" marT="18288" marB="18288" anchor="ctr">
                    <a:solidFill>
                      <a:srgbClr val="FFFFFF"/>
                    </a:solidFill>
                  </a:tcPr>
                </a:tc>
                <a:tc>
                  <a:txBody>
                    <a:bodyPr/>
                    <a:lstStyle/>
                    <a:p>
                      <a:pPr>
                        <a:lnSpc>
                          <a:spcPct val="100000"/>
                        </a:lnSpc>
                      </a:pPr>
                      <a:r>
                        <a:rPr sz="1100" b="0">
                          <a:solidFill>
                            <a:srgbClr val="0F1A1C"/>
                          </a:solidFill>
                          <a:latin typeface="Calibri"/>
                        </a:rPr>
                        <a:t>baseline valence / arousal classes</a:t>
                      </a:r>
                    </a:p>
                  </a:txBody>
                  <a:tcPr marL="64008" marR="64008" marT="18288" marB="18288" anchor="ctr">
                    <a:solidFill>
                      <a:srgbClr val="FFFFFF"/>
                    </a:solidFill>
                  </a:tcPr>
                </a:tc>
                <a:extLst>
                  <a:ext uri="{0D108BD9-81ED-4DB2-BD59-A6C34878D82A}">
                    <a16:rowId xmlns:a16="http://schemas.microsoft.com/office/drawing/2014/main" val="10003"/>
                  </a:ext>
                </a:extLst>
              </a:tr>
              <a:tr h="384048">
                <a:tc>
                  <a:txBody>
                    <a:bodyPr/>
                    <a:lstStyle/>
                    <a:p>
                      <a:pPr>
                        <a:lnSpc>
                          <a:spcPct val="100000"/>
                        </a:lnSpc>
                      </a:pPr>
                      <a:r>
                        <a:rPr sz="1100" b="0">
                          <a:solidFill>
                            <a:srgbClr val="0F1A1C"/>
                          </a:solidFill>
                          <a:latin typeface="Consolas"/>
                        </a:rPr>
                        <a:t>04</a:t>
                      </a:r>
                    </a:p>
                  </a:txBody>
                  <a:tcPr marL="64008" marR="64008" marT="18288" marB="18288" anchor="ctr">
                    <a:solidFill>
                      <a:srgbClr val="EEF2F2"/>
                    </a:solidFill>
                  </a:tcPr>
                </a:tc>
                <a:tc>
                  <a:txBody>
                    <a:bodyPr/>
                    <a:lstStyle/>
                    <a:p>
                      <a:pPr>
                        <a:lnSpc>
                          <a:spcPct val="100000"/>
                        </a:lnSpc>
                      </a:pPr>
                      <a:r>
                        <a:rPr sz="1100" b="0">
                          <a:solidFill>
                            <a:srgbClr val="0F1A1C"/>
                          </a:solidFill>
                          <a:latin typeface="Calibri"/>
                        </a:rPr>
                        <a:t>German sentiment analysis</a:t>
                      </a:r>
                    </a:p>
                  </a:txBody>
                  <a:tcPr marL="64008" marR="64008" marT="18288" marB="18288" anchor="ctr">
                    <a:solidFill>
                      <a:srgbClr val="EEF2F2"/>
                    </a:solidFill>
                  </a:tcPr>
                </a:tc>
                <a:tc>
                  <a:txBody>
                    <a:bodyPr/>
                    <a:lstStyle/>
                    <a:p>
                      <a:pPr>
                        <a:lnSpc>
                          <a:spcPct val="100000"/>
                        </a:lnSpc>
                      </a:pPr>
                      <a:r>
                        <a:rPr sz="1100" b="0">
                          <a:solidFill>
                            <a:srgbClr val="0F1A1C"/>
                          </a:solidFill>
                          <a:latin typeface="Calibri"/>
                        </a:rPr>
                        <a:t>Can I get a continuous emotional dimension?</a:t>
                      </a:r>
                    </a:p>
                  </a:txBody>
                  <a:tcPr marL="64008" marR="64008" marT="18288" marB="18288" anchor="ctr">
                    <a:solidFill>
                      <a:srgbClr val="EEF2F2"/>
                    </a:solidFill>
                  </a:tcPr>
                </a:tc>
                <a:tc>
                  <a:txBody>
                    <a:bodyPr/>
                    <a:lstStyle/>
                    <a:p>
                      <a:pPr>
                        <a:lnSpc>
                          <a:spcPct val="100000"/>
                        </a:lnSpc>
                      </a:pPr>
                      <a:r>
                        <a:rPr sz="1100" b="0">
                          <a:solidFill>
                            <a:srgbClr val="0F1A1C"/>
                          </a:solidFill>
                          <a:latin typeface="Consolas"/>
                        </a:rPr>
                        <a:t>continuous_valence</a:t>
                      </a:r>
                    </a:p>
                  </a:txBody>
                  <a:tcPr marL="64008" marR="64008" marT="18288" marB="18288" anchor="ctr">
                    <a:solidFill>
                      <a:srgbClr val="EEF2F2"/>
                    </a:solidFill>
                  </a:tcPr>
                </a:tc>
                <a:extLst>
                  <a:ext uri="{0D108BD9-81ED-4DB2-BD59-A6C34878D82A}">
                    <a16:rowId xmlns:a16="http://schemas.microsoft.com/office/drawing/2014/main" val="10004"/>
                  </a:ext>
                </a:extLst>
              </a:tr>
              <a:tr h="384048">
                <a:tc>
                  <a:txBody>
                    <a:bodyPr/>
                    <a:lstStyle/>
                    <a:p>
                      <a:pPr>
                        <a:lnSpc>
                          <a:spcPct val="100000"/>
                        </a:lnSpc>
                      </a:pPr>
                      <a:r>
                        <a:rPr sz="1100" b="0">
                          <a:solidFill>
                            <a:srgbClr val="0F1A1C"/>
                          </a:solidFill>
                          <a:latin typeface="Consolas"/>
                        </a:rPr>
                        <a:t>05</a:t>
                      </a:r>
                    </a:p>
                  </a:txBody>
                  <a:tcPr marL="64008" marR="64008" marT="18288" marB="18288" anchor="ctr">
                    <a:solidFill>
                      <a:srgbClr val="FFFFFF"/>
                    </a:solidFill>
                  </a:tcPr>
                </a:tc>
                <a:tc>
                  <a:txBody>
                    <a:bodyPr/>
                    <a:lstStyle/>
                    <a:p>
                      <a:pPr>
                        <a:lnSpc>
                          <a:spcPct val="100000"/>
                        </a:lnSpc>
                      </a:pPr>
                      <a:r>
                        <a:rPr sz="1100" b="0">
                          <a:solidFill>
                            <a:srgbClr val="0F1A1C"/>
                          </a:solidFill>
                          <a:latin typeface="Calibri"/>
                        </a:rPr>
                        <a:t>BERTopic topic modelling</a:t>
                      </a:r>
                    </a:p>
                  </a:txBody>
                  <a:tcPr marL="64008" marR="64008" marT="18288" marB="18288" anchor="ctr">
                    <a:solidFill>
                      <a:srgbClr val="FFFFFF"/>
                    </a:solidFill>
                  </a:tcPr>
                </a:tc>
                <a:tc>
                  <a:txBody>
                    <a:bodyPr/>
                    <a:lstStyle/>
                    <a:p>
                      <a:pPr>
                        <a:lnSpc>
                          <a:spcPct val="100000"/>
                        </a:lnSpc>
                      </a:pPr>
                      <a:r>
                        <a:rPr sz="1100" b="0">
                          <a:solidFill>
                            <a:srgbClr val="0F1A1C"/>
                          </a:solidFill>
                          <a:latin typeface="Calibri"/>
                        </a:rPr>
                        <a:t>What are employees talking about, and when?</a:t>
                      </a:r>
                    </a:p>
                  </a:txBody>
                  <a:tcPr marL="64008" marR="64008" marT="18288" marB="18288" anchor="ctr">
                    <a:solidFill>
                      <a:srgbClr val="FFFFFF"/>
                    </a:solidFill>
                  </a:tcPr>
                </a:tc>
                <a:tc>
                  <a:txBody>
                    <a:bodyPr/>
                    <a:lstStyle/>
                    <a:p>
                      <a:pPr>
                        <a:lnSpc>
                          <a:spcPct val="100000"/>
                        </a:lnSpc>
                      </a:pPr>
                      <a:r>
                        <a:rPr sz="1100" b="0">
                          <a:solidFill>
                            <a:srgbClr val="0F1A1C"/>
                          </a:solidFill>
                          <a:latin typeface="Calibri"/>
                        </a:rPr>
                        <a:t>topic id, label, trends, C_v</a:t>
                      </a:r>
                    </a:p>
                  </a:txBody>
                  <a:tcPr marL="64008" marR="64008"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7" name="Rectangle 6"/>
          <p:cNvSpPr/>
          <p:nvPr/>
        </p:nvSpPr>
        <p:spPr>
          <a:xfrm>
            <a:off x="749808" y="4480560"/>
            <a:ext cx="10692079" cy="123444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Rectangle 7"/>
          <p:cNvSpPr/>
          <p:nvPr/>
        </p:nvSpPr>
        <p:spPr>
          <a:xfrm>
            <a:off x="749808" y="4480560"/>
            <a:ext cx="32004" cy="123444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1005840" y="4681728"/>
            <a:ext cx="10216591" cy="83210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WHY NOTEBOOKS PER QUESTION</a:t>
            </a:r>
          </a:p>
          <a:p>
            <a:pPr>
              <a:lnSpc>
                <a:spcPct val="130000"/>
              </a:lnSpc>
              <a:spcBef>
                <a:spcPts val="0"/>
              </a:spcBef>
              <a:spcAft>
                <a:spcPts val="0"/>
              </a:spcAft>
            </a:pPr>
            <a:r>
              <a:rPr sz="1150" b="0" i="0">
                <a:solidFill>
                  <a:srgbClr val="0F1A1C"/>
                </a:solidFill>
                <a:latin typeface="Calibri"/>
              </a:rPr>
              <a:t>Each notebook exists in a  _high5  variant (real data, confidential) and a public variant (synthetic data) — same code, different input. That keeps the confidential analysis reproducible without publishing any comment text.</a:t>
            </a:r>
          </a:p>
        </p:txBody>
      </p:sp>
      <p:sp>
        <p:nvSpPr>
          <p:cNvPr id="10" name="TextBox 9"/>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11 / 21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APPENDIX A2</a:t>
            </a:r>
            <a:r>
              <a:rPr sz="1000">
                <a:solidFill>
                  <a:srgbClr val="8A9B9E"/>
                </a:solidFill>
                <a:latin typeface="Consolas"/>
              </a:rPr>
              <a:t>   ·   DATA UNDERSTANDING</a:t>
            </a:r>
          </a:p>
        </p:txBody>
      </p:sp>
      <p:sp>
        <p:nvSpPr>
          <p:cNvPr id="4" name="TextBox 3"/>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a:solidFill>
                  <a:srgbClr val="0F1A1C"/>
                </a:solidFill>
                <a:latin typeface="Georgia"/>
              </a:rPr>
              <a:t>EDA on real High5 data</a:t>
            </a: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3368954" cy="29260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9"/>
            <a:ext cx="32004" cy="29260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2893466" cy="252374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WHAT WAS ANALYSED</a:t>
            </a:r>
          </a:p>
          <a:p>
            <a:pPr>
              <a:lnSpc>
                <a:spcPct val="118000"/>
              </a:lnSpc>
              <a:spcAft>
                <a:spcPts val="500"/>
              </a:spcAft>
            </a:pPr>
            <a:r>
              <a:rPr sz="1050">
                <a:solidFill>
                  <a:srgbClr val="14636E"/>
                </a:solidFill>
                <a:latin typeface="Calibri"/>
              </a:rPr>
              <a:t>▪  </a:t>
            </a:r>
            <a:r>
              <a:rPr sz="1050">
                <a:solidFill>
                  <a:srgbClr val="0F1A1C"/>
                </a:solidFill>
                <a:latin typeface="Calibri"/>
              </a:rPr>
              <a:t>Rows, columns and schema across 17 survey exports</a:t>
            </a:r>
          </a:p>
          <a:p>
            <a:pPr>
              <a:lnSpc>
                <a:spcPct val="118000"/>
              </a:lnSpc>
              <a:spcAft>
                <a:spcPts val="500"/>
              </a:spcAft>
            </a:pPr>
            <a:r>
              <a:rPr sz="1050">
                <a:solidFill>
                  <a:srgbClr val="14636E"/>
                </a:solidFill>
                <a:latin typeface="Calibri"/>
              </a:rPr>
              <a:t>▪  </a:t>
            </a:r>
            <a:r>
              <a:rPr sz="1050">
                <a:solidFill>
                  <a:srgbClr val="0F1A1C"/>
                </a:solidFill>
                <a:latin typeface="Calibri"/>
              </a:rPr>
              <a:t>Availability of free-text comments per iteration</a:t>
            </a:r>
          </a:p>
          <a:p>
            <a:pPr>
              <a:lnSpc>
                <a:spcPct val="118000"/>
              </a:lnSpc>
              <a:spcAft>
                <a:spcPts val="500"/>
              </a:spcAft>
            </a:pPr>
            <a:r>
              <a:rPr sz="1050">
                <a:solidFill>
                  <a:srgbClr val="14636E"/>
                </a:solidFill>
                <a:latin typeface="Calibri"/>
              </a:rPr>
              <a:t>▪  </a:t>
            </a:r>
            <a:r>
              <a:rPr sz="1050">
                <a:solidFill>
                  <a:srgbClr val="0F1A1C"/>
                </a:solidFill>
                <a:latin typeface="Calibri"/>
              </a:rPr>
              <a:t>Missing values — real vs. structural vs. “cannot judge”</a:t>
            </a:r>
          </a:p>
          <a:p>
            <a:pPr>
              <a:lnSpc>
                <a:spcPct val="118000"/>
              </a:lnSpc>
              <a:spcAft>
                <a:spcPts val="500"/>
              </a:spcAft>
            </a:pPr>
            <a:r>
              <a:rPr sz="1050">
                <a:solidFill>
                  <a:srgbClr val="14636E"/>
                </a:solidFill>
                <a:latin typeface="Calibri"/>
              </a:rPr>
              <a:t>▪  </a:t>
            </a:r>
            <a:r>
              <a:rPr sz="1050">
                <a:solidFill>
                  <a:srgbClr val="0F1A1C"/>
                </a:solidFill>
                <a:latin typeface="Calibri"/>
              </a:rPr>
              <a:t>Distribution across iterations and business units</a:t>
            </a:r>
          </a:p>
          <a:p>
            <a:pPr>
              <a:lnSpc>
                <a:spcPct val="118000"/>
              </a:lnSpc>
              <a:spcAft>
                <a:spcPts val="0"/>
              </a:spcAft>
            </a:pPr>
            <a:r>
              <a:rPr sz="1050">
                <a:solidFill>
                  <a:srgbClr val="14636E"/>
                </a:solidFill>
                <a:latin typeface="Calibri"/>
              </a:rPr>
              <a:t>▪  </a:t>
            </a:r>
            <a:r>
              <a:rPr sz="1050">
                <a:solidFill>
                  <a:srgbClr val="0F1A1C"/>
                </a:solidFill>
                <a:latin typeface="Calibri"/>
              </a:rPr>
              <a:t>Duration outliers as a plausibility check</a:t>
            </a:r>
          </a:p>
        </p:txBody>
      </p:sp>
      <p:sp>
        <p:nvSpPr>
          <p:cNvPr id="9" name="Rectangle 8"/>
          <p:cNvSpPr/>
          <p:nvPr/>
        </p:nvSpPr>
        <p:spPr>
          <a:xfrm>
            <a:off x="4411370" y="1874519"/>
            <a:ext cx="3368954" cy="29260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4411370" y="1874519"/>
            <a:ext cx="32004" cy="29260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4667402" y="2075688"/>
            <a:ext cx="2893466" cy="252374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TECHNICAL STEPS</a:t>
            </a:r>
          </a:p>
          <a:p>
            <a:pPr>
              <a:lnSpc>
                <a:spcPct val="118000"/>
              </a:lnSpc>
              <a:spcAft>
                <a:spcPts val="500"/>
              </a:spcAft>
            </a:pPr>
            <a:r>
              <a:rPr sz="1050">
                <a:solidFill>
                  <a:srgbClr val="14636E"/>
                </a:solidFill>
                <a:latin typeface="Calibri"/>
              </a:rPr>
              <a:t>▪  </a:t>
            </a:r>
            <a:r>
              <a:rPr sz="1050">
                <a:solidFill>
                  <a:srgbClr val="0F1A1C"/>
                </a:solidFill>
                <a:latin typeface="Calibri"/>
              </a:rPr>
              <a:t>Harmonise column names across survey generations</a:t>
            </a:r>
          </a:p>
          <a:p>
            <a:pPr>
              <a:lnSpc>
                <a:spcPct val="118000"/>
              </a:lnSpc>
              <a:spcAft>
                <a:spcPts val="500"/>
              </a:spcAft>
            </a:pPr>
            <a:r>
              <a:rPr sz="1050">
                <a:solidFill>
                  <a:srgbClr val="14636E"/>
                </a:solidFill>
                <a:latin typeface="Calibri"/>
              </a:rPr>
              <a:t>▪  </a:t>
            </a:r>
            <a:r>
              <a:rPr sz="1050">
                <a:solidFill>
                  <a:srgbClr val="0F1A1C"/>
                </a:solidFill>
                <a:latin typeface="Calibri"/>
              </a:rPr>
              <a:t>Recode Likert answers to numeric 1–5</a:t>
            </a:r>
          </a:p>
          <a:p>
            <a:pPr>
              <a:lnSpc>
                <a:spcPct val="118000"/>
              </a:lnSpc>
              <a:spcAft>
                <a:spcPts val="500"/>
              </a:spcAft>
            </a:pPr>
            <a:r>
              <a:rPr sz="1050">
                <a:solidFill>
                  <a:srgbClr val="14636E"/>
                </a:solidFill>
                <a:latin typeface="Calibri"/>
              </a:rPr>
              <a:t>▪  </a:t>
            </a:r>
            <a:r>
              <a:rPr sz="1050">
                <a:solidFill>
                  <a:srgbClr val="0F1A1C"/>
                </a:solidFill>
                <a:latin typeface="Calibri"/>
              </a:rPr>
              <a:t>Reverse-code the workload item so high always means favourable</a:t>
            </a:r>
          </a:p>
          <a:p>
            <a:pPr>
              <a:lnSpc>
                <a:spcPct val="118000"/>
              </a:lnSpc>
              <a:spcAft>
                <a:spcPts val="500"/>
              </a:spcAft>
            </a:pPr>
            <a:r>
              <a:rPr sz="1050">
                <a:solidFill>
                  <a:srgbClr val="14636E"/>
                </a:solidFill>
                <a:latin typeface="Calibri"/>
              </a:rPr>
              <a:t>▪  </a:t>
            </a:r>
            <a:r>
              <a:rPr sz="1050">
                <a:solidFill>
                  <a:srgbClr val="0F1A1C"/>
                </a:solidFill>
                <a:latin typeface="Calibri"/>
              </a:rPr>
              <a:t>Separate “cannot judge” from true missing values</a:t>
            </a:r>
          </a:p>
          <a:p>
            <a:pPr>
              <a:lnSpc>
                <a:spcPct val="118000"/>
              </a:lnSpc>
              <a:spcAft>
                <a:spcPts val="500"/>
              </a:spcAft>
            </a:pPr>
            <a:r>
              <a:rPr sz="1050">
                <a:solidFill>
                  <a:srgbClr val="14636E"/>
                </a:solidFill>
                <a:latin typeface="Calibri"/>
              </a:rPr>
              <a:t>▪  </a:t>
            </a:r>
            <a:r>
              <a:rPr sz="1050">
                <a:solidFill>
                  <a:srgbClr val="0F1A1C"/>
                </a:solidFill>
                <a:latin typeface="Calibri"/>
              </a:rPr>
              <a:t>Aggregate 54 items into 8 dimension scores</a:t>
            </a:r>
          </a:p>
          <a:p>
            <a:pPr>
              <a:lnSpc>
                <a:spcPct val="118000"/>
              </a:lnSpc>
              <a:spcAft>
                <a:spcPts val="0"/>
              </a:spcAft>
            </a:pPr>
            <a:r>
              <a:rPr sz="1050">
                <a:solidFill>
                  <a:srgbClr val="14636E"/>
                </a:solidFill>
                <a:latin typeface="Calibri"/>
              </a:rPr>
              <a:t>▪  </a:t>
            </a:r>
            <a:r>
              <a:rPr sz="1050">
                <a:solidFill>
                  <a:srgbClr val="0F1A1C"/>
                </a:solidFill>
                <a:latin typeface="Calibri"/>
              </a:rPr>
              <a:t>Reliability per dimension (Cronbach α)</a:t>
            </a:r>
          </a:p>
        </p:txBody>
      </p:sp>
      <p:sp>
        <p:nvSpPr>
          <p:cNvPr id="12" name="Rectangle 11"/>
          <p:cNvSpPr/>
          <p:nvPr/>
        </p:nvSpPr>
        <p:spPr>
          <a:xfrm>
            <a:off x="8072932" y="1874519"/>
            <a:ext cx="3368954" cy="29260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8072932" y="1874519"/>
            <a:ext cx="32004" cy="29260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328964" y="2075688"/>
            <a:ext cx="2893466" cy="252374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FINDINGS</a:t>
            </a:r>
          </a:p>
          <a:p>
            <a:pPr>
              <a:lnSpc>
                <a:spcPct val="118000"/>
              </a:lnSpc>
              <a:spcAft>
                <a:spcPts val="500"/>
              </a:spcAft>
            </a:pPr>
            <a:r>
              <a:rPr sz="1050">
                <a:solidFill>
                  <a:srgbClr val="14636E"/>
                </a:solidFill>
                <a:latin typeface="Calibri"/>
              </a:rPr>
              <a:t>▪  </a:t>
            </a:r>
            <a:r>
              <a:rPr sz="1050">
                <a:solidFill>
                  <a:srgbClr val="0F1A1C"/>
                </a:solidFill>
                <a:latin typeface="Calibri"/>
              </a:rPr>
              <a:t>Several survey generations with differing question blocks — structural missingness is expected, not an error</a:t>
            </a:r>
          </a:p>
          <a:p>
            <a:pPr>
              <a:lnSpc>
                <a:spcPct val="118000"/>
              </a:lnSpc>
              <a:spcAft>
                <a:spcPts val="500"/>
              </a:spcAft>
            </a:pPr>
            <a:r>
              <a:rPr sz="1050">
                <a:solidFill>
                  <a:srgbClr val="14636E"/>
                </a:solidFill>
                <a:latin typeface="Calibri"/>
              </a:rPr>
              <a:t>▪  </a:t>
            </a:r>
            <a:r>
              <a:rPr sz="1050">
                <a:solidFill>
                  <a:srgbClr val="0F1A1C"/>
                </a:solidFill>
                <a:latin typeface="Calibri"/>
              </a:rPr>
              <a:t>α between 0.68 and 0.96; teamwork highest, leadership lowest but acceptable</a:t>
            </a:r>
          </a:p>
          <a:p>
            <a:pPr>
              <a:lnSpc>
                <a:spcPct val="118000"/>
              </a:lnSpc>
              <a:spcAft>
                <a:spcPts val="500"/>
              </a:spcAft>
            </a:pPr>
            <a:r>
              <a:rPr sz="1050">
                <a:solidFill>
                  <a:srgbClr val="14636E"/>
                </a:solidFill>
                <a:latin typeface="Calibri"/>
              </a:rPr>
              <a:t>▪  </a:t>
            </a:r>
            <a:r>
              <a:rPr sz="1050">
                <a:solidFill>
                  <a:srgbClr val="0F1A1C"/>
                </a:solidFill>
                <a:latin typeface="Calibri"/>
              </a:rPr>
              <a:t>Commenters rate consistently more critically than non-commenters (−0.05 to −0.36 points)</a:t>
            </a:r>
          </a:p>
          <a:p>
            <a:pPr>
              <a:lnSpc>
                <a:spcPct val="118000"/>
              </a:lnSpc>
              <a:spcAft>
                <a:spcPts val="0"/>
              </a:spcAft>
            </a:pPr>
            <a:r>
              <a:rPr sz="1050">
                <a:solidFill>
                  <a:srgbClr val="14636E"/>
                </a:solidFill>
                <a:latin typeface="Calibri"/>
              </a:rPr>
              <a:t>▪  </a:t>
            </a:r>
            <a:r>
              <a:rPr sz="1050">
                <a:solidFill>
                  <a:srgbClr val="0F1A1C"/>
                </a:solidFill>
                <a:latin typeface="Calibri"/>
              </a:rPr>
              <a:t>≈ 4,300 comments — enough volume for NLP</a:t>
            </a:r>
          </a:p>
        </p:txBody>
      </p:sp>
      <p:sp>
        <p:nvSpPr>
          <p:cNvPr id="15" name="Rectangle 14"/>
          <p:cNvSpPr/>
          <p:nvPr/>
        </p:nvSpPr>
        <p:spPr>
          <a:xfrm>
            <a:off x="749808" y="4983480"/>
            <a:ext cx="10692079" cy="77724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749808" y="4983480"/>
            <a:ext cx="32004" cy="77724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005840" y="5184648"/>
            <a:ext cx="10216591" cy="374904"/>
          </a:xfrm>
          <a:prstGeom prst="rect">
            <a:avLst/>
          </a:prstGeom>
          <a:noFill/>
        </p:spPr>
        <p:txBody>
          <a:bodyPr wrap="square" lIns="0" tIns="0" rIns="0" bIns="0">
            <a:spAutoFit/>
          </a:bodyPr>
          <a:lstStyle/>
          <a:p>
            <a:pPr>
              <a:lnSpc>
                <a:spcPct val="125000"/>
              </a:lnSpc>
              <a:spcBef>
                <a:spcPts val="0"/>
              </a:spcBef>
              <a:spcAft>
                <a:spcPts val="0"/>
              </a:spcAft>
            </a:pPr>
            <a:r>
              <a:rPr sz="1200" b="0" i="0">
                <a:solidFill>
                  <a:srgbClr val="0F1A1C"/>
                </a:solidFill>
                <a:latin typeface="Calibri"/>
              </a:rPr>
              <a:t>Why it matters: without a validated data base, every downstream model measures noise. This notebook produces no model — it produces trust in the input.</a:t>
            </a:r>
          </a:p>
        </p:txBody>
      </p:sp>
      <p:sp>
        <p:nvSpPr>
          <p:cNvPr id="18" name="TextBox 17"/>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12 / 21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APPENDIX A3</a:t>
            </a:r>
            <a:r>
              <a:rPr sz="1000">
                <a:solidFill>
                  <a:srgbClr val="8A9B9E"/>
                </a:solidFill>
                <a:latin typeface="Consolas"/>
              </a:rPr>
              <a:t>   ·   REAL VS. SYNTHETIC</a:t>
            </a:r>
          </a:p>
        </p:txBody>
      </p:sp>
      <p:sp>
        <p:nvSpPr>
          <p:cNvPr id="4" name="TextBox 3"/>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a:solidFill>
                  <a:srgbClr val="0F1A1C"/>
                </a:solidFill>
                <a:latin typeface="Georgia"/>
              </a:rPr>
              <a:t>How the synthetic dataset was validated</a:t>
            </a: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5163159" cy="28803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9"/>
            <a:ext cx="32004" cy="28803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4687671" cy="247802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COMPARISON DIMENSIONS</a:t>
            </a:r>
          </a:p>
          <a:p>
            <a:pPr>
              <a:lnSpc>
                <a:spcPct val="118000"/>
              </a:lnSpc>
              <a:spcAft>
                <a:spcPts val="400"/>
              </a:spcAft>
            </a:pPr>
            <a:r>
              <a:rPr sz="1100">
                <a:solidFill>
                  <a:srgbClr val="14636E"/>
                </a:solidFill>
                <a:latin typeface="Calibri"/>
              </a:rPr>
              <a:t>▪  </a:t>
            </a:r>
            <a:r>
              <a:rPr sz="1100" b="1">
                <a:solidFill>
                  <a:srgbClr val="0F1A1C"/>
                </a:solidFill>
                <a:latin typeface="Calibri"/>
              </a:rPr>
              <a:t>Structure — </a:t>
            </a:r>
            <a:r>
              <a:rPr sz="1100">
                <a:solidFill>
                  <a:srgbClr val="0F1A1C"/>
                </a:solidFill>
                <a:latin typeface="Calibri"/>
              </a:rPr>
              <a:t>column count, data types, iterations, answer scales</a:t>
            </a:r>
          </a:p>
          <a:p>
            <a:pPr>
              <a:lnSpc>
                <a:spcPct val="118000"/>
              </a:lnSpc>
              <a:spcAft>
                <a:spcPts val="400"/>
              </a:spcAft>
            </a:pPr>
            <a:r>
              <a:rPr sz="1100">
                <a:solidFill>
                  <a:srgbClr val="14636E"/>
                </a:solidFill>
                <a:latin typeface="Calibri"/>
              </a:rPr>
              <a:t>▪  </a:t>
            </a:r>
            <a:r>
              <a:rPr sz="1100" b="1">
                <a:solidFill>
                  <a:srgbClr val="0F1A1C"/>
                </a:solidFill>
                <a:latin typeface="Calibri"/>
              </a:rPr>
              <a:t>Distributions — </a:t>
            </a:r>
            <a:r>
              <a:rPr sz="1100">
                <a:solidFill>
                  <a:srgbClr val="0F1A1C"/>
                </a:solidFill>
                <a:latin typeface="Calibri"/>
              </a:rPr>
              <a:t>missingness, comment rate, dimension scores</a:t>
            </a:r>
          </a:p>
          <a:p>
            <a:pPr>
              <a:lnSpc>
                <a:spcPct val="118000"/>
              </a:lnSpc>
              <a:spcAft>
                <a:spcPts val="400"/>
              </a:spcAft>
            </a:pPr>
            <a:r>
              <a:rPr sz="1100">
                <a:solidFill>
                  <a:srgbClr val="14636E"/>
                </a:solidFill>
                <a:latin typeface="Calibri"/>
              </a:rPr>
              <a:t>▪  </a:t>
            </a:r>
            <a:r>
              <a:rPr sz="1100" b="1">
                <a:solidFill>
                  <a:srgbClr val="0F1A1C"/>
                </a:solidFill>
                <a:latin typeface="Calibri"/>
              </a:rPr>
              <a:t>Psychometrics — </a:t>
            </a:r>
            <a:r>
              <a:rPr sz="1100">
                <a:solidFill>
                  <a:srgbClr val="0F1A1C"/>
                </a:solidFill>
                <a:latin typeface="Calibri"/>
              </a:rPr>
              <a:t>Cronbach α per dimension, inter-dimension correlations</a:t>
            </a:r>
          </a:p>
          <a:p>
            <a:pPr>
              <a:lnSpc>
                <a:spcPct val="118000"/>
              </a:lnSpc>
              <a:spcAft>
                <a:spcPts val="400"/>
              </a:spcAft>
            </a:pPr>
            <a:r>
              <a:rPr sz="1100">
                <a:solidFill>
                  <a:srgbClr val="14636E"/>
                </a:solidFill>
                <a:latin typeface="Calibri"/>
              </a:rPr>
              <a:t>▪  </a:t>
            </a:r>
            <a:r>
              <a:rPr sz="1100" b="1">
                <a:solidFill>
                  <a:srgbClr val="0F1A1C"/>
                </a:solidFill>
                <a:latin typeface="Calibri"/>
              </a:rPr>
              <a:t>NLP relevance — </a:t>
            </a:r>
            <a:r>
              <a:rPr sz="1100">
                <a:solidFill>
                  <a:srgbClr val="0F1A1C"/>
                </a:solidFill>
                <a:latin typeface="Calibri"/>
              </a:rPr>
              <a:t>comment length, vocabulary richness, topic variety</a:t>
            </a:r>
          </a:p>
          <a:p>
            <a:pPr>
              <a:lnSpc>
                <a:spcPct val="118000"/>
              </a:lnSpc>
              <a:spcAft>
                <a:spcPts val="0"/>
              </a:spcAft>
            </a:pPr>
            <a:r>
              <a:rPr sz="1100">
                <a:solidFill>
                  <a:srgbClr val="14636E"/>
                </a:solidFill>
                <a:latin typeface="Calibri"/>
              </a:rPr>
              <a:t>▪  </a:t>
            </a:r>
            <a:r>
              <a:rPr sz="1100" b="1">
                <a:solidFill>
                  <a:srgbClr val="0F1A1C"/>
                </a:solidFill>
                <a:latin typeface="Calibri"/>
              </a:rPr>
              <a:t>Response behaviour — </a:t>
            </a:r>
            <a:r>
              <a:rPr sz="1100">
                <a:solidFill>
                  <a:srgbClr val="0F1A1C"/>
                </a:solidFill>
                <a:latin typeface="Calibri"/>
              </a:rPr>
              <a:t>commenters vs. non-commenters</a:t>
            </a:r>
          </a:p>
        </p:txBody>
      </p:sp>
      <p:sp>
        <p:nvSpPr>
          <p:cNvPr id="9" name="Rectangle 8"/>
          <p:cNvSpPr/>
          <p:nvPr/>
        </p:nvSpPr>
        <p:spPr>
          <a:xfrm>
            <a:off x="6278727" y="1874519"/>
            <a:ext cx="5163159" cy="28803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6278727" y="1874519"/>
            <a:ext cx="32004" cy="28803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34759" y="2075688"/>
            <a:ext cx="4687671" cy="247802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RESULT</a:t>
            </a:r>
          </a:p>
        </p:txBody>
      </p:sp>
      <p:graphicFrame>
        <p:nvGraphicFramePr>
          <p:cNvPr id="12" name="Table 11"/>
          <p:cNvGraphicFramePr>
            <a:graphicFrameLocks noGrp="1"/>
          </p:cNvGraphicFramePr>
          <p:nvPr/>
        </p:nvGraphicFramePr>
        <p:xfrm>
          <a:off x="6534759" y="2423160"/>
          <a:ext cx="4651095" cy="2066544"/>
        </p:xfrm>
        <a:graphic>
          <a:graphicData uri="http://schemas.openxmlformats.org/drawingml/2006/table">
            <a:tbl>
              <a:tblPr firstRow="1">
                <a:tableStyleId>{5C22544A-7EE6-4342-B048-85BDC9FD1C3A}</a:tableStyleId>
              </a:tblPr>
              <a:tblGrid>
                <a:gridCol w="2604613">
                  <a:extLst>
                    <a:ext uri="{9D8B030D-6E8A-4147-A177-3AD203B41FA5}">
                      <a16:colId xmlns:a16="http://schemas.microsoft.com/office/drawing/2014/main" val="20000"/>
                    </a:ext>
                  </a:extLst>
                </a:gridCol>
                <a:gridCol w="2046482">
                  <a:extLst>
                    <a:ext uri="{9D8B030D-6E8A-4147-A177-3AD203B41FA5}">
                      <a16:colId xmlns:a16="http://schemas.microsoft.com/office/drawing/2014/main" val="20001"/>
                    </a:ext>
                  </a:extLst>
                </a:gridCol>
              </a:tblGrid>
              <a:tr h="274320">
                <a:tc>
                  <a:txBody>
                    <a:bodyPr/>
                    <a:lstStyle/>
                    <a:p>
                      <a:pPr>
                        <a:lnSpc>
                          <a:spcPct val="100000"/>
                        </a:lnSpc>
                      </a:pPr>
                      <a:r>
                        <a:rPr sz="900" b="1">
                          <a:solidFill>
                            <a:srgbClr val="5A6B6E"/>
                          </a:solidFill>
                          <a:latin typeface="Consolas"/>
                        </a:rPr>
                        <a:t>Property</a:t>
                      </a:r>
                    </a:p>
                  </a:txBody>
                  <a:tcPr marL="64008" marR="64008" marT="18288" marB="18288" anchor="ctr">
                    <a:solidFill>
                      <a:srgbClr val="E2F0F1"/>
                    </a:solidFill>
                  </a:tcPr>
                </a:tc>
                <a:tc>
                  <a:txBody>
                    <a:bodyPr/>
                    <a:lstStyle/>
                    <a:p>
                      <a:pPr algn="r">
                        <a:lnSpc>
                          <a:spcPct val="100000"/>
                        </a:lnSpc>
                      </a:pPr>
                      <a:r>
                        <a:rPr sz="900" b="1">
                          <a:solidFill>
                            <a:srgbClr val="5A6B6E"/>
                          </a:solidFill>
                          <a:latin typeface="Consolas"/>
                        </a:rPr>
                        <a:t>Synthetic</a:t>
                      </a:r>
                    </a:p>
                  </a:txBody>
                  <a:tcPr marL="64008" marR="64008" marT="18288" marB="18288" anchor="ctr">
                    <a:solidFill>
                      <a:srgbClr val="E2F0F1"/>
                    </a:solidFill>
                  </a:tcPr>
                </a:tc>
                <a:extLst>
                  <a:ext uri="{0D108BD9-81ED-4DB2-BD59-A6C34878D82A}">
                    <a16:rowId xmlns:a16="http://schemas.microsoft.com/office/drawing/2014/main" val="10000"/>
                  </a:ext>
                </a:extLst>
              </a:tr>
              <a:tr h="256032">
                <a:tc>
                  <a:txBody>
                    <a:bodyPr/>
                    <a:lstStyle/>
                    <a:p>
                      <a:pPr>
                        <a:lnSpc>
                          <a:spcPct val="100000"/>
                        </a:lnSpc>
                      </a:pPr>
                      <a:r>
                        <a:rPr sz="1000" b="0">
                          <a:solidFill>
                            <a:srgbClr val="0F1A1C"/>
                          </a:solidFill>
                          <a:latin typeface="Calibri"/>
                        </a:rPr>
                        <a:t>Responses × variables</a:t>
                      </a:r>
                    </a:p>
                  </a:txBody>
                  <a:tcPr marL="64008" marR="64008" marT="18288" marB="18288" anchor="ctr">
                    <a:solidFill>
                      <a:srgbClr val="FFFFFF"/>
                    </a:solidFill>
                  </a:tcPr>
                </a:tc>
                <a:tc>
                  <a:txBody>
                    <a:bodyPr/>
                    <a:lstStyle/>
                    <a:p>
                      <a:pPr algn="r">
                        <a:lnSpc>
                          <a:spcPct val="100000"/>
                        </a:lnSpc>
                      </a:pPr>
                      <a:r>
                        <a:rPr sz="1000" b="0">
                          <a:solidFill>
                            <a:srgbClr val="0F1A1C"/>
                          </a:solidFill>
                          <a:latin typeface="Calibri"/>
                        </a:rPr>
                        <a:t>500 × 66 (v1) → 7,000 (v2)</a:t>
                      </a:r>
                    </a:p>
                  </a:txBody>
                  <a:tcPr marL="64008" marR="64008" marT="18288" marB="18288" anchor="ctr">
                    <a:solidFill>
                      <a:srgbClr val="FFFFFF"/>
                    </a:solidFill>
                  </a:tcPr>
                </a:tc>
                <a:extLst>
                  <a:ext uri="{0D108BD9-81ED-4DB2-BD59-A6C34878D82A}">
                    <a16:rowId xmlns:a16="http://schemas.microsoft.com/office/drawing/2014/main" val="10001"/>
                  </a:ext>
                </a:extLst>
              </a:tr>
              <a:tr h="256032">
                <a:tc>
                  <a:txBody>
                    <a:bodyPr/>
                    <a:lstStyle/>
                    <a:p>
                      <a:pPr>
                        <a:lnSpc>
                          <a:spcPct val="100000"/>
                        </a:lnSpc>
                      </a:pPr>
                      <a:r>
                        <a:rPr sz="1000" b="0">
                          <a:solidFill>
                            <a:srgbClr val="0F1A1C"/>
                          </a:solidFill>
                          <a:latin typeface="Calibri"/>
                        </a:rPr>
                        <a:t>Comment rate</a:t>
                      </a:r>
                    </a:p>
                  </a:txBody>
                  <a:tcPr marL="64008" marR="64008" marT="18288" marB="18288" anchor="ctr">
                    <a:solidFill>
                      <a:srgbClr val="EEF2F2"/>
                    </a:solidFill>
                  </a:tcPr>
                </a:tc>
                <a:tc>
                  <a:txBody>
                    <a:bodyPr/>
                    <a:lstStyle/>
                    <a:p>
                      <a:pPr algn="r">
                        <a:lnSpc>
                          <a:spcPct val="100000"/>
                        </a:lnSpc>
                      </a:pPr>
                      <a:r>
                        <a:rPr sz="1000" b="0">
                          <a:solidFill>
                            <a:srgbClr val="0F1A1C"/>
                          </a:solidFill>
                          <a:latin typeface="Calibri"/>
                        </a:rPr>
                        <a:t>&gt; 96 %</a:t>
                      </a:r>
                    </a:p>
                  </a:txBody>
                  <a:tcPr marL="64008" marR="64008" marT="18288" marB="18288" anchor="ctr">
                    <a:solidFill>
                      <a:srgbClr val="EEF2F2"/>
                    </a:solidFill>
                  </a:tcPr>
                </a:tc>
                <a:extLst>
                  <a:ext uri="{0D108BD9-81ED-4DB2-BD59-A6C34878D82A}">
                    <a16:rowId xmlns:a16="http://schemas.microsoft.com/office/drawing/2014/main" val="10002"/>
                  </a:ext>
                </a:extLst>
              </a:tr>
              <a:tr h="256032">
                <a:tc>
                  <a:txBody>
                    <a:bodyPr/>
                    <a:lstStyle/>
                    <a:p>
                      <a:pPr>
                        <a:lnSpc>
                          <a:spcPct val="100000"/>
                        </a:lnSpc>
                      </a:pPr>
                      <a:r>
                        <a:rPr sz="1000" b="0">
                          <a:solidFill>
                            <a:srgbClr val="0F1A1C"/>
                          </a:solidFill>
                          <a:latin typeface="Calibri"/>
                        </a:rPr>
                        <a:t>Median comment length</a:t>
                      </a:r>
                    </a:p>
                  </a:txBody>
                  <a:tcPr marL="64008" marR="64008" marT="18288" marB="18288" anchor="ctr">
                    <a:solidFill>
                      <a:srgbClr val="FFFFFF"/>
                    </a:solidFill>
                  </a:tcPr>
                </a:tc>
                <a:tc>
                  <a:txBody>
                    <a:bodyPr/>
                    <a:lstStyle/>
                    <a:p>
                      <a:pPr algn="r">
                        <a:lnSpc>
                          <a:spcPct val="100000"/>
                        </a:lnSpc>
                      </a:pPr>
                      <a:r>
                        <a:rPr sz="1000" b="0">
                          <a:solidFill>
                            <a:srgbClr val="0F1A1C"/>
                          </a:solidFill>
                          <a:latin typeface="Calibri"/>
                        </a:rPr>
                        <a:t>25 words</a:t>
                      </a:r>
                    </a:p>
                  </a:txBody>
                  <a:tcPr marL="64008" marR="64008" marT="18288" marB="18288" anchor="ctr">
                    <a:solidFill>
                      <a:srgbClr val="FFFFFF"/>
                    </a:solidFill>
                  </a:tcPr>
                </a:tc>
                <a:extLst>
                  <a:ext uri="{0D108BD9-81ED-4DB2-BD59-A6C34878D82A}">
                    <a16:rowId xmlns:a16="http://schemas.microsoft.com/office/drawing/2014/main" val="10003"/>
                  </a:ext>
                </a:extLst>
              </a:tr>
              <a:tr h="256032">
                <a:tc>
                  <a:txBody>
                    <a:bodyPr/>
                    <a:lstStyle/>
                    <a:p>
                      <a:pPr>
                        <a:lnSpc>
                          <a:spcPct val="100000"/>
                        </a:lnSpc>
                      </a:pPr>
                      <a:r>
                        <a:rPr sz="1000" b="0">
                          <a:solidFill>
                            <a:srgbClr val="0F1A1C"/>
                          </a:solidFill>
                          <a:latin typeface="Calibri"/>
                        </a:rPr>
                        <a:t>Dimension scores</a:t>
                      </a:r>
                    </a:p>
                  </a:txBody>
                  <a:tcPr marL="64008" marR="64008" marT="18288" marB="18288" anchor="ctr">
                    <a:solidFill>
                      <a:srgbClr val="EEF2F2"/>
                    </a:solidFill>
                  </a:tcPr>
                </a:tc>
                <a:tc>
                  <a:txBody>
                    <a:bodyPr/>
                    <a:lstStyle/>
                    <a:p>
                      <a:pPr algn="r">
                        <a:lnSpc>
                          <a:spcPct val="100000"/>
                        </a:lnSpc>
                      </a:pPr>
                      <a:r>
                        <a:rPr sz="1000" b="0">
                          <a:solidFill>
                            <a:srgbClr val="0F1A1C"/>
                          </a:solidFill>
                          <a:latin typeface="Calibri"/>
                        </a:rPr>
                        <a:t>3.1 – 3.7 of 5</a:t>
                      </a:r>
                    </a:p>
                  </a:txBody>
                  <a:tcPr marL="64008" marR="64008" marT="18288" marB="18288" anchor="ctr">
                    <a:solidFill>
                      <a:srgbClr val="EEF2F2"/>
                    </a:solidFill>
                  </a:tcPr>
                </a:tc>
                <a:extLst>
                  <a:ext uri="{0D108BD9-81ED-4DB2-BD59-A6C34878D82A}">
                    <a16:rowId xmlns:a16="http://schemas.microsoft.com/office/drawing/2014/main" val="10004"/>
                  </a:ext>
                </a:extLst>
              </a:tr>
              <a:tr h="256032">
                <a:tc>
                  <a:txBody>
                    <a:bodyPr/>
                    <a:lstStyle/>
                    <a:p>
                      <a:pPr>
                        <a:lnSpc>
                          <a:spcPct val="100000"/>
                        </a:lnSpc>
                      </a:pPr>
                      <a:r>
                        <a:rPr sz="1000" b="0">
                          <a:solidFill>
                            <a:srgbClr val="0F1A1C"/>
                          </a:solidFill>
                          <a:latin typeface="Calibri"/>
                        </a:rPr>
                        <a:t>Cronbach α</a:t>
                      </a:r>
                    </a:p>
                  </a:txBody>
                  <a:tcPr marL="64008" marR="64008" marT="18288" marB="18288" anchor="ctr">
                    <a:solidFill>
                      <a:srgbClr val="FFFFFF"/>
                    </a:solidFill>
                  </a:tcPr>
                </a:tc>
                <a:tc>
                  <a:txBody>
                    <a:bodyPr/>
                    <a:lstStyle/>
                    <a:p>
                      <a:pPr algn="r">
                        <a:lnSpc>
                          <a:spcPct val="100000"/>
                        </a:lnSpc>
                      </a:pPr>
                      <a:r>
                        <a:rPr sz="1000" b="0">
                          <a:solidFill>
                            <a:srgbClr val="0F1A1C"/>
                          </a:solidFill>
                          <a:latin typeface="Calibri"/>
                        </a:rPr>
                        <a:t>0.68 – 0.96</a:t>
                      </a:r>
                    </a:p>
                  </a:txBody>
                  <a:tcPr marL="64008" marR="64008" marT="18288" marB="18288" anchor="ctr">
                    <a:solidFill>
                      <a:srgbClr val="FFFFFF"/>
                    </a:solidFill>
                  </a:tcPr>
                </a:tc>
                <a:extLst>
                  <a:ext uri="{0D108BD9-81ED-4DB2-BD59-A6C34878D82A}">
                    <a16:rowId xmlns:a16="http://schemas.microsoft.com/office/drawing/2014/main" val="10005"/>
                  </a:ext>
                </a:extLst>
              </a:tr>
              <a:tr h="256032">
                <a:tc>
                  <a:txBody>
                    <a:bodyPr/>
                    <a:lstStyle/>
                    <a:p>
                      <a:pPr>
                        <a:lnSpc>
                          <a:spcPct val="100000"/>
                        </a:lnSpc>
                      </a:pPr>
                      <a:r>
                        <a:rPr sz="1000" b="0">
                          <a:solidFill>
                            <a:srgbClr val="0F1A1C"/>
                          </a:solidFill>
                          <a:latin typeface="Calibri"/>
                        </a:rPr>
                        <a:t>r (teamwork, culture)</a:t>
                      </a:r>
                    </a:p>
                  </a:txBody>
                  <a:tcPr marL="64008" marR="64008" marT="18288" marB="18288" anchor="ctr">
                    <a:solidFill>
                      <a:srgbClr val="EEF2F2"/>
                    </a:solidFill>
                  </a:tcPr>
                </a:tc>
                <a:tc>
                  <a:txBody>
                    <a:bodyPr/>
                    <a:lstStyle/>
                    <a:p>
                      <a:pPr algn="r">
                        <a:lnSpc>
                          <a:spcPct val="100000"/>
                        </a:lnSpc>
                      </a:pPr>
                      <a:r>
                        <a:rPr sz="1000" b="0">
                          <a:solidFill>
                            <a:srgbClr val="0F1A1C"/>
                          </a:solidFill>
                          <a:latin typeface="Calibri"/>
                        </a:rPr>
                        <a:t>≈ 0.89</a:t>
                      </a:r>
                    </a:p>
                  </a:txBody>
                  <a:tcPr marL="64008" marR="64008" marT="18288" marB="18288" anchor="ctr">
                    <a:solidFill>
                      <a:srgbClr val="EEF2F2"/>
                    </a:solidFill>
                  </a:tcPr>
                </a:tc>
                <a:extLst>
                  <a:ext uri="{0D108BD9-81ED-4DB2-BD59-A6C34878D82A}">
                    <a16:rowId xmlns:a16="http://schemas.microsoft.com/office/drawing/2014/main" val="10006"/>
                  </a:ext>
                </a:extLst>
              </a:tr>
              <a:tr h="256032">
                <a:tc>
                  <a:txBody>
                    <a:bodyPr/>
                    <a:lstStyle/>
                    <a:p>
                      <a:pPr>
                        <a:lnSpc>
                          <a:spcPct val="100000"/>
                        </a:lnSpc>
                      </a:pPr>
                      <a:r>
                        <a:rPr sz="1000" b="0">
                          <a:solidFill>
                            <a:srgbClr val="0F1A1C"/>
                          </a:solidFill>
                          <a:latin typeface="Calibri"/>
                        </a:rPr>
                        <a:t>Business units</a:t>
                      </a:r>
                    </a:p>
                  </a:txBody>
                  <a:tcPr marL="64008" marR="64008" marT="18288" marB="18288" anchor="ctr">
                    <a:solidFill>
                      <a:srgbClr val="FFFFFF"/>
                    </a:solidFill>
                  </a:tcPr>
                </a:tc>
                <a:tc>
                  <a:txBody>
                    <a:bodyPr/>
                    <a:lstStyle/>
                    <a:p>
                      <a:pPr algn="r">
                        <a:lnSpc>
                          <a:spcPct val="100000"/>
                        </a:lnSpc>
                      </a:pPr>
                      <a:r>
                        <a:rPr sz="1000" b="0">
                          <a:solidFill>
                            <a:srgbClr val="0F1A1C"/>
                          </a:solidFill>
                          <a:latin typeface="Calibri"/>
                        </a:rPr>
                        <a:t>5, n = 82 – 114</a:t>
                      </a:r>
                    </a:p>
                  </a:txBody>
                  <a:tcPr marL="64008" marR="64008" marT="18288" marB="18288" anchor="ctr">
                    <a:solidFill>
                      <a:srgbClr val="FFFFFF"/>
                    </a:solidFill>
                  </a:tcPr>
                </a:tc>
                <a:extLst>
                  <a:ext uri="{0D108BD9-81ED-4DB2-BD59-A6C34878D82A}">
                    <a16:rowId xmlns:a16="http://schemas.microsoft.com/office/drawing/2014/main" val="10007"/>
                  </a:ext>
                </a:extLst>
              </a:tr>
            </a:tbl>
          </a:graphicData>
        </a:graphic>
      </p:graphicFrame>
      <p:sp>
        <p:nvSpPr>
          <p:cNvPr id="13" name="Rectangle 12"/>
          <p:cNvSpPr/>
          <p:nvPr/>
        </p:nvSpPr>
        <p:spPr>
          <a:xfrm>
            <a:off x="749808" y="4937760"/>
            <a:ext cx="10692079" cy="1143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749808" y="4937760"/>
            <a:ext cx="32004" cy="1143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1005840" y="5138928"/>
            <a:ext cx="10216591" cy="74066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9A4037"/>
                </a:solidFill>
                <a:latin typeface="Consolas"/>
              </a:rPr>
              <a:t>HONEST LIMITATION</a:t>
            </a:r>
          </a:p>
          <a:p>
            <a:pPr>
              <a:lnSpc>
                <a:spcPct val="130000"/>
              </a:lnSpc>
              <a:spcBef>
                <a:spcPts val="0"/>
              </a:spcBef>
              <a:spcAft>
                <a:spcPts val="0"/>
              </a:spcAft>
            </a:pPr>
            <a:r>
              <a:rPr sz="1150" b="0" i="0">
                <a:solidFill>
                  <a:srgbClr val="0F1A1C"/>
                </a:solidFill>
                <a:latin typeface="Calibri"/>
              </a:rPr>
              <a:t>Structure and statistics transfer well; language does not. Synthetic comments are more repetitive and share phrasing, which makes topic modelling measurably harder than on real text. The generator was reworked after the first EDA for exactly that reason — and the topic metrics still carry the effect.</a:t>
            </a:r>
          </a:p>
        </p:txBody>
      </p:sp>
      <p:sp>
        <p:nvSpPr>
          <p:cNvPr id="16" name="TextBox 15"/>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13 / 21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APPENDIX A4</a:t>
            </a:r>
            <a:r>
              <a:rPr sz="1000">
                <a:solidFill>
                  <a:srgbClr val="8A9B9E"/>
                </a:solidFill>
                <a:latin typeface="Consolas"/>
              </a:rPr>
              <a:t>   ·   BASELINE MODEL</a:t>
            </a:r>
          </a:p>
        </p:txBody>
      </p:sp>
      <p:sp>
        <p:nvSpPr>
          <p:cNvPr id="4" name="TextBox 3"/>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a:solidFill>
                  <a:srgbClr val="0F1A1C"/>
                </a:solidFill>
                <a:latin typeface="Georgia"/>
              </a:rPr>
              <a:t>Zero-shot prototype — and why it was replaced</a:t>
            </a: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3368954" cy="28803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9"/>
            <a:ext cx="32004" cy="28803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2893466" cy="247802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SETUP</a:t>
            </a:r>
          </a:p>
          <a:p>
            <a:pPr>
              <a:lnSpc>
                <a:spcPct val="118000"/>
              </a:lnSpc>
              <a:spcAft>
                <a:spcPts val="500"/>
              </a:spcAft>
            </a:pPr>
            <a:r>
              <a:rPr sz="1050">
                <a:solidFill>
                  <a:srgbClr val="14636E"/>
                </a:solidFill>
                <a:latin typeface="Calibri"/>
              </a:rPr>
              <a:t>▪  </a:t>
            </a:r>
            <a:r>
              <a:rPr sz="1050">
                <a:solidFill>
                  <a:srgbClr val="0F1A1C"/>
                </a:solidFill>
                <a:latin typeface="Calibri"/>
              </a:rPr>
              <a:t>Model  MoritzLaurer/mDeBERTa-v3-base-mnli-xnli</a:t>
            </a:r>
          </a:p>
          <a:p>
            <a:pPr>
              <a:lnSpc>
                <a:spcPct val="118000"/>
              </a:lnSpc>
              <a:spcAft>
                <a:spcPts val="500"/>
              </a:spcAft>
            </a:pPr>
            <a:r>
              <a:rPr sz="1050">
                <a:solidFill>
                  <a:srgbClr val="14636E"/>
                </a:solidFill>
                <a:latin typeface="Calibri"/>
              </a:rPr>
              <a:t>▪  </a:t>
            </a:r>
            <a:r>
              <a:rPr sz="1050">
                <a:solidFill>
                  <a:srgbClr val="0F1A1C"/>
                </a:solidFill>
                <a:latin typeface="Calibri"/>
              </a:rPr>
              <a:t>Classification via natural language inference — no training data needed</a:t>
            </a:r>
          </a:p>
          <a:p>
            <a:pPr>
              <a:lnSpc>
                <a:spcPct val="118000"/>
              </a:lnSpc>
              <a:spcAft>
                <a:spcPts val="500"/>
              </a:spcAft>
            </a:pPr>
            <a:r>
              <a:rPr sz="1050">
                <a:solidFill>
                  <a:srgbClr val="14636E"/>
                </a:solidFill>
                <a:latin typeface="Calibri"/>
              </a:rPr>
              <a:t>▪  </a:t>
            </a:r>
            <a:r>
              <a:rPr sz="1050">
                <a:solidFill>
                  <a:srgbClr val="0F1A1C"/>
                </a:solidFill>
                <a:latin typeface="Calibri"/>
              </a:rPr>
              <a:t>Valence labels: positive / neutral / negative</a:t>
            </a:r>
          </a:p>
          <a:p>
            <a:pPr>
              <a:lnSpc>
                <a:spcPct val="118000"/>
              </a:lnSpc>
              <a:spcAft>
                <a:spcPts val="500"/>
              </a:spcAft>
            </a:pPr>
            <a:r>
              <a:rPr sz="1050">
                <a:solidFill>
                  <a:srgbClr val="14636E"/>
                </a:solidFill>
                <a:latin typeface="Calibri"/>
              </a:rPr>
              <a:t>▪  </a:t>
            </a:r>
            <a:r>
              <a:rPr sz="1050">
                <a:solidFill>
                  <a:srgbClr val="0F1A1C"/>
                </a:solidFill>
                <a:latin typeface="Calibri"/>
              </a:rPr>
              <a:t>Arousal labels: high / medium / low activation</a:t>
            </a:r>
          </a:p>
          <a:p>
            <a:pPr>
              <a:lnSpc>
                <a:spcPct val="118000"/>
              </a:lnSpc>
              <a:spcAft>
                <a:spcPts val="0"/>
              </a:spcAft>
            </a:pPr>
            <a:r>
              <a:rPr sz="1050">
                <a:solidFill>
                  <a:srgbClr val="14636E"/>
                </a:solidFill>
                <a:latin typeface="Calibri"/>
              </a:rPr>
              <a:t>▪  </a:t>
            </a:r>
            <a:r>
              <a:rPr sz="1050">
                <a:solidFill>
                  <a:srgbClr val="0F1A1C"/>
                </a:solidFill>
                <a:latin typeface="Calibri"/>
              </a:rPr>
              <a:t>Both dimensions scored per comment, exported as Core Affect coordinates</a:t>
            </a:r>
          </a:p>
        </p:txBody>
      </p:sp>
      <p:sp>
        <p:nvSpPr>
          <p:cNvPr id="9" name="Rectangle 8"/>
          <p:cNvSpPr/>
          <p:nvPr/>
        </p:nvSpPr>
        <p:spPr>
          <a:xfrm>
            <a:off x="4411370" y="1874519"/>
            <a:ext cx="3368954" cy="28803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4411370" y="1874519"/>
            <a:ext cx="32004" cy="28803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4667402" y="2075688"/>
            <a:ext cx="2893466" cy="247802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WHAT IT PROVED</a:t>
            </a:r>
          </a:p>
          <a:p>
            <a:pPr>
              <a:lnSpc>
                <a:spcPct val="118000"/>
              </a:lnSpc>
              <a:spcAft>
                <a:spcPts val="500"/>
              </a:spcAft>
            </a:pPr>
            <a:r>
              <a:rPr sz="1050">
                <a:solidFill>
                  <a:srgbClr val="14636E"/>
                </a:solidFill>
                <a:latin typeface="Calibri"/>
              </a:rPr>
              <a:t>▪  </a:t>
            </a:r>
            <a:r>
              <a:rPr sz="1050">
                <a:solidFill>
                  <a:srgbClr val="0F1A1C"/>
                </a:solidFill>
                <a:latin typeface="Calibri"/>
              </a:rPr>
              <a:t>End-to-end pipeline works: load → classify → derive coordinates → export</a:t>
            </a:r>
          </a:p>
          <a:p>
            <a:pPr>
              <a:lnSpc>
                <a:spcPct val="118000"/>
              </a:lnSpc>
              <a:spcAft>
                <a:spcPts val="500"/>
              </a:spcAft>
            </a:pPr>
            <a:r>
              <a:rPr sz="1050">
                <a:solidFill>
                  <a:srgbClr val="14636E"/>
                </a:solidFill>
                <a:latin typeface="Calibri"/>
              </a:rPr>
              <a:t>▪  </a:t>
            </a:r>
            <a:r>
              <a:rPr sz="1050">
                <a:solidFill>
                  <a:srgbClr val="0F1A1C"/>
                </a:solidFill>
                <a:latin typeface="Calibri"/>
              </a:rPr>
              <a:t>The Core Affect idea is technically feasible on German comments</a:t>
            </a:r>
          </a:p>
          <a:p>
            <a:pPr>
              <a:lnSpc>
                <a:spcPct val="118000"/>
              </a:lnSpc>
              <a:spcAft>
                <a:spcPts val="500"/>
              </a:spcAft>
            </a:pPr>
            <a:r>
              <a:rPr sz="1050">
                <a:solidFill>
                  <a:srgbClr val="14636E"/>
                </a:solidFill>
                <a:latin typeface="Calibri"/>
              </a:rPr>
              <a:t>▪  </a:t>
            </a:r>
            <a:r>
              <a:rPr sz="1050">
                <a:solidFill>
                  <a:srgbClr val="0F1A1C"/>
                </a:solidFill>
                <a:latin typeface="Calibri"/>
              </a:rPr>
              <a:t>The only component so far that produces arousal estimates at all</a:t>
            </a:r>
          </a:p>
          <a:p>
            <a:pPr>
              <a:lnSpc>
                <a:spcPct val="118000"/>
              </a:lnSpc>
              <a:spcAft>
                <a:spcPts val="0"/>
              </a:spcAft>
            </a:pPr>
            <a:r>
              <a:rPr sz="1050">
                <a:solidFill>
                  <a:srgbClr val="14636E"/>
                </a:solidFill>
                <a:latin typeface="Calibri"/>
              </a:rPr>
              <a:t>▪  </a:t>
            </a:r>
            <a:r>
              <a:rPr sz="1050">
                <a:solidFill>
                  <a:srgbClr val="0F1A1C"/>
                </a:solidFill>
                <a:latin typeface="Calibri"/>
              </a:rPr>
              <a:t>Useful as a fast feasibility test before investing in a specialised model</a:t>
            </a:r>
          </a:p>
        </p:txBody>
      </p:sp>
      <p:sp>
        <p:nvSpPr>
          <p:cNvPr id="12" name="Rectangle 11"/>
          <p:cNvSpPr/>
          <p:nvPr/>
        </p:nvSpPr>
        <p:spPr>
          <a:xfrm>
            <a:off x="8072932" y="1874519"/>
            <a:ext cx="3368954" cy="2880360"/>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8072932" y="1874519"/>
            <a:ext cx="32004" cy="28803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328964" y="2075688"/>
            <a:ext cx="2893466" cy="247802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WHY IT STAYS A BASELINE</a:t>
            </a:r>
          </a:p>
          <a:p>
            <a:pPr>
              <a:lnSpc>
                <a:spcPct val="118000"/>
              </a:lnSpc>
              <a:spcAft>
                <a:spcPts val="500"/>
              </a:spcAft>
            </a:pPr>
            <a:r>
              <a:rPr sz="1050">
                <a:solidFill>
                  <a:srgbClr val="14636E"/>
                </a:solidFill>
                <a:latin typeface="Calibri"/>
              </a:rPr>
              <a:t>▪  </a:t>
            </a:r>
            <a:r>
              <a:rPr sz="1050">
                <a:solidFill>
                  <a:srgbClr val="0F1A1C"/>
                </a:solidFill>
                <a:latin typeface="Calibri"/>
              </a:rPr>
              <a:t>Unstable arousal — label wording drives the result, and three coarse classes are not enough</a:t>
            </a:r>
          </a:p>
          <a:p>
            <a:pPr>
              <a:lnSpc>
                <a:spcPct val="118000"/>
              </a:lnSpc>
              <a:spcAft>
                <a:spcPts val="500"/>
              </a:spcAft>
            </a:pPr>
            <a:r>
              <a:rPr sz="1050">
                <a:solidFill>
                  <a:srgbClr val="14636E"/>
                </a:solidFill>
                <a:latin typeface="Calibri"/>
              </a:rPr>
              <a:t>▪  </a:t>
            </a:r>
            <a:r>
              <a:rPr sz="1050">
                <a:solidFill>
                  <a:srgbClr val="0F1A1C"/>
                </a:solidFill>
                <a:latin typeface="Calibri"/>
              </a:rPr>
              <a:t>Discrete output — no continuous dimension for the Core Affect Map</a:t>
            </a:r>
          </a:p>
          <a:p>
            <a:pPr>
              <a:lnSpc>
                <a:spcPct val="118000"/>
              </a:lnSpc>
              <a:spcAft>
                <a:spcPts val="0"/>
              </a:spcAft>
            </a:pPr>
            <a:r>
              <a:rPr sz="1050">
                <a:solidFill>
                  <a:srgbClr val="14636E"/>
                </a:solidFill>
                <a:latin typeface="Calibri"/>
              </a:rPr>
              <a:t>▪  </a:t>
            </a:r>
            <a:r>
              <a:rPr sz="1050">
                <a:solidFill>
                  <a:srgbClr val="0F1A1C"/>
                </a:solidFill>
                <a:latin typeface="Calibri"/>
              </a:rPr>
              <a:t>Slow — ≈ 1.7 comments/s, about 50 min for 5,000 comments, roughly 12× slower than the specialised sentiment model</a:t>
            </a:r>
          </a:p>
        </p:txBody>
      </p:sp>
      <p:sp>
        <p:nvSpPr>
          <p:cNvPr id="15" name="Rounded Rectangle 14"/>
          <p:cNvSpPr/>
          <p:nvPr/>
        </p:nvSpPr>
        <p:spPr>
          <a:xfrm>
            <a:off x="8072932" y="4937760"/>
            <a:ext cx="2377440" cy="219456"/>
          </a:xfrm>
          <a:prstGeom prst="roundRect">
            <a:avLst>
              <a:gd name="adj" fmla="val 30000"/>
            </a:avLst>
          </a:prstGeom>
          <a:noFill/>
          <a:ln w="9525">
            <a:solidFill>
              <a:srgbClr val="9A4037"/>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lnSpc>
                <a:spcPct val="120000"/>
              </a:lnSpc>
              <a:spcBef>
                <a:spcPts val="0"/>
              </a:spcBef>
              <a:spcAft>
                <a:spcPts val="0"/>
              </a:spcAft>
            </a:pPr>
            <a:r>
              <a:rPr sz="850" b="1" i="0">
                <a:solidFill>
                  <a:srgbClr val="9A4037"/>
                </a:solidFill>
                <a:latin typeface="Consolas"/>
              </a:rPr>
              <a:t>KEPT AS BASELINE, NOT PRODUCT</a:t>
            </a:r>
          </a:p>
        </p:txBody>
      </p:sp>
      <p:sp>
        <p:nvSpPr>
          <p:cNvPr id="16" name="TextBox 15"/>
          <p:cNvSpPr txBox="1"/>
          <p:nvPr/>
        </p:nvSpPr>
        <p:spPr>
          <a:xfrm>
            <a:off x="749808" y="4937760"/>
            <a:ext cx="6077559" cy="822960"/>
          </a:xfrm>
          <a:prstGeom prst="rect">
            <a:avLst/>
          </a:prstGeom>
          <a:noFill/>
        </p:spPr>
        <p:txBody>
          <a:bodyPr wrap="square" lIns="0" tIns="0" rIns="0" bIns="0">
            <a:spAutoFit/>
          </a:bodyPr>
          <a:lstStyle/>
          <a:p>
            <a:pPr>
              <a:lnSpc>
                <a:spcPct val="125000"/>
              </a:lnSpc>
              <a:spcBef>
                <a:spcPts val="0"/>
              </a:spcBef>
              <a:spcAft>
                <a:spcPts val="0"/>
              </a:spcAft>
            </a:pPr>
            <a:r>
              <a:rPr sz="1150" b="0" i="0">
                <a:solidFill>
                  <a:srgbClr val="5A6B6E"/>
                </a:solidFill>
                <a:latin typeface="Calibri"/>
              </a:rPr>
              <a:t>Decision: the zero-shot model remains documented as a proof of concept. The product uses German Sentiment BERT for valence, and arousal is being solved separately (see A9).</a:t>
            </a:r>
          </a:p>
        </p:txBody>
      </p:sp>
      <p:sp>
        <p:nvSpPr>
          <p:cNvPr id="17" name="TextBox 16"/>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14 / 21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APPENDIX A5</a:t>
            </a:r>
            <a:r>
              <a:rPr sz="1000">
                <a:solidFill>
                  <a:srgbClr val="8A9B9E"/>
                </a:solidFill>
                <a:latin typeface="Consolas"/>
              </a:rPr>
              <a:t>   ·   SENTIMENT LAYER</a:t>
            </a:r>
          </a:p>
        </p:txBody>
      </p:sp>
      <p:sp>
        <p:nvSpPr>
          <p:cNvPr id="4" name="TextBox 3"/>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a:solidFill>
                  <a:srgbClr val="0F1A1C"/>
                </a:solidFill>
                <a:latin typeface="Georgia"/>
              </a:rPr>
              <a:t>German Sentiment BERT → continuous valence</a:t>
            </a: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5163159" cy="29718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9"/>
            <a:ext cx="32004" cy="29718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4687671" cy="256946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TECHNICAL STEPS</a:t>
            </a:r>
          </a:p>
          <a:p>
            <a:pPr>
              <a:lnSpc>
                <a:spcPct val="118000"/>
              </a:lnSpc>
              <a:spcAft>
                <a:spcPts val="400"/>
              </a:spcAft>
            </a:pPr>
            <a:r>
              <a:rPr sz="1100">
                <a:solidFill>
                  <a:srgbClr val="14636E"/>
                </a:solidFill>
                <a:latin typeface="Calibri"/>
              </a:rPr>
              <a:t>▪  </a:t>
            </a:r>
            <a:r>
              <a:rPr sz="1100">
                <a:solidFill>
                  <a:srgbClr val="0F1A1C"/>
                </a:solidFill>
                <a:latin typeface="Calibri"/>
              </a:rPr>
              <a:t>Filter to valid comments (has_comment == True) — 5,000 of 7,000 rows</a:t>
            </a:r>
          </a:p>
          <a:p>
            <a:pPr>
              <a:lnSpc>
                <a:spcPct val="118000"/>
              </a:lnSpc>
              <a:spcAft>
                <a:spcPts val="400"/>
              </a:spcAft>
            </a:pPr>
            <a:r>
              <a:rPr sz="1100">
                <a:solidFill>
                  <a:srgbClr val="14636E"/>
                </a:solidFill>
                <a:latin typeface="Calibri"/>
              </a:rPr>
              <a:t>▪  </a:t>
            </a:r>
            <a:r>
              <a:rPr sz="1100">
                <a:solidFill>
                  <a:srgbClr val="0F1A1C"/>
                </a:solidFill>
                <a:latin typeface="Calibri"/>
              </a:rPr>
              <a:t>Model  oliverguhr/german-sentiment-bert  via HF pipeline, top_k=None, truncation enabled</a:t>
            </a:r>
          </a:p>
          <a:p>
            <a:pPr>
              <a:lnSpc>
                <a:spcPct val="118000"/>
              </a:lnSpc>
              <a:spcAft>
                <a:spcPts val="400"/>
              </a:spcAft>
            </a:pPr>
            <a:r>
              <a:rPr sz="1100">
                <a:solidFill>
                  <a:srgbClr val="14636E"/>
                </a:solidFill>
                <a:latin typeface="Calibri"/>
              </a:rPr>
              <a:t>▪  </a:t>
            </a:r>
            <a:r>
              <a:rPr sz="1100">
                <a:solidFill>
                  <a:srgbClr val="0F1A1C"/>
                </a:solidFill>
                <a:latin typeface="Calibri"/>
              </a:rPr>
              <a:t>Keep all three probabilities per comment, not just the argmax label</a:t>
            </a:r>
          </a:p>
          <a:p>
            <a:pPr>
              <a:lnSpc>
                <a:spcPct val="118000"/>
              </a:lnSpc>
              <a:spcAft>
                <a:spcPts val="400"/>
              </a:spcAft>
            </a:pPr>
            <a:r>
              <a:rPr sz="1100">
                <a:solidFill>
                  <a:srgbClr val="14636E"/>
                </a:solidFill>
                <a:latin typeface="Calibri"/>
              </a:rPr>
              <a:t>▪  </a:t>
            </a:r>
            <a:r>
              <a:rPr sz="1100">
                <a:solidFill>
                  <a:srgbClr val="0F1A1C"/>
                </a:solidFill>
                <a:latin typeface="Calibri"/>
              </a:rPr>
              <a:t>Derive  continuous_valence = P(pos) − P(neg),  range −1 … +1</a:t>
            </a:r>
          </a:p>
          <a:p>
            <a:pPr>
              <a:lnSpc>
                <a:spcPct val="118000"/>
              </a:lnSpc>
              <a:spcAft>
                <a:spcPts val="400"/>
              </a:spcAft>
            </a:pPr>
            <a:r>
              <a:rPr sz="1100">
                <a:solidFill>
                  <a:srgbClr val="14636E"/>
                </a:solidFill>
                <a:latin typeface="Calibri"/>
              </a:rPr>
              <a:t>▪  </a:t>
            </a:r>
            <a:r>
              <a:rPr sz="1100">
                <a:solidFill>
                  <a:srgbClr val="0F1A1C"/>
                </a:solidFill>
                <a:latin typeface="Calibri"/>
              </a:rPr>
              <a:t>Merge back onto the survey rows, export the enriched dataset for Power BI</a:t>
            </a:r>
          </a:p>
          <a:p>
            <a:pPr>
              <a:lnSpc>
                <a:spcPct val="118000"/>
              </a:lnSpc>
              <a:spcAft>
                <a:spcPts val="0"/>
              </a:spcAft>
            </a:pPr>
            <a:r>
              <a:rPr sz="1100">
                <a:solidFill>
                  <a:srgbClr val="14636E"/>
                </a:solidFill>
                <a:latin typeface="Calibri"/>
              </a:rPr>
              <a:t>▪  </a:t>
            </a:r>
            <a:r>
              <a:rPr sz="1100">
                <a:solidFill>
                  <a:srgbClr val="0F1A1C"/>
                </a:solidFill>
                <a:latin typeface="Calibri"/>
              </a:rPr>
              <a:t>Throughput ≈ 20 comments/s — 5,000 comments in about 4 minutes</a:t>
            </a:r>
          </a:p>
        </p:txBody>
      </p:sp>
      <p:sp>
        <p:nvSpPr>
          <p:cNvPr id="9" name="Rectangle 8"/>
          <p:cNvSpPr/>
          <p:nvPr/>
        </p:nvSpPr>
        <p:spPr>
          <a:xfrm>
            <a:off x="6278727" y="1874519"/>
            <a:ext cx="5163159" cy="29718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6278727" y="1874519"/>
            <a:ext cx="32004" cy="29718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34759" y="2075688"/>
            <a:ext cx="4687671" cy="256946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FROM VERSION 1 TO VERSION 2</a:t>
            </a:r>
          </a:p>
        </p:txBody>
      </p:sp>
      <p:graphicFrame>
        <p:nvGraphicFramePr>
          <p:cNvPr id="12" name="Table 11"/>
          <p:cNvGraphicFramePr>
            <a:graphicFrameLocks noGrp="1"/>
          </p:cNvGraphicFramePr>
          <p:nvPr/>
        </p:nvGraphicFramePr>
        <p:xfrm>
          <a:off x="6534759" y="2423160"/>
          <a:ext cx="4651095" cy="1097280"/>
        </p:xfrm>
        <a:graphic>
          <a:graphicData uri="http://schemas.openxmlformats.org/drawingml/2006/table">
            <a:tbl>
              <a:tblPr firstRow="1">
                <a:tableStyleId>{5C22544A-7EE6-4342-B048-85BDC9FD1C3A}</a:tableStyleId>
              </a:tblPr>
              <a:tblGrid>
                <a:gridCol w="2092993">
                  <a:extLst>
                    <a:ext uri="{9D8B030D-6E8A-4147-A177-3AD203B41FA5}">
                      <a16:colId xmlns:a16="http://schemas.microsoft.com/office/drawing/2014/main" val="20000"/>
                    </a:ext>
                  </a:extLst>
                </a:gridCol>
                <a:gridCol w="2558102">
                  <a:extLst>
                    <a:ext uri="{9D8B030D-6E8A-4147-A177-3AD203B41FA5}">
                      <a16:colId xmlns:a16="http://schemas.microsoft.com/office/drawing/2014/main" val="20001"/>
                    </a:ext>
                  </a:extLst>
                </a:gridCol>
              </a:tblGrid>
              <a:tr h="274320">
                <a:tc>
                  <a:txBody>
                    <a:bodyPr/>
                    <a:lstStyle/>
                    <a:p>
                      <a:pPr>
                        <a:lnSpc>
                          <a:spcPct val="100000"/>
                        </a:lnSpc>
                      </a:pPr>
                      <a:r>
                        <a:rPr sz="950" b="1">
                          <a:solidFill>
                            <a:srgbClr val="5A6B6E"/>
                          </a:solidFill>
                          <a:latin typeface="Consolas"/>
                        </a:rPr>
                        <a:t>Zero-shot</a:t>
                      </a:r>
                    </a:p>
                  </a:txBody>
                  <a:tcPr marL="64008" marR="64008" marT="18288" marB="18288" anchor="ctr">
                    <a:solidFill>
                      <a:srgbClr val="E2F0F1"/>
                    </a:solidFill>
                  </a:tcPr>
                </a:tc>
                <a:tc>
                  <a:txBody>
                    <a:bodyPr/>
                    <a:lstStyle/>
                    <a:p>
                      <a:pPr>
                        <a:lnSpc>
                          <a:spcPct val="100000"/>
                        </a:lnSpc>
                      </a:pPr>
                      <a:r>
                        <a:rPr sz="950" b="1">
                          <a:solidFill>
                            <a:srgbClr val="5A6B6E"/>
                          </a:solidFill>
                          <a:latin typeface="Consolas"/>
                        </a:rPr>
                        <a:t>German Sentiment BERT</a:t>
                      </a:r>
                    </a:p>
                  </a:txBody>
                  <a:tcPr marL="64008" marR="64008" marT="18288" marB="18288" anchor="ctr">
                    <a:solidFill>
                      <a:srgbClr val="E2F0F1"/>
                    </a:solidFill>
                  </a:tcPr>
                </a:tc>
                <a:extLst>
                  <a:ext uri="{0D108BD9-81ED-4DB2-BD59-A6C34878D82A}">
                    <a16:rowId xmlns:a16="http://schemas.microsoft.com/office/drawing/2014/main" val="10000"/>
                  </a:ext>
                </a:extLst>
              </a:tr>
              <a:tr h="274320">
                <a:tc>
                  <a:txBody>
                    <a:bodyPr/>
                    <a:lstStyle/>
                    <a:p>
                      <a:pPr>
                        <a:lnSpc>
                          <a:spcPct val="100000"/>
                        </a:lnSpc>
                      </a:pPr>
                      <a:r>
                        <a:rPr sz="1050" b="0">
                          <a:solidFill>
                            <a:srgbClr val="0F1A1C"/>
                          </a:solidFill>
                          <a:latin typeface="Calibri"/>
                        </a:rPr>
                        <a:t>3 discrete states</a:t>
                      </a:r>
                    </a:p>
                  </a:txBody>
                  <a:tcPr marL="64008" marR="64008" marT="18288" marB="18288" anchor="ctr">
                    <a:solidFill>
                      <a:srgbClr val="FFFFFF"/>
                    </a:solidFill>
                  </a:tcPr>
                </a:tc>
                <a:tc>
                  <a:txBody>
                    <a:bodyPr/>
                    <a:lstStyle/>
                    <a:p>
                      <a:pPr>
                        <a:lnSpc>
                          <a:spcPct val="100000"/>
                        </a:lnSpc>
                      </a:pPr>
                      <a:r>
                        <a:rPr sz="1050" b="0">
                          <a:solidFill>
                            <a:srgbClr val="0F1A1C"/>
                          </a:solidFill>
                          <a:latin typeface="Calibri"/>
                        </a:rPr>
                        <a:t>continuous −1 … +1</a:t>
                      </a:r>
                    </a:p>
                  </a:txBody>
                  <a:tcPr marL="64008" marR="64008" marT="18288" marB="18288" anchor="ctr">
                    <a:solidFill>
                      <a:srgbClr val="FFFFFF"/>
                    </a:solidFill>
                  </a:tcPr>
                </a:tc>
                <a:extLst>
                  <a:ext uri="{0D108BD9-81ED-4DB2-BD59-A6C34878D82A}">
                    <a16:rowId xmlns:a16="http://schemas.microsoft.com/office/drawing/2014/main" val="10001"/>
                  </a:ext>
                </a:extLst>
              </a:tr>
              <a:tr h="274320">
                <a:tc>
                  <a:txBody>
                    <a:bodyPr/>
                    <a:lstStyle/>
                    <a:p>
                      <a:pPr>
                        <a:lnSpc>
                          <a:spcPct val="100000"/>
                        </a:lnSpc>
                      </a:pPr>
                      <a:r>
                        <a:rPr sz="1050" b="0">
                          <a:solidFill>
                            <a:srgbClr val="0F1A1C"/>
                          </a:solidFill>
                          <a:latin typeface="Calibri"/>
                        </a:rPr>
                        <a:t>low differentiation</a:t>
                      </a:r>
                    </a:p>
                  </a:txBody>
                  <a:tcPr marL="64008" marR="64008" marT="18288" marB="18288" anchor="ctr">
                    <a:solidFill>
                      <a:srgbClr val="EEF2F2"/>
                    </a:solidFill>
                  </a:tcPr>
                </a:tc>
                <a:tc>
                  <a:txBody>
                    <a:bodyPr/>
                    <a:lstStyle/>
                    <a:p>
                      <a:pPr>
                        <a:lnSpc>
                          <a:spcPct val="100000"/>
                        </a:lnSpc>
                      </a:pPr>
                      <a:r>
                        <a:rPr sz="1050" b="0">
                          <a:solidFill>
                            <a:srgbClr val="0F1A1C"/>
                          </a:solidFill>
                          <a:latin typeface="Calibri"/>
                        </a:rPr>
                        <a:t>intensity is preserved</a:t>
                      </a:r>
                    </a:p>
                  </a:txBody>
                  <a:tcPr marL="64008" marR="64008" marT="18288" marB="18288" anchor="ctr">
                    <a:solidFill>
                      <a:srgbClr val="EEF2F2"/>
                    </a:solidFill>
                  </a:tcPr>
                </a:tc>
                <a:extLst>
                  <a:ext uri="{0D108BD9-81ED-4DB2-BD59-A6C34878D82A}">
                    <a16:rowId xmlns:a16="http://schemas.microsoft.com/office/drawing/2014/main" val="10002"/>
                  </a:ext>
                </a:extLst>
              </a:tr>
              <a:tr h="274320">
                <a:tc>
                  <a:txBody>
                    <a:bodyPr/>
                    <a:lstStyle/>
                    <a:p>
                      <a:pPr>
                        <a:lnSpc>
                          <a:spcPct val="100000"/>
                        </a:lnSpc>
                      </a:pPr>
                      <a:r>
                        <a:rPr sz="1050" b="0">
                          <a:solidFill>
                            <a:srgbClr val="0F1A1C"/>
                          </a:solidFill>
                          <a:latin typeface="Calibri"/>
                        </a:rPr>
                        <a:t>limited dashboard use</a:t>
                      </a:r>
                    </a:p>
                  </a:txBody>
                  <a:tcPr marL="64008" marR="64008" marT="18288" marB="18288" anchor="ctr">
                    <a:solidFill>
                      <a:srgbClr val="FFFFFF"/>
                    </a:solidFill>
                  </a:tcPr>
                </a:tc>
                <a:tc>
                  <a:txBody>
                    <a:bodyPr/>
                    <a:lstStyle/>
                    <a:p>
                      <a:pPr>
                        <a:lnSpc>
                          <a:spcPct val="100000"/>
                        </a:lnSpc>
                      </a:pPr>
                      <a:r>
                        <a:rPr sz="1050" b="0">
                          <a:solidFill>
                            <a:srgbClr val="0F1A1C"/>
                          </a:solidFill>
                          <a:latin typeface="Calibri"/>
                        </a:rPr>
                        <a:t>axis 1 of the Core Affect Map</a:t>
                      </a:r>
                    </a:p>
                  </a:txBody>
                  <a:tcPr marL="64008" marR="64008"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6534759" y="3794760"/>
            <a:ext cx="4651095" cy="1097280"/>
          </a:xfrm>
          <a:prstGeom prst="rect">
            <a:avLst/>
          </a:prstGeom>
          <a:noFill/>
        </p:spPr>
        <p:txBody>
          <a:bodyPr wrap="square" lIns="0" tIns="0" rIns="0" bIns="0">
            <a:spAutoFit/>
          </a:bodyPr>
          <a:lstStyle/>
          <a:p>
            <a:pPr>
              <a:lnSpc>
                <a:spcPct val="128000"/>
              </a:lnSpc>
              <a:spcBef>
                <a:spcPts val="0"/>
              </a:spcBef>
              <a:spcAft>
                <a:spcPts val="0"/>
              </a:spcAft>
            </a:pPr>
            <a:r>
              <a:rPr sz="1150" b="0" i="0">
                <a:solidFill>
                  <a:srgbClr val="0F1A1C"/>
                </a:solidFill>
                <a:latin typeface="Calibri"/>
              </a:rPr>
              <a:t>The valence distribution is polarised, not centred: mass at both ends, mean ≈ −0.24 in the exported sample. That matches the EDA finding that people who comment are the more critical subgroup.</a:t>
            </a:r>
          </a:p>
        </p:txBody>
      </p:sp>
      <p:sp>
        <p:nvSpPr>
          <p:cNvPr id="14" name="Rectangle 13"/>
          <p:cNvSpPr/>
          <p:nvPr/>
        </p:nvSpPr>
        <p:spPr>
          <a:xfrm>
            <a:off x="749808" y="4983480"/>
            <a:ext cx="10692079" cy="1143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749808" y="4983480"/>
            <a:ext cx="32004" cy="1143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1005840" y="5184648"/>
            <a:ext cx="10216591" cy="74066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8F6414"/>
                </a:solidFill>
                <a:latin typeface="Consolas"/>
              </a:rPr>
              <a:t>OPEN POINT</a:t>
            </a:r>
          </a:p>
          <a:p>
            <a:pPr>
              <a:lnSpc>
                <a:spcPct val="128000"/>
              </a:lnSpc>
              <a:spcBef>
                <a:spcPts val="0"/>
              </a:spcBef>
              <a:spcAft>
                <a:spcPts val="0"/>
              </a:spcAft>
            </a:pPr>
            <a:r>
              <a:rPr sz="1150" b="0" i="0">
                <a:solidFill>
                  <a:srgbClr val="0F1A1C"/>
                </a:solidFill>
                <a:latin typeface="Calibri"/>
              </a:rPr>
              <a:t>The model is trained on general German, not on survey language. Domain fit still needs a manual spot check against a hand-labelled sample of comments before the valence axis is treated as validated.</a:t>
            </a:r>
          </a:p>
        </p:txBody>
      </p:sp>
      <p:sp>
        <p:nvSpPr>
          <p:cNvPr id="17" name="TextBox 16"/>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15 / 21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APPENDIX A6</a:t>
            </a:r>
            <a:r>
              <a:rPr sz="1000">
                <a:solidFill>
                  <a:srgbClr val="8A9B9E"/>
                </a:solidFill>
                <a:latin typeface="Consolas"/>
              </a:rPr>
              <a:t>   ·   TOPIC LAYER — ITERATIONS</a:t>
            </a:r>
          </a:p>
        </p:txBody>
      </p:sp>
      <p:sp>
        <p:nvSpPr>
          <p:cNvPr id="4" name="TextBox 3"/>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a:solidFill>
                  <a:srgbClr val="0F1A1C"/>
                </a:solidFill>
                <a:latin typeface="Georgia"/>
              </a:rPr>
              <a:t>BERTopic: four representation experiments</a:t>
            </a: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5163159"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4687671" cy="188366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PIPELINE</a:t>
            </a:r>
          </a:p>
          <a:p>
            <a:pPr>
              <a:lnSpc>
                <a:spcPct val="118000"/>
              </a:lnSpc>
              <a:spcAft>
                <a:spcPts val="400"/>
              </a:spcAft>
            </a:pPr>
            <a:r>
              <a:rPr sz="1100">
                <a:solidFill>
                  <a:srgbClr val="14636E"/>
                </a:solidFill>
                <a:latin typeface="Calibri"/>
              </a:rPr>
              <a:t>▪  </a:t>
            </a:r>
            <a:r>
              <a:rPr sz="1100" b="1">
                <a:solidFill>
                  <a:srgbClr val="0F1A1C"/>
                </a:solidFill>
                <a:latin typeface="Calibri"/>
              </a:rPr>
              <a:t>Embeddings —  </a:t>
            </a:r>
            <a:r>
              <a:rPr sz="1100">
                <a:solidFill>
                  <a:srgbClr val="0F1A1C"/>
                </a:solidFill>
                <a:latin typeface="Calibri"/>
              </a:rPr>
              <a:t>paraphrase-multilingual-MiniLM-L12-v2</a:t>
            </a:r>
          </a:p>
          <a:p>
            <a:pPr>
              <a:lnSpc>
                <a:spcPct val="118000"/>
              </a:lnSpc>
              <a:spcAft>
                <a:spcPts val="400"/>
              </a:spcAft>
            </a:pPr>
            <a:r>
              <a:rPr sz="1100">
                <a:solidFill>
                  <a:srgbClr val="14636E"/>
                </a:solidFill>
                <a:latin typeface="Calibri"/>
              </a:rPr>
              <a:t>▪  </a:t>
            </a:r>
            <a:r>
              <a:rPr sz="1100" b="1">
                <a:solidFill>
                  <a:srgbClr val="0F1A1C"/>
                </a:solidFill>
                <a:latin typeface="Calibri"/>
              </a:rPr>
              <a:t>UMAP —  </a:t>
            </a:r>
            <a:r>
              <a:rPr sz="1100">
                <a:solidFill>
                  <a:srgbClr val="0F1A1C"/>
                </a:solidFill>
                <a:latin typeface="Calibri"/>
              </a:rPr>
              <a:t>dimensionality reduction, cosine metric, 5 components</a:t>
            </a:r>
          </a:p>
          <a:p>
            <a:pPr>
              <a:lnSpc>
                <a:spcPct val="118000"/>
              </a:lnSpc>
              <a:spcAft>
                <a:spcPts val="400"/>
              </a:spcAft>
            </a:pPr>
            <a:r>
              <a:rPr sz="1100">
                <a:solidFill>
                  <a:srgbClr val="14636E"/>
                </a:solidFill>
                <a:latin typeface="Calibri"/>
              </a:rPr>
              <a:t>▪  </a:t>
            </a:r>
            <a:r>
              <a:rPr sz="1100" b="1">
                <a:solidFill>
                  <a:srgbClr val="0F1A1C"/>
                </a:solidFill>
                <a:latin typeface="Calibri"/>
              </a:rPr>
              <a:t>HDBSCAN —  </a:t>
            </a:r>
            <a:r>
              <a:rPr sz="1100">
                <a:solidFill>
                  <a:srgbClr val="0F1A1C"/>
                </a:solidFill>
                <a:latin typeface="Calibri"/>
              </a:rPr>
              <a:t>density clustering, EOM cluster selection</a:t>
            </a:r>
          </a:p>
          <a:p>
            <a:pPr>
              <a:lnSpc>
                <a:spcPct val="118000"/>
              </a:lnSpc>
              <a:spcAft>
                <a:spcPts val="400"/>
              </a:spcAft>
            </a:pPr>
            <a:r>
              <a:rPr sz="1100">
                <a:solidFill>
                  <a:srgbClr val="14636E"/>
                </a:solidFill>
                <a:latin typeface="Calibri"/>
              </a:rPr>
              <a:t>▪  </a:t>
            </a:r>
            <a:r>
              <a:rPr sz="1100" b="1">
                <a:solidFill>
                  <a:srgbClr val="0F1A1C"/>
                </a:solidFill>
                <a:latin typeface="Calibri"/>
              </a:rPr>
              <a:t>c-TF-IDF + representation model —  </a:t>
            </a:r>
            <a:r>
              <a:rPr sz="1100">
                <a:solidFill>
                  <a:srgbClr val="0F1A1C"/>
                </a:solidFill>
                <a:latin typeface="Calibri"/>
              </a:rPr>
              <a:t>topic keyword extraction</a:t>
            </a:r>
          </a:p>
          <a:p>
            <a:pPr>
              <a:lnSpc>
                <a:spcPct val="118000"/>
              </a:lnSpc>
              <a:spcAft>
                <a:spcPts val="0"/>
              </a:spcAft>
            </a:pPr>
            <a:r>
              <a:rPr sz="1100">
                <a:solidFill>
                  <a:srgbClr val="14636E"/>
                </a:solidFill>
                <a:latin typeface="Calibri"/>
              </a:rPr>
              <a:t>▪  </a:t>
            </a:r>
            <a:r>
              <a:rPr sz="1100">
                <a:solidFill>
                  <a:srgbClr val="0F1A1C"/>
                </a:solidFill>
                <a:latin typeface="Calibri"/>
              </a:rPr>
              <a:t>fixed random_state = 42 throughout, so configurations stay comparable</a:t>
            </a:r>
          </a:p>
        </p:txBody>
      </p:sp>
      <p:sp>
        <p:nvSpPr>
          <p:cNvPr id="9" name="Rectangle 8"/>
          <p:cNvSpPr/>
          <p:nvPr/>
        </p:nvSpPr>
        <p:spPr>
          <a:xfrm>
            <a:off x="6278727" y="1874519"/>
            <a:ext cx="5163159"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6278727"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34759" y="2075688"/>
            <a:ext cx="4687671" cy="188366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WHAT WAS CHANGED, AND WHAT HAPPENED</a:t>
            </a:r>
          </a:p>
        </p:txBody>
      </p:sp>
      <p:graphicFrame>
        <p:nvGraphicFramePr>
          <p:cNvPr id="12" name="Table 11"/>
          <p:cNvGraphicFramePr>
            <a:graphicFrameLocks noGrp="1"/>
          </p:cNvGraphicFramePr>
          <p:nvPr/>
        </p:nvGraphicFramePr>
        <p:xfrm>
          <a:off x="6534759" y="2423160"/>
          <a:ext cx="4651094" cy="1371600"/>
        </p:xfrm>
        <a:graphic>
          <a:graphicData uri="http://schemas.openxmlformats.org/drawingml/2006/table">
            <a:tbl>
              <a:tblPr firstRow="1">
                <a:tableStyleId>{5C22544A-7EE6-4342-B048-85BDC9FD1C3A}</a:tableStyleId>
              </a:tblPr>
              <a:tblGrid>
                <a:gridCol w="3348788">
                  <a:extLst>
                    <a:ext uri="{9D8B030D-6E8A-4147-A177-3AD203B41FA5}">
                      <a16:colId xmlns:a16="http://schemas.microsoft.com/office/drawing/2014/main" val="20000"/>
                    </a:ext>
                  </a:extLst>
                </a:gridCol>
                <a:gridCol w="1302306">
                  <a:extLst>
                    <a:ext uri="{9D8B030D-6E8A-4147-A177-3AD203B41FA5}">
                      <a16:colId xmlns:a16="http://schemas.microsoft.com/office/drawing/2014/main" val="20001"/>
                    </a:ext>
                  </a:extLst>
                </a:gridCol>
              </a:tblGrid>
              <a:tr h="274320">
                <a:tc>
                  <a:txBody>
                    <a:bodyPr/>
                    <a:lstStyle/>
                    <a:p>
                      <a:pPr>
                        <a:lnSpc>
                          <a:spcPct val="100000"/>
                        </a:lnSpc>
                      </a:pPr>
                      <a:r>
                        <a:rPr sz="950" b="1">
                          <a:solidFill>
                            <a:srgbClr val="5A6B6E"/>
                          </a:solidFill>
                          <a:latin typeface="Consolas"/>
                        </a:rPr>
                        <a:t>Configuration</a:t>
                      </a:r>
                    </a:p>
                  </a:txBody>
                  <a:tcPr marL="64008" marR="64008" marT="18288" marB="18288" anchor="ctr">
                    <a:solidFill>
                      <a:srgbClr val="E2F0F1"/>
                    </a:solidFill>
                  </a:tcPr>
                </a:tc>
                <a:tc>
                  <a:txBody>
                    <a:bodyPr/>
                    <a:lstStyle/>
                    <a:p>
                      <a:pPr algn="r">
                        <a:lnSpc>
                          <a:spcPct val="100000"/>
                        </a:lnSpc>
                      </a:pPr>
                      <a:r>
                        <a:rPr sz="950" b="1">
                          <a:solidFill>
                            <a:srgbClr val="5A6B6E"/>
                          </a:solidFill>
                          <a:latin typeface="Consolas"/>
                        </a:rPr>
                        <a:t>Topics</a:t>
                      </a:r>
                    </a:p>
                  </a:txBody>
                  <a:tcPr marL="64008" marR="64008" marT="18288" marB="18288" anchor="ctr">
                    <a:solidFill>
                      <a:srgbClr val="E2F0F1"/>
                    </a:solidFill>
                  </a:tcPr>
                </a:tc>
                <a:extLst>
                  <a:ext uri="{0D108BD9-81ED-4DB2-BD59-A6C34878D82A}">
                    <a16:rowId xmlns:a16="http://schemas.microsoft.com/office/drawing/2014/main" val="10000"/>
                  </a:ext>
                </a:extLst>
              </a:tr>
              <a:tr h="274320">
                <a:tc>
                  <a:txBody>
                    <a:bodyPr/>
                    <a:lstStyle/>
                    <a:p>
                      <a:pPr>
                        <a:lnSpc>
                          <a:spcPct val="100000"/>
                        </a:lnSpc>
                      </a:pPr>
                      <a:r>
                        <a:rPr sz="1050" b="0">
                          <a:solidFill>
                            <a:srgbClr val="0F1A1C"/>
                          </a:solidFill>
                          <a:latin typeface="Calibri"/>
                        </a:rPr>
                        <a:t>Baseline BERTopic</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27</a:t>
                      </a:r>
                    </a:p>
                  </a:txBody>
                  <a:tcPr marL="64008" marR="64008" marT="18288" marB="18288" anchor="ctr">
                    <a:solidFill>
                      <a:srgbClr val="FFFFFF"/>
                    </a:solidFill>
                  </a:tcPr>
                </a:tc>
                <a:extLst>
                  <a:ext uri="{0D108BD9-81ED-4DB2-BD59-A6C34878D82A}">
                    <a16:rowId xmlns:a16="http://schemas.microsoft.com/office/drawing/2014/main" val="10001"/>
                  </a:ext>
                </a:extLst>
              </a:tr>
              <a:tr h="274320">
                <a:tc>
                  <a:txBody>
                    <a:bodyPr/>
                    <a:lstStyle/>
                    <a:p>
                      <a:pPr>
                        <a:lnSpc>
                          <a:spcPct val="100000"/>
                        </a:lnSpc>
                      </a:pPr>
                      <a:r>
                        <a:rPr sz="1050" b="0">
                          <a:solidFill>
                            <a:srgbClr val="0F1A1C"/>
                          </a:solidFill>
                          <a:latin typeface="Calibri"/>
                        </a:rPr>
                        <a:t>+ CountVectorizer, extended stopwords</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42</a:t>
                      </a:r>
                    </a:p>
                  </a:txBody>
                  <a:tcPr marL="64008" marR="64008" marT="18288" marB="18288" anchor="ctr">
                    <a:solidFill>
                      <a:srgbClr val="EEF2F2"/>
                    </a:solidFill>
                  </a:tcPr>
                </a:tc>
                <a:extLst>
                  <a:ext uri="{0D108BD9-81ED-4DB2-BD59-A6C34878D82A}">
                    <a16:rowId xmlns:a16="http://schemas.microsoft.com/office/drawing/2014/main" val="10002"/>
                  </a:ext>
                </a:extLst>
              </a:tr>
              <a:tr h="274320">
                <a:tc>
                  <a:txBody>
                    <a:bodyPr/>
                    <a:lstStyle/>
                    <a:p>
                      <a:pPr>
                        <a:lnSpc>
                          <a:spcPct val="100000"/>
                        </a:lnSpc>
                      </a:pPr>
                      <a:r>
                        <a:rPr sz="1050" b="0">
                          <a:solidFill>
                            <a:srgbClr val="0F1A1C"/>
                          </a:solidFill>
                          <a:latin typeface="Calibri"/>
                        </a:rPr>
                        <a:t>+ KeyBERTInspired representation</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38</a:t>
                      </a:r>
                    </a:p>
                  </a:txBody>
                  <a:tcPr marL="64008" marR="64008" marT="18288" marB="18288" anchor="ctr">
                    <a:solidFill>
                      <a:srgbClr val="FFFFFF"/>
                    </a:solidFill>
                  </a:tcPr>
                </a:tc>
                <a:extLst>
                  <a:ext uri="{0D108BD9-81ED-4DB2-BD59-A6C34878D82A}">
                    <a16:rowId xmlns:a16="http://schemas.microsoft.com/office/drawing/2014/main" val="10003"/>
                  </a:ext>
                </a:extLst>
              </a:tr>
              <a:tr h="274320">
                <a:tc>
                  <a:txBody>
                    <a:bodyPr/>
                    <a:lstStyle/>
                    <a:p>
                      <a:pPr>
                        <a:lnSpc>
                          <a:spcPct val="100000"/>
                        </a:lnSpc>
                      </a:pPr>
                      <a:r>
                        <a:rPr sz="1050" b="0">
                          <a:solidFill>
                            <a:srgbClr val="9A4037"/>
                          </a:solidFill>
                          <a:latin typeface="Calibri"/>
                        </a:rPr>
                        <a:t>+ BM25 weighting — rejected</a:t>
                      </a:r>
                    </a:p>
                  </a:txBody>
                  <a:tcPr marL="64008" marR="64008" marT="18288" marB="18288" anchor="ctr">
                    <a:solidFill>
                      <a:srgbClr val="EEF2F2"/>
                    </a:solidFill>
                  </a:tcPr>
                </a:tc>
                <a:tc>
                  <a:txBody>
                    <a:bodyPr/>
                    <a:lstStyle/>
                    <a:p>
                      <a:pPr algn="r">
                        <a:lnSpc>
                          <a:spcPct val="100000"/>
                        </a:lnSpc>
                      </a:pPr>
                      <a:r>
                        <a:rPr sz="1050" b="0">
                          <a:solidFill>
                            <a:srgbClr val="9A4037"/>
                          </a:solidFill>
                          <a:latin typeface="Calibri"/>
                        </a:rPr>
                        <a:t>collapsed</a:t>
                      </a:r>
                    </a:p>
                  </a:txBody>
                  <a:tcPr marL="64008" marR="64008" marT="18288" marB="18288" anchor="ctr">
                    <a:solidFill>
                      <a:srgbClr val="EEF2F2"/>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749808" y="4434840"/>
            <a:ext cx="10692079" cy="173736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Rectangle 13"/>
          <p:cNvSpPr/>
          <p:nvPr/>
        </p:nvSpPr>
        <p:spPr>
          <a:xfrm>
            <a:off x="749808" y="4434840"/>
            <a:ext cx="32004" cy="17373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1005840" y="4636007"/>
            <a:ext cx="10216591" cy="133502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READING THE EXPERIMENTS</a:t>
            </a:r>
          </a:p>
          <a:p>
            <a:pPr>
              <a:lnSpc>
                <a:spcPct val="118000"/>
              </a:lnSpc>
              <a:spcAft>
                <a:spcPts val="400"/>
              </a:spcAft>
            </a:pPr>
            <a:r>
              <a:rPr sz="1100">
                <a:solidFill>
                  <a:srgbClr val="14636E"/>
                </a:solidFill>
                <a:latin typeface="Calibri"/>
              </a:rPr>
              <a:t>▪  </a:t>
            </a:r>
            <a:r>
              <a:rPr sz="1100" b="1">
                <a:solidFill>
                  <a:srgbClr val="0F1A1C"/>
                </a:solidFill>
                <a:latin typeface="Calibri"/>
              </a:rPr>
              <a:t>Stopwords —  </a:t>
            </a:r>
            <a:r>
              <a:rPr sz="1100">
                <a:solidFill>
                  <a:srgbClr val="0F1A1C"/>
                </a:solidFill>
                <a:latin typeface="Calibri"/>
              </a:rPr>
              <a:t>Survey boilerplate (“diskutiert”, “Kontext”, “wird”) dominated the keyword lists. An extended German + survey-specific stopword list, refined over several passes, mattered most for readability.</a:t>
            </a:r>
          </a:p>
          <a:p>
            <a:pPr>
              <a:lnSpc>
                <a:spcPct val="118000"/>
              </a:lnSpc>
              <a:spcAft>
                <a:spcPts val="400"/>
              </a:spcAft>
            </a:pPr>
            <a:r>
              <a:rPr sz="1100">
                <a:solidFill>
                  <a:srgbClr val="14636E"/>
                </a:solidFill>
                <a:latin typeface="Calibri"/>
              </a:rPr>
              <a:t>▪  </a:t>
            </a:r>
            <a:r>
              <a:rPr sz="1100" b="1">
                <a:solidFill>
                  <a:srgbClr val="0F1A1C"/>
                </a:solidFill>
                <a:latin typeface="Calibri"/>
              </a:rPr>
              <a:t>KeyBERTInspired —  </a:t>
            </a:r>
            <a:r>
              <a:rPr sz="1100">
                <a:solidFill>
                  <a:srgbClr val="0F1A1C"/>
                </a:solidFill>
                <a:latin typeface="Calibri"/>
              </a:rPr>
              <a:t>re-ranks candidate keywords by embedding similarity to the topic instead of raw frequency — noticeably more interpretable labels.</a:t>
            </a:r>
          </a:p>
          <a:p>
            <a:pPr>
              <a:lnSpc>
                <a:spcPct val="118000"/>
              </a:lnSpc>
              <a:spcAft>
                <a:spcPts val="0"/>
              </a:spcAft>
            </a:pPr>
            <a:r>
              <a:rPr sz="1100">
                <a:solidFill>
                  <a:srgbClr val="14636E"/>
                </a:solidFill>
                <a:latin typeface="Calibri"/>
              </a:rPr>
              <a:t>▪  </a:t>
            </a:r>
            <a:r>
              <a:rPr sz="1100" b="1">
                <a:solidFill>
                  <a:srgbClr val="0F1A1C"/>
                </a:solidFill>
                <a:latin typeface="Calibri"/>
              </a:rPr>
              <a:t>BM25 —  </a:t>
            </a:r>
            <a:r>
              <a:rPr sz="1100">
                <a:solidFill>
                  <a:srgbClr val="0F1A1C"/>
                </a:solidFill>
                <a:latin typeface="Calibri"/>
              </a:rPr>
              <a:t>expected to sharpen topic-specific terms; instead nearly all comments collapsed into one dominant topic with a few small satellites. Dropped, and documented as a negative result.</a:t>
            </a:r>
          </a:p>
        </p:txBody>
      </p:sp>
      <p:sp>
        <p:nvSpPr>
          <p:cNvPr id="16" name="TextBox 15"/>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16 / 21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APPENDIX A7</a:t>
            </a:r>
            <a:r>
              <a:rPr sz="1000">
                <a:solidFill>
                  <a:srgbClr val="8A9B9E"/>
                </a:solidFill>
                <a:latin typeface="Consolas"/>
              </a:rPr>
              <a:t>   ·   TOPIC LAYER — HYPERPARAMETERS</a:t>
            </a:r>
          </a:p>
        </p:txBody>
      </p:sp>
      <p:sp>
        <p:nvSpPr>
          <p:cNvPr id="4" name="TextBox 3"/>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a:solidFill>
                  <a:srgbClr val="0F1A1C"/>
                </a:solidFill>
                <a:latin typeface="Georgia"/>
              </a:rPr>
              <a:t>Two grid searches: clustering, then projection</a:t>
            </a: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5163159" cy="36576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9"/>
            <a:ext cx="32004" cy="36576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4687671" cy="325526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STEP 1 — HDBSCAN MIN_CLUSTER_SIZE</a:t>
            </a:r>
          </a:p>
          <a:p>
            <a:pPr>
              <a:lnSpc>
                <a:spcPct val="120000"/>
              </a:lnSpc>
              <a:spcBef>
                <a:spcPts val="0"/>
              </a:spcBef>
              <a:spcAft>
                <a:spcPts val="600"/>
              </a:spcAft>
            </a:pPr>
            <a:r>
              <a:rPr sz="950" b="0" i="0">
                <a:solidFill>
                  <a:srgbClr val="8A9B9E"/>
                </a:solidFill>
                <a:latin typeface="Consolas"/>
              </a:rPr>
              <a:t>5 CONFIGURATIONS · SYNTHETIC DATA, N = 5,000</a:t>
            </a:r>
          </a:p>
        </p:txBody>
      </p:sp>
      <p:graphicFrame>
        <p:nvGraphicFramePr>
          <p:cNvPr id="9" name="Table 8"/>
          <p:cNvGraphicFramePr>
            <a:graphicFrameLocks noGrp="1"/>
          </p:cNvGraphicFramePr>
          <p:nvPr/>
        </p:nvGraphicFramePr>
        <p:xfrm>
          <a:off x="1005840" y="2743200"/>
          <a:ext cx="4651094" cy="1554480"/>
        </p:xfrm>
        <a:graphic>
          <a:graphicData uri="http://schemas.openxmlformats.org/drawingml/2006/table">
            <a:tbl>
              <a:tblPr firstRow="1">
                <a:tableStyleId>{5C22544A-7EE6-4342-B048-85BDC9FD1C3A}</a:tableStyleId>
              </a:tblPr>
              <a:tblGrid>
                <a:gridCol w="1581372">
                  <a:extLst>
                    <a:ext uri="{9D8B030D-6E8A-4147-A177-3AD203B41FA5}">
                      <a16:colId xmlns:a16="http://schemas.microsoft.com/office/drawing/2014/main" val="20000"/>
                    </a:ext>
                  </a:extLst>
                </a:gridCol>
                <a:gridCol w="930219">
                  <a:extLst>
                    <a:ext uri="{9D8B030D-6E8A-4147-A177-3AD203B41FA5}">
                      <a16:colId xmlns:a16="http://schemas.microsoft.com/office/drawing/2014/main" val="20001"/>
                    </a:ext>
                  </a:extLst>
                </a:gridCol>
                <a:gridCol w="1116262">
                  <a:extLst>
                    <a:ext uri="{9D8B030D-6E8A-4147-A177-3AD203B41FA5}">
                      <a16:colId xmlns:a16="http://schemas.microsoft.com/office/drawing/2014/main" val="20002"/>
                    </a:ext>
                  </a:extLst>
                </a:gridCol>
                <a:gridCol w="1023241">
                  <a:extLst>
                    <a:ext uri="{9D8B030D-6E8A-4147-A177-3AD203B41FA5}">
                      <a16:colId xmlns:a16="http://schemas.microsoft.com/office/drawing/2014/main" val="20003"/>
                    </a:ext>
                  </a:extLst>
                </a:gridCol>
              </a:tblGrid>
              <a:tr h="274320">
                <a:tc>
                  <a:txBody>
                    <a:bodyPr/>
                    <a:lstStyle/>
                    <a:p>
                      <a:pPr>
                        <a:lnSpc>
                          <a:spcPct val="100000"/>
                        </a:lnSpc>
                      </a:pPr>
                      <a:r>
                        <a:rPr sz="950" b="1">
                          <a:solidFill>
                            <a:srgbClr val="5A6B6E"/>
                          </a:solidFill>
                          <a:latin typeface="Consolas"/>
                        </a:rPr>
                        <a:t>min_cluster_size</a:t>
                      </a:r>
                    </a:p>
                  </a:txBody>
                  <a:tcPr marL="64008" marR="64008" marT="18288" marB="18288" anchor="ctr">
                    <a:solidFill>
                      <a:srgbClr val="E2F0F1"/>
                    </a:solidFill>
                  </a:tcPr>
                </a:tc>
                <a:tc>
                  <a:txBody>
                    <a:bodyPr/>
                    <a:lstStyle/>
                    <a:p>
                      <a:pPr algn="r">
                        <a:lnSpc>
                          <a:spcPct val="100000"/>
                        </a:lnSpc>
                      </a:pPr>
                      <a:r>
                        <a:rPr sz="950" b="1">
                          <a:solidFill>
                            <a:srgbClr val="5A6B6E"/>
                          </a:solidFill>
                          <a:latin typeface="Consolas"/>
                        </a:rPr>
                        <a:t>Topics</a:t>
                      </a:r>
                    </a:p>
                  </a:txBody>
                  <a:tcPr marL="64008" marR="64008" marT="18288" marB="18288" anchor="ctr">
                    <a:solidFill>
                      <a:srgbClr val="E2F0F1"/>
                    </a:solidFill>
                  </a:tcPr>
                </a:tc>
                <a:tc>
                  <a:txBody>
                    <a:bodyPr/>
                    <a:lstStyle/>
                    <a:p>
                      <a:pPr algn="r">
                        <a:lnSpc>
                          <a:spcPct val="100000"/>
                        </a:lnSpc>
                      </a:pPr>
                      <a:r>
                        <a:rPr sz="950" b="1">
                          <a:solidFill>
                            <a:srgbClr val="5A6B6E"/>
                          </a:solidFill>
                          <a:latin typeface="Consolas"/>
                        </a:rPr>
                        <a:t>Outliers</a:t>
                      </a:r>
                    </a:p>
                  </a:txBody>
                  <a:tcPr marL="64008" marR="64008" marT="18288" marB="18288" anchor="ctr">
                    <a:solidFill>
                      <a:srgbClr val="E2F0F1"/>
                    </a:solidFill>
                  </a:tcPr>
                </a:tc>
                <a:tc>
                  <a:txBody>
                    <a:bodyPr/>
                    <a:lstStyle/>
                    <a:p>
                      <a:pPr algn="r">
                        <a:lnSpc>
                          <a:spcPct val="100000"/>
                        </a:lnSpc>
                      </a:pPr>
                      <a:r>
                        <a:rPr sz="950" b="1">
                          <a:solidFill>
                            <a:srgbClr val="5A6B6E"/>
                          </a:solidFill>
                          <a:latin typeface="Consolas"/>
                        </a:rPr>
                        <a:t>Rate</a:t>
                      </a:r>
                    </a:p>
                  </a:txBody>
                  <a:tcPr marL="64008" marR="64008" marT="18288" marB="18288" anchor="ctr">
                    <a:solidFill>
                      <a:srgbClr val="E2F0F1"/>
                    </a:solidFill>
                  </a:tcPr>
                </a:tc>
                <a:extLst>
                  <a:ext uri="{0D108BD9-81ED-4DB2-BD59-A6C34878D82A}">
                    <a16:rowId xmlns:a16="http://schemas.microsoft.com/office/drawing/2014/main" val="10000"/>
                  </a:ext>
                </a:extLst>
              </a:tr>
              <a:tr h="256032">
                <a:tc>
                  <a:txBody>
                    <a:bodyPr/>
                    <a:lstStyle/>
                    <a:p>
                      <a:pPr>
                        <a:lnSpc>
                          <a:spcPct val="100000"/>
                        </a:lnSpc>
                      </a:pPr>
                      <a:r>
                        <a:rPr sz="1050" b="1">
                          <a:solidFill>
                            <a:srgbClr val="14636E"/>
                          </a:solidFill>
                          <a:latin typeface="Calibri"/>
                        </a:rPr>
                        <a:t>5</a:t>
                      </a:r>
                    </a:p>
                  </a:txBody>
                  <a:tcPr marL="64008" marR="64008" marT="18288" marB="18288" anchor="ctr">
                    <a:solidFill>
                      <a:srgbClr val="FFFFFF"/>
                    </a:solidFill>
                  </a:tcPr>
                </a:tc>
                <a:tc>
                  <a:txBody>
                    <a:bodyPr/>
                    <a:lstStyle/>
                    <a:p>
                      <a:pPr algn="r">
                        <a:lnSpc>
                          <a:spcPct val="100000"/>
                        </a:lnSpc>
                      </a:pPr>
                      <a:r>
                        <a:rPr sz="1050" b="1">
                          <a:solidFill>
                            <a:srgbClr val="14636E"/>
                          </a:solidFill>
                          <a:latin typeface="Calibri"/>
                        </a:rPr>
                        <a:t>208</a:t>
                      </a:r>
                    </a:p>
                  </a:txBody>
                  <a:tcPr marL="64008" marR="64008" marT="18288" marB="18288" anchor="ctr">
                    <a:solidFill>
                      <a:srgbClr val="FFFFFF"/>
                    </a:solidFill>
                  </a:tcPr>
                </a:tc>
                <a:tc>
                  <a:txBody>
                    <a:bodyPr/>
                    <a:lstStyle/>
                    <a:p>
                      <a:pPr algn="r">
                        <a:lnSpc>
                          <a:spcPct val="100000"/>
                        </a:lnSpc>
                      </a:pPr>
                      <a:r>
                        <a:rPr sz="1050" b="1">
                          <a:solidFill>
                            <a:srgbClr val="14636E"/>
                          </a:solidFill>
                          <a:latin typeface="Calibri"/>
                        </a:rPr>
                        <a:t>1,045</a:t>
                      </a:r>
                    </a:p>
                  </a:txBody>
                  <a:tcPr marL="64008" marR="64008" marT="18288" marB="18288" anchor="ctr">
                    <a:solidFill>
                      <a:srgbClr val="FFFFFF"/>
                    </a:solidFill>
                  </a:tcPr>
                </a:tc>
                <a:tc>
                  <a:txBody>
                    <a:bodyPr/>
                    <a:lstStyle/>
                    <a:p>
                      <a:pPr algn="r">
                        <a:lnSpc>
                          <a:spcPct val="100000"/>
                        </a:lnSpc>
                      </a:pPr>
                      <a:r>
                        <a:rPr sz="1050" b="1">
                          <a:solidFill>
                            <a:srgbClr val="14636E"/>
                          </a:solidFill>
                          <a:latin typeface="Calibri"/>
                        </a:rPr>
                        <a:t>20.9 %</a:t>
                      </a:r>
                    </a:p>
                  </a:txBody>
                  <a:tcPr marL="64008" marR="64008" marT="18288" marB="18288" anchor="ctr">
                    <a:solidFill>
                      <a:srgbClr val="FFFFFF"/>
                    </a:solidFill>
                  </a:tcPr>
                </a:tc>
                <a:extLst>
                  <a:ext uri="{0D108BD9-81ED-4DB2-BD59-A6C34878D82A}">
                    <a16:rowId xmlns:a16="http://schemas.microsoft.com/office/drawing/2014/main" val="10001"/>
                  </a:ext>
                </a:extLst>
              </a:tr>
              <a:tr h="256032">
                <a:tc>
                  <a:txBody>
                    <a:bodyPr/>
                    <a:lstStyle/>
                    <a:p>
                      <a:pPr>
                        <a:lnSpc>
                          <a:spcPct val="100000"/>
                        </a:lnSpc>
                      </a:pPr>
                      <a:r>
                        <a:rPr sz="1050" b="0">
                          <a:solidFill>
                            <a:srgbClr val="0F1A1C"/>
                          </a:solidFill>
                          <a:latin typeface="Calibri"/>
                        </a:rPr>
                        <a:t>10</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101</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878</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17.6 %</a:t>
                      </a:r>
                    </a:p>
                  </a:txBody>
                  <a:tcPr marL="64008" marR="64008" marT="18288" marB="18288" anchor="ctr">
                    <a:solidFill>
                      <a:srgbClr val="EEF2F2"/>
                    </a:solidFill>
                  </a:tcPr>
                </a:tc>
                <a:extLst>
                  <a:ext uri="{0D108BD9-81ED-4DB2-BD59-A6C34878D82A}">
                    <a16:rowId xmlns:a16="http://schemas.microsoft.com/office/drawing/2014/main" val="10002"/>
                  </a:ext>
                </a:extLst>
              </a:tr>
              <a:tr h="256032">
                <a:tc>
                  <a:txBody>
                    <a:bodyPr/>
                    <a:lstStyle/>
                    <a:p>
                      <a:pPr>
                        <a:lnSpc>
                          <a:spcPct val="100000"/>
                        </a:lnSpc>
                      </a:pPr>
                      <a:r>
                        <a:rPr sz="1050" b="0">
                          <a:solidFill>
                            <a:srgbClr val="0F1A1C"/>
                          </a:solidFill>
                          <a:latin typeface="Calibri"/>
                        </a:rPr>
                        <a:t>15</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68</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863</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17.3 %</a:t>
                      </a:r>
                    </a:p>
                  </a:txBody>
                  <a:tcPr marL="64008" marR="64008" marT="18288" marB="18288" anchor="ctr">
                    <a:solidFill>
                      <a:srgbClr val="FFFFFF"/>
                    </a:solidFill>
                  </a:tcPr>
                </a:tc>
                <a:extLst>
                  <a:ext uri="{0D108BD9-81ED-4DB2-BD59-A6C34878D82A}">
                    <a16:rowId xmlns:a16="http://schemas.microsoft.com/office/drawing/2014/main" val="10003"/>
                  </a:ext>
                </a:extLst>
              </a:tr>
              <a:tr h="256032">
                <a:tc>
                  <a:txBody>
                    <a:bodyPr/>
                    <a:lstStyle/>
                    <a:p>
                      <a:pPr>
                        <a:lnSpc>
                          <a:spcPct val="100000"/>
                        </a:lnSpc>
                      </a:pPr>
                      <a:r>
                        <a:rPr sz="1050" b="0">
                          <a:solidFill>
                            <a:srgbClr val="0F1A1C"/>
                          </a:solidFill>
                          <a:latin typeface="Calibri"/>
                        </a:rPr>
                        <a:t>20</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37</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556</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11.1 %</a:t>
                      </a:r>
                    </a:p>
                  </a:txBody>
                  <a:tcPr marL="64008" marR="64008" marT="18288" marB="18288" anchor="ctr">
                    <a:solidFill>
                      <a:srgbClr val="EEF2F2"/>
                    </a:solidFill>
                  </a:tcPr>
                </a:tc>
                <a:extLst>
                  <a:ext uri="{0D108BD9-81ED-4DB2-BD59-A6C34878D82A}">
                    <a16:rowId xmlns:a16="http://schemas.microsoft.com/office/drawing/2014/main" val="10004"/>
                  </a:ext>
                </a:extLst>
              </a:tr>
              <a:tr h="256032">
                <a:tc>
                  <a:txBody>
                    <a:bodyPr/>
                    <a:lstStyle/>
                    <a:p>
                      <a:pPr>
                        <a:lnSpc>
                          <a:spcPct val="100000"/>
                        </a:lnSpc>
                      </a:pPr>
                      <a:r>
                        <a:rPr sz="1050" b="0">
                          <a:solidFill>
                            <a:srgbClr val="0F1A1C"/>
                          </a:solidFill>
                          <a:latin typeface="Calibri"/>
                        </a:rPr>
                        <a:t>25</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22</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108</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2.2 %</a:t>
                      </a:r>
                    </a:p>
                  </a:txBody>
                  <a:tcPr marL="64008" marR="64008" marT="18288" marB="18288" anchor="ctr">
                    <a:solidFill>
                      <a:srgbClr val="FFFFFF"/>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1005840" y="4480560"/>
            <a:ext cx="4651095" cy="1188720"/>
          </a:xfrm>
          <a:prstGeom prst="rect">
            <a:avLst/>
          </a:prstGeom>
          <a:noFill/>
        </p:spPr>
        <p:txBody>
          <a:bodyPr wrap="square" lIns="0" tIns="0" rIns="0" bIns="0">
            <a:spAutoFit/>
          </a:bodyPr>
          <a:lstStyle/>
          <a:p>
            <a:pPr>
              <a:lnSpc>
                <a:spcPct val="125000"/>
              </a:lnSpc>
              <a:spcBef>
                <a:spcPts val="0"/>
              </a:spcBef>
              <a:spcAft>
                <a:spcPts val="0"/>
              </a:spcAft>
            </a:pPr>
            <a:r>
              <a:rPr sz="1100" b="0" i="0">
                <a:solidFill>
                  <a:srgbClr val="0F1A1C"/>
                </a:solidFill>
                <a:latin typeface="Calibri"/>
              </a:rPr>
              <a:t>Clear trade-off: larger minimum clusters crush the outlier rate but also crush granularity — 22 topics for 5,000 comments says almost nothing. min_cluster_size = 5 was carried forward to keep a differentiated structure, with the outlier rate to be addressed by the projection step instead.</a:t>
            </a:r>
          </a:p>
        </p:txBody>
      </p:sp>
      <p:sp>
        <p:nvSpPr>
          <p:cNvPr id="11" name="Rectangle 10"/>
          <p:cNvSpPr/>
          <p:nvPr/>
        </p:nvSpPr>
        <p:spPr>
          <a:xfrm>
            <a:off x="6278727" y="1874519"/>
            <a:ext cx="5163159" cy="36576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Rectangle 11"/>
          <p:cNvSpPr/>
          <p:nvPr/>
        </p:nvSpPr>
        <p:spPr>
          <a:xfrm>
            <a:off x="6278727" y="1874519"/>
            <a:ext cx="32004" cy="36576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TextBox 12"/>
          <p:cNvSpPr txBox="1"/>
          <p:nvPr/>
        </p:nvSpPr>
        <p:spPr>
          <a:xfrm>
            <a:off x="6534759" y="2075688"/>
            <a:ext cx="4687671" cy="325526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STEP 2 — UMAP N_NEIGHBORS × MIN_DIST</a:t>
            </a:r>
          </a:p>
          <a:p>
            <a:pPr>
              <a:lnSpc>
                <a:spcPct val="120000"/>
              </a:lnSpc>
              <a:spcBef>
                <a:spcPts val="0"/>
              </a:spcBef>
              <a:spcAft>
                <a:spcPts val="600"/>
              </a:spcAft>
            </a:pPr>
            <a:r>
              <a:rPr sz="950" b="0" i="0">
                <a:solidFill>
                  <a:srgbClr val="8A9B9E"/>
                </a:solidFill>
                <a:latin typeface="Consolas"/>
              </a:rPr>
              <a:t>9 COMBINATIONS · MIN_CLUSTER_SIZE FIXED AT 5</a:t>
            </a:r>
          </a:p>
        </p:txBody>
      </p:sp>
      <p:graphicFrame>
        <p:nvGraphicFramePr>
          <p:cNvPr id="14" name="Table 13"/>
          <p:cNvGraphicFramePr>
            <a:graphicFrameLocks noGrp="1"/>
          </p:cNvGraphicFramePr>
          <p:nvPr/>
        </p:nvGraphicFramePr>
        <p:xfrm>
          <a:off x="6534759" y="2743200"/>
          <a:ext cx="4651094" cy="1810512"/>
        </p:xfrm>
        <a:graphic>
          <a:graphicData uri="http://schemas.openxmlformats.org/drawingml/2006/table">
            <a:tbl>
              <a:tblPr firstRow="1">
                <a:tableStyleId>{5C22544A-7EE6-4342-B048-85BDC9FD1C3A}</a:tableStyleId>
              </a:tblPr>
              <a:tblGrid>
                <a:gridCol w="1302306">
                  <a:extLst>
                    <a:ext uri="{9D8B030D-6E8A-4147-A177-3AD203B41FA5}">
                      <a16:colId xmlns:a16="http://schemas.microsoft.com/office/drawing/2014/main" val="20000"/>
                    </a:ext>
                  </a:extLst>
                </a:gridCol>
                <a:gridCol w="1023241">
                  <a:extLst>
                    <a:ext uri="{9D8B030D-6E8A-4147-A177-3AD203B41FA5}">
                      <a16:colId xmlns:a16="http://schemas.microsoft.com/office/drawing/2014/main" val="20001"/>
                    </a:ext>
                  </a:extLst>
                </a:gridCol>
                <a:gridCol w="930219">
                  <a:extLst>
                    <a:ext uri="{9D8B030D-6E8A-4147-A177-3AD203B41FA5}">
                      <a16:colId xmlns:a16="http://schemas.microsoft.com/office/drawing/2014/main" val="20002"/>
                    </a:ext>
                  </a:extLst>
                </a:gridCol>
                <a:gridCol w="1395328">
                  <a:extLst>
                    <a:ext uri="{9D8B030D-6E8A-4147-A177-3AD203B41FA5}">
                      <a16:colId xmlns:a16="http://schemas.microsoft.com/office/drawing/2014/main" val="20003"/>
                    </a:ext>
                  </a:extLst>
                </a:gridCol>
              </a:tblGrid>
              <a:tr h="274320">
                <a:tc>
                  <a:txBody>
                    <a:bodyPr/>
                    <a:lstStyle/>
                    <a:p>
                      <a:pPr>
                        <a:lnSpc>
                          <a:spcPct val="100000"/>
                        </a:lnSpc>
                      </a:pPr>
                      <a:r>
                        <a:rPr sz="950" b="1">
                          <a:solidFill>
                            <a:srgbClr val="5A6B6E"/>
                          </a:solidFill>
                          <a:latin typeface="Consolas"/>
                        </a:rPr>
                        <a:t>n_neighbors</a:t>
                      </a:r>
                    </a:p>
                  </a:txBody>
                  <a:tcPr marL="64008" marR="64008" marT="18288" marB="18288" anchor="ctr">
                    <a:solidFill>
                      <a:srgbClr val="E2F0F1"/>
                    </a:solidFill>
                  </a:tcPr>
                </a:tc>
                <a:tc>
                  <a:txBody>
                    <a:bodyPr/>
                    <a:lstStyle/>
                    <a:p>
                      <a:pPr algn="r">
                        <a:lnSpc>
                          <a:spcPct val="100000"/>
                        </a:lnSpc>
                      </a:pPr>
                      <a:r>
                        <a:rPr sz="950" b="1">
                          <a:solidFill>
                            <a:srgbClr val="5A6B6E"/>
                          </a:solidFill>
                          <a:latin typeface="Consolas"/>
                        </a:rPr>
                        <a:t>min_dist</a:t>
                      </a:r>
                    </a:p>
                  </a:txBody>
                  <a:tcPr marL="64008" marR="64008" marT="18288" marB="18288" anchor="ctr">
                    <a:solidFill>
                      <a:srgbClr val="E2F0F1"/>
                    </a:solidFill>
                  </a:tcPr>
                </a:tc>
                <a:tc>
                  <a:txBody>
                    <a:bodyPr/>
                    <a:lstStyle/>
                    <a:p>
                      <a:pPr algn="r">
                        <a:lnSpc>
                          <a:spcPct val="100000"/>
                        </a:lnSpc>
                      </a:pPr>
                      <a:r>
                        <a:rPr sz="950" b="1">
                          <a:solidFill>
                            <a:srgbClr val="5A6B6E"/>
                          </a:solidFill>
                          <a:latin typeface="Consolas"/>
                        </a:rPr>
                        <a:t>Topics</a:t>
                      </a:r>
                    </a:p>
                  </a:txBody>
                  <a:tcPr marL="64008" marR="64008" marT="18288" marB="18288" anchor="ctr">
                    <a:solidFill>
                      <a:srgbClr val="E2F0F1"/>
                    </a:solidFill>
                  </a:tcPr>
                </a:tc>
                <a:tc>
                  <a:txBody>
                    <a:bodyPr/>
                    <a:lstStyle/>
                    <a:p>
                      <a:pPr algn="r">
                        <a:lnSpc>
                          <a:spcPct val="100000"/>
                        </a:lnSpc>
                      </a:pPr>
                      <a:r>
                        <a:rPr sz="950" b="1">
                          <a:solidFill>
                            <a:srgbClr val="5A6B6E"/>
                          </a:solidFill>
                          <a:latin typeface="Consolas"/>
                        </a:rPr>
                        <a:t>Outlier rate</a:t>
                      </a:r>
                    </a:p>
                  </a:txBody>
                  <a:tcPr marL="64008" marR="64008" marT="18288" marB="18288" anchor="ctr">
                    <a:solidFill>
                      <a:srgbClr val="E2F0F1"/>
                    </a:solidFill>
                  </a:tcPr>
                </a:tc>
                <a:extLst>
                  <a:ext uri="{0D108BD9-81ED-4DB2-BD59-A6C34878D82A}">
                    <a16:rowId xmlns:a16="http://schemas.microsoft.com/office/drawing/2014/main" val="10000"/>
                  </a:ext>
                </a:extLst>
              </a:tr>
              <a:tr h="256032">
                <a:tc>
                  <a:txBody>
                    <a:bodyPr/>
                    <a:lstStyle/>
                    <a:p>
                      <a:pPr>
                        <a:lnSpc>
                          <a:spcPct val="100000"/>
                        </a:lnSpc>
                      </a:pPr>
                      <a:r>
                        <a:rPr sz="1050" b="0">
                          <a:solidFill>
                            <a:srgbClr val="0F1A1C"/>
                          </a:solidFill>
                          <a:latin typeface="Calibri"/>
                        </a:rPr>
                        <a:t>15</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0.3</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14</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0.4 %</a:t>
                      </a:r>
                    </a:p>
                  </a:txBody>
                  <a:tcPr marL="64008" marR="64008" marT="18288" marB="18288" anchor="ctr">
                    <a:solidFill>
                      <a:srgbClr val="FFFFFF"/>
                    </a:solidFill>
                  </a:tcPr>
                </a:tc>
                <a:extLst>
                  <a:ext uri="{0D108BD9-81ED-4DB2-BD59-A6C34878D82A}">
                    <a16:rowId xmlns:a16="http://schemas.microsoft.com/office/drawing/2014/main" val="10001"/>
                  </a:ext>
                </a:extLst>
              </a:tr>
              <a:tr h="256032">
                <a:tc>
                  <a:txBody>
                    <a:bodyPr/>
                    <a:lstStyle/>
                    <a:p>
                      <a:pPr>
                        <a:lnSpc>
                          <a:spcPct val="100000"/>
                        </a:lnSpc>
                      </a:pPr>
                      <a:r>
                        <a:rPr sz="1050" b="0">
                          <a:solidFill>
                            <a:srgbClr val="0F1A1C"/>
                          </a:solidFill>
                          <a:latin typeface="Calibri"/>
                        </a:rPr>
                        <a:t>30</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0.3</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16</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0.8 %</a:t>
                      </a:r>
                    </a:p>
                  </a:txBody>
                  <a:tcPr marL="64008" marR="64008" marT="18288" marB="18288" anchor="ctr">
                    <a:solidFill>
                      <a:srgbClr val="EEF2F2"/>
                    </a:solidFill>
                  </a:tcPr>
                </a:tc>
                <a:extLst>
                  <a:ext uri="{0D108BD9-81ED-4DB2-BD59-A6C34878D82A}">
                    <a16:rowId xmlns:a16="http://schemas.microsoft.com/office/drawing/2014/main" val="10002"/>
                  </a:ext>
                </a:extLst>
              </a:tr>
              <a:tr h="256032">
                <a:tc>
                  <a:txBody>
                    <a:bodyPr/>
                    <a:lstStyle/>
                    <a:p>
                      <a:pPr>
                        <a:lnSpc>
                          <a:spcPct val="100000"/>
                        </a:lnSpc>
                      </a:pPr>
                      <a:r>
                        <a:rPr sz="1050" b="0">
                          <a:solidFill>
                            <a:srgbClr val="0F1A1C"/>
                          </a:solidFill>
                          <a:latin typeface="Calibri"/>
                        </a:rPr>
                        <a:t>5</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0.3</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95</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10.6 %</a:t>
                      </a:r>
                    </a:p>
                  </a:txBody>
                  <a:tcPr marL="64008" marR="64008" marT="18288" marB="18288" anchor="ctr">
                    <a:solidFill>
                      <a:srgbClr val="FFFFFF"/>
                    </a:solidFill>
                  </a:tcPr>
                </a:tc>
                <a:extLst>
                  <a:ext uri="{0D108BD9-81ED-4DB2-BD59-A6C34878D82A}">
                    <a16:rowId xmlns:a16="http://schemas.microsoft.com/office/drawing/2014/main" val="10003"/>
                  </a:ext>
                </a:extLst>
              </a:tr>
              <a:tr h="256032">
                <a:tc>
                  <a:txBody>
                    <a:bodyPr/>
                    <a:lstStyle/>
                    <a:p>
                      <a:pPr>
                        <a:lnSpc>
                          <a:spcPct val="100000"/>
                        </a:lnSpc>
                      </a:pPr>
                      <a:r>
                        <a:rPr sz="1050" b="1">
                          <a:solidFill>
                            <a:srgbClr val="14636E"/>
                          </a:solidFill>
                          <a:latin typeface="Calibri"/>
                        </a:rPr>
                        <a:t>5</a:t>
                      </a:r>
                    </a:p>
                  </a:txBody>
                  <a:tcPr marL="64008" marR="64008" marT="18288" marB="18288" anchor="ctr">
                    <a:solidFill>
                      <a:srgbClr val="EEF2F2"/>
                    </a:solidFill>
                  </a:tcPr>
                </a:tc>
                <a:tc>
                  <a:txBody>
                    <a:bodyPr/>
                    <a:lstStyle/>
                    <a:p>
                      <a:pPr algn="r">
                        <a:lnSpc>
                          <a:spcPct val="100000"/>
                        </a:lnSpc>
                      </a:pPr>
                      <a:r>
                        <a:rPr sz="1050" b="1">
                          <a:solidFill>
                            <a:srgbClr val="14636E"/>
                          </a:solidFill>
                          <a:latin typeface="Calibri"/>
                        </a:rPr>
                        <a:t>0.0</a:t>
                      </a:r>
                    </a:p>
                  </a:txBody>
                  <a:tcPr marL="64008" marR="64008" marT="18288" marB="18288" anchor="ctr">
                    <a:solidFill>
                      <a:srgbClr val="EEF2F2"/>
                    </a:solidFill>
                  </a:tcPr>
                </a:tc>
                <a:tc>
                  <a:txBody>
                    <a:bodyPr/>
                    <a:lstStyle/>
                    <a:p>
                      <a:pPr algn="r">
                        <a:lnSpc>
                          <a:spcPct val="100000"/>
                        </a:lnSpc>
                      </a:pPr>
                      <a:r>
                        <a:rPr sz="1050" b="1">
                          <a:solidFill>
                            <a:srgbClr val="14636E"/>
                          </a:solidFill>
                          <a:latin typeface="Calibri"/>
                        </a:rPr>
                        <a:t>304</a:t>
                      </a:r>
                    </a:p>
                  </a:txBody>
                  <a:tcPr marL="64008" marR="64008" marT="18288" marB="18288" anchor="ctr">
                    <a:solidFill>
                      <a:srgbClr val="EEF2F2"/>
                    </a:solidFill>
                  </a:tcPr>
                </a:tc>
                <a:tc>
                  <a:txBody>
                    <a:bodyPr/>
                    <a:lstStyle/>
                    <a:p>
                      <a:pPr algn="r">
                        <a:lnSpc>
                          <a:spcPct val="100000"/>
                        </a:lnSpc>
                      </a:pPr>
                      <a:r>
                        <a:rPr sz="1050" b="1">
                          <a:solidFill>
                            <a:srgbClr val="14636E"/>
                          </a:solidFill>
                          <a:latin typeface="Calibri"/>
                        </a:rPr>
                        <a:t>18.1 %</a:t>
                      </a:r>
                    </a:p>
                  </a:txBody>
                  <a:tcPr marL="64008" marR="64008" marT="18288" marB="18288" anchor="ctr">
                    <a:solidFill>
                      <a:srgbClr val="EEF2F2"/>
                    </a:solidFill>
                  </a:tcPr>
                </a:tc>
                <a:extLst>
                  <a:ext uri="{0D108BD9-81ED-4DB2-BD59-A6C34878D82A}">
                    <a16:rowId xmlns:a16="http://schemas.microsoft.com/office/drawing/2014/main" val="10004"/>
                  </a:ext>
                </a:extLst>
              </a:tr>
              <a:tr h="256032">
                <a:tc>
                  <a:txBody>
                    <a:bodyPr/>
                    <a:lstStyle/>
                    <a:p>
                      <a:pPr>
                        <a:lnSpc>
                          <a:spcPct val="100000"/>
                        </a:lnSpc>
                      </a:pPr>
                      <a:r>
                        <a:rPr sz="1050" b="0">
                          <a:solidFill>
                            <a:srgbClr val="0F1A1C"/>
                          </a:solidFill>
                          <a:latin typeface="Calibri"/>
                        </a:rPr>
                        <a:t>15</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0.0</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208</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20.9 %</a:t>
                      </a:r>
                    </a:p>
                  </a:txBody>
                  <a:tcPr marL="64008" marR="64008" marT="18288" marB="18288" anchor="ctr">
                    <a:solidFill>
                      <a:srgbClr val="FFFFFF"/>
                    </a:solidFill>
                  </a:tcPr>
                </a:tc>
                <a:extLst>
                  <a:ext uri="{0D108BD9-81ED-4DB2-BD59-A6C34878D82A}">
                    <a16:rowId xmlns:a16="http://schemas.microsoft.com/office/drawing/2014/main" val="10005"/>
                  </a:ext>
                </a:extLst>
              </a:tr>
              <a:tr h="256032">
                <a:tc>
                  <a:txBody>
                    <a:bodyPr/>
                    <a:lstStyle/>
                    <a:p>
                      <a:pPr>
                        <a:lnSpc>
                          <a:spcPct val="100000"/>
                        </a:lnSpc>
                      </a:pPr>
                      <a:r>
                        <a:rPr sz="1050" b="0">
                          <a:solidFill>
                            <a:srgbClr val="0F1A1C"/>
                          </a:solidFill>
                          <a:latin typeface="Calibri"/>
                        </a:rPr>
                        <a:t>30</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0.1</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168</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27.5 %</a:t>
                      </a:r>
                    </a:p>
                  </a:txBody>
                  <a:tcPr marL="64008" marR="64008" marT="18288" marB="18288" anchor="ctr">
                    <a:solidFill>
                      <a:srgbClr val="EEF2F2"/>
                    </a:solidFill>
                  </a:tcPr>
                </a:tc>
                <a:extLst>
                  <a:ext uri="{0D108BD9-81ED-4DB2-BD59-A6C34878D82A}">
                    <a16:rowId xmlns:a16="http://schemas.microsoft.com/office/drawing/2014/main" val="10006"/>
                  </a:ext>
                </a:extLst>
              </a:tr>
            </a:tbl>
          </a:graphicData>
        </a:graphic>
      </p:graphicFrame>
      <p:sp>
        <p:nvSpPr>
          <p:cNvPr id="15" name="TextBox 14"/>
          <p:cNvSpPr txBox="1"/>
          <p:nvPr/>
        </p:nvSpPr>
        <p:spPr>
          <a:xfrm>
            <a:off x="6534759" y="4754879"/>
            <a:ext cx="4651095" cy="1005840"/>
          </a:xfrm>
          <a:prstGeom prst="rect">
            <a:avLst/>
          </a:prstGeom>
          <a:noFill/>
        </p:spPr>
        <p:txBody>
          <a:bodyPr wrap="square" lIns="0" tIns="0" rIns="0" bIns="0">
            <a:spAutoFit/>
          </a:bodyPr>
          <a:lstStyle/>
          <a:p>
            <a:pPr>
              <a:lnSpc>
                <a:spcPct val="125000"/>
              </a:lnSpc>
              <a:spcBef>
                <a:spcPts val="0"/>
              </a:spcBef>
              <a:spcAft>
                <a:spcPts val="0"/>
              </a:spcAft>
            </a:pPr>
            <a:r>
              <a:rPr sz="1100" b="0" i="0">
                <a:solidFill>
                  <a:srgbClr val="0F1A1C"/>
                </a:solidFill>
                <a:latin typeface="Calibri"/>
              </a:rPr>
              <a:t>6 of 9 shown; the remaining combinations landed between 22 % and 25 %. A high min_dist looks excellent on the outlier metric and is misleading — 14 topics for 5,000 comments is one large blob, not a finding.</a:t>
            </a:r>
          </a:p>
        </p:txBody>
      </p:sp>
      <p:sp>
        <p:nvSpPr>
          <p:cNvPr id="16" name="TextBox 15"/>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17 / 21</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APPENDIX A8</a:t>
            </a:r>
            <a:r>
              <a:rPr sz="1000">
                <a:solidFill>
                  <a:srgbClr val="8A9B9E"/>
                </a:solidFill>
                <a:latin typeface="Consolas"/>
              </a:rPr>
              <a:t>   ·   TOPIC LAYER — EVALUATION</a:t>
            </a:r>
          </a:p>
        </p:txBody>
      </p:sp>
      <p:sp>
        <p:nvSpPr>
          <p:cNvPr id="4" name="TextBox 3"/>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a:solidFill>
                  <a:srgbClr val="0F1A1C"/>
                </a:solidFill>
                <a:latin typeface="Georgia"/>
              </a:rPr>
              <a:t>Final configuration and its honest verdict</a:t>
            </a: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3368954" cy="3291840"/>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9"/>
            <a:ext cx="32004" cy="329184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2893466" cy="288950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SELECTED CONFIGURATION</a:t>
            </a:r>
          </a:p>
          <a:p>
            <a:pPr>
              <a:lnSpc>
                <a:spcPct val="118000"/>
              </a:lnSpc>
              <a:spcAft>
                <a:spcPts val="400"/>
              </a:spcAft>
            </a:pPr>
            <a:r>
              <a:rPr sz="1050">
                <a:solidFill>
                  <a:srgbClr val="14636E"/>
                </a:solidFill>
                <a:latin typeface="Calibri"/>
              </a:rPr>
              <a:t>▪  </a:t>
            </a:r>
            <a:r>
              <a:rPr sz="1050">
                <a:solidFill>
                  <a:srgbClr val="0F1A1C"/>
                </a:solidFill>
                <a:latin typeface="Calibri"/>
              </a:rPr>
              <a:t>CountVectorizer with extended German + survey stopwords</a:t>
            </a:r>
          </a:p>
          <a:p>
            <a:pPr>
              <a:lnSpc>
                <a:spcPct val="118000"/>
              </a:lnSpc>
              <a:spcAft>
                <a:spcPts val="400"/>
              </a:spcAft>
            </a:pPr>
            <a:r>
              <a:rPr sz="1050">
                <a:solidFill>
                  <a:srgbClr val="14636E"/>
                </a:solidFill>
                <a:latin typeface="Calibri"/>
              </a:rPr>
              <a:t>▪  </a:t>
            </a:r>
            <a:r>
              <a:rPr sz="1050">
                <a:solidFill>
                  <a:srgbClr val="0F1A1C"/>
                </a:solidFill>
                <a:latin typeface="Calibri"/>
              </a:rPr>
              <a:t>KeyBERTInspired representation</a:t>
            </a:r>
          </a:p>
          <a:p>
            <a:pPr>
              <a:lnSpc>
                <a:spcPct val="118000"/>
              </a:lnSpc>
              <a:spcAft>
                <a:spcPts val="400"/>
              </a:spcAft>
            </a:pPr>
            <a:r>
              <a:rPr sz="1050">
                <a:solidFill>
                  <a:srgbClr val="14636E"/>
                </a:solidFill>
                <a:latin typeface="Calibri"/>
              </a:rPr>
              <a:t>▪  </a:t>
            </a:r>
            <a:r>
              <a:rPr sz="1050">
                <a:solidFill>
                  <a:srgbClr val="0F1A1C"/>
                </a:solidFill>
                <a:latin typeface="Calibri"/>
              </a:rPr>
              <a:t>UMAP  n_neighbors = 5,  min_dist = 0.0,  5 components, cosine</a:t>
            </a:r>
          </a:p>
          <a:p>
            <a:pPr>
              <a:lnSpc>
                <a:spcPct val="118000"/>
              </a:lnSpc>
              <a:spcAft>
                <a:spcPts val="400"/>
              </a:spcAft>
            </a:pPr>
            <a:r>
              <a:rPr sz="1050">
                <a:solidFill>
                  <a:srgbClr val="14636E"/>
                </a:solidFill>
                <a:latin typeface="Calibri"/>
              </a:rPr>
              <a:t>▪  </a:t>
            </a:r>
            <a:r>
              <a:rPr sz="1050">
                <a:solidFill>
                  <a:srgbClr val="0F1A1C"/>
                </a:solidFill>
                <a:latin typeface="Calibri"/>
              </a:rPr>
              <a:t>HDBSCAN  min_cluster_size = 5,  EOM selection</a:t>
            </a:r>
          </a:p>
          <a:p>
            <a:pPr>
              <a:lnSpc>
                <a:spcPct val="118000"/>
              </a:lnSpc>
              <a:spcAft>
                <a:spcPts val="0"/>
              </a:spcAft>
            </a:pPr>
            <a:r>
              <a:rPr sz="1050">
                <a:solidFill>
                  <a:srgbClr val="14636E"/>
                </a:solidFill>
                <a:latin typeface="Calibri"/>
              </a:rPr>
              <a:t>▪  </a:t>
            </a:r>
            <a:r>
              <a:rPr sz="1050">
                <a:solidFill>
                  <a:srgbClr val="0F1A1C"/>
                </a:solidFill>
                <a:latin typeface="Calibri"/>
              </a:rPr>
              <a:t>calculate_probabilities = True, so each comment carries a topic probability</a:t>
            </a:r>
          </a:p>
        </p:txBody>
      </p:sp>
      <p:sp>
        <p:nvSpPr>
          <p:cNvPr id="9" name="Rectangle 8"/>
          <p:cNvSpPr/>
          <p:nvPr/>
        </p:nvSpPr>
        <p:spPr>
          <a:xfrm>
            <a:off x="4411370" y="1874519"/>
            <a:ext cx="3368954" cy="329184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4411370" y="1874519"/>
            <a:ext cx="32004" cy="329184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4667402" y="2075688"/>
            <a:ext cx="2893466" cy="288950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QUALITY — SYNTHETIC RUN</a:t>
            </a:r>
          </a:p>
        </p:txBody>
      </p:sp>
      <p:graphicFrame>
        <p:nvGraphicFramePr>
          <p:cNvPr id="12" name="Table 11"/>
          <p:cNvGraphicFramePr>
            <a:graphicFrameLocks noGrp="1"/>
          </p:cNvGraphicFramePr>
          <p:nvPr/>
        </p:nvGraphicFramePr>
        <p:xfrm>
          <a:off x="4667402" y="2423160"/>
          <a:ext cx="2856889" cy="1792224"/>
        </p:xfrm>
        <a:graphic>
          <a:graphicData uri="http://schemas.openxmlformats.org/drawingml/2006/table">
            <a:tbl>
              <a:tblPr>
                <a:tableStyleId>{5C22544A-7EE6-4342-B048-85BDC9FD1C3A}</a:tableStyleId>
              </a:tblPr>
              <a:tblGrid>
                <a:gridCol w="1599858">
                  <a:extLst>
                    <a:ext uri="{9D8B030D-6E8A-4147-A177-3AD203B41FA5}">
                      <a16:colId xmlns:a16="http://schemas.microsoft.com/office/drawing/2014/main" val="20000"/>
                    </a:ext>
                  </a:extLst>
                </a:gridCol>
                <a:gridCol w="1257031">
                  <a:extLst>
                    <a:ext uri="{9D8B030D-6E8A-4147-A177-3AD203B41FA5}">
                      <a16:colId xmlns:a16="http://schemas.microsoft.com/office/drawing/2014/main" val="20001"/>
                    </a:ext>
                  </a:extLst>
                </a:gridCol>
              </a:tblGrid>
              <a:tr h="256032">
                <a:tc>
                  <a:txBody>
                    <a:bodyPr/>
                    <a:lstStyle/>
                    <a:p>
                      <a:pPr>
                        <a:lnSpc>
                          <a:spcPct val="100000"/>
                        </a:lnSpc>
                      </a:pPr>
                      <a:r>
                        <a:rPr sz="1050" b="0">
                          <a:solidFill>
                            <a:srgbClr val="0F1A1C"/>
                          </a:solidFill>
                          <a:latin typeface="Calibri"/>
                        </a:rPr>
                        <a:t>Documents</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5,000</a:t>
                      </a:r>
                    </a:p>
                  </a:txBody>
                  <a:tcPr marL="64008" marR="64008" marT="18288" marB="18288" anchor="ctr">
                    <a:solidFill>
                      <a:srgbClr val="EEF2F2"/>
                    </a:solidFill>
                  </a:tcPr>
                </a:tc>
                <a:extLst>
                  <a:ext uri="{0D108BD9-81ED-4DB2-BD59-A6C34878D82A}">
                    <a16:rowId xmlns:a16="http://schemas.microsoft.com/office/drawing/2014/main" val="10000"/>
                  </a:ext>
                </a:extLst>
              </a:tr>
              <a:tr h="256032">
                <a:tc>
                  <a:txBody>
                    <a:bodyPr/>
                    <a:lstStyle/>
                    <a:p>
                      <a:pPr>
                        <a:lnSpc>
                          <a:spcPct val="100000"/>
                        </a:lnSpc>
                      </a:pPr>
                      <a:r>
                        <a:rPr sz="1050" b="0">
                          <a:solidFill>
                            <a:srgbClr val="0F1A1C"/>
                          </a:solidFill>
                          <a:latin typeface="Calibri"/>
                        </a:rPr>
                        <a:t>Topics excl. outlier</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303</a:t>
                      </a:r>
                    </a:p>
                  </a:txBody>
                  <a:tcPr marL="64008" marR="64008" marT="18288" marB="18288" anchor="ctr">
                    <a:solidFill>
                      <a:srgbClr val="FFFFFF"/>
                    </a:solidFill>
                  </a:tcPr>
                </a:tc>
                <a:extLst>
                  <a:ext uri="{0D108BD9-81ED-4DB2-BD59-A6C34878D82A}">
                    <a16:rowId xmlns:a16="http://schemas.microsoft.com/office/drawing/2014/main" val="10001"/>
                  </a:ext>
                </a:extLst>
              </a:tr>
              <a:tr h="256032">
                <a:tc>
                  <a:txBody>
                    <a:bodyPr/>
                    <a:lstStyle/>
                    <a:p>
                      <a:pPr>
                        <a:lnSpc>
                          <a:spcPct val="100000"/>
                        </a:lnSpc>
                      </a:pPr>
                      <a:r>
                        <a:rPr sz="1050" b="0">
                          <a:solidFill>
                            <a:srgbClr val="0F1A1C"/>
                          </a:solidFill>
                          <a:latin typeface="Calibri"/>
                        </a:rPr>
                        <a:t>Outliers</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905  (18.1 %)</a:t>
                      </a:r>
                    </a:p>
                  </a:txBody>
                  <a:tcPr marL="64008" marR="64008" marT="18288" marB="18288" anchor="ctr">
                    <a:solidFill>
                      <a:srgbClr val="EEF2F2"/>
                    </a:solidFill>
                  </a:tcPr>
                </a:tc>
                <a:extLst>
                  <a:ext uri="{0D108BD9-81ED-4DB2-BD59-A6C34878D82A}">
                    <a16:rowId xmlns:a16="http://schemas.microsoft.com/office/drawing/2014/main" val="10002"/>
                  </a:ext>
                </a:extLst>
              </a:tr>
              <a:tr h="256032">
                <a:tc>
                  <a:txBody>
                    <a:bodyPr/>
                    <a:lstStyle/>
                    <a:p>
                      <a:pPr>
                        <a:lnSpc>
                          <a:spcPct val="100000"/>
                        </a:lnSpc>
                      </a:pPr>
                      <a:r>
                        <a:rPr sz="1050" b="0">
                          <a:solidFill>
                            <a:srgbClr val="0F1A1C"/>
                          </a:solidFill>
                          <a:latin typeface="Calibri"/>
                        </a:rPr>
                        <a:t>Mean / median size</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13.5 / 11</a:t>
                      </a:r>
                    </a:p>
                  </a:txBody>
                  <a:tcPr marL="64008" marR="64008" marT="18288" marB="18288" anchor="ctr">
                    <a:solidFill>
                      <a:srgbClr val="FFFFFF"/>
                    </a:solidFill>
                  </a:tcPr>
                </a:tc>
                <a:extLst>
                  <a:ext uri="{0D108BD9-81ED-4DB2-BD59-A6C34878D82A}">
                    <a16:rowId xmlns:a16="http://schemas.microsoft.com/office/drawing/2014/main" val="10003"/>
                  </a:ext>
                </a:extLst>
              </a:tr>
              <a:tr h="256032">
                <a:tc>
                  <a:txBody>
                    <a:bodyPr/>
                    <a:lstStyle/>
                    <a:p>
                      <a:pPr>
                        <a:lnSpc>
                          <a:spcPct val="100000"/>
                        </a:lnSpc>
                      </a:pPr>
                      <a:r>
                        <a:rPr sz="1050" b="0">
                          <a:solidFill>
                            <a:srgbClr val="0F1A1C"/>
                          </a:solidFill>
                          <a:latin typeface="Calibri"/>
                        </a:rPr>
                        <a:t>Topics ≥ 25 comments</a:t>
                      </a:r>
                    </a:p>
                  </a:txBody>
                  <a:tcPr marL="64008" marR="64008" marT="18288" marB="18288" anchor="ctr">
                    <a:solidFill>
                      <a:srgbClr val="EEF2F2"/>
                    </a:solidFill>
                  </a:tcPr>
                </a:tc>
                <a:tc>
                  <a:txBody>
                    <a:bodyPr/>
                    <a:lstStyle/>
                    <a:p>
                      <a:pPr algn="r">
                        <a:lnSpc>
                          <a:spcPct val="100000"/>
                        </a:lnSpc>
                      </a:pPr>
                      <a:r>
                        <a:rPr sz="1050" b="0">
                          <a:solidFill>
                            <a:srgbClr val="0F1A1C"/>
                          </a:solidFill>
                          <a:latin typeface="Calibri"/>
                        </a:rPr>
                        <a:t>22</a:t>
                      </a:r>
                    </a:p>
                  </a:txBody>
                  <a:tcPr marL="64008" marR="64008" marT="18288" marB="18288" anchor="ctr">
                    <a:solidFill>
                      <a:srgbClr val="EEF2F2"/>
                    </a:solidFill>
                  </a:tcPr>
                </a:tc>
                <a:extLst>
                  <a:ext uri="{0D108BD9-81ED-4DB2-BD59-A6C34878D82A}">
                    <a16:rowId xmlns:a16="http://schemas.microsoft.com/office/drawing/2014/main" val="10004"/>
                  </a:ext>
                </a:extLst>
              </a:tr>
              <a:tr h="256032">
                <a:tc>
                  <a:txBody>
                    <a:bodyPr/>
                    <a:lstStyle/>
                    <a:p>
                      <a:pPr>
                        <a:lnSpc>
                          <a:spcPct val="100000"/>
                        </a:lnSpc>
                      </a:pPr>
                      <a:r>
                        <a:rPr sz="1050" b="0">
                          <a:solidFill>
                            <a:srgbClr val="0F1A1C"/>
                          </a:solidFill>
                          <a:latin typeface="Calibri"/>
                        </a:rPr>
                        <a:t>Topics &lt; 10 comments</a:t>
                      </a:r>
                    </a:p>
                  </a:txBody>
                  <a:tcPr marL="64008" marR="64008" marT="18288" marB="18288" anchor="ctr">
                    <a:solidFill>
                      <a:srgbClr val="FFFFFF"/>
                    </a:solidFill>
                  </a:tcPr>
                </a:tc>
                <a:tc>
                  <a:txBody>
                    <a:bodyPr/>
                    <a:lstStyle/>
                    <a:p>
                      <a:pPr algn="r">
                        <a:lnSpc>
                          <a:spcPct val="100000"/>
                        </a:lnSpc>
                      </a:pPr>
                      <a:r>
                        <a:rPr sz="1050" b="0">
                          <a:solidFill>
                            <a:srgbClr val="0F1A1C"/>
                          </a:solidFill>
                          <a:latin typeface="Calibri"/>
                        </a:rPr>
                        <a:t>115</a:t>
                      </a:r>
                    </a:p>
                  </a:txBody>
                  <a:tcPr marL="64008" marR="64008" marT="18288" marB="18288" anchor="ctr">
                    <a:solidFill>
                      <a:srgbClr val="FFFFFF"/>
                    </a:solidFill>
                  </a:tcPr>
                </a:tc>
                <a:extLst>
                  <a:ext uri="{0D108BD9-81ED-4DB2-BD59-A6C34878D82A}">
                    <a16:rowId xmlns:a16="http://schemas.microsoft.com/office/drawing/2014/main" val="10005"/>
                  </a:ext>
                </a:extLst>
              </a:tr>
              <a:tr h="256032">
                <a:tc>
                  <a:txBody>
                    <a:bodyPr/>
                    <a:lstStyle/>
                    <a:p>
                      <a:pPr>
                        <a:lnSpc>
                          <a:spcPct val="100000"/>
                        </a:lnSpc>
                      </a:pPr>
                      <a:r>
                        <a:rPr sz="1050" b="1">
                          <a:solidFill>
                            <a:srgbClr val="0F1A1C"/>
                          </a:solidFill>
                          <a:latin typeface="Calibri"/>
                        </a:rPr>
                        <a:t>C_v coherence</a:t>
                      </a:r>
                    </a:p>
                  </a:txBody>
                  <a:tcPr marL="64008" marR="64008" marT="18288" marB="18288" anchor="ctr">
                    <a:solidFill>
                      <a:srgbClr val="EEF2F2"/>
                    </a:solidFill>
                  </a:tcPr>
                </a:tc>
                <a:tc>
                  <a:txBody>
                    <a:bodyPr/>
                    <a:lstStyle/>
                    <a:p>
                      <a:pPr algn="r">
                        <a:lnSpc>
                          <a:spcPct val="100000"/>
                        </a:lnSpc>
                      </a:pPr>
                      <a:r>
                        <a:rPr sz="1050" b="1">
                          <a:solidFill>
                            <a:srgbClr val="14636E"/>
                          </a:solidFill>
                          <a:latin typeface="Calibri"/>
                        </a:rPr>
                        <a:t>0.350</a:t>
                      </a:r>
                    </a:p>
                  </a:txBody>
                  <a:tcPr marL="64008" marR="64008" marT="18288" marB="18288" anchor="ctr">
                    <a:solidFill>
                      <a:srgbClr val="EEF2F2"/>
                    </a:solid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4667402" y="4343400"/>
            <a:ext cx="2856890" cy="640080"/>
          </a:xfrm>
          <a:prstGeom prst="rect">
            <a:avLst/>
          </a:prstGeom>
          <a:noFill/>
        </p:spPr>
        <p:txBody>
          <a:bodyPr wrap="square" lIns="0" tIns="0" rIns="0" bIns="0">
            <a:spAutoFit/>
          </a:bodyPr>
          <a:lstStyle/>
          <a:p>
            <a:pPr>
              <a:lnSpc>
                <a:spcPct val="125000"/>
              </a:lnSpc>
              <a:spcBef>
                <a:spcPts val="0"/>
              </a:spcBef>
              <a:spcAft>
                <a:spcPts val="0"/>
              </a:spcAft>
            </a:pPr>
            <a:r>
              <a:rPr sz="1050" b="0" i="0">
                <a:solidFill>
                  <a:srgbClr val="5A6B6E"/>
                </a:solidFill>
                <a:latin typeface="Calibri"/>
              </a:rPr>
              <a:t>Real-data run for comparison: 4,297 documents → 215 topics, 29.5 % outliers.</a:t>
            </a:r>
          </a:p>
        </p:txBody>
      </p:sp>
      <p:sp>
        <p:nvSpPr>
          <p:cNvPr id="14" name="Rectangle 13"/>
          <p:cNvSpPr/>
          <p:nvPr/>
        </p:nvSpPr>
        <p:spPr>
          <a:xfrm>
            <a:off x="8072932" y="1874519"/>
            <a:ext cx="3368954" cy="329184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Rectangle 14"/>
          <p:cNvSpPr/>
          <p:nvPr/>
        </p:nvSpPr>
        <p:spPr>
          <a:xfrm>
            <a:off x="8072932" y="1874519"/>
            <a:ext cx="32004" cy="329184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p:cNvSpPr txBox="1"/>
          <p:nvPr/>
        </p:nvSpPr>
        <p:spPr>
          <a:xfrm>
            <a:off x="8328964" y="2075688"/>
            <a:ext cx="2893466" cy="288950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9A4037"/>
                </a:solidFill>
                <a:latin typeface="Consolas"/>
              </a:rPr>
              <a:t>VERDICT &amp; FIX</a:t>
            </a:r>
          </a:p>
          <a:p>
            <a:pPr>
              <a:lnSpc>
                <a:spcPct val="118000"/>
              </a:lnSpc>
              <a:spcAft>
                <a:spcPts val="400"/>
              </a:spcAft>
            </a:pPr>
            <a:r>
              <a:rPr sz="1050">
                <a:solidFill>
                  <a:srgbClr val="14636E"/>
                </a:solidFill>
                <a:latin typeface="Calibri"/>
              </a:rPr>
              <a:t>▪  </a:t>
            </a:r>
            <a:r>
              <a:rPr sz="1050" b="1">
                <a:solidFill>
                  <a:srgbClr val="0F1A1C"/>
                </a:solidFill>
                <a:latin typeface="Calibri"/>
              </a:rPr>
              <a:t>Too granular.  </a:t>
            </a:r>
            <a:r>
              <a:rPr sz="1050">
                <a:solidFill>
                  <a:srgbClr val="0F1A1C"/>
                </a:solidFill>
                <a:latin typeface="Calibri"/>
              </a:rPr>
              <a:t>303 topics with a median of 11 comments are micro-topics; only 22 are large enough to act on.</a:t>
            </a:r>
          </a:p>
          <a:p>
            <a:pPr>
              <a:lnSpc>
                <a:spcPct val="118000"/>
              </a:lnSpc>
              <a:spcAft>
                <a:spcPts val="400"/>
              </a:spcAft>
            </a:pPr>
            <a:r>
              <a:rPr sz="1050">
                <a:solidFill>
                  <a:srgbClr val="14636E"/>
                </a:solidFill>
                <a:latin typeface="Calibri"/>
              </a:rPr>
              <a:t>▪  </a:t>
            </a:r>
            <a:r>
              <a:rPr sz="1050" b="1">
                <a:solidFill>
                  <a:srgbClr val="0F1A1C"/>
                </a:solidFill>
                <a:latin typeface="Calibri"/>
              </a:rPr>
              <a:t>C_v = 0.350 is modest.  </a:t>
            </a:r>
            <a:r>
              <a:rPr sz="1050">
                <a:solidFill>
                  <a:srgbClr val="0F1A1C"/>
                </a:solidFill>
                <a:latin typeface="Calibri"/>
              </a:rPr>
              <a:t>Partly the synthetic text: repetitive phrasing produces overlapping keyword sets across topics.</a:t>
            </a:r>
          </a:p>
          <a:p>
            <a:pPr>
              <a:lnSpc>
                <a:spcPct val="118000"/>
              </a:lnSpc>
              <a:spcAft>
                <a:spcPts val="0"/>
              </a:spcAft>
            </a:pPr>
            <a:r>
              <a:rPr sz="1050">
                <a:solidFill>
                  <a:srgbClr val="14636E"/>
                </a:solidFill>
                <a:latin typeface="Calibri"/>
              </a:rPr>
              <a:t>▪  </a:t>
            </a:r>
            <a:r>
              <a:rPr sz="1050" b="1">
                <a:solidFill>
                  <a:srgbClr val="0F1A1C"/>
                </a:solidFill>
                <a:latin typeface="Calibri"/>
              </a:rPr>
              <a:t>Next:  </a:t>
            </a:r>
            <a:r>
              <a:rPr sz="1050">
                <a:solidFill>
                  <a:srgbClr val="0F1A1C"/>
                </a:solidFill>
                <a:latin typeface="Calibri"/>
              </a:rPr>
              <a:t>reduce topics to a manageable set, re-evaluate coherence per configuration, then repeat the whole comparison on real comments.</a:t>
            </a:r>
          </a:p>
        </p:txBody>
      </p:sp>
      <p:sp>
        <p:nvSpPr>
          <p:cNvPr id="17" name="TextBox 16"/>
          <p:cNvSpPr txBox="1"/>
          <p:nvPr/>
        </p:nvSpPr>
        <p:spPr>
          <a:xfrm>
            <a:off x="749808" y="5394960"/>
            <a:ext cx="10692079" cy="640080"/>
          </a:xfrm>
          <a:prstGeom prst="rect">
            <a:avLst/>
          </a:prstGeom>
          <a:noFill/>
        </p:spPr>
        <p:txBody>
          <a:bodyPr wrap="square" lIns="0" tIns="0" rIns="0" bIns="0">
            <a:spAutoFit/>
          </a:bodyPr>
          <a:lstStyle/>
          <a:p>
            <a:pPr>
              <a:lnSpc>
                <a:spcPct val="125000"/>
              </a:lnSpc>
              <a:spcBef>
                <a:spcPts val="0"/>
              </a:spcBef>
              <a:spcAft>
                <a:spcPts val="0"/>
              </a:spcAft>
            </a:pPr>
            <a:r>
              <a:rPr sz="1150" b="0" i="1">
                <a:solidFill>
                  <a:srgbClr val="5A6B6E"/>
                </a:solidFill>
                <a:latin typeface="Calibri"/>
              </a:rPr>
              <a:t>Reported as measured. The coherence value is not yet where it needs to be, and the granularity problem is named as a risk rather than smoothed over.</a:t>
            </a:r>
          </a:p>
        </p:txBody>
      </p:sp>
      <p:sp>
        <p:nvSpPr>
          <p:cNvPr id="18" name="TextBox 17"/>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18 / 21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APPENDIX A9</a:t>
            </a:r>
            <a:r>
              <a:rPr sz="1000">
                <a:solidFill>
                  <a:srgbClr val="8A9B9E"/>
                </a:solidFill>
                <a:latin typeface="Consolas"/>
              </a:rPr>
              <a:t>   ·   OPEN QUESTION</a:t>
            </a:r>
          </a:p>
        </p:txBody>
      </p:sp>
      <p:sp>
        <p:nvSpPr>
          <p:cNvPr id="4" name="TextBox 3"/>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a:solidFill>
                  <a:srgbClr val="0F1A1C"/>
                </a:solidFill>
                <a:latin typeface="Georgia"/>
              </a:rPr>
              <a:t>How arousal gets its axis</a:t>
            </a: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3368954" cy="26974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9"/>
            <a:ext cx="32004" cy="26974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2893466" cy="229514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THE GAP</a:t>
            </a:r>
          </a:p>
          <a:p>
            <a:pPr>
              <a:lnSpc>
                <a:spcPct val="130000"/>
              </a:lnSpc>
              <a:spcBef>
                <a:spcPts val="0"/>
              </a:spcBef>
              <a:spcAft>
                <a:spcPts val="600"/>
              </a:spcAft>
            </a:pPr>
            <a:r>
              <a:rPr sz="1150" b="0" i="0">
                <a:solidFill>
                  <a:srgbClr val="0F1A1C"/>
                </a:solidFill>
                <a:latin typeface="Calibri"/>
              </a:rPr>
              <a:t>German Sentiment BERT delivers valence only. Without arousal the Core Affect Map has one axis — stress and resignation stay indistinguishable, although they call for opposite measures.</a:t>
            </a:r>
          </a:p>
          <a:p>
            <a:pPr>
              <a:lnSpc>
                <a:spcPct val="130000"/>
              </a:lnSpc>
              <a:spcBef>
                <a:spcPts val="0"/>
              </a:spcBef>
              <a:spcAft>
                <a:spcPts val="0"/>
              </a:spcAft>
            </a:pPr>
            <a:r>
              <a:rPr sz="1150" b="0" i="0">
                <a:solidFill>
                  <a:srgbClr val="5A6B6E"/>
                </a:solidFill>
                <a:latin typeface="Calibri"/>
              </a:rPr>
              <a:t>The zero-shot prototype produced arousal classes (low / medium / high), but they were not stable enough to build a dashboard axis on.</a:t>
            </a:r>
          </a:p>
        </p:txBody>
      </p:sp>
      <p:sp>
        <p:nvSpPr>
          <p:cNvPr id="9" name="Rectangle 8"/>
          <p:cNvSpPr/>
          <p:nvPr/>
        </p:nvSpPr>
        <p:spPr>
          <a:xfrm>
            <a:off x="4411370" y="1874519"/>
            <a:ext cx="3368954" cy="2697480"/>
          </a:xfrm>
          <a:prstGeom prst="rect">
            <a:avLst/>
          </a:prstGeom>
          <a:solidFill>
            <a:srgbClr val="E2F0F1"/>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4411370" y="1874519"/>
            <a:ext cx="32004" cy="26974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4667402" y="2075688"/>
            <a:ext cx="2893466" cy="229514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PREFERRED ROUTE — EMOTION MAPPING</a:t>
            </a:r>
          </a:p>
          <a:p>
            <a:pPr>
              <a:lnSpc>
                <a:spcPct val="118000"/>
              </a:lnSpc>
              <a:spcAft>
                <a:spcPts val="400"/>
              </a:spcAft>
            </a:pPr>
            <a:r>
              <a:rPr sz="1050">
                <a:solidFill>
                  <a:srgbClr val="14636E"/>
                </a:solidFill>
                <a:latin typeface="Calibri"/>
              </a:rPr>
              <a:t>▪  </a:t>
            </a:r>
            <a:r>
              <a:rPr sz="1050">
                <a:solidFill>
                  <a:srgbClr val="0F1A1C"/>
                </a:solidFill>
                <a:latin typeface="Calibri"/>
              </a:rPr>
              <a:t>A German emotion classifier (e.g. ChrisLalk/German-Emotions) predicts discrete emotions: frustration, uncertainty, pride, hope, anger, joy</a:t>
            </a:r>
          </a:p>
          <a:p>
            <a:pPr>
              <a:lnSpc>
                <a:spcPct val="118000"/>
              </a:lnSpc>
              <a:spcAft>
                <a:spcPts val="400"/>
              </a:spcAft>
            </a:pPr>
            <a:r>
              <a:rPr sz="1050">
                <a:solidFill>
                  <a:srgbClr val="14636E"/>
                </a:solidFill>
                <a:latin typeface="Calibri"/>
              </a:rPr>
              <a:t>▪  </a:t>
            </a:r>
            <a:r>
              <a:rPr sz="1050">
                <a:solidFill>
                  <a:srgbClr val="0F1A1C"/>
                </a:solidFill>
                <a:latin typeface="Calibri"/>
              </a:rPr>
              <a:t>Each emotion carries known valence and arousal coordinates from affect research</a:t>
            </a:r>
          </a:p>
          <a:p>
            <a:pPr>
              <a:lnSpc>
                <a:spcPct val="118000"/>
              </a:lnSpc>
              <a:spcAft>
                <a:spcPts val="400"/>
              </a:spcAft>
            </a:pPr>
            <a:r>
              <a:rPr sz="1050">
                <a:solidFill>
                  <a:srgbClr val="14636E"/>
                </a:solidFill>
                <a:latin typeface="Calibri"/>
              </a:rPr>
              <a:t>▪  </a:t>
            </a:r>
            <a:r>
              <a:rPr sz="1050">
                <a:solidFill>
                  <a:srgbClr val="0F1A1C"/>
                </a:solidFill>
                <a:latin typeface="Calibri"/>
              </a:rPr>
              <a:t>Probability-weighted mapping yields continuous coordinates per comment</a:t>
            </a:r>
          </a:p>
          <a:p>
            <a:pPr>
              <a:lnSpc>
                <a:spcPct val="118000"/>
              </a:lnSpc>
              <a:spcAft>
                <a:spcPts val="0"/>
              </a:spcAft>
            </a:pPr>
            <a:r>
              <a:rPr sz="1050">
                <a:solidFill>
                  <a:srgbClr val="14636E"/>
                </a:solidFill>
                <a:latin typeface="Calibri"/>
              </a:rPr>
              <a:t>▪  </a:t>
            </a:r>
            <a:r>
              <a:rPr sz="1050">
                <a:solidFill>
                  <a:srgbClr val="0F1A1C"/>
                </a:solidFill>
                <a:latin typeface="Calibri"/>
              </a:rPr>
              <a:t>Reuses established theory instead of inventing a scale</a:t>
            </a:r>
          </a:p>
        </p:txBody>
      </p:sp>
      <p:sp>
        <p:nvSpPr>
          <p:cNvPr id="12" name="Rectangle 11"/>
          <p:cNvSpPr/>
          <p:nvPr/>
        </p:nvSpPr>
        <p:spPr>
          <a:xfrm>
            <a:off x="8072932" y="1874519"/>
            <a:ext cx="3368954" cy="26974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8072932" y="1874519"/>
            <a:ext cx="32004" cy="26974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8328964" y="2075688"/>
            <a:ext cx="2893466" cy="229514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FALLBACK &amp; VALIDATION</a:t>
            </a:r>
          </a:p>
          <a:p>
            <a:pPr>
              <a:lnSpc>
                <a:spcPct val="118000"/>
              </a:lnSpc>
              <a:spcAft>
                <a:spcPts val="400"/>
              </a:spcAft>
            </a:pPr>
            <a:r>
              <a:rPr sz="1050">
                <a:solidFill>
                  <a:srgbClr val="14636E"/>
                </a:solidFill>
                <a:latin typeface="Calibri"/>
              </a:rPr>
              <a:t>▪  </a:t>
            </a:r>
            <a:r>
              <a:rPr sz="1050">
                <a:solidFill>
                  <a:srgbClr val="0F1A1C"/>
                </a:solidFill>
                <a:latin typeface="Calibri"/>
              </a:rPr>
              <a:t>Train a custom arousal model on emotional language, comment features and survey items — needs labelled data, only worth it with time to spare</a:t>
            </a:r>
          </a:p>
          <a:p>
            <a:pPr>
              <a:lnSpc>
                <a:spcPct val="118000"/>
              </a:lnSpc>
              <a:spcAft>
                <a:spcPts val="400"/>
              </a:spcAft>
            </a:pPr>
            <a:r>
              <a:rPr sz="1050">
                <a:solidFill>
                  <a:srgbClr val="14636E"/>
                </a:solidFill>
                <a:latin typeface="Calibri"/>
              </a:rPr>
              <a:t>▪  </a:t>
            </a:r>
            <a:r>
              <a:rPr sz="1050">
                <a:solidFill>
                  <a:srgbClr val="0F1A1C"/>
                </a:solidFill>
                <a:latin typeface="Calibri"/>
              </a:rPr>
              <a:t>Either way: correlate valence and arousal against engagement, team, culture and leadership scores</a:t>
            </a:r>
          </a:p>
          <a:p>
            <a:pPr>
              <a:lnSpc>
                <a:spcPct val="118000"/>
              </a:lnSpc>
              <a:spcAft>
                <a:spcPts val="0"/>
              </a:spcAft>
            </a:pPr>
            <a:r>
              <a:rPr sz="1050">
                <a:solidFill>
                  <a:srgbClr val="14636E"/>
                </a:solidFill>
                <a:latin typeface="Calibri"/>
              </a:rPr>
              <a:t>▪  </a:t>
            </a:r>
            <a:r>
              <a:rPr sz="1050">
                <a:solidFill>
                  <a:srgbClr val="0F1A1C"/>
                </a:solidFill>
                <a:latin typeface="Calibri"/>
              </a:rPr>
              <a:t>If the emotional layer carries signal, those relationships have to show up</a:t>
            </a:r>
          </a:p>
        </p:txBody>
      </p:sp>
      <p:sp>
        <p:nvSpPr>
          <p:cNvPr id="15" name="Rectangle 14"/>
          <p:cNvSpPr/>
          <p:nvPr/>
        </p:nvSpPr>
        <p:spPr>
          <a:xfrm>
            <a:off x="749808" y="4800600"/>
            <a:ext cx="10692079" cy="118872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749808" y="4800600"/>
            <a:ext cx="32004" cy="118872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1005840" y="5001768"/>
            <a:ext cx="10216591" cy="78638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WHY THIS MATTERS FOR THE PRODUCT</a:t>
            </a:r>
          </a:p>
          <a:p>
            <a:pPr>
              <a:lnSpc>
                <a:spcPct val="130000"/>
              </a:lnSpc>
              <a:spcBef>
                <a:spcPts val="0"/>
              </a:spcBef>
              <a:spcAft>
                <a:spcPts val="0"/>
              </a:spcAft>
            </a:pPr>
            <a:r>
              <a:rPr sz="1150" b="0" i="0">
                <a:solidFill>
                  <a:srgbClr val="0F1A1C"/>
                </a:solidFill>
                <a:latin typeface="Calibri"/>
              </a:rPr>
              <a:t>Valence alone answers “is it good or bad?”. Arousal answers “is there energy behind it?” — the difference between a team that is angry and a team that has given up. The recommended measures for those two states are opposites, which is the entire argument for the Barrett-inspired framework.</a:t>
            </a:r>
          </a:p>
        </p:txBody>
      </p:sp>
      <p:sp>
        <p:nvSpPr>
          <p:cNvPr id="18" name="TextBox 17"/>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19 / 21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APPENDIX A10</a:t>
            </a:r>
            <a:r>
              <a:rPr sz="1000">
                <a:solidFill>
                  <a:srgbClr val="8A9B9E"/>
                </a:solidFill>
                <a:latin typeface="Consolas"/>
              </a:rPr>
              <a:t>   ·   ENGINEERING</a:t>
            </a:r>
          </a:p>
        </p:txBody>
      </p:sp>
      <p:sp>
        <p:nvSpPr>
          <p:cNvPr id="4" name="TextBox 3"/>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a:solidFill>
                  <a:srgbClr val="0F1A1C"/>
                </a:solidFill>
                <a:latin typeface="Georgia"/>
              </a:rPr>
              <a:t>Performance and reproducibility</a:t>
            </a: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5163159" cy="29260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9"/>
            <a:ext cx="32004" cy="29260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4687671" cy="252374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PROBLEM</a:t>
            </a:r>
          </a:p>
          <a:p>
            <a:pPr>
              <a:lnSpc>
                <a:spcPct val="125000"/>
              </a:lnSpc>
              <a:spcBef>
                <a:spcPts val="0"/>
              </a:spcBef>
              <a:spcAft>
                <a:spcPts val="600"/>
              </a:spcAft>
            </a:pPr>
            <a:r>
              <a:rPr sz="1150" b="0" i="0">
                <a:solidFill>
                  <a:srgbClr val="0F1A1C"/>
                </a:solidFill>
                <a:latin typeface="Calibri"/>
              </a:rPr>
              <a:t>Several steps are expensive and are recomputed on every notebook run:</a:t>
            </a:r>
          </a:p>
          <a:p>
            <a:pPr>
              <a:lnSpc>
                <a:spcPct val="118000"/>
              </a:lnSpc>
              <a:spcAft>
                <a:spcPts val="400"/>
              </a:spcAft>
            </a:pPr>
            <a:r>
              <a:rPr sz="1100">
                <a:solidFill>
                  <a:srgbClr val="14636E"/>
                </a:solidFill>
                <a:latin typeface="Calibri"/>
              </a:rPr>
              <a:t>▪  </a:t>
            </a:r>
            <a:r>
              <a:rPr sz="1100">
                <a:solidFill>
                  <a:srgbClr val="0F1A1C"/>
                </a:solidFill>
                <a:latin typeface="Calibri"/>
              </a:rPr>
              <a:t>Sentence embeddings for 5,000 comments — ≈ 30 s per fit, repeated for every grid cell</a:t>
            </a:r>
          </a:p>
          <a:p>
            <a:pPr>
              <a:lnSpc>
                <a:spcPct val="118000"/>
              </a:lnSpc>
              <a:spcAft>
                <a:spcPts val="400"/>
              </a:spcAft>
            </a:pPr>
            <a:r>
              <a:rPr sz="1100">
                <a:solidFill>
                  <a:srgbClr val="14636E"/>
                </a:solidFill>
                <a:latin typeface="Calibri"/>
              </a:rPr>
              <a:t>▪  </a:t>
            </a:r>
            <a:r>
              <a:rPr sz="1100">
                <a:solidFill>
                  <a:srgbClr val="0F1A1C"/>
                </a:solidFill>
                <a:latin typeface="Calibri"/>
              </a:rPr>
              <a:t>Sentiment inference — ≈ 4 min per full pass</a:t>
            </a:r>
          </a:p>
          <a:p>
            <a:pPr>
              <a:lnSpc>
                <a:spcPct val="118000"/>
              </a:lnSpc>
              <a:spcAft>
                <a:spcPts val="400"/>
              </a:spcAft>
            </a:pPr>
            <a:r>
              <a:rPr sz="1100">
                <a:solidFill>
                  <a:srgbClr val="14636E"/>
                </a:solidFill>
                <a:latin typeface="Calibri"/>
              </a:rPr>
              <a:t>▪  </a:t>
            </a:r>
            <a:r>
              <a:rPr sz="1100">
                <a:solidFill>
                  <a:srgbClr val="0F1A1C"/>
                </a:solidFill>
                <a:latin typeface="Calibri"/>
              </a:rPr>
              <a:t>Zero-shot classification — ≈ 50 min per full pass</a:t>
            </a:r>
          </a:p>
          <a:p>
            <a:pPr>
              <a:lnSpc>
                <a:spcPct val="118000"/>
              </a:lnSpc>
              <a:spcAft>
                <a:spcPts val="0"/>
              </a:spcAft>
            </a:pPr>
            <a:r>
              <a:rPr sz="1100">
                <a:solidFill>
                  <a:srgbClr val="14636E"/>
                </a:solidFill>
                <a:latin typeface="Calibri"/>
              </a:rPr>
              <a:t>▪  </a:t>
            </a:r>
            <a:r>
              <a:rPr sz="1100">
                <a:solidFill>
                  <a:srgbClr val="0F1A1C"/>
                </a:solidFill>
                <a:latin typeface="Calibri"/>
              </a:rPr>
              <a:t>BERTopic — 5 HDBSCAN + 9 UMAP configurations during tuning</a:t>
            </a:r>
          </a:p>
        </p:txBody>
      </p:sp>
      <p:sp>
        <p:nvSpPr>
          <p:cNvPr id="9" name="Rectangle 8"/>
          <p:cNvSpPr/>
          <p:nvPr/>
        </p:nvSpPr>
        <p:spPr>
          <a:xfrm>
            <a:off x="6278727" y="1874519"/>
            <a:ext cx="5163159" cy="292608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6278727" y="1874519"/>
            <a:ext cx="32004" cy="292608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6534759" y="2075688"/>
            <a:ext cx="4687671" cy="252374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OPTIONS EVALUATED</a:t>
            </a:r>
          </a:p>
        </p:txBody>
      </p:sp>
      <p:graphicFrame>
        <p:nvGraphicFramePr>
          <p:cNvPr id="12" name="Table 11"/>
          <p:cNvGraphicFramePr>
            <a:graphicFrameLocks noGrp="1"/>
          </p:cNvGraphicFramePr>
          <p:nvPr/>
        </p:nvGraphicFramePr>
        <p:xfrm>
          <a:off x="6534759" y="2423160"/>
          <a:ext cx="4651094" cy="1207008"/>
        </p:xfrm>
        <a:graphic>
          <a:graphicData uri="http://schemas.openxmlformats.org/drawingml/2006/table">
            <a:tbl>
              <a:tblPr firstRow="1">
                <a:tableStyleId>{5C22544A-7EE6-4342-B048-85BDC9FD1C3A}</a:tableStyleId>
              </a:tblPr>
              <a:tblGrid>
                <a:gridCol w="1116262">
                  <a:extLst>
                    <a:ext uri="{9D8B030D-6E8A-4147-A177-3AD203B41FA5}">
                      <a16:colId xmlns:a16="http://schemas.microsoft.com/office/drawing/2014/main" val="20000"/>
                    </a:ext>
                  </a:extLst>
                </a:gridCol>
                <a:gridCol w="3534832">
                  <a:extLst>
                    <a:ext uri="{9D8B030D-6E8A-4147-A177-3AD203B41FA5}">
                      <a16:colId xmlns:a16="http://schemas.microsoft.com/office/drawing/2014/main" val="20001"/>
                    </a:ext>
                  </a:extLst>
                </a:gridCol>
              </a:tblGrid>
              <a:tr h="274320">
                <a:tc>
                  <a:txBody>
                    <a:bodyPr/>
                    <a:lstStyle/>
                    <a:p>
                      <a:pPr>
                        <a:lnSpc>
                          <a:spcPct val="100000"/>
                        </a:lnSpc>
                      </a:pPr>
                      <a:r>
                        <a:rPr sz="950" b="1">
                          <a:solidFill>
                            <a:srgbClr val="5A6B6E"/>
                          </a:solidFill>
                          <a:latin typeface="Consolas"/>
                        </a:rPr>
                        <a:t>Format</a:t>
                      </a:r>
                    </a:p>
                  </a:txBody>
                  <a:tcPr marL="64008" marR="64008" marT="18288" marB="18288" anchor="ctr">
                    <a:solidFill>
                      <a:srgbClr val="E2F0F1"/>
                    </a:solidFill>
                  </a:tcPr>
                </a:tc>
                <a:tc>
                  <a:txBody>
                    <a:bodyPr/>
                    <a:lstStyle/>
                    <a:p>
                      <a:pPr>
                        <a:lnSpc>
                          <a:spcPct val="100000"/>
                        </a:lnSpc>
                      </a:pPr>
                      <a:r>
                        <a:rPr sz="950" b="1">
                          <a:solidFill>
                            <a:srgbClr val="5A6B6E"/>
                          </a:solidFill>
                          <a:latin typeface="Consolas"/>
                        </a:rPr>
                        <a:t>Assessment</a:t>
                      </a:r>
                    </a:p>
                  </a:txBody>
                  <a:tcPr marL="64008" marR="64008" marT="18288" marB="18288" anchor="ctr">
                    <a:solidFill>
                      <a:srgbClr val="E2F0F1"/>
                    </a:solidFill>
                  </a:tcPr>
                </a:tc>
                <a:extLst>
                  <a:ext uri="{0D108BD9-81ED-4DB2-BD59-A6C34878D82A}">
                    <a16:rowId xmlns:a16="http://schemas.microsoft.com/office/drawing/2014/main" val="10000"/>
                  </a:ext>
                </a:extLst>
              </a:tr>
              <a:tr h="310896">
                <a:tc>
                  <a:txBody>
                    <a:bodyPr/>
                    <a:lstStyle/>
                    <a:p>
                      <a:pPr>
                        <a:lnSpc>
                          <a:spcPct val="100000"/>
                        </a:lnSpc>
                      </a:pPr>
                      <a:r>
                        <a:rPr sz="1050" b="0">
                          <a:solidFill>
                            <a:srgbClr val="0F1A1C"/>
                          </a:solidFill>
                          <a:latin typeface="Calibri"/>
                        </a:rPr>
                        <a:t>CSV</a:t>
                      </a:r>
                    </a:p>
                  </a:txBody>
                  <a:tcPr marL="64008" marR="64008" marT="18288" marB="18288" anchor="ctr">
                    <a:solidFill>
                      <a:srgbClr val="FFFFFF"/>
                    </a:solidFill>
                  </a:tcPr>
                </a:tc>
                <a:tc>
                  <a:txBody>
                    <a:bodyPr/>
                    <a:lstStyle/>
                    <a:p>
                      <a:pPr>
                        <a:lnSpc>
                          <a:spcPct val="100000"/>
                        </a:lnSpc>
                      </a:pPr>
                      <a:r>
                        <a:rPr sz="1050" b="0">
                          <a:solidFill>
                            <a:srgbClr val="0F1A1C"/>
                          </a:solidFill>
                          <a:latin typeface="Calibri"/>
                        </a:rPr>
                        <a:t>Readable, but large, slow, loses dtypes</a:t>
                      </a:r>
                    </a:p>
                  </a:txBody>
                  <a:tcPr marL="64008" marR="64008" marT="18288" marB="18288" anchor="ctr">
                    <a:solidFill>
                      <a:srgbClr val="FFFFFF"/>
                    </a:solidFill>
                  </a:tcPr>
                </a:tc>
                <a:extLst>
                  <a:ext uri="{0D108BD9-81ED-4DB2-BD59-A6C34878D82A}">
                    <a16:rowId xmlns:a16="http://schemas.microsoft.com/office/drawing/2014/main" val="10001"/>
                  </a:ext>
                </a:extLst>
              </a:tr>
              <a:tr h="310896">
                <a:tc>
                  <a:txBody>
                    <a:bodyPr/>
                    <a:lstStyle/>
                    <a:p>
                      <a:pPr>
                        <a:lnSpc>
                          <a:spcPct val="100000"/>
                        </a:lnSpc>
                      </a:pPr>
                      <a:r>
                        <a:rPr sz="1050" b="0">
                          <a:solidFill>
                            <a:srgbClr val="0F1A1C"/>
                          </a:solidFill>
                          <a:latin typeface="Calibri"/>
                        </a:rPr>
                        <a:t>SQLite</a:t>
                      </a:r>
                    </a:p>
                  </a:txBody>
                  <a:tcPr marL="64008" marR="64008" marT="18288" marB="18288" anchor="ctr">
                    <a:solidFill>
                      <a:srgbClr val="EEF2F2"/>
                    </a:solidFill>
                  </a:tcPr>
                </a:tc>
                <a:tc>
                  <a:txBody>
                    <a:bodyPr/>
                    <a:lstStyle/>
                    <a:p>
                      <a:pPr>
                        <a:lnSpc>
                          <a:spcPct val="100000"/>
                        </a:lnSpc>
                      </a:pPr>
                      <a:r>
                        <a:rPr sz="1050" b="0">
                          <a:solidFill>
                            <a:srgbClr val="0F1A1C"/>
                          </a:solidFill>
                          <a:latin typeface="Calibri"/>
                        </a:rPr>
                        <a:t>Good for relational queries across iterations</a:t>
                      </a:r>
                    </a:p>
                  </a:txBody>
                  <a:tcPr marL="64008" marR="64008" marT="18288" marB="18288" anchor="ctr">
                    <a:solidFill>
                      <a:srgbClr val="EEF2F2"/>
                    </a:solidFill>
                  </a:tcPr>
                </a:tc>
                <a:extLst>
                  <a:ext uri="{0D108BD9-81ED-4DB2-BD59-A6C34878D82A}">
                    <a16:rowId xmlns:a16="http://schemas.microsoft.com/office/drawing/2014/main" val="10002"/>
                  </a:ext>
                </a:extLst>
              </a:tr>
              <a:tr h="310896">
                <a:tc>
                  <a:txBody>
                    <a:bodyPr/>
                    <a:lstStyle/>
                    <a:p>
                      <a:pPr>
                        <a:lnSpc>
                          <a:spcPct val="100000"/>
                        </a:lnSpc>
                      </a:pPr>
                      <a:r>
                        <a:rPr sz="1050" b="1">
                          <a:solidFill>
                            <a:srgbClr val="14636E"/>
                          </a:solidFill>
                          <a:latin typeface="Calibri"/>
                        </a:rPr>
                        <a:t>Parquet</a:t>
                      </a:r>
                    </a:p>
                  </a:txBody>
                  <a:tcPr marL="64008" marR="64008" marT="18288" marB="18288" anchor="ctr">
                    <a:solidFill>
                      <a:srgbClr val="FFFFFF"/>
                    </a:solidFill>
                  </a:tcPr>
                </a:tc>
                <a:tc>
                  <a:txBody>
                    <a:bodyPr/>
                    <a:lstStyle/>
                    <a:p>
                      <a:pPr>
                        <a:lnSpc>
                          <a:spcPct val="100000"/>
                        </a:lnSpc>
                      </a:pPr>
                      <a:r>
                        <a:rPr sz="1050" b="0">
                          <a:solidFill>
                            <a:srgbClr val="14636E"/>
                          </a:solidFill>
                          <a:latin typeface="Calibri"/>
                        </a:rPr>
                        <a:t>Columnar, compressed, keeps dtypes, fastest reload</a:t>
                      </a:r>
                    </a:p>
                  </a:txBody>
                  <a:tcPr marL="64008" marR="64008" marT="18288" marB="18288" anchor="ctr">
                    <a:solidFill>
                      <a:srgbClr val="FFFFFF"/>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6534759" y="3749039"/>
            <a:ext cx="4651095" cy="914400"/>
          </a:xfrm>
          <a:prstGeom prst="rect">
            <a:avLst/>
          </a:prstGeom>
          <a:noFill/>
        </p:spPr>
        <p:txBody>
          <a:bodyPr wrap="square" lIns="0" tIns="0" rIns="0" bIns="0">
            <a:spAutoFit/>
          </a:bodyPr>
          <a:lstStyle/>
          <a:p>
            <a:pPr>
              <a:lnSpc>
                <a:spcPct val="125000"/>
              </a:lnSpc>
              <a:spcBef>
                <a:spcPts val="0"/>
              </a:spcBef>
              <a:spcAft>
                <a:spcPts val="0"/>
              </a:spcAft>
            </a:pPr>
            <a:r>
              <a:rPr sz="1100" b="0" i="0">
                <a:solidFill>
                  <a:srgbClr val="0F1A1C"/>
                </a:solidFill>
                <a:latin typeface="Calibri"/>
              </a:rPr>
              <a:t>Current plan: persist cleaned_data.parquet, sentiment_results.parquet and topic_results.parquet, keyed by comment id so the layers can be joined independently.</a:t>
            </a:r>
          </a:p>
        </p:txBody>
      </p:sp>
      <p:sp>
        <p:nvSpPr>
          <p:cNvPr id="14" name="Rounded Rectangle 13"/>
          <p:cNvSpPr/>
          <p:nvPr/>
        </p:nvSpPr>
        <p:spPr>
          <a:xfrm>
            <a:off x="749808" y="4983480"/>
            <a:ext cx="2194560" cy="219456"/>
          </a:xfrm>
          <a:prstGeom prst="roundRect">
            <a:avLst>
              <a:gd name="adj" fmla="val 30000"/>
            </a:avLst>
          </a:prstGeom>
          <a:noFill/>
          <a:ln w="9525">
            <a:solidFill>
              <a:srgbClr val="8F6414"/>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lnSpc>
                <a:spcPct val="120000"/>
              </a:lnSpc>
              <a:spcBef>
                <a:spcPts val="0"/>
              </a:spcBef>
              <a:spcAft>
                <a:spcPts val="0"/>
              </a:spcAft>
            </a:pPr>
            <a:r>
              <a:rPr sz="850" b="1" i="0">
                <a:solidFill>
                  <a:srgbClr val="8F6414"/>
                </a:solidFill>
                <a:latin typeface="Consolas"/>
              </a:rPr>
              <a:t>EVALUATED, NOT IMPLEMENTED</a:t>
            </a:r>
          </a:p>
        </p:txBody>
      </p:sp>
      <p:sp>
        <p:nvSpPr>
          <p:cNvPr id="15" name="TextBox 14"/>
          <p:cNvSpPr txBox="1"/>
          <p:nvPr/>
        </p:nvSpPr>
        <p:spPr>
          <a:xfrm>
            <a:off x="749808" y="5349240"/>
            <a:ext cx="10692079" cy="640080"/>
          </a:xfrm>
          <a:prstGeom prst="rect">
            <a:avLst/>
          </a:prstGeom>
          <a:noFill/>
        </p:spPr>
        <p:txBody>
          <a:bodyPr wrap="square" lIns="0" tIns="0" rIns="0" bIns="0">
            <a:spAutoFit/>
          </a:bodyPr>
          <a:lstStyle/>
          <a:p>
            <a:pPr>
              <a:lnSpc>
                <a:spcPct val="125000"/>
              </a:lnSpc>
              <a:spcBef>
                <a:spcPts val="0"/>
              </a:spcBef>
              <a:spcAft>
                <a:spcPts val="0"/>
              </a:spcAft>
            </a:pPr>
            <a:r>
              <a:rPr sz="1150" b="0" i="0">
                <a:solidFill>
                  <a:srgbClr val="5A6B6E"/>
                </a:solidFill>
                <a:latin typeface="Calibri"/>
              </a:rPr>
              <a:t>Say this plainly if it comes up: caching is a decision on the table, not a finished part of the pipeline. The reproducibility argument — same input, same intermediate artefacts, same dashboard — is why it is worth doing before the final evaluation runs.</a:t>
            </a:r>
          </a:p>
        </p:txBody>
      </p:sp>
      <p:sp>
        <p:nvSpPr>
          <p:cNvPr id="16" name="TextBox 15"/>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20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292" cy="6858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49808" y="420624"/>
            <a:ext cx="10692079" cy="274320"/>
          </a:xfrm>
          <a:prstGeom prst="rect">
            <a:avLst/>
          </a:prstGeom>
          <a:noFill/>
        </p:spPr>
        <p:txBody>
          <a:bodyPr wrap="square" lIns="0" tIns="0" rIns="0" bIns="0">
            <a:spAutoFit/>
          </a:bodyPr>
          <a:lstStyle/>
          <a:p>
            <a:pPr>
              <a:lnSpc>
                <a:spcPct val="120000"/>
              </a:lnSpc>
              <a:spcBef>
                <a:spcPts val="0"/>
              </a:spcBef>
              <a:spcAft>
                <a:spcPts val="0"/>
              </a:spcAft>
            </a:pPr>
            <a:r>
              <a:rPr sz="1000" b="1" i="0">
                <a:solidFill>
                  <a:srgbClr val="14636E"/>
                </a:solidFill>
                <a:latin typeface="Consolas"/>
              </a:rPr>
              <a:t>APPENDIX A11</a:t>
            </a:r>
            <a:r>
              <a:rPr sz="1000">
                <a:solidFill>
                  <a:srgbClr val="8A9B9E"/>
                </a:solidFill>
                <a:latin typeface="Consolas"/>
              </a:rPr>
              <a:t>   ·   DEFINITION OF DONE</a:t>
            </a:r>
          </a:p>
        </p:txBody>
      </p:sp>
      <p:sp>
        <p:nvSpPr>
          <p:cNvPr id="4" name="TextBox 3"/>
          <p:cNvSpPr txBox="1"/>
          <p:nvPr/>
        </p:nvSpPr>
        <p:spPr>
          <a:xfrm>
            <a:off x="749808" y="786384"/>
            <a:ext cx="9195188" cy="914400"/>
          </a:xfrm>
          <a:prstGeom prst="rect">
            <a:avLst/>
          </a:prstGeom>
          <a:noFill/>
        </p:spPr>
        <p:txBody>
          <a:bodyPr wrap="square" lIns="0" tIns="0" rIns="0" bIns="0">
            <a:spAutoFit/>
          </a:bodyPr>
          <a:lstStyle/>
          <a:p>
            <a:pPr>
              <a:lnSpc>
                <a:spcPct val="100000"/>
              </a:lnSpc>
              <a:spcBef>
                <a:spcPts val="0"/>
              </a:spcBef>
              <a:spcAft>
                <a:spcPts val="0"/>
              </a:spcAft>
            </a:pPr>
            <a:r>
              <a:rPr sz="3000" b="0" i="0">
                <a:solidFill>
                  <a:srgbClr val="0F1A1C"/>
                </a:solidFill>
                <a:latin typeface="Georgia"/>
              </a:rPr>
              <a:t>What makes this project a success</a:t>
            </a:r>
          </a:p>
        </p:txBody>
      </p:sp>
      <p:sp>
        <p:nvSpPr>
          <p:cNvPr id="5" name="TextBox 4"/>
          <p:cNvSpPr txBox="1"/>
          <p:nvPr/>
        </p:nvSpPr>
        <p:spPr>
          <a:xfrm>
            <a:off x="749808" y="6355080"/>
            <a:ext cx="10692079" cy="256032"/>
          </a:xfrm>
          <a:prstGeom prst="rect">
            <a:avLst/>
          </a:prstGeom>
          <a:noFill/>
        </p:spPr>
        <p:txBody>
          <a:bodyPr wrap="square" lIns="0" tIns="0" rIns="0" bIns="0">
            <a:spAutoFit/>
          </a:bodyPr>
          <a:lstStyle/>
          <a:p>
            <a:pPr>
              <a:lnSpc>
                <a:spcPct val="120000"/>
              </a:lnSpc>
              <a:spcBef>
                <a:spcPts val="0"/>
              </a:spcBef>
              <a:spcAft>
                <a:spcPts val="0"/>
              </a:spcAft>
            </a:pPr>
            <a:r>
              <a:rPr sz="900" b="0" i="0">
                <a:solidFill>
                  <a:srgbClr val="8A9B9E"/>
                </a:solidFill>
                <a:latin typeface="Consolas"/>
              </a:rPr>
              <a:t>ELFI · APPENDIX</a:t>
            </a:r>
          </a:p>
        </p:txBody>
      </p:sp>
      <p:sp>
        <p:nvSpPr>
          <p:cNvPr id="6" name="Rectangle 5"/>
          <p:cNvSpPr/>
          <p:nvPr/>
        </p:nvSpPr>
        <p:spPr>
          <a:xfrm>
            <a:off x="749808" y="1874519"/>
            <a:ext cx="2480995"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Rectangle 6"/>
          <p:cNvSpPr/>
          <p:nvPr/>
        </p:nvSpPr>
        <p:spPr>
          <a:xfrm>
            <a:off x="749808"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075688"/>
            <a:ext cx="2005507" cy="188366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DATA PRODUCT</a:t>
            </a:r>
          </a:p>
          <a:p>
            <a:pPr>
              <a:lnSpc>
                <a:spcPct val="118000"/>
              </a:lnSpc>
              <a:spcAft>
                <a:spcPts val="500"/>
              </a:spcAft>
            </a:pPr>
            <a:r>
              <a:rPr sz="1050">
                <a:solidFill>
                  <a:srgbClr val="14636E"/>
                </a:solidFill>
                <a:latin typeface="Calibri"/>
              </a:rPr>
              <a:t>▪  </a:t>
            </a:r>
            <a:r>
              <a:rPr sz="1050">
                <a:solidFill>
                  <a:srgbClr val="0F1A1C"/>
                </a:solidFill>
                <a:latin typeface="Calibri"/>
              </a:rPr>
              <a:t>≥ 95 % of comments processed automatically</a:t>
            </a:r>
          </a:p>
          <a:p>
            <a:pPr>
              <a:lnSpc>
                <a:spcPct val="118000"/>
              </a:lnSpc>
              <a:spcAft>
                <a:spcPts val="500"/>
              </a:spcAft>
            </a:pPr>
            <a:r>
              <a:rPr sz="1050">
                <a:solidFill>
                  <a:srgbClr val="14636E"/>
                </a:solidFill>
                <a:latin typeface="Calibri"/>
              </a:rPr>
              <a:t>▪  </a:t>
            </a:r>
            <a:r>
              <a:rPr sz="1050">
                <a:solidFill>
                  <a:srgbClr val="0F1A1C"/>
                </a:solidFill>
                <a:latin typeface="Calibri"/>
              </a:rPr>
              <a:t>Reproducible, rerunnable pipeline</a:t>
            </a:r>
          </a:p>
          <a:p>
            <a:pPr>
              <a:lnSpc>
                <a:spcPct val="118000"/>
              </a:lnSpc>
              <a:spcAft>
                <a:spcPts val="500"/>
              </a:spcAft>
            </a:pPr>
            <a:r>
              <a:rPr sz="1050">
                <a:solidFill>
                  <a:srgbClr val="14636E"/>
                </a:solidFill>
                <a:latin typeface="Calibri"/>
              </a:rPr>
              <a:t>▪  </a:t>
            </a:r>
            <a:r>
              <a:rPr sz="1050">
                <a:solidFill>
                  <a:srgbClr val="0F1A1C"/>
                </a:solidFill>
                <a:latin typeface="Calibri"/>
              </a:rPr>
              <a:t>Dashboard-ready export generated automatically</a:t>
            </a:r>
          </a:p>
          <a:p>
            <a:pPr>
              <a:lnSpc>
                <a:spcPct val="118000"/>
              </a:lnSpc>
              <a:spcAft>
                <a:spcPts val="0"/>
              </a:spcAft>
            </a:pPr>
            <a:r>
              <a:rPr sz="1050">
                <a:solidFill>
                  <a:srgbClr val="14636E"/>
                </a:solidFill>
                <a:latin typeface="Calibri"/>
              </a:rPr>
              <a:t>▪  </a:t>
            </a:r>
            <a:r>
              <a:rPr sz="1050">
                <a:solidFill>
                  <a:srgbClr val="0F1A1C"/>
                </a:solidFill>
                <a:latin typeface="Calibri"/>
              </a:rPr>
              <a:t>Power BI integration</a:t>
            </a:r>
          </a:p>
        </p:txBody>
      </p:sp>
      <p:sp>
        <p:nvSpPr>
          <p:cNvPr id="9" name="Rectangle 8"/>
          <p:cNvSpPr/>
          <p:nvPr/>
        </p:nvSpPr>
        <p:spPr>
          <a:xfrm>
            <a:off x="3486835" y="1874519"/>
            <a:ext cx="2480995"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Rectangle 9"/>
          <p:cNvSpPr/>
          <p:nvPr/>
        </p:nvSpPr>
        <p:spPr>
          <a:xfrm>
            <a:off x="3486835"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742867" y="2075688"/>
            <a:ext cx="2005507" cy="188366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NLP</a:t>
            </a:r>
          </a:p>
          <a:p>
            <a:pPr>
              <a:lnSpc>
                <a:spcPct val="118000"/>
              </a:lnSpc>
              <a:spcAft>
                <a:spcPts val="500"/>
              </a:spcAft>
            </a:pPr>
            <a:r>
              <a:rPr sz="1050">
                <a:solidFill>
                  <a:srgbClr val="14636E"/>
                </a:solidFill>
                <a:latin typeface="Calibri"/>
              </a:rPr>
              <a:t>▪  </a:t>
            </a:r>
            <a:r>
              <a:rPr sz="1050">
                <a:solidFill>
                  <a:srgbClr val="0F1A1C"/>
                </a:solidFill>
                <a:latin typeface="Calibri"/>
              </a:rPr>
              <a:t>Continuous valence — done</a:t>
            </a:r>
          </a:p>
          <a:p>
            <a:pPr>
              <a:lnSpc>
                <a:spcPct val="118000"/>
              </a:lnSpc>
              <a:spcAft>
                <a:spcPts val="500"/>
              </a:spcAft>
            </a:pPr>
            <a:r>
              <a:rPr sz="1050">
                <a:solidFill>
                  <a:srgbClr val="14636E"/>
                </a:solidFill>
                <a:latin typeface="Calibri"/>
              </a:rPr>
              <a:t>▪  </a:t>
            </a:r>
            <a:r>
              <a:rPr sz="1050">
                <a:solidFill>
                  <a:srgbClr val="0F1A1C"/>
                </a:solidFill>
                <a:latin typeface="Calibri"/>
              </a:rPr>
              <a:t>Interpretable topic clusters — granularity open</a:t>
            </a:r>
          </a:p>
          <a:p>
            <a:pPr>
              <a:lnSpc>
                <a:spcPct val="118000"/>
              </a:lnSpc>
              <a:spcAft>
                <a:spcPts val="0"/>
              </a:spcAft>
            </a:pPr>
            <a:r>
              <a:rPr sz="1050">
                <a:solidFill>
                  <a:srgbClr val="14636E"/>
                </a:solidFill>
                <a:latin typeface="Calibri"/>
              </a:rPr>
              <a:t>▪  </a:t>
            </a:r>
            <a:r>
              <a:rPr sz="1050">
                <a:solidFill>
                  <a:srgbClr val="0F1A1C"/>
                </a:solidFill>
                <a:latin typeface="Calibri"/>
              </a:rPr>
              <a:t>Continuous arousal — open</a:t>
            </a:r>
          </a:p>
        </p:txBody>
      </p:sp>
      <p:sp>
        <p:nvSpPr>
          <p:cNvPr id="12" name="Rectangle 11"/>
          <p:cNvSpPr/>
          <p:nvPr/>
        </p:nvSpPr>
        <p:spPr>
          <a:xfrm>
            <a:off x="6223863" y="1874519"/>
            <a:ext cx="2480995"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3" name="Rectangle 12"/>
          <p:cNvSpPr/>
          <p:nvPr/>
        </p:nvSpPr>
        <p:spPr>
          <a:xfrm>
            <a:off x="6223863"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479895" y="2075688"/>
            <a:ext cx="2005507" cy="188366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PREDICTIVE LAYER</a:t>
            </a:r>
          </a:p>
          <a:p>
            <a:pPr>
              <a:lnSpc>
                <a:spcPct val="118000"/>
              </a:lnSpc>
              <a:spcAft>
                <a:spcPts val="500"/>
              </a:spcAft>
            </a:pPr>
            <a:r>
              <a:rPr sz="1050">
                <a:solidFill>
                  <a:srgbClr val="14636E"/>
                </a:solidFill>
                <a:latin typeface="Calibri"/>
              </a:rPr>
              <a:t>▪  </a:t>
            </a:r>
            <a:r>
              <a:rPr sz="1050">
                <a:solidFill>
                  <a:srgbClr val="0F1A1C"/>
                </a:solidFill>
                <a:latin typeface="Calibri"/>
              </a:rPr>
              <a:t>Comment → engagement score</a:t>
            </a:r>
          </a:p>
          <a:p>
            <a:pPr>
              <a:lnSpc>
                <a:spcPct val="118000"/>
              </a:lnSpc>
              <a:spcAft>
                <a:spcPts val="500"/>
              </a:spcAft>
            </a:pPr>
            <a:r>
              <a:rPr sz="1050">
                <a:solidFill>
                  <a:srgbClr val="14636E"/>
                </a:solidFill>
                <a:latin typeface="Calibri"/>
              </a:rPr>
              <a:t>▪  </a:t>
            </a:r>
            <a:r>
              <a:rPr sz="1050">
                <a:solidFill>
                  <a:srgbClr val="0F1A1C"/>
                </a:solidFill>
                <a:latin typeface="Calibri"/>
              </a:rPr>
              <a:t>TF-IDF baseline vs. gradient boosting</a:t>
            </a:r>
          </a:p>
          <a:p>
            <a:pPr>
              <a:lnSpc>
                <a:spcPct val="118000"/>
              </a:lnSpc>
              <a:spcAft>
                <a:spcPts val="0"/>
              </a:spcAft>
            </a:pPr>
            <a:r>
              <a:rPr sz="1050">
                <a:solidFill>
                  <a:srgbClr val="14636E"/>
                </a:solidFill>
                <a:latin typeface="Calibri"/>
              </a:rPr>
              <a:t>▪  </a:t>
            </a:r>
            <a:r>
              <a:rPr sz="1050">
                <a:solidFill>
                  <a:srgbClr val="0F1A1C"/>
                </a:solidFill>
                <a:latin typeface="Calibri"/>
              </a:rPr>
              <a:t>Targets: MAE &lt; 0.60, RMSE &lt; 0.80, R² &gt; 0.30</a:t>
            </a:r>
          </a:p>
        </p:txBody>
      </p:sp>
      <p:sp>
        <p:nvSpPr>
          <p:cNvPr id="15" name="Rectangle 14"/>
          <p:cNvSpPr/>
          <p:nvPr/>
        </p:nvSpPr>
        <p:spPr>
          <a:xfrm>
            <a:off x="8960891" y="1874519"/>
            <a:ext cx="2480995" cy="2286000"/>
          </a:xfrm>
          <a:prstGeom prst="rect">
            <a:avLst/>
          </a:prstGeom>
          <a:solidFill>
            <a:srgbClr val="EEF2F2"/>
          </a:solidFill>
          <a:ln w="9525">
            <a:solidFill>
              <a:srgbClr val="D0DAD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Rectangle 15"/>
          <p:cNvSpPr/>
          <p:nvPr/>
        </p:nvSpPr>
        <p:spPr>
          <a:xfrm>
            <a:off x="8960891" y="1874519"/>
            <a:ext cx="32004" cy="228600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9216923" y="2075688"/>
            <a:ext cx="2005507" cy="1883664"/>
          </a:xfrm>
          <a:prstGeom prst="rect">
            <a:avLst/>
          </a:prstGeom>
          <a:noFill/>
        </p:spPr>
        <p:txBody>
          <a:bodyPr wrap="square" lIns="0" tIns="0" rIns="0" bIns="0">
            <a:spAutoFit/>
          </a:bodyPr>
          <a:lstStyle/>
          <a:p>
            <a:pPr>
              <a:lnSpc>
                <a:spcPct val="120000"/>
              </a:lnSpc>
              <a:spcBef>
                <a:spcPts val="0"/>
              </a:spcBef>
              <a:spcAft>
                <a:spcPts val="600"/>
              </a:spcAft>
            </a:pPr>
            <a:r>
              <a:rPr sz="950" b="1" i="0">
                <a:solidFill>
                  <a:srgbClr val="14636E"/>
                </a:solidFill>
                <a:latin typeface="Consolas"/>
              </a:rPr>
              <a:t>BUSINESS VALUE</a:t>
            </a:r>
          </a:p>
          <a:p>
            <a:pPr>
              <a:lnSpc>
                <a:spcPct val="118000"/>
              </a:lnSpc>
              <a:spcAft>
                <a:spcPts val="500"/>
              </a:spcAft>
            </a:pPr>
            <a:r>
              <a:rPr sz="1050">
                <a:solidFill>
                  <a:srgbClr val="14636E"/>
                </a:solidFill>
                <a:latin typeface="Calibri"/>
              </a:rPr>
              <a:t>▪  </a:t>
            </a:r>
            <a:r>
              <a:rPr sz="1050">
                <a:solidFill>
                  <a:srgbClr val="0F1A1C"/>
                </a:solidFill>
                <a:latin typeface="Calibri"/>
              </a:rPr>
              <a:t>3–5 actionable findings</a:t>
            </a:r>
          </a:p>
          <a:p>
            <a:pPr>
              <a:lnSpc>
                <a:spcPct val="118000"/>
              </a:lnSpc>
              <a:spcAft>
                <a:spcPts val="500"/>
              </a:spcAft>
            </a:pPr>
            <a:r>
              <a:rPr sz="1050">
                <a:solidFill>
                  <a:srgbClr val="14636E"/>
                </a:solidFill>
                <a:latin typeface="Calibri"/>
              </a:rPr>
              <a:t>▪  </a:t>
            </a:r>
            <a:r>
              <a:rPr sz="1050">
                <a:solidFill>
                  <a:srgbClr val="0F1A1C"/>
                </a:solidFill>
                <a:latin typeface="Calibri"/>
              </a:rPr>
              <a:t>e.g. valence ↔ engagement, workload topics ↔ low sentiment</a:t>
            </a:r>
          </a:p>
          <a:p>
            <a:pPr>
              <a:lnSpc>
                <a:spcPct val="118000"/>
              </a:lnSpc>
              <a:spcAft>
                <a:spcPts val="0"/>
              </a:spcAft>
            </a:pPr>
            <a:r>
              <a:rPr sz="1050">
                <a:solidFill>
                  <a:srgbClr val="14636E"/>
                </a:solidFill>
                <a:latin typeface="Calibri"/>
              </a:rPr>
              <a:t>▪  </a:t>
            </a:r>
            <a:r>
              <a:rPr sz="1050">
                <a:solidFill>
                  <a:srgbClr val="0F1A1C"/>
                </a:solidFill>
                <a:latin typeface="Calibri"/>
              </a:rPr>
              <a:t>Measurable differences between business units</a:t>
            </a:r>
          </a:p>
        </p:txBody>
      </p:sp>
      <p:sp>
        <p:nvSpPr>
          <p:cNvPr id="18" name="Rectangle 17"/>
          <p:cNvSpPr/>
          <p:nvPr/>
        </p:nvSpPr>
        <p:spPr>
          <a:xfrm>
            <a:off x="749808" y="4526280"/>
            <a:ext cx="27432" cy="1051560"/>
          </a:xfrm>
          <a:prstGeom prst="rect">
            <a:avLst/>
          </a:prstGeom>
          <a:solidFill>
            <a:srgbClr val="1463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9" name="TextBox 18"/>
          <p:cNvSpPr txBox="1"/>
          <p:nvPr/>
        </p:nvSpPr>
        <p:spPr>
          <a:xfrm>
            <a:off x="1005840" y="4572000"/>
            <a:ext cx="10234879" cy="1005840"/>
          </a:xfrm>
          <a:prstGeom prst="rect">
            <a:avLst/>
          </a:prstGeom>
          <a:noFill/>
        </p:spPr>
        <p:txBody>
          <a:bodyPr wrap="square" lIns="0" tIns="0" rIns="0" bIns="0">
            <a:spAutoFit/>
          </a:bodyPr>
          <a:lstStyle/>
          <a:p>
            <a:pPr>
              <a:lnSpc>
                <a:spcPct val="125000"/>
              </a:lnSpc>
              <a:spcBef>
                <a:spcPts val="0"/>
              </a:spcBef>
              <a:spcAft>
                <a:spcPts val="0"/>
              </a:spcAft>
            </a:pPr>
            <a:r>
              <a:rPr sz="1500" b="0" i="0">
                <a:solidFill>
                  <a:srgbClr val="0F1A1C"/>
                </a:solidFill>
                <a:latin typeface="Georgia"/>
              </a:rPr>
              <a:t>The project succeeds if it shows a working end-to-end NLP pipeline, a Barrett-inspired Core Affect dashboard, meaningful topics, and insights a manager can actually act on.</a:t>
            </a:r>
          </a:p>
        </p:txBody>
      </p:sp>
      <p:sp>
        <p:nvSpPr>
          <p:cNvPr id="20" name="TextBox 19"/>
          <p:cNvSpPr txBox="1"/>
          <p:nvPr/>
        </p:nvSpPr>
        <p:spPr>
          <a:xfrm>
            <a:off x="9613087" y="6355080"/>
            <a:ext cx="1828800" cy="256032"/>
          </a:xfrm>
          <a:prstGeom prst="rect">
            <a:avLst/>
          </a:prstGeom>
          <a:noFill/>
        </p:spPr>
        <p:txBody>
          <a:bodyPr wrap="square" lIns="0" tIns="0" rIns="0" bIns="0">
            <a:spAutoFit/>
          </a:bodyPr>
          <a:lstStyle/>
          <a:p>
            <a:pPr algn="r">
              <a:lnSpc>
                <a:spcPct val="120000"/>
              </a:lnSpc>
              <a:spcBef>
                <a:spcPts val="0"/>
              </a:spcBef>
              <a:spcAft>
                <a:spcPts val="0"/>
              </a:spcAft>
            </a:pPr>
            <a:r>
              <a:rPr sz="900" b="0" i="0">
                <a:solidFill>
                  <a:srgbClr val="8A9B9E"/>
                </a:solidFill>
                <a:latin typeface="Consolas"/>
              </a:rPr>
              <a:t>21 /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5277</Words>
  <Application>Microsoft Macintosh PowerPoint</Application>
  <PresentationFormat>Breitbild</PresentationFormat>
  <Paragraphs>665</Paragraphs>
  <Slides>22</Slides>
  <Notes>22</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22</vt:i4>
      </vt:variant>
    </vt:vector>
  </HeadingPairs>
  <TitlesOfParts>
    <vt:vector size="28" baseType="lpstr">
      <vt:lpstr>Aptos</vt:lpstr>
      <vt:lpstr>Arial</vt:lpstr>
      <vt:lpstr>Calibri</vt:lpstr>
      <vt:lpstr>Consolas</vt:lpstr>
      <vt:lpstr>Georgia</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ELFI — Emotional &amp; Latent Feedback Interpretation</dc:title>
  <dc:subject>Capstone midterm presentation</dc:subject>
  <dc:creator/>
  <cp:keywords/>
  <dc:description>Midterm deck: main story (slides 1-9) plus technical appendix (A1-A11). Speaker notes in the notes pane.</dc:description>
  <cp:lastModifiedBy>iris.detemple@gmail.com</cp:lastModifiedBy>
  <cp:revision>23</cp:revision>
  <dcterms:created xsi:type="dcterms:W3CDTF">2013-01-27T09:14:16Z</dcterms:created>
  <dcterms:modified xsi:type="dcterms:W3CDTF">2026-08-05T21:10:19Z</dcterms:modified>
  <cp:category/>
</cp:coreProperties>
</file>